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6" r:id="rId1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  <Relationship Id="rId17" Type="http://schemas.openxmlformats.org/officeDocument/2006/relationships/slide" Target="slides/slide1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sciencedirect.com/science/article/pii/S1364032126005253" TargetMode="External"/><Relationship Id="rId2" Type="http://schemas.openxmlformats.org/officeDocument/2006/relationships/hyperlink" Target="https://www.sciencedirect.com/science/article/pii/S0306261925011572" TargetMode="External"/><Relationship Id="rId3" Type="http://schemas.openxmlformats.org/officeDocument/2006/relationships/hyperlink" Target="https://www.sciencedirect.com/science/article/pii/S0360544225053964" TargetMode="External"/><Relationship Id="rId4" Type="http://schemas.openxmlformats.org/officeDocument/2006/relationships/hyperlink" Target="https://www.researchgate.net/publication/399255851_A_cycle-aware_and_physics-informed_framework_for_battery_remaining_useful_life_prediction" TargetMode="External"/><Relationship Id="rId5" Type="http://schemas.openxmlformats.org/officeDocument/2006/relationships/hyperlink" Target="https://www.researchgate.net/publication/398786756_Physics-informed_neural_network_and_momentum_contrastive_learning_for_battery_state_of_health_estimation" TargetMode="Externa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Cite0" Type="http://schemas.openxmlformats.org/officeDocument/2006/relationships/hyperlink" Target="https://www.sciencedirect.com/science/article/abs/pii/S1364032126005253" TargetMode="External"/><Relationship Id="rIdCite1" Type="http://schemas.openxmlformats.org/officeDocument/2006/relationships/hyperlink" Target="https://www.sciencedirect.com/science/article/abs/pii/S0306261925011572" TargetMode="External"/><Relationship Id="rIdCite2" Type="http://schemas.openxmlformats.org/officeDocument/2006/relationships/hyperlink" Target="https://www.sciencedirect.com/science/article/abs/pii/S0360544225053964" TargetMode="External"/><Relationship Id="rIdCite3" Type="http://schemas.openxmlformats.org/officeDocument/2006/relationships/hyperlink" Target="https://www.researchgate.net/publication/399255851_A_cycle-aware_and_physics-informed_framework_for_battery_remaining_useful_life_prediction" TargetMode="External"/><Relationship Id="rIdCite4" Type="http://schemas.openxmlformats.org/officeDocument/2006/relationships/hyperlink" Target="https://www.researchgate.net/publication/398786756_Physics-informed_neural_network_and_momentum_contrastive_learning_for_battery_state_of_health_estimation" TargetMode="External"/><Relationship Id="rIdNASA" Type="http://schemas.openxmlformats.org/officeDocument/2006/relationships/hyperlink" Target="https://www.nasa.gov/intelligent-systems-division/discovery-and-systems-health/pcoe/pcoe-data-set-repository/" TargetMode="External"/><Relationship Id="rIdOxford" Type="http://schemas.openxmlformats.org/officeDocument/2006/relationships/hyperlink" Target="https://ora.ox.ac.uk/objects/uuid:03ba4b01-cfed-46d3-9b1a-7d4a7848d838" TargetMode="External"/><Relationship Id="rIdMIT" Type="http://schemas.openxmlformats.org/officeDocument/2006/relationships/hyperlink" Target="https://data.matr.io/1/" TargetMode="External"/><Relationship Id="rIdXJTU" Type="http://schemas.openxmlformats.org/officeDocument/2006/relationships/hyperlink" Target="https://github.com/XJTU-YangYu/Battery-dataset" TargetMode="External"/><Relationship Id="rIdCALCE" Type="http://schemas.openxmlformats.org/officeDocument/2006/relationships/hyperlink" Target="https://calce.umd.edu/battery-data"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13355E"/>
          </a:solidFill>
          <a:ln/>
        </p:spPr>
      </p:sp>
      <p:sp>
        <p:nvSpPr>
          <p:cNvPr id="3" name="Shape 1"/>
          <p:cNvSpPr/>
          <p:nvPr/>
        </p:nvSpPr>
        <p:spPr>
          <a:xfrm>
            <a:off x="8485632" y="4206240"/>
            <a:ext cx="658368" cy="1828800"/>
          </a:xfrm>
          <a:prstGeom prst="roundRect">
            <a:avLst>
              <a:gd name="adj" fmla="val 11111"/>
            </a:avLst>
          </a:prstGeom>
          <a:solidFill>
            <a:srgbClr val="1B4A73"/>
          </a:solidFill>
          <a:ln w="12700">
            <a:solidFill>
              <a:srgbClr val="2E6C99"/>
            </a:solidFill>
            <a:prstDash val="solid"/>
          </a:ln>
        </p:spPr>
      </p:sp>
      <p:sp>
        <p:nvSpPr>
          <p:cNvPr id="4" name="Shape 2"/>
          <p:cNvSpPr/>
          <p:nvPr/>
        </p:nvSpPr>
        <p:spPr>
          <a:xfrm>
            <a:off x="8558784" y="4315968"/>
            <a:ext cx="512064" cy="1627632"/>
          </a:xfrm>
          <a:prstGeom prst="roundRect">
            <a:avLst>
              <a:gd name="adj" fmla="val 10714"/>
            </a:avLst>
          </a:prstGeom>
          <a:solidFill>
            <a:srgbClr val="00A896"/>
          </a:solidFill>
          <a:ln/>
        </p:spPr>
      </p:sp>
      <p:sp>
        <p:nvSpPr>
          <p:cNvPr id="5" name="Shape 3"/>
          <p:cNvSpPr/>
          <p:nvPr/>
        </p:nvSpPr>
        <p:spPr>
          <a:xfrm>
            <a:off x="9345168" y="4206240"/>
            <a:ext cx="658368" cy="1828800"/>
          </a:xfrm>
          <a:prstGeom prst="roundRect">
            <a:avLst>
              <a:gd name="adj" fmla="val 11111"/>
            </a:avLst>
          </a:prstGeom>
          <a:solidFill>
            <a:srgbClr val="1B4A73"/>
          </a:solidFill>
          <a:ln w="12700">
            <a:solidFill>
              <a:srgbClr val="2E6C99"/>
            </a:solidFill>
            <a:prstDash val="solid"/>
          </a:ln>
        </p:spPr>
      </p:sp>
      <p:sp>
        <p:nvSpPr>
          <p:cNvPr id="6" name="Shape 4"/>
          <p:cNvSpPr/>
          <p:nvPr/>
        </p:nvSpPr>
        <p:spPr>
          <a:xfrm>
            <a:off x="9418320" y="4133088"/>
            <a:ext cx="512064" cy="1810512"/>
          </a:xfrm>
          <a:prstGeom prst="roundRect">
            <a:avLst>
              <a:gd name="adj" fmla="val 10714"/>
            </a:avLst>
          </a:prstGeom>
          <a:solidFill>
            <a:srgbClr val="00A896"/>
          </a:solidFill>
          <a:ln/>
        </p:spPr>
      </p:sp>
      <p:sp>
        <p:nvSpPr>
          <p:cNvPr id="7" name="Shape 5"/>
          <p:cNvSpPr/>
          <p:nvPr/>
        </p:nvSpPr>
        <p:spPr>
          <a:xfrm>
            <a:off x="10204704" y="4206240"/>
            <a:ext cx="658368" cy="1828800"/>
          </a:xfrm>
          <a:prstGeom prst="roundRect">
            <a:avLst>
              <a:gd name="adj" fmla="val 11111"/>
            </a:avLst>
          </a:prstGeom>
          <a:solidFill>
            <a:srgbClr val="1B4A73"/>
          </a:solidFill>
          <a:ln w="12700">
            <a:solidFill>
              <a:srgbClr val="2E6C99"/>
            </a:solidFill>
            <a:prstDash val="solid"/>
          </a:ln>
        </p:spPr>
      </p:sp>
      <p:sp>
        <p:nvSpPr>
          <p:cNvPr id="8" name="Shape 6"/>
          <p:cNvSpPr/>
          <p:nvPr/>
        </p:nvSpPr>
        <p:spPr>
          <a:xfrm>
            <a:off x="10277856" y="4864608"/>
            <a:ext cx="512064" cy="1078992"/>
          </a:xfrm>
          <a:prstGeom prst="roundRect">
            <a:avLst>
              <a:gd name="adj" fmla="val 10714"/>
            </a:avLst>
          </a:prstGeom>
          <a:solidFill>
            <a:srgbClr val="00A896"/>
          </a:solidFill>
          <a:ln/>
        </p:spPr>
      </p:sp>
      <p:sp>
        <p:nvSpPr>
          <p:cNvPr id="9" name="Shape 7"/>
          <p:cNvSpPr/>
          <p:nvPr/>
        </p:nvSpPr>
        <p:spPr>
          <a:xfrm>
            <a:off x="11064240" y="4206240"/>
            <a:ext cx="658368" cy="1828800"/>
          </a:xfrm>
          <a:prstGeom prst="roundRect">
            <a:avLst>
              <a:gd name="adj" fmla="val 11111"/>
            </a:avLst>
          </a:prstGeom>
          <a:solidFill>
            <a:srgbClr val="1B4A73"/>
          </a:solidFill>
          <a:ln w="12700">
            <a:solidFill>
              <a:srgbClr val="2E6C99"/>
            </a:solidFill>
            <a:prstDash val="solid"/>
          </a:ln>
        </p:spPr>
      </p:sp>
      <p:sp>
        <p:nvSpPr>
          <p:cNvPr id="10" name="Shape 8"/>
          <p:cNvSpPr/>
          <p:nvPr/>
        </p:nvSpPr>
        <p:spPr>
          <a:xfrm>
            <a:off x="11137392" y="4133088"/>
            <a:ext cx="512064" cy="1810512"/>
          </a:xfrm>
          <a:prstGeom prst="roundRect">
            <a:avLst>
              <a:gd name="adj" fmla="val 10714"/>
            </a:avLst>
          </a:prstGeom>
          <a:solidFill>
            <a:srgbClr val="00A896"/>
          </a:solidFill>
          <a:ln/>
        </p:spPr>
      </p:sp>
      <p:sp>
        <p:nvSpPr>
          <p:cNvPr id="11" name="Text 9"/>
          <p:cNvSpPr/>
          <p:nvPr/>
        </p:nvSpPr>
        <p:spPr>
          <a:xfrm>
            <a:off x="8394192" y="3822192"/>
            <a:ext cx="3419856" cy="274320"/>
          </a:xfrm>
          <a:prstGeom prst="rect">
            <a:avLst/>
          </a:prstGeom>
          <a:noFill/>
          <a:ln/>
        </p:spPr>
        <p:txBody>
          <a:bodyPr wrap="square" rtlCol="0" anchor="ctr"/>
          <a:lstStyle/>
          <a:p>
            <a:pPr algn="ctr" indent="0" marL="0">
              <a:buNone/>
            </a:pPr>
            <a:r>
              <a:rPr lang="en-US" sz="1100" spc="200" kern="0" dirty="0">
                <a:solidFill>
                  <a:srgbClr val="9FC6E0"/>
                </a:solidFill>
                <a:latin typeface="Calibri" pitchFamily="34" charset="0"/>
                <a:ea typeface="Calibri" pitchFamily="34" charset="-122"/>
                <a:cs typeface="Calibri" pitchFamily="34" charset="-120"/>
              </a:rPr>
              <a:t>SOH  ·  RUL</a:t>
            </a:r>
            <a:endParaRPr lang="en-US" sz="1100" dirty="0"/>
          </a:p>
        </p:txBody>
      </p:sp>
      <p:sp>
        <p:nvSpPr>
          <p:cNvPr id="12" name="Text 10"/>
          <p:cNvSpPr/>
          <p:nvPr/>
        </p:nvSpPr>
        <p:spPr>
          <a:xfrm>
            <a:off x="457200" y="1417320"/>
            <a:ext cx="7132320" cy="320040"/>
          </a:xfrm>
          <a:prstGeom prst="rect">
            <a:avLst/>
          </a:prstGeom>
          <a:noFill/>
          <a:ln/>
        </p:spPr>
        <p:txBody>
          <a:bodyPr wrap="square" rtlCol="0" anchor="ctr"/>
          <a:lstStyle/>
          <a:p>
            <a:pPr indent="0" marL="0">
              <a:buNone/>
            </a:pPr>
            <a:r>
              <a:rPr lang="en-US" sz="1300" b="1" spc="300" kern="0" dirty="0">
                <a:solidFill>
                  <a:srgbClr val="00A896"/>
                </a:solidFill>
                <a:latin typeface="Calibri" pitchFamily="34" charset="0"/>
                <a:ea typeface="Calibri" pitchFamily="34" charset="-122"/>
                <a:cs typeface="Calibri" pitchFamily="34" charset="-120"/>
              </a:rPr>
              <a:t>SCOPE  ·  B.TECH PROJECT</a:t>
            </a:r>
            <a:endParaRPr lang="en-US" sz="1300" dirty="0"/>
          </a:p>
        </p:txBody>
      </p:sp>
      <p:sp>
        <p:nvSpPr>
          <p:cNvPr id="13" name="Text 11"/>
          <p:cNvSpPr/>
          <p:nvPr/>
        </p:nvSpPr>
        <p:spPr>
          <a:xfrm>
            <a:off x="457200" y="1874520"/>
            <a:ext cx="7406640" cy="1920240"/>
          </a:xfrm>
          <a:prstGeom prst="rect">
            <a:avLst/>
          </a:prstGeom>
          <a:noFill/>
          <a:ln/>
        </p:spPr>
        <p:txBody>
          <a:bodyPr wrap="square"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Adaptive Physics-Informed Battery Digital Twin for SOH and RUL Prediction</a:t>
            </a:r>
            <a:endParaRPr lang="en-US" sz="3400" dirty="0"/>
          </a:p>
        </p:txBody>
      </p:sp>
      <p:sp>
        <p:nvSpPr>
          <p:cNvPr id="14" name="Text 12"/>
          <p:cNvSpPr/>
          <p:nvPr/>
        </p:nvSpPr>
        <p:spPr>
          <a:xfrm>
            <a:off x="457200" y="3794760"/>
            <a:ext cx="7315200" cy="365760"/>
          </a:xfrm>
          <a:prstGeom prst="rect">
            <a:avLst/>
          </a:prstGeom>
          <a:noFill/>
          <a:ln/>
        </p:spPr>
        <p:txBody>
          <a:bodyPr wrap="square" rtlCol="0" anchor="ctr"/>
          <a:lstStyle/>
          <a:p>
            <a:pPr indent="0" marL="0">
              <a:buNone/>
            </a:pPr>
            <a:r>
              <a:rPr lang="en-US" sz="1300" i="1" dirty="0">
                <a:solidFill>
                  <a:srgbClr val="AFC7DA"/>
                </a:solidFill>
                <a:latin typeface="Calibri" pitchFamily="34" charset="0"/>
                <a:ea typeface="Calibri" pitchFamily="34" charset="-122"/>
                <a:cs typeface="Calibri" pitchFamily="34" charset="-120"/>
              </a:rPr>
              <a:t>Energy AI  ·  Battery Management Systems  ·  Physics-Informed Neural Networks</a:t>
            </a:r>
            <a:endParaRPr lang="en-US" sz="1300" dirty="0"/>
          </a:p>
        </p:txBody>
      </p:sp>
      <p:sp>
        <p:nvSpPr>
          <p:cNvPr id="15" name="Text 13"/>
          <p:cNvSpPr/>
          <p:nvPr/>
        </p:nvSpPr>
        <p:spPr>
          <a:xfrm>
            <a:off x="457200" y="4892040"/>
            <a:ext cx="36576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TEAM</a:t>
            </a:r>
            <a:endParaRPr lang="en-US" sz="1100" dirty="0"/>
          </a:p>
        </p:txBody>
      </p:sp>
      <p:sp>
        <p:nvSpPr>
          <p:cNvPr id="16" name="Text 14"/>
          <p:cNvSpPr/>
          <p:nvPr/>
        </p:nvSpPr>
        <p:spPr>
          <a:xfrm>
            <a:off x="457200" y="5230368"/>
            <a:ext cx="685800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 Chethan Krishna</a:t>
            </a:r>
            <a:pPr indent="0" marL="0">
              <a:buNone/>
            </a:pPr>
            <a:r>
              <a:rPr lang="en-US" sz="1350" dirty="0">
                <a:solidFill>
                  <a:srgbClr val="8FA9BE"/>
                </a:solidFill>
                <a:latin typeface="Calibri" pitchFamily="34" charset="0"/>
                <a:ea typeface="Calibri" pitchFamily="34" charset="-122"/>
                <a:cs typeface="Calibri" pitchFamily="34" charset="-120"/>
              </a:rPr>
              <a:t>   23BAI0093</a:t>
            </a:r>
            <a:endParaRPr lang="en-US" sz="1350" dirty="0"/>
          </a:p>
        </p:txBody>
      </p:sp>
      <p:sp>
        <p:nvSpPr>
          <p:cNvPr id="17" name="Text 15"/>
          <p:cNvSpPr/>
          <p:nvPr/>
        </p:nvSpPr>
        <p:spPr>
          <a:xfrm>
            <a:off x="457200" y="5596128"/>
            <a:ext cx="685800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K. Shanmukha Santhosh</a:t>
            </a:r>
            <a:pPr indent="0" marL="0">
              <a:buNone/>
            </a:pPr>
            <a:r>
              <a:rPr lang="en-US" sz="1350" dirty="0">
                <a:solidFill>
                  <a:srgbClr val="8FA9BE"/>
                </a:solidFill>
                <a:latin typeface="Calibri" pitchFamily="34" charset="0"/>
                <a:ea typeface="Calibri" pitchFamily="34" charset="-122"/>
                <a:cs typeface="Calibri" pitchFamily="34" charset="-120"/>
              </a:rPr>
              <a:t>   23BAI0157</a:t>
            </a:r>
            <a:endParaRPr lang="en-US" sz="1350" dirty="0"/>
          </a:p>
        </p:txBody>
      </p:sp>
      <p:sp>
        <p:nvSpPr>
          <p:cNvPr id="18" name="Text 16"/>
          <p:cNvSpPr/>
          <p:nvPr/>
        </p:nvSpPr>
        <p:spPr>
          <a:xfrm>
            <a:off x="457200" y="5961888"/>
            <a:ext cx="685800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Ashok Reddy</a:t>
            </a:r>
            <a:pPr indent="0" marL="0">
              <a:buNone/>
            </a:pPr>
            <a:r>
              <a:rPr lang="en-US" sz="1350" dirty="0">
                <a:solidFill>
                  <a:srgbClr val="8FA9BE"/>
                </a:solidFill>
                <a:latin typeface="Calibri" pitchFamily="34" charset="0"/>
                <a:ea typeface="Calibri" pitchFamily="34" charset="-122"/>
                <a:cs typeface="Calibri" pitchFamily="34" charset="-120"/>
              </a:rPr>
              <a:t>   23BAI0143</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9144000" cy="27432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DOMAIN &amp; MOTIVATION</a:t>
            </a:r>
            <a:endParaRPr lang="en-US" sz="1200" dirty="0"/>
          </a:p>
        </p:txBody>
      </p:sp>
      <p:sp>
        <p:nvSpPr>
          <p:cNvPr id="3" name="Text 1"/>
          <p:cNvSpPr/>
          <p:nvPr/>
        </p:nvSpPr>
        <p:spPr>
          <a:xfrm>
            <a:off x="457200" y="566928"/>
            <a:ext cx="11274552" cy="59436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Project Overview &amp; Use Cases</a:t>
            </a:r>
            <a:endParaRPr lang="en-US" sz="2800" dirty="0"/>
          </a:p>
        </p:txBody>
      </p:sp>
      <p:sp>
        <p:nvSpPr>
          <p:cNvPr id="4" name="Shape 2"/>
          <p:cNvSpPr/>
          <p:nvPr/>
        </p:nvSpPr>
        <p:spPr>
          <a:xfrm>
            <a:off x="457200" y="1417320"/>
            <a:ext cx="5029200" cy="4892040"/>
          </a:xfrm>
          <a:prstGeom prst="roundRect">
            <a:avLst>
              <a:gd name="adj" fmla="val 1495"/>
            </a:avLst>
          </a:prstGeom>
          <a:solidFill>
            <a:srgbClr val="F2F6F8"/>
          </a:solidFill>
          <a:ln/>
        </p:spPr>
      </p:sp>
      <p:sp>
        <p:nvSpPr>
          <p:cNvPr id="5" name="Text 3"/>
          <p:cNvSpPr/>
          <p:nvPr/>
        </p:nvSpPr>
        <p:spPr>
          <a:xfrm>
            <a:off x="731520" y="1691640"/>
            <a:ext cx="4480560" cy="228600"/>
          </a:xfrm>
          <a:prstGeom prst="rect">
            <a:avLst/>
          </a:prstGeom>
          <a:noFill/>
          <a:ln/>
        </p:spPr>
        <p:txBody>
          <a:bodyPr wrap="square" rtlCol="0" anchor="ctr"/>
          <a:lstStyle/>
          <a:p>
            <a:pPr indent="0" marL="0">
              <a:buNone/>
            </a:pPr>
            <a:r>
              <a:rPr lang="en-US" sz="1000" b="1" spc="150" kern="0" dirty="0">
                <a:solidFill>
                  <a:srgbClr val="028090"/>
                </a:solidFill>
                <a:latin typeface="Calibri" pitchFamily="34" charset="0"/>
                <a:ea typeface="Calibri" pitchFamily="34" charset="-122"/>
                <a:cs typeface="Calibri" pitchFamily="34" charset="-120"/>
              </a:rPr>
              <a:t>DOMAIN</a:t>
            </a:r>
            <a:endParaRPr lang="en-US" sz="1000" dirty="0"/>
          </a:p>
        </p:txBody>
      </p:sp>
      <p:sp>
        <p:nvSpPr>
          <p:cNvPr id="6" name="Text 4"/>
          <p:cNvSpPr/>
          <p:nvPr/>
        </p:nvSpPr>
        <p:spPr>
          <a:xfrm>
            <a:off x="731520" y="1911096"/>
            <a:ext cx="4480560" cy="365760"/>
          </a:xfrm>
          <a:prstGeom prst="rect">
            <a:avLst/>
          </a:prstGeom>
          <a:noFill/>
          <a:ln/>
        </p:spPr>
        <p:txBody>
          <a:bodyPr wrap="square" rtlCol="0" anchor="ctr"/>
          <a:lstStyle/>
          <a:p>
            <a:pPr indent="0" marL="0">
              <a:buNone/>
            </a:pPr>
            <a:r>
              <a:rPr lang="en-US" sz="1250" b="1" dirty="0">
                <a:solidFill>
                  <a:srgbClr val="222B33"/>
                </a:solidFill>
                <a:latin typeface="Calibri" pitchFamily="34" charset="0"/>
                <a:ea typeface="Calibri" pitchFamily="34" charset="-122"/>
                <a:cs typeface="Calibri" pitchFamily="34" charset="-120"/>
              </a:rPr>
              <a:t>Energy AI  ·  Battery Management Systems</a:t>
            </a:r>
            <a:endParaRPr lang="en-US" sz="1250" dirty="0"/>
          </a:p>
        </p:txBody>
      </p:sp>
      <p:sp>
        <p:nvSpPr>
          <p:cNvPr id="7" name="Text 5"/>
          <p:cNvSpPr/>
          <p:nvPr/>
        </p:nvSpPr>
        <p:spPr>
          <a:xfrm>
            <a:off x="731520" y="2350008"/>
            <a:ext cx="4480560" cy="228600"/>
          </a:xfrm>
          <a:prstGeom prst="rect">
            <a:avLst/>
          </a:prstGeom>
          <a:noFill/>
          <a:ln/>
        </p:spPr>
        <p:txBody>
          <a:bodyPr wrap="square" rtlCol="0" anchor="ctr"/>
          <a:lstStyle/>
          <a:p>
            <a:pPr indent="0" marL="0">
              <a:buNone/>
            </a:pPr>
            <a:r>
              <a:rPr lang="en-US" sz="1000" b="1" spc="150" kern="0" dirty="0">
                <a:solidFill>
                  <a:srgbClr val="028090"/>
                </a:solidFill>
                <a:latin typeface="Calibri" pitchFamily="34" charset="0"/>
                <a:ea typeface="Calibri" pitchFamily="34" charset="-122"/>
                <a:cs typeface="Calibri" pitchFamily="34" charset="-120"/>
              </a:rPr>
              <a:t>TYPE OF DNN</a:t>
            </a:r>
            <a:endParaRPr lang="en-US" sz="1000" dirty="0"/>
          </a:p>
        </p:txBody>
      </p:sp>
      <p:sp>
        <p:nvSpPr>
          <p:cNvPr id="8" name="Text 6"/>
          <p:cNvSpPr/>
          <p:nvPr/>
        </p:nvSpPr>
        <p:spPr>
          <a:xfrm>
            <a:off x="731520" y="2569464"/>
            <a:ext cx="4480560" cy="365760"/>
          </a:xfrm>
          <a:prstGeom prst="rect">
            <a:avLst/>
          </a:prstGeom>
          <a:noFill/>
          <a:ln/>
        </p:spPr>
        <p:txBody>
          <a:bodyPr wrap="square" rtlCol="0" anchor="ctr"/>
          <a:lstStyle/>
          <a:p>
            <a:pPr indent="0" marL="0">
              <a:buNone/>
            </a:pPr>
            <a:r>
              <a:rPr lang="en-US" sz="1250" b="1" dirty="0">
                <a:solidFill>
                  <a:srgbClr val="222B33"/>
                </a:solidFill>
                <a:latin typeface="Calibri" pitchFamily="34" charset="0"/>
                <a:ea typeface="Calibri" pitchFamily="34" charset="-122"/>
                <a:cs typeface="Calibri" pitchFamily="34" charset="-120"/>
              </a:rPr>
              <a:t>Physics-Informed Neural Network (PINN) + Feedforward DNN</a:t>
            </a:r>
            <a:endParaRPr lang="en-US" sz="1250" dirty="0"/>
          </a:p>
        </p:txBody>
      </p:sp>
      <p:sp>
        <p:nvSpPr>
          <p:cNvPr id="9" name="Text 7"/>
          <p:cNvSpPr/>
          <p:nvPr/>
        </p:nvSpPr>
        <p:spPr>
          <a:xfrm>
            <a:off x="731520" y="3172968"/>
            <a:ext cx="4480560" cy="228600"/>
          </a:xfrm>
          <a:prstGeom prst="rect">
            <a:avLst/>
          </a:prstGeom>
          <a:noFill/>
          <a:ln/>
        </p:spPr>
        <p:txBody>
          <a:bodyPr wrap="square" rtlCol="0" anchor="ctr"/>
          <a:lstStyle/>
          <a:p>
            <a:pPr indent="0" marL="0">
              <a:buNone/>
            </a:pPr>
            <a:r>
              <a:rPr lang="en-US" sz="1000" b="1" spc="150" kern="0" dirty="0">
                <a:solidFill>
                  <a:srgbClr val="028090"/>
                </a:solidFill>
                <a:latin typeface="Calibri" pitchFamily="34" charset="0"/>
                <a:ea typeface="Calibri" pitchFamily="34" charset="-122"/>
                <a:cs typeface="Calibri" pitchFamily="34" charset="-120"/>
              </a:rPr>
              <a:t>THE CHALLENGE</a:t>
            </a:r>
            <a:endParaRPr lang="en-US" sz="1000" dirty="0"/>
          </a:p>
        </p:txBody>
      </p:sp>
      <p:sp>
        <p:nvSpPr>
          <p:cNvPr id="10" name="Text 8"/>
          <p:cNvSpPr/>
          <p:nvPr/>
        </p:nvSpPr>
        <p:spPr>
          <a:xfrm>
            <a:off x="731520" y="3429000"/>
            <a:ext cx="4480560" cy="868680"/>
          </a:xfrm>
          <a:prstGeom prst="rect">
            <a:avLst/>
          </a:prstGeom>
          <a:noFill/>
          <a:ln/>
        </p:spPr>
        <p:txBody>
          <a:bodyPr wrap="square" rtlCol="0" anchor="ctr"/>
          <a:lstStyle/>
          <a:p>
            <a:pPr indent="0" marL="0">
              <a:lnSpc>
                <a:spcPts val="1500"/>
              </a:lnSpc>
              <a:buNone/>
            </a:pPr>
            <a:r>
              <a:rPr lang="en-US" sz="1150" dirty="0">
                <a:solidFill>
                  <a:srgbClr val="222B33"/>
                </a:solidFill>
                <a:latin typeface="Calibri" pitchFamily="34" charset="0"/>
                <a:ea typeface="Calibri" pitchFamily="34" charset="-122"/>
                <a:cs typeface="Calibri" pitchFamily="34" charset="-120"/>
              </a:rPr>
              <a:t>Li-ion batteries degrade with cycling, temperature and age. Pure deep-learning models need large labeled datasets and can be physically inconsistent; pure physics models are too slow for real-time use.</a:t>
            </a:r>
            <a:endParaRPr lang="en-US" sz="1150" dirty="0"/>
          </a:p>
        </p:txBody>
      </p:sp>
      <p:sp>
        <p:nvSpPr>
          <p:cNvPr id="11" name="Text 9"/>
          <p:cNvSpPr/>
          <p:nvPr/>
        </p:nvSpPr>
        <p:spPr>
          <a:xfrm>
            <a:off x="731520" y="4389120"/>
            <a:ext cx="4480560" cy="228600"/>
          </a:xfrm>
          <a:prstGeom prst="rect">
            <a:avLst/>
          </a:prstGeom>
          <a:noFill/>
          <a:ln/>
        </p:spPr>
        <p:txBody>
          <a:bodyPr wrap="square" rtlCol="0" anchor="ctr"/>
          <a:lstStyle/>
          <a:p>
            <a:pPr indent="0" marL="0">
              <a:buNone/>
            </a:pPr>
            <a:r>
              <a:rPr lang="en-US" sz="1000" b="1" spc="150" kern="0" dirty="0">
                <a:solidFill>
                  <a:srgbClr val="028090"/>
                </a:solidFill>
                <a:latin typeface="Calibri" pitchFamily="34" charset="0"/>
                <a:ea typeface="Calibri" pitchFamily="34" charset="-122"/>
                <a:cs typeface="Calibri" pitchFamily="34" charset="-120"/>
              </a:rPr>
              <a:t>OUR APPROACH</a:t>
            </a:r>
            <a:endParaRPr lang="en-US" sz="1000" dirty="0"/>
          </a:p>
        </p:txBody>
      </p:sp>
      <p:sp>
        <p:nvSpPr>
          <p:cNvPr id="12" name="Text 10"/>
          <p:cNvSpPr/>
          <p:nvPr/>
        </p:nvSpPr>
        <p:spPr>
          <a:xfrm>
            <a:off x="731520" y="4645152"/>
            <a:ext cx="4480560" cy="1051560"/>
          </a:xfrm>
          <a:prstGeom prst="rect">
            <a:avLst/>
          </a:prstGeom>
          <a:noFill/>
          <a:ln/>
        </p:spPr>
        <p:txBody>
          <a:bodyPr wrap="square" rtlCol="0" anchor="ctr"/>
          <a:lstStyle/>
          <a:p>
            <a:pPr indent="0" marL="0">
              <a:lnSpc>
                <a:spcPts val="1500"/>
              </a:lnSpc>
              <a:buNone/>
            </a:pPr>
            <a:r>
              <a:rPr lang="en-US" sz="1150" dirty="0">
                <a:solidFill>
                  <a:srgbClr val="222B33"/>
                </a:solidFill>
                <a:latin typeface="Calibri" pitchFamily="34" charset="0"/>
                <a:ea typeface="Calibri" pitchFamily="34" charset="-122"/>
                <a:cs typeface="Calibri" pitchFamily="34" charset="-120"/>
              </a:rPr>
              <a:t>An Adaptive PINN Battery Digital Twin fuses PINNs, a Transformer Encoder and Incremental Adaptive Learning to continuously estimate SOH and RUL — adapting to new data without full retraining.</a:t>
            </a:r>
            <a:endParaRPr lang="en-US" sz="1150" dirty="0"/>
          </a:p>
        </p:txBody>
      </p:sp>
      <p:sp>
        <p:nvSpPr>
          <p:cNvPr id="13" name="Text 11"/>
          <p:cNvSpPr/>
          <p:nvPr/>
        </p:nvSpPr>
        <p:spPr>
          <a:xfrm>
            <a:off x="5852160" y="1417320"/>
            <a:ext cx="5879592" cy="256032"/>
          </a:xfrm>
          <a:prstGeom prst="rect">
            <a:avLst/>
          </a:prstGeom>
          <a:noFill/>
          <a:ln/>
        </p:spPr>
        <p:txBody>
          <a:bodyPr wrap="square" rtlCol="0" anchor="ctr"/>
          <a:lstStyle/>
          <a:p>
            <a:pPr indent="0" marL="0">
              <a:buNone/>
            </a:pPr>
            <a:r>
              <a:rPr lang="en-US" sz="1000" b="1" spc="150" kern="0" dirty="0">
                <a:solidFill>
                  <a:srgbClr val="028090"/>
                </a:solidFill>
                <a:latin typeface="Calibri" pitchFamily="34" charset="0"/>
                <a:ea typeface="Calibri" pitchFamily="34" charset="-122"/>
                <a:cs typeface="Calibri" pitchFamily="34" charset="-120"/>
              </a:rPr>
              <a:t>WHERE IT APPLIES</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852160" y="1709928"/>
          <a:ext cx="5879592" cy="914400"/>
        </p:xfrm>
        <a:graphic>
          <a:graphicData uri="http://schemas.openxmlformats.org/drawingml/2006/table">
            <a:tbl>
              <a:tblPr/>
              <a:tblGrid>
                <a:gridCol w="1691640"/>
                <a:gridCol w="4187952"/>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 Case</a:t>
                      </a:r>
                      <a:endParaRPr lang="en-US" sz="110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Impact</a:t>
                      </a:r>
                      <a:endParaRPr lang="en-US" sz="110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B2545"/>
                    </a:solidFill>
                  </a:tcPr>
                </a:tc>
              </a:tr>
              <a:tr h="603504">
                <a:tc>
                  <a:txBody>
                    <a:bodyPr/>
                    <a:lstStyle/>
                    <a:p>
                      <a:pPr indent="0" marL="0">
                        <a:buNone/>
                      </a:pPr>
                      <a:r>
                        <a:rPr lang="en-US" sz="1050" b="1" dirty="0">
                          <a:solidFill>
                            <a:srgbClr val="222B33"/>
                          </a:solidFill>
                          <a:latin typeface="Calibri" pitchFamily="34" charset="0"/>
                          <a:ea typeface="Calibri" pitchFamily="34" charset="-122"/>
                          <a:cs typeface="Calibri" pitchFamily="34" charset="-120"/>
                        </a:rPr>
                        <a:t>Electric Vehicles</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1000" dirty="0">
                          <a:solidFill>
                            <a:srgbClr val="5B6B79"/>
                          </a:solidFill>
                          <a:latin typeface="Calibri" pitchFamily="34" charset="0"/>
                          <a:ea typeface="Calibri" pitchFamily="34" charset="-122"/>
                          <a:cs typeface="Calibri" pitchFamily="34" charset="-120"/>
                        </a:rPr>
                        <a:t>Tesla, BYD, Hyundai, Tata EV, MG — predict battery replacement before failure</a:t>
                      </a:r>
                      <a:endParaRPr lang="en-US" sz="100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222B33"/>
                          </a:solidFill>
                          <a:latin typeface="Calibri" pitchFamily="34" charset="0"/>
                          <a:ea typeface="Calibri" pitchFamily="34" charset="-122"/>
                          <a:cs typeface="Calibri" pitchFamily="34" charset="-120"/>
                        </a:rPr>
                        <a:t>Battery Swapping Stations</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1000" dirty="0">
                          <a:solidFill>
                            <a:srgbClr val="5B6B79"/>
                          </a:solidFill>
                          <a:latin typeface="Calibri" pitchFamily="34" charset="0"/>
                          <a:ea typeface="Calibri" pitchFamily="34" charset="-122"/>
                          <a:cs typeface="Calibri" pitchFamily="34" charset="-120"/>
                        </a:rPr>
                        <a:t>Identify which battery packs should be retired</a:t>
                      </a:r>
                      <a:endParaRPr lang="en-US" sz="100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r>
              <a:tr h="603504">
                <a:tc>
                  <a:txBody>
                    <a:bodyPr/>
                    <a:lstStyle/>
                    <a:p>
                      <a:pPr indent="0" marL="0">
                        <a:buNone/>
                      </a:pPr>
                      <a:r>
                        <a:rPr lang="en-US" sz="1050" b="1" dirty="0">
                          <a:solidFill>
                            <a:srgbClr val="222B33"/>
                          </a:solidFill>
                          <a:latin typeface="Calibri" pitchFamily="34" charset="0"/>
                          <a:ea typeface="Calibri" pitchFamily="34" charset="-122"/>
                          <a:cs typeface="Calibri" pitchFamily="34" charset="-120"/>
                        </a:rPr>
                        <a:t>Solar Energy Storage</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1000" dirty="0">
                          <a:solidFill>
                            <a:srgbClr val="5B6B79"/>
                          </a:solidFill>
                          <a:latin typeface="Calibri" pitchFamily="34" charset="0"/>
                          <a:ea typeface="Calibri" pitchFamily="34" charset="-122"/>
                          <a:cs typeface="Calibri" pitchFamily="34" charset="-120"/>
                        </a:rPr>
                        <a:t>Monitor home batteries and predict maintenance</a:t>
                      </a:r>
                      <a:endParaRPr lang="en-US" sz="100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222B33"/>
                          </a:solidFill>
                          <a:latin typeface="Calibri" pitchFamily="34" charset="0"/>
                          <a:ea typeface="Calibri" pitchFamily="34" charset="-122"/>
                          <a:cs typeface="Calibri" pitchFamily="34" charset="-120"/>
                        </a:rPr>
                        <a:t>Grid-Scale Storage</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1000" dirty="0">
                          <a:solidFill>
                            <a:srgbClr val="5B6B79"/>
                          </a:solidFill>
                          <a:latin typeface="Calibri" pitchFamily="34" charset="0"/>
                          <a:ea typeface="Calibri" pitchFamily="34" charset="-122"/>
                          <a:cs typeface="Calibri" pitchFamily="34" charset="-120"/>
                        </a:rPr>
                        <a:t>Avoid sudden, unplanned battery failures</a:t>
                      </a:r>
                      <a:endParaRPr lang="en-US" sz="100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r>
              <a:tr h="457200">
                <a:tc>
                  <a:txBody>
                    <a:bodyPr/>
                    <a:lstStyle/>
                    <a:p>
                      <a:pPr indent="0" marL="0">
                        <a:buNone/>
                      </a:pPr>
                      <a:r>
                        <a:rPr lang="en-US" sz="1050" b="1" dirty="0">
                          <a:solidFill>
                            <a:srgbClr val="222B33"/>
                          </a:solidFill>
                          <a:latin typeface="Calibri" pitchFamily="34" charset="0"/>
                          <a:ea typeface="Calibri" pitchFamily="34" charset="-122"/>
                          <a:cs typeface="Calibri" pitchFamily="34" charset="-120"/>
                        </a:rPr>
                        <a:t>Drone Batteries</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1000" dirty="0">
                          <a:solidFill>
                            <a:srgbClr val="5B6B79"/>
                          </a:solidFill>
                          <a:latin typeface="Calibri" pitchFamily="34" charset="0"/>
                          <a:ea typeface="Calibri" pitchFamily="34" charset="-122"/>
                          <a:cs typeface="Calibri" pitchFamily="34" charset="-120"/>
                        </a:rPr>
                        <a:t>Estimate safe remaining flying time</a:t>
                      </a:r>
                      <a:endParaRPr lang="en-US" sz="100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222B33"/>
                          </a:solidFill>
                          <a:latin typeface="Calibri" pitchFamily="34" charset="0"/>
                          <a:ea typeface="Calibri" pitchFamily="34" charset="-122"/>
                          <a:cs typeface="Calibri" pitchFamily="34" charset="-120"/>
                        </a:rPr>
                        <a:t>Space Missions</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1000" dirty="0">
                          <a:solidFill>
                            <a:srgbClr val="5B6B79"/>
                          </a:solidFill>
                          <a:latin typeface="Calibri" pitchFamily="34" charset="0"/>
                          <a:ea typeface="Calibri" pitchFamily="34" charset="-122"/>
                          <a:cs typeface="Calibri" pitchFamily="34" charset="-120"/>
                        </a:rPr>
                        <a:t>Battery swaps are impossible — lifetime prediction is critical</a:t>
                      </a:r>
                      <a:endParaRPr lang="en-US" sz="100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r>
              <a:tr h="603504">
                <a:tc>
                  <a:txBody>
                    <a:bodyPr/>
                    <a:lstStyle/>
                    <a:p>
                      <a:pPr indent="0" marL="0">
                        <a:buNone/>
                      </a:pPr>
                      <a:r>
                        <a:rPr lang="en-US" sz="1050" b="1" dirty="0">
                          <a:solidFill>
                            <a:srgbClr val="222B33"/>
                          </a:solidFill>
                          <a:latin typeface="Calibri" pitchFamily="34" charset="0"/>
                          <a:ea typeface="Calibri" pitchFamily="34" charset="-122"/>
                          <a:cs typeface="Calibri" pitchFamily="34" charset="-120"/>
                        </a:rPr>
                        <a:t>Smartphones &amp; Laptops</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1000" dirty="0">
                          <a:solidFill>
                            <a:srgbClr val="5B6B79"/>
                          </a:solidFill>
                          <a:latin typeface="Calibri" pitchFamily="34" charset="0"/>
                          <a:ea typeface="Calibri" pitchFamily="34" charset="-122"/>
                          <a:cs typeface="Calibri" pitchFamily="34" charset="-120"/>
                        </a:rPr>
                        <a:t>Sharper degradation estimates than today's health meters</a:t>
                      </a:r>
                      <a:endParaRPr lang="en-US" sz="100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r>
            </a:tbl>
          </a:graphicData>
        </a:graphic>
      </p:graphicFrame>
      <p:sp>
        <p:nvSpPr>
          <p:cNvPr id="15" name="Text 1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Adaptive PINN Battery Digital Twin</a:t>
            </a:r>
            <a:endParaRPr lang="en-US" sz="900" dirty="0"/>
          </a:p>
        </p:txBody>
      </p:sp>
      <p:sp>
        <p:nvSpPr>
          <p:cNvPr id="16" name="Text 13"/>
          <p:cNvSpPr/>
          <p:nvPr/>
        </p:nvSpPr>
        <p:spPr>
          <a:xfrm>
            <a:off x="11000232" y="6492240"/>
            <a:ext cx="73152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9144000" cy="27432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457200" y="566928"/>
            <a:ext cx="11274552" cy="59436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Problem Statement</a:t>
            </a:r>
            <a:endParaRPr lang="en-US" sz="2800" dirty="0"/>
          </a:p>
        </p:txBody>
      </p:sp>
      <p:sp>
        <p:nvSpPr>
          <p:cNvPr id="4" name="Text 2"/>
          <p:cNvSpPr/>
          <p:nvPr/>
        </p:nvSpPr>
        <p:spPr>
          <a:xfrm>
            <a:off x="457200" y="1371600"/>
            <a:ext cx="11274552" cy="914400"/>
          </a:xfrm>
          <a:prstGeom prst="rect">
            <a:avLst/>
          </a:prstGeom>
          <a:noFill/>
          <a:ln/>
        </p:spPr>
        <p:txBody>
          <a:bodyPr wrap="square" rtlCol="0" anchor="ctr"/>
          <a:lstStyle/>
          <a:p>
            <a:pPr indent="0" marL="0">
              <a:lnSpc>
                <a:spcPts val="1800"/>
              </a:lnSpc>
              <a:buNone/>
            </a:pPr>
            <a:r>
              <a:rPr lang="en-US" sz="1300" dirty="0">
                <a:solidFill>
                  <a:srgbClr val="222B33"/>
                </a:solidFill>
                <a:latin typeface="Calibri" pitchFamily="34" charset="0"/>
                <a:ea typeface="Calibri" pitchFamily="34" charset="-122"/>
                <a:cs typeface="Calibri" pitchFamily="34" charset="-120"/>
              </a:rPr>
              <a:t>Lithium-ion batteries power electric vehicles and renewable energy storage, but their performance degrades with charge cycles, temperature, current load and age. Accurately estimating State of Health (SOH) and Remaining Useful Life (RUL) is essential for safety, reliability and efficient maintenance.</a:t>
            </a:r>
            <a:endParaRPr lang="en-US" sz="1300" dirty="0"/>
          </a:p>
        </p:txBody>
      </p:sp>
      <p:sp>
        <p:nvSpPr>
          <p:cNvPr id="5" name="Shape 3"/>
          <p:cNvSpPr/>
          <p:nvPr/>
        </p:nvSpPr>
        <p:spPr>
          <a:xfrm>
            <a:off x="457200" y="2514600"/>
            <a:ext cx="5408676" cy="3749040"/>
          </a:xfrm>
          <a:prstGeom prst="roundRect">
            <a:avLst>
              <a:gd name="adj" fmla="val 1951"/>
            </a:avLst>
          </a:prstGeom>
          <a:solidFill>
            <a:srgbClr val="F2F6F8"/>
          </a:solidFill>
          <a:ln/>
        </p:spPr>
      </p:sp>
      <p:sp>
        <p:nvSpPr>
          <p:cNvPr id="6" name="Shape 4"/>
          <p:cNvSpPr/>
          <p:nvPr/>
        </p:nvSpPr>
        <p:spPr>
          <a:xfrm>
            <a:off x="731520" y="2788920"/>
            <a:ext cx="457200" cy="457200"/>
          </a:xfrm>
          <a:prstGeom prst="roundRect">
            <a:avLst>
              <a:gd name="adj" fmla="val 50000"/>
            </a:avLst>
          </a:prstGeom>
          <a:solidFill>
            <a:srgbClr val="00A896"/>
          </a:solidFill>
          <a:ln/>
        </p:spPr>
      </p:sp>
      <p:sp>
        <p:nvSpPr>
          <p:cNvPr id="7" name="Text 5"/>
          <p:cNvSpPr/>
          <p:nvPr/>
        </p:nvSpPr>
        <p:spPr>
          <a:xfrm>
            <a:off x="731520" y="3383280"/>
            <a:ext cx="4860036" cy="411480"/>
          </a:xfrm>
          <a:prstGeom prst="rect">
            <a:avLst/>
          </a:prstGeom>
          <a:noFill/>
          <a:ln/>
        </p:spPr>
        <p:txBody>
          <a:bodyPr wrap="square"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Deep Learning Models</a:t>
            </a:r>
            <a:endParaRPr lang="en-US" sz="1700" dirty="0"/>
          </a:p>
        </p:txBody>
      </p:sp>
      <p:sp>
        <p:nvSpPr>
          <p:cNvPr id="8" name="Text 6"/>
          <p:cNvSpPr/>
          <p:nvPr/>
        </p:nvSpPr>
        <p:spPr>
          <a:xfrm>
            <a:off x="731520" y="3931920"/>
            <a:ext cx="4860036" cy="685800"/>
          </a:xfrm>
          <a:prstGeom prst="rect">
            <a:avLst/>
          </a:prstGeom>
          <a:noFill/>
          <a:ln/>
        </p:spPr>
        <p:txBody>
          <a:bodyPr wrap="square" rtlCol="0" anchor="ctr"/>
          <a:lstStyle/>
          <a:p>
            <a:pPr marL="203200" indent="-203200">
              <a:lnSpc>
                <a:spcPts val="1500"/>
              </a:lnSpc>
              <a:buSzPct val="100000"/>
              <a:buChar char="■"/>
            </a:pPr>
            <a:r>
              <a:rPr lang="en-US" sz="1200" dirty="0">
                <a:solidFill>
                  <a:srgbClr val="222B33"/>
                </a:solidFill>
                <a:latin typeface="Calibri" pitchFamily="34" charset="0"/>
                <a:ea typeface="Calibri" pitchFamily="34" charset="-122"/>
                <a:cs typeface="Calibri" pitchFamily="34" charset="-120"/>
              </a:rPr>
              <a:t>Require large volumes of labeled training data</a:t>
            </a:r>
            <a:endParaRPr lang="en-US" sz="1200" dirty="0"/>
          </a:p>
        </p:txBody>
      </p:sp>
      <p:sp>
        <p:nvSpPr>
          <p:cNvPr id="9" name="Text 7"/>
          <p:cNvSpPr/>
          <p:nvPr/>
        </p:nvSpPr>
        <p:spPr>
          <a:xfrm>
            <a:off x="731520" y="4645152"/>
            <a:ext cx="4860036" cy="685800"/>
          </a:xfrm>
          <a:prstGeom prst="rect">
            <a:avLst/>
          </a:prstGeom>
          <a:noFill/>
          <a:ln/>
        </p:spPr>
        <p:txBody>
          <a:bodyPr wrap="square" rtlCol="0" anchor="ctr"/>
          <a:lstStyle/>
          <a:p>
            <a:pPr marL="203200" indent="-203200">
              <a:lnSpc>
                <a:spcPts val="1500"/>
              </a:lnSpc>
              <a:buSzPct val="100000"/>
              <a:buChar char="■"/>
            </a:pPr>
            <a:r>
              <a:rPr lang="en-US" sz="1200" dirty="0">
                <a:solidFill>
                  <a:srgbClr val="222B33"/>
                </a:solidFill>
                <a:latin typeface="Calibri" pitchFamily="34" charset="0"/>
                <a:ea typeface="Calibri" pitchFamily="34" charset="-122"/>
                <a:cs typeface="Calibri" pitchFamily="34" charset="-120"/>
              </a:rPr>
              <a:t>May produce physically inconsistent predictions</a:t>
            </a:r>
            <a:endParaRPr lang="en-US" sz="1200" dirty="0"/>
          </a:p>
        </p:txBody>
      </p:sp>
      <p:sp>
        <p:nvSpPr>
          <p:cNvPr id="10" name="Text 8"/>
          <p:cNvSpPr/>
          <p:nvPr/>
        </p:nvSpPr>
        <p:spPr>
          <a:xfrm>
            <a:off x="731520" y="5358384"/>
            <a:ext cx="4860036" cy="685800"/>
          </a:xfrm>
          <a:prstGeom prst="rect">
            <a:avLst/>
          </a:prstGeom>
          <a:noFill/>
          <a:ln/>
        </p:spPr>
        <p:txBody>
          <a:bodyPr wrap="square" rtlCol="0" anchor="ctr"/>
          <a:lstStyle/>
          <a:p>
            <a:pPr marL="203200" indent="-203200">
              <a:lnSpc>
                <a:spcPts val="1500"/>
              </a:lnSpc>
              <a:buSzPct val="100000"/>
              <a:buChar char="■"/>
            </a:pPr>
            <a:r>
              <a:rPr lang="en-US" sz="1200" dirty="0">
                <a:solidFill>
                  <a:srgbClr val="222B33"/>
                </a:solidFill>
                <a:latin typeface="Calibri" pitchFamily="34" charset="0"/>
                <a:ea typeface="Calibri" pitchFamily="34" charset="-122"/>
                <a:cs typeface="Calibri" pitchFamily="34" charset="-120"/>
              </a:rPr>
              <a:t>Limited generalization to unseen operating conditions</a:t>
            </a:r>
            <a:endParaRPr lang="en-US" sz="1200" dirty="0"/>
          </a:p>
        </p:txBody>
      </p:sp>
      <p:sp>
        <p:nvSpPr>
          <p:cNvPr id="11" name="Shape 9"/>
          <p:cNvSpPr/>
          <p:nvPr/>
        </p:nvSpPr>
        <p:spPr>
          <a:xfrm>
            <a:off x="6323076" y="2514600"/>
            <a:ext cx="5408676" cy="3749040"/>
          </a:xfrm>
          <a:prstGeom prst="roundRect">
            <a:avLst>
              <a:gd name="adj" fmla="val 1951"/>
            </a:avLst>
          </a:prstGeom>
          <a:solidFill>
            <a:srgbClr val="F2F6F8"/>
          </a:solidFill>
          <a:ln/>
        </p:spPr>
      </p:sp>
      <p:sp>
        <p:nvSpPr>
          <p:cNvPr id="12" name="Shape 10"/>
          <p:cNvSpPr/>
          <p:nvPr/>
        </p:nvSpPr>
        <p:spPr>
          <a:xfrm>
            <a:off x="6597396" y="2788920"/>
            <a:ext cx="457200" cy="457200"/>
          </a:xfrm>
          <a:prstGeom prst="roundRect">
            <a:avLst>
              <a:gd name="adj" fmla="val 50000"/>
            </a:avLst>
          </a:prstGeom>
          <a:solidFill>
            <a:srgbClr val="13355E"/>
          </a:solidFill>
          <a:ln/>
        </p:spPr>
      </p:sp>
      <p:sp>
        <p:nvSpPr>
          <p:cNvPr id="13" name="Text 11"/>
          <p:cNvSpPr/>
          <p:nvPr/>
        </p:nvSpPr>
        <p:spPr>
          <a:xfrm>
            <a:off x="6597396" y="3383280"/>
            <a:ext cx="4860036" cy="411480"/>
          </a:xfrm>
          <a:prstGeom prst="rect">
            <a:avLst/>
          </a:prstGeom>
          <a:noFill/>
          <a:ln/>
        </p:spPr>
        <p:txBody>
          <a:bodyPr wrap="square"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Physics-Based Models</a:t>
            </a:r>
            <a:endParaRPr lang="en-US" sz="1700" dirty="0"/>
          </a:p>
        </p:txBody>
      </p:sp>
      <p:sp>
        <p:nvSpPr>
          <p:cNvPr id="14" name="Text 12"/>
          <p:cNvSpPr/>
          <p:nvPr/>
        </p:nvSpPr>
        <p:spPr>
          <a:xfrm>
            <a:off x="6597396" y="3931920"/>
            <a:ext cx="4860036" cy="685800"/>
          </a:xfrm>
          <a:prstGeom prst="rect">
            <a:avLst/>
          </a:prstGeom>
          <a:noFill/>
          <a:ln/>
        </p:spPr>
        <p:txBody>
          <a:bodyPr wrap="square" rtlCol="0" anchor="ctr"/>
          <a:lstStyle/>
          <a:p>
            <a:pPr marL="203200" indent="-203200">
              <a:lnSpc>
                <a:spcPts val="1500"/>
              </a:lnSpc>
              <a:buSzPct val="100000"/>
              <a:buChar char="■"/>
            </a:pPr>
            <a:r>
              <a:rPr lang="en-US" sz="1200" dirty="0">
                <a:solidFill>
                  <a:srgbClr val="222B33"/>
                </a:solidFill>
                <a:latin typeface="Calibri" pitchFamily="34" charset="0"/>
                <a:ea typeface="Calibri" pitchFamily="34" charset="-122"/>
                <a:cs typeface="Calibri" pitchFamily="34" charset="-120"/>
              </a:rPr>
              <a:t>Computationally expensive to run</a:t>
            </a:r>
            <a:endParaRPr lang="en-US" sz="1200" dirty="0"/>
          </a:p>
        </p:txBody>
      </p:sp>
      <p:sp>
        <p:nvSpPr>
          <p:cNvPr id="15" name="Text 13"/>
          <p:cNvSpPr/>
          <p:nvPr/>
        </p:nvSpPr>
        <p:spPr>
          <a:xfrm>
            <a:off x="6597396" y="4645152"/>
            <a:ext cx="4860036" cy="685800"/>
          </a:xfrm>
          <a:prstGeom prst="rect">
            <a:avLst/>
          </a:prstGeom>
          <a:noFill/>
          <a:ln/>
        </p:spPr>
        <p:txBody>
          <a:bodyPr wrap="square" rtlCol="0" anchor="ctr"/>
          <a:lstStyle/>
          <a:p>
            <a:pPr marL="203200" indent="-203200">
              <a:lnSpc>
                <a:spcPts val="1500"/>
              </a:lnSpc>
              <a:buSzPct val="100000"/>
              <a:buChar char="■"/>
            </a:pPr>
            <a:r>
              <a:rPr lang="en-US" sz="1200" dirty="0">
                <a:solidFill>
                  <a:srgbClr val="222B33"/>
                </a:solidFill>
                <a:latin typeface="Calibri" pitchFamily="34" charset="0"/>
                <a:ea typeface="Calibri" pitchFamily="34" charset="-122"/>
                <a:cs typeface="Calibri" pitchFamily="34" charset="-120"/>
              </a:rPr>
              <a:t>Difficult to deploy for real-time estimation</a:t>
            </a:r>
            <a:endParaRPr lang="en-US" sz="1200" dirty="0"/>
          </a:p>
        </p:txBody>
      </p:sp>
      <p:sp>
        <p:nvSpPr>
          <p:cNvPr id="16" name="Text 14"/>
          <p:cNvSpPr/>
          <p:nvPr/>
        </p:nvSpPr>
        <p:spPr>
          <a:xfrm>
            <a:off x="6597396" y="5358384"/>
            <a:ext cx="4860036" cy="685800"/>
          </a:xfrm>
          <a:prstGeom prst="rect">
            <a:avLst/>
          </a:prstGeom>
          <a:noFill/>
          <a:ln/>
        </p:spPr>
        <p:txBody>
          <a:bodyPr wrap="square" rtlCol="0" anchor="ctr"/>
          <a:lstStyle/>
          <a:p>
            <a:pPr marL="203200" indent="-203200">
              <a:lnSpc>
                <a:spcPts val="1500"/>
              </a:lnSpc>
              <a:buSzPct val="100000"/>
              <a:buChar char="■"/>
            </a:pPr>
            <a:r>
              <a:rPr lang="en-US" sz="1200" dirty="0">
                <a:solidFill>
                  <a:srgbClr val="222B33"/>
                </a:solidFill>
                <a:latin typeface="Calibri" pitchFamily="34" charset="0"/>
                <a:ea typeface="Calibri" pitchFamily="34" charset="-122"/>
                <a:cs typeface="Calibri" pitchFamily="34" charset="-120"/>
              </a:rPr>
              <a:t>Rely on complex electrochemical simulations</a:t>
            </a:r>
            <a:endParaRPr lang="en-US" sz="1200" dirty="0"/>
          </a:p>
        </p:txBody>
      </p:sp>
      <p:sp>
        <p:nvSpPr>
          <p:cNvPr id="17" name="Text 1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Adaptive PINN Battery Digital Twin</a:t>
            </a:r>
            <a:endParaRPr lang="en-US" sz="900" dirty="0"/>
          </a:p>
        </p:txBody>
      </p:sp>
      <p:sp>
        <p:nvSpPr>
          <p:cNvPr id="18" name="Text 16"/>
          <p:cNvSpPr/>
          <p:nvPr/>
        </p:nvSpPr>
        <p:spPr>
          <a:xfrm>
            <a:off x="11000232" y="6492240"/>
            <a:ext cx="73152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9144000" cy="27432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457200" y="566928"/>
            <a:ext cx="11274552" cy="59436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Proposed Approach &amp; Architecture</a:t>
            </a:r>
            <a:endParaRPr lang="en-US" sz="2800" dirty="0"/>
          </a:p>
        </p:txBody>
      </p:sp>
      <p:sp>
        <p:nvSpPr>
          <p:cNvPr id="4" name="Text 2"/>
          <p:cNvSpPr/>
          <p:nvPr/>
        </p:nvSpPr>
        <p:spPr>
          <a:xfrm>
            <a:off x="457200" y="1371600"/>
            <a:ext cx="11274552" cy="685800"/>
          </a:xfrm>
          <a:prstGeom prst="rect">
            <a:avLst/>
          </a:prstGeom>
          <a:noFill/>
          <a:ln/>
        </p:spPr>
        <p:txBody>
          <a:bodyPr wrap="square" rtlCol="0" anchor="ctr"/>
          <a:lstStyle/>
          <a:p>
            <a:pPr indent="0" marL="0">
              <a:lnSpc>
                <a:spcPts val="1600"/>
              </a:lnSpc>
              <a:buNone/>
            </a:pPr>
            <a:r>
              <a:rPr lang="en-US" sz="1250" dirty="0">
                <a:solidFill>
                  <a:srgbClr val="222B33"/>
                </a:solidFill>
                <a:latin typeface="Calibri" pitchFamily="34" charset="0"/>
                <a:ea typeface="Calibri" pitchFamily="34" charset="-122"/>
                <a:cs typeface="Calibri" pitchFamily="34" charset="-120"/>
              </a:rPr>
              <a:t>Real-time sensor data, electrochemical battery physics and deep learning combine to estimate SOH and RUL. The Digital Twin continuously adapts to new battery behaviour through incremental learning — no full retraining required.</a:t>
            </a:r>
            <a:endParaRPr lang="en-US" sz="1250" dirty="0"/>
          </a:p>
        </p:txBody>
      </p:sp>
      <p:sp>
        <p:nvSpPr>
          <p:cNvPr id="5" name="Shape 3"/>
          <p:cNvSpPr/>
          <p:nvPr/>
        </p:nvSpPr>
        <p:spPr>
          <a:xfrm>
            <a:off x="457200" y="2377440"/>
            <a:ext cx="1859890" cy="2331720"/>
          </a:xfrm>
          <a:prstGeom prst="roundRect">
            <a:avLst>
              <a:gd name="adj" fmla="val 3441"/>
            </a:avLst>
          </a:prstGeom>
          <a:solidFill>
            <a:srgbClr val="F2F6F8"/>
          </a:solidFill>
          <a:ln/>
        </p:spPr>
      </p:sp>
      <p:sp>
        <p:nvSpPr>
          <p:cNvPr id="6" name="Shape 4"/>
          <p:cNvSpPr/>
          <p:nvPr/>
        </p:nvSpPr>
        <p:spPr>
          <a:xfrm>
            <a:off x="603504" y="2560320"/>
            <a:ext cx="310896" cy="310896"/>
          </a:xfrm>
          <a:prstGeom prst="roundRect">
            <a:avLst>
              <a:gd name="adj" fmla="val 50000"/>
            </a:avLst>
          </a:prstGeom>
          <a:solidFill>
            <a:srgbClr val="00A896"/>
          </a:solidFill>
          <a:ln/>
        </p:spPr>
      </p:sp>
      <p:sp>
        <p:nvSpPr>
          <p:cNvPr id="7" name="Text 5"/>
          <p:cNvSpPr/>
          <p:nvPr/>
        </p:nvSpPr>
        <p:spPr>
          <a:xfrm>
            <a:off x="603504" y="256032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603504" y="2999232"/>
            <a:ext cx="1567282" cy="566928"/>
          </a:xfrm>
          <a:prstGeom prst="rect">
            <a:avLst/>
          </a:prstGeom>
          <a:noFill/>
          <a:ln/>
        </p:spPr>
        <p:txBody>
          <a:bodyPr wrap="square" rtlCol="0" anchor="ctr"/>
          <a:lstStyle/>
          <a:p>
            <a:pPr indent="0" marL="0">
              <a:lnSpc>
                <a:spcPts val="1400"/>
              </a:lnSpc>
              <a:buNone/>
            </a:pPr>
            <a:r>
              <a:rPr lang="en-US" sz="1250" b="1" dirty="0">
                <a:solidFill>
                  <a:srgbClr val="0B2545"/>
                </a:solidFill>
                <a:latin typeface="Cambria" pitchFamily="34" charset="0"/>
                <a:ea typeface="Cambria" pitchFamily="34" charset="-122"/>
                <a:cs typeface="Cambria" pitchFamily="34" charset="-120"/>
              </a:rPr>
              <a:t>Historical Battery Dataset</a:t>
            </a:r>
            <a:endParaRPr lang="en-US" sz="1250" dirty="0"/>
          </a:p>
        </p:txBody>
      </p:sp>
      <p:sp>
        <p:nvSpPr>
          <p:cNvPr id="9" name="Text 7"/>
          <p:cNvSpPr/>
          <p:nvPr/>
        </p:nvSpPr>
        <p:spPr>
          <a:xfrm>
            <a:off x="603504" y="3584448"/>
            <a:ext cx="1567282" cy="1005840"/>
          </a:xfrm>
          <a:prstGeom prst="rect">
            <a:avLst/>
          </a:prstGeom>
          <a:noFill/>
          <a:ln/>
        </p:spPr>
        <p:txBody>
          <a:bodyPr wrap="square" rtlCol="0" anchor="ctr"/>
          <a:lstStyle/>
          <a:p>
            <a:pPr indent="0" marL="0">
              <a:lnSpc>
                <a:spcPts val="1250"/>
              </a:lnSpc>
              <a:buNone/>
            </a:pPr>
            <a:r>
              <a:rPr lang="en-US" sz="1000" dirty="0">
                <a:solidFill>
                  <a:srgbClr val="5B6B79"/>
                </a:solidFill>
                <a:latin typeface="Calibri" pitchFamily="34" charset="0"/>
                <a:ea typeface="Calibri" pitchFamily="34" charset="-122"/>
                <a:cs typeface="Calibri" pitchFamily="34" charset="-120"/>
              </a:rPr>
              <a:t>Voltage, current, temperature and cycling history feed the pipeline.</a:t>
            </a:r>
            <a:endParaRPr lang="en-US" sz="1000" dirty="0"/>
          </a:p>
        </p:txBody>
      </p:sp>
      <p:sp>
        <p:nvSpPr>
          <p:cNvPr id="10" name="Shape 8"/>
          <p:cNvSpPr/>
          <p:nvPr/>
        </p:nvSpPr>
        <p:spPr>
          <a:xfrm>
            <a:off x="2347265" y="3415284"/>
            <a:ext cx="292608" cy="256032"/>
          </a:xfrm>
          <a:prstGeom prst="chevron">
            <a:avLst/>
          </a:prstGeom>
          <a:solidFill>
            <a:srgbClr val="00A896"/>
          </a:solidFill>
          <a:ln/>
        </p:spPr>
      </p:sp>
      <p:sp>
        <p:nvSpPr>
          <p:cNvPr id="11" name="Shape 9"/>
          <p:cNvSpPr/>
          <p:nvPr/>
        </p:nvSpPr>
        <p:spPr>
          <a:xfrm>
            <a:off x="2810866" y="2377440"/>
            <a:ext cx="1859890" cy="2331720"/>
          </a:xfrm>
          <a:prstGeom prst="roundRect">
            <a:avLst>
              <a:gd name="adj" fmla="val 3441"/>
            </a:avLst>
          </a:prstGeom>
          <a:solidFill>
            <a:srgbClr val="F2F6F8"/>
          </a:solidFill>
          <a:ln/>
        </p:spPr>
      </p:sp>
      <p:sp>
        <p:nvSpPr>
          <p:cNvPr id="12" name="Shape 10"/>
          <p:cNvSpPr/>
          <p:nvPr/>
        </p:nvSpPr>
        <p:spPr>
          <a:xfrm>
            <a:off x="2957170" y="2560320"/>
            <a:ext cx="310896" cy="310896"/>
          </a:xfrm>
          <a:prstGeom prst="roundRect">
            <a:avLst>
              <a:gd name="adj" fmla="val 50000"/>
            </a:avLst>
          </a:prstGeom>
          <a:solidFill>
            <a:srgbClr val="00A896"/>
          </a:solidFill>
          <a:ln/>
        </p:spPr>
      </p:sp>
      <p:sp>
        <p:nvSpPr>
          <p:cNvPr id="13" name="Text 11"/>
          <p:cNvSpPr/>
          <p:nvPr/>
        </p:nvSpPr>
        <p:spPr>
          <a:xfrm>
            <a:off x="2957170" y="256032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2957170" y="2999232"/>
            <a:ext cx="1567282" cy="566928"/>
          </a:xfrm>
          <a:prstGeom prst="rect">
            <a:avLst/>
          </a:prstGeom>
          <a:noFill/>
          <a:ln/>
        </p:spPr>
        <p:txBody>
          <a:bodyPr wrap="square" rtlCol="0" anchor="ctr"/>
          <a:lstStyle/>
          <a:p>
            <a:pPr indent="0" marL="0">
              <a:lnSpc>
                <a:spcPts val="1400"/>
              </a:lnSpc>
              <a:buNone/>
            </a:pPr>
            <a:r>
              <a:rPr lang="en-US" sz="1250" b="1" dirty="0">
                <a:solidFill>
                  <a:srgbClr val="0B2545"/>
                </a:solidFill>
                <a:latin typeface="Cambria" pitchFamily="34" charset="0"/>
                <a:ea typeface="Cambria" pitchFamily="34" charset="-122"/>
                <a:cs typeface="Cambria" pitchFamily="34" charset="-120"/>
              </a:rPr>
              <a:t>Transformer Encoder</a:t>
            </a:r>
            <a:endParaRPr lang="en-US" sz="1250" dirty="0"/>
          </a:p>
        </p:txBody>
      </p:sp>
      <p:sp>
        <p:nvSpPr>
          <p:cNvPr id="15" name="Text 13"/>
          <p:cNvSpPr/>
          <p:nvPr/>
        </p:nvSpPr>
        <p:spPr>
          <a:xfrm>
            <a:off x="2957170" y="3584448"/>
            <a:ext cx="1567282" cy="1005840"/>
          </a:xfrm>
          <a:prstGeom prst="rect">
            <a:avLst/>
          </a:prstGeom>
          <a:noFill/>
          <a:ln/>
        </p:spPr>
        <p:txBody>
          <a:bodyPr wrap="square" rtlCol="0" anchor="ctr"/>
          <a:lstStyle/>
          <a:p>
            <a:pPr indent="0" marL="0">
              <a:lnSpc>
                <a:spcPts val="1250"/>
              </a:lnSpc>
              <a:buNone/>
            </a:pPr>
            <a:r>
              <a:rPr lang="en-US" sz="1000" dirty="0">
                <a:solidFill>
                  <a:srgbClr val="5B6B79"/>
                </a:solidFill>
                <a:latin typeface="Calibri" pitchFamily="34" charset="0"/>
                <a:ea typeface="Calibri" pitchFamily="34" charset="-122"/>
                <a:cs typeface="Calibri" pitchFamily="34" charset="-120"/>
              </a:rPr>
              <a:t>Learns long-term degradation patterns across sensor streams.</a:t>
            </a:r>
            <a:endParaRPr lang="en-US" sz="1000" dirty="0"/>
          </a:p>
        </p:txBody>
      </p:sp>
      <p:sp>
        <p:nvSpPr>
          <p:cNvPr id="16" name="Shape 14"/>
          <p:cNvSpPr/>
          <p:nvPr/>
        </p:nvSpPr>
        <p:spPr>
          <a:xfrm>
            <a:off x="4700930" y="3415284"/>
            <a:ext cx="292608" cy="256032"/>
          </a:xfrm>
          <a:prstGeom prst="chevron">
            <a:avLst/>
          </a:prstGeom>
          <a:solidFill>
            <a:srgbClr val="00A896"/>
          </a:solidFill>
          <a:ln/>
        </p:spPr>
      </p:sp>
      <p:sp>
        <p:nvSpPr>
          <p:cNvPr id="17" name="Shape 15"/>
          <p:cNvSpPr/>
          <p:nvPr/>
        </p:nvSpPr>
        <p:spPr>
          <a:xfrm>
            <a:off x="5164531" y="2377440"/>
            <a:ext cx="1859890" cy="2331720"/>
          </a:xfrm>
          <a:prstGeom prst="roundRect">
            <a:avLst>
              <a:gd name="adj" fmla="val 3441"/>
            </a:avLst>
          </a:prstGeom>
          <a:solidFill>
            <a:srgbClr val="F2F6F8"/>
          </a:solidFill>
          <a:ln/>
        </p:spPr>
      </p:sp>
      <p:sp>
        <p:nvSpPr>
          <p:cNvPr id="18" name="Shape 16"/>
          <p:cNvSpPr/>
          <p:nvPr/>
        </p:nvSpPr>
        <p:spPr>
          <a:xfrm>
            <a:off x="5310835" y="2560320"/>
            <a:ext cx="310896" cy="310896"/>
          </a:xfrm>
          <a:prstGeom prst="roundRect">
            <a:avLst>
              <a:gd name="adj" fmla="val 50000"/>
            </a:avLst>
          </a:prstGeom>
          <a:solidFill>
            <a:srgbClr val="00A896"/>
          </a:solidFill>
          <a:ln/>
        </p:spPr>
      </p:sp>
      <p:sp>
        <p:nvSpPr>
          <p:cNvPr id="19" name="Text 17"/>
          <p:cNvSpPr/>
          <p:nvPr/>
        </p:nvSpPr>
        <p:spPr>
          <a:xfrm>
            <a:off x="5310835" y="256032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5310835" y="2999232"/>
            <a:ext cx="1567282" cy="566928"/>
          </a:xfrm>
          <a:prstGeom prst="rect">
            <a:avLst/>
          </a:prstGeom>
          <a:noFill/>
          <a:ln/>
        </p:spPr>
        <p:txBody>
          <a:bodyPr wrap="square" rtlCol="0" anchor="ctr"/>
          <a:lstStyle/>
          <a:p>
            <a:pPr indent="0" marL="0">
              <a:lnSpc>
                <a:spcPts val="1400"/>
              </a:lnSpc>
              <a:buNone/>
            </a:pPr>
            <a:r>
              <a:rPr lang="en-US" sz="1250" b="1" dirty="0">
                <a:solidFill>
                  <a:srgbClr val="0B2545"/>
                </a:solidFill>
                <a:latin typeface="Cambria" pitchFamily="34" charset="0"/>
                <a:ea typeface="Cambria" pitchFamily="34" charset="-122"/>
                <a:cs typeface="Cambria" pitchFamily="34" charset="-120"/>
              </a:rPr>
              <a:t>PINN Layer</a:t>
            </a:r>
            <a:endParaRPr lang="en-US" sz="1250" dirty="0"/>
          </a:p>
        </p:txBody>
      </p:sp>
      <p:sp>
        <p:nvSpPr>
          <p:cNvPr id="21" name="Text 19"/>
          <p:cNvSpPr/>
          <p:nvPr/>
        </p:nvSpPr>
        <p:spPr>
          <a:xfrm>
            <a:off x="5310835" y="3584448"/>
            <a:ext cx="1567282" cy="1005840"/>
          </a:xfrm>
          <a:prstGeom prst="rect">
            <a:avLst/>
          </a:prstGeom>
          <a:noFill/>
          <a:ln/>
        </p:spPr>
        <p:txBody>
          <a:bodyPr wrap="square" rtlCol="0" anchor="ctr"/>
          <a:lstStyle/>
          <a:p>
            <a:pPr indent="0" marL="0">
              <a:lnSpc>
                <a:spcPts val="1250"/>
              </a:lnSpc>
              <a:buNone/>
            </a:pPr>
            <a:r>
              <a:rPr lang="en-US" sz="1000" dirty="0">
                <a:solidFill>
                  <a:srgbClr val="5B6B79"/>
                </a:solidFill>
                <a:latin typeface="Calibri" pitchFamily="34" charset="0"/>
                <a:ea typeface="Calibri" pitchFamily="34" charset="-122"/>
                <a:cs typeface="Calibri" pitchFamily="34" charset="-120"/>
              </a:rPr>
              <a:t>Embeds electrochemical physics so outputs stay physically consistent.</a:t>
            </a:r>
            <a:endParaRPr lang="en-US" sz="1000" dirty="0"/>
          </a:p>
        </p:txBody>
      </p:sp>
      <p:sp>
        <p:nvSpPr>
          <p:cNvPr id="22" name="Shape 20"/>
          <p:cNvSpPr/>
          <p:nvPr/>
        </p:nvSpPr>
        <p:spPr>
          <a:xfrm>
            <a:off x="7054596" y="3415284"/>
            <a:ext cx="292608" cy="256032"/>
          </a:xfrm>
          <a:prstGeom prst="chevron">
            <a:avLst/>
          </a:prstGeom>
          <a:solidFill>
            <a:srgbClr val="00A896"/>
          </a:solidFill>
          <a:ln/>
        </p:spPr>
      </p:sp>
      <p:sp>
        <p:nvSpPr>
          <p:cNvPr id="23" name="Shape 21"/>
          <p:cNvSpPr/>
          <p:nvPr/>
        </p:nvSpPr>
        <p:spPr>
          <a:xfrm>
            <a:off x="7518197" y="2377440"/>
            <a:ext cx="1859890" cy="2331720"/>
          </a:xfrm>
          <a:prstGeom prst="roundRect">
            <a:avLst>
              <a:gd name="adj" fmla="val 3441"/>
            </a:avLst>
          </a:prstGeom>
          <a:solidFill>
            <a:srgbClr val="F2F6F8"/>
          </a:solidFill>
          <a:ln/>
        </p:spPr>
      </p:sp>
      <p:sp>
        <p:nvSpPr>
          <p:cNvPr id="24" name="Shape 22"/>
          <p:cNvSpPr/>
          <p:nvPr/>
        </p:nvSpPr>
        <p:spPr>
          <a:xfrm>
            <a:off x="7664501" y="2560320"/>
            <a:ext cx="310896" cy="310896"/>
          </a:xfrm>
          <a:prstGeom prst="roundRect">
            <a:avLst>
              <a:gd name="adj" fmla="val 50000"/>
            </a:avLst>
          </a:prstGeom>
          <a:solidFill>
            <a:srgbClr val="00A896"/>
          </a:solidFill>
          <a:ln/>
        </p:spPr>
      </p:sp>
      <p:sp>
        <p:nvSpPr>
          <p:cNvPr id="25" name="Text 23"/>
          <p:cNvSpPr/>
          <p:nvPr/>
        </p:nvSpPr>
        <p:spPr>
          <a:xfrm>
            <a:off x="7664501" y="256032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7664501" y="2999232"/>
            <a:ext cx="1567282" cy="566928"/>
          </a:xfrm>
          <a:prstGeom prst="rect">
            <a:avLst/>
          </a:prstGeom>
          <a:noFill/>
          <a:ln/>
        </p:spPr>
        <p:txBody>
          <a:bodyPr wrap="square" rtlCol="0" anchor="ctr"/>
          <a:lstStyle/>
          <a:p>
            <a:pPr indent="0" marL="0">
              <a:lnSpc>
                <a:spcPts val="1400"/>
              </a:lnSpc>
              <a:buNone/>
            </a:pPr>
            <a:r>
              <a:rPr lang="en-US" sz="1250" b="1" dirty="0">
                <a:solidFill>
                  <a:srgbClr val="0B2545"/>
                </a:solidFill>
                <a:latin typeface="Cambria" pitchFamily="34" charset="0"/>
                <a:ea typeface="Cambria" pitchFamily="34" charset="-122"/>
                <a:cs typeface="Cambria" pitchFamily="34" charset="-120"/>
              </a:rPr>
              <a:t>Feedforward NN</a:t>
            </a:r>
            <a:endParaRPr lang="en-US" sz="1250" dirty="0"/>
          </a:p>
        </p:txBody>
      </p:sp>
      <p:sp>
        <p:nvSpPr>
          <p:cNvPr id="27" name="Text 25"/>
          <p:cNvSpPr/>
          <p:nvPr/>
        </p:nvSpPr>
        <p:spPr>
          <a:xfrm>
            <a:off x="7664501" y="3584448"/>
            <a:ext cx="1567282" cy="1005840"/>
          </a:xfrm>
          <a:prstGeom prst="rect">
            <a:avLst/>
          </a:prstGeom>
          <a:noFill/>
          <a:ln/>
        </p:spPr>
        <p:txBody>
          <a:bodyPr wrap="square" rtlCol="0" anchor="ctr"/>
          <a:lstStyle/>
          <a:p>
            <a:pPr indent="0" marL="0">
              <a:lnSpc>
                <a:spcPts val="1250"/>
              </a:lnSpc>
              <a:buNone/>
            </a:pPr>
            <a:r>
              <a:rPr lang="en-US" sz="1000" dirty="0">
                <a:solidFill>
                  <a:srgbClr val="5B6B79"/>
                </a:solidFill>
                <a:latin typeface="Calibri" pitchFamily="34" charset="0"/>
                <a:ea typeface="Calibri" pitchFamily="34" charset="-122"/>
                <a:cs typeface="Calibri" pitchFamily="34" charset="-120"/>
              </a:rPr>
              <a:t>Produces final SOH and RUL predictions.</a:t>
            </a:r>
            <a:endParaRPr lang="en-US" sz="1000" dirty="0"/>
          </a:p>
        </p:txBody>
      </p:sp>
      <p:sp>
        <p:nvSpPr>
          <p:cNvPr id="28" name="Shape 26"/>
          <p:cNvSpPr/>
          <p:nvPr/>
        </p:nvSpPr>
        <p:spPr>
          <a:xfrm>
            <a:off x="9408262" y="3415284"/>
            <a:ext cx="292608" cy="256032"/>
          </a:xfrm>
          <a:prstGeom prst="chevron">
            <a:avLst/>
          </a:prstGeom>
          <a:solidFill>
            <a:srgbClr val="00A896"/>
          </a:solidFill>
          <a:ln/>
        </p:spPr>
      </p:sp>
      <p:sp>
        <p:nvSpPr>
          <p:cNvPr id="29" name="Shape 27"/>
          <p:cNvSpPr/>
          <p:nvPr/>
        </p:nvSpPr>
        <p:spPr>
          <a:xfrm>
            <a:off x="9871862" y="2377440"/>
            <a:ext cx="1859890" cy="2331720"/>
          </a:xfrm>
          <a:prstGeom prst="roundRect">
            <a:avLst>
              <a:gd name="adj" fmla="val 3441"/>
            </a:avLst>
          </a:prstGeom>
          <a:solidFill>
            <a:srgbClr val="0B2545"/>
          </a:solidFill>
          <a:ln/>
        </p:spPr>
      </p:sp>
      <p:sp>
        <p:nvSpPr>
          <p:cNvPr id="30" name="Shape 28"/>
          <p:cNvSpPr/>
          <p:nvPr/>
        </p:nvSpPr>
        <p:spPr>
          <a:xfrm>
            <a:off x="10018166" y="2560320"/>
            <a:ext cx="310896" cy="310896"/>
          </a:xfrm>
          <a:prstGeom prst="roundRect">
            <a:avLst>
              <a:gd name="adj" fmla="val 50000"/>
            </a:avLst>
          </a:prstGeom>
          <a:solidFill>
            <a:srgbClr val="00A896"/>
          </a:solidFill>
          <a:ln/>
        </p:spPr>
      </p:sp>
      <p:sp>
        <p:nvSpPr>
          <p:cNvPr id="31" name="Text 29"/>
          <p:cNvSpPr/>
          <p:nvPr/>
        </p:nvSpPr>
        <p:spPr>
          <a:xfrm>
            <a:off x="10018166" y="256032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10018166" y="2999232"/>
            <a:ext cx="1567282" cy="566928"/>
          </a:xfrm>
          <a:prstGeom prst="rect">
            <a:avLst/>
          </a:prstGeom>
          <a:noFill/>
          <a:ln/>
        </p:spPr>
        <p:txBody>
          <a:bodyPr wrap="square" rtlCol="0" anchor="ctr"/>
          <a:lstStyle/>
          <a:p>
            <a:pPr indent="0" marL="0">
              <a:lnSpc>
                <a:spcPts val="1400"/>
              </a:lnSpc>
              <a:buNone/>
            </a:pPr>
            <a:r>
              <a:rPr lang="en-US" sz="1250" b="1" dirty="0">
                <a:solidFill>
                  <a:srgbClr val="FFFFFF"/>
                </a:solidFill>
                <a:latin typeface="Cambria" pitchFamily="34" charset="0"/>
                <a:ea typeface="Cambria" pitchFamily="34" charset="-122"/>
                <a:cs typeface="Cambria" pitchFamily="34" charset="-120"/>
              </a:rPr>
              <a:t>Adaptive Learning Module</a:t>
            </a:r>
            <a:endParaRPr lang="en-US" sz="1250" dirty="0"/>
          </a:p>
        </p:txBody>
      </p:sp>
      <p:sp>
        <p:nvSpPr>
          <p:cNvPr id="33" name="Text 31"/>
          <p:cNvSpPr/>
          <p:nvPr/>
        </p:nvSpPr>
        <p:spPr>
          <a:xfrm>
            <a:off x="10018166" y="3584448"/>
            <a:ext cx="1567282" cy="1005840"/>
          </a:xfrm>
          <a:prstGeom prst="rect">
            <a:avLst/>
          </a:prstGeom>
          <a:noFill/>
          <a:ln/>
        </p:spPr>
        <p:txBody>
          <a:bodyPr wrap="square" rtlCol="0" anchor="ctr"/>
          <a:lstStyle/>
          <a:p>
            <a:pPr indent="0" marL="0">
              <a:lnSpc>
                <a:spcPts val="1250"/>
              </a:lnSpc>
              <a:buNone/>
            </a:pPr>
            <a:r>
              <a:rPr lang="en-US" sz="1000" dirty="0">
                <a:solidFill>
                  <a:srgbClr val="CBDCE8"/>
                </a:solidFill>
                <a:latin typeface="Calibri" pitchFamily="34" charset="0"/>
                <a:ea typeface="Calibri" pitchFamily="34" charset="-122"/>
                <a:cs typeface="Calibri" pitchFamily="34" charset="-120"/>
              </a:rPr>
              <a:t>Detects behaviour shifts and updates the twin incrementally.</a:t>
            </a:r>
            <a:endParaRPr lang="en-US" sz="1000" dirty="0"/>
          </a:p>
        </p:txBody>
      </p:sp>
      <p:sp>
        <p:nvSpPr>
          <p:cNvPr id="34" name="Text 3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Adaptive PINN Battery Digital Twin</a:t>
            </a:r>
            <a:endParaRPr lang="en-US" sz="900" dirty="0"/>
          </a:p>
        </p:txBody>
      </p:sp>
      <p:sp>
        <p:nvSpPr>
          <p:cNvPr id="35" name="Text 33"/>
          <p:cNvSpPr/>
          <p:nvPr/>
        </p:nvSpPr>
        <p:spPr>
          <a:xfrm>
            <a:off x="11000232" y="6492240"/>
            <a:ext cx="73152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9144000" cy="27432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FOUNDATION REFERENCE</a:t>
            </a:r>
            <a:endParaRPr lang="en-US" sz="1200" dirty="0"/>
          </a:p>
        </p:txBody>
      </p:sp>
      <p:sp>
        <p:nvSpPr>
          <p:cNvPr id="3" name="Text 1"/>
          <p:cNvSpPr/>
          <p:nvPr/>
        </p:nvSpPr>
        <p:spPr>
          <a:xfrm>
            <a:off x="457200" y="566928"/>
            <a:ext cx="11274552" cy="59436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Base Paper</a:t>
            </a:r>
            <a:endParaRPr lang="en-US" sz="2800" dirty="0"/>
          </a:p>
        </p:txBody>
      </p:sp>
      <p:sp>
        <p:nvSpPr>
          <p:cNvPr id="4" name="Shape 2"/>
          <p:cNvSpPr/>
          <p:nvPr/>
        </p:nvSpPr>
        <p:spPr>
          <a:xfrm>
            <a:off x="457200" y="1417320"/>
            <a:ext cx="11274552" cy="1417320"/>
          </a:xfrm>
          <a:prstGeom prst="roundRect">
            <a:avLst>
              <a:gd name="adj" fmla="val 5161"/>
            </a:avLst>
          </a:prstGeom>
          <a:solidFill>
            <a:srgbClr val="0B2545"/>
          </a:solidFill>
          <a:ln/>
        </p:spPr>
      </p:sp>
      <p:sp>
        <p:nvSpPr>
          <p:cNvPr id="5" name="Text 3"/>
          <p:cNvSpPr/>
          <p:nvPr/>
        </p:nvSpPr>
        <p:spPr>
          <a:xfrm>
            <a:off x="822960" y="1600200"/>
            <a:ext cx="10543032" cy="777240"/>
          </a:xfrm>
          <a:prstGeom prst="rect">
            <a:avLst/>
          </a:prstGeom>
          <a:noFill/>
          <a:ln/>
        </p:spPr>
        <p:txBody>
          <a:bodyPr wrap="square" rtlCol="0" anchor="ctr"/>
          <a:lstStyle/>
          <a:p>
            <a:pPr indent="0" marL="0">
              <a:lnSpc>
                <a:spcPts val="2200"/>
              </a:lnSpc>
              <a:buNone/>
            </a:pPr>
            <a:r>
              <a:rPr lang="en-US" sz="1800" b="1" i="1" dirty="0">
                <a:solidFill>
                  <a:srgbClr val="FFFFFF"/>
                </a:solidFill>
                <a:latin typeface="Cambria" pitchFamily="34" charset="0"/>
                <a:ea typeface="Cambria" pitchFamily="34" charset="-122"/>
                <a:cs typeface="Cambria" pitchFamily="34" charset="-120"/>
              </a:rPr>
              <a:t>Physics-Informed Neural Networks for Battery Modeling and State Estimation: A Methodological Review</a:t>
            </a:r>
            <a:endParaRPr lang="en-US" sz="1800" dirty="0"/>
          </a:p>
        </p:txBody>
      </p:sp>
      <p:sp>
        <p:nvSpPr>
          <p:cNvPr id="6" name="Text 4"/>
          <p:cNvSpPr/>
          <p:nvPr/>
        </p:nvSpPr>
        <p:spPr>
          <a:xfrm>
            <a:off x="822960" y="2423160"/>
            <a:ext cx="10543032" cy="32004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Renewable and Sustainable Energy Reviews, 2026</a:t>
            </a:r>
            <a:endParaRPr lang="en-US" sz="1200" dirty="0"/>
          </a:p>
        </p:txBody>
      </p:sp>
      <p:sp>
        <p:nvSpPr>
          <p:cNvPr id="7" name="Text 5"/>
          <p:cNvSpPr/>
          <p:nvPr/>
        </p:nvSpPr>
        <p:spPr>
          <a:xfrm>
            <a:off x="457200" y="3200400"/>
            <a:ext cx="7315200" cy="274320"/>
          </a:xfrm>
          <a:prstGeom prst="rect">
            <a:avLst/>
          </a:prstGeom>
          <a:noFill/>
          <a:ln/>
        </p:spPr>
        <p:txBody>
          <a:bodyPr wrap="square" rtlCol="0" anchor="ctr"/>
          <a:lstStyle/>
          <a:p>
            <a:pPr indent="0" marL="0">
              <a:buNone/>
            </a:pPr>
            <a:r>
              <a:rPr lang="en-US" sz="1100" b="1" spc="150" kern="0" dirty="0">
                <a:solidFill>
                  <a:srgbClr val="028090"/>
                </a:solidFill>
                <a:latin typeface="Calibri" pitchFamily="34" charset="0"/>
                <a:ea typeface="Calibri" pitchFamily="34" charset="-122"/>
                <a:cs typeface="Calibri" pitchFamily="34" charset="-120"/>
              </a:rPr>
              <a:t>WHY THIS PAPER WAS SELECTED</a:t>
            </a:r>
            <a:endParaRPr lang="en-US" sz="1100" dirty="0"/>
          </a:p>
        </p:txBody>
      </p:sp>
      <p:sp>
        <p:nvSpPr>
          <p:cNvPr id="8" name="Shape 6"/>
          <p:cNvSpPr/>
          <p:nvPr/>
        </p:nvSpPr>
        <p:spPr>
          <a:xfrm>
            <a:off x="457200" y="3621024"/>
            <a:ext cx="146304" cy="146304"/>
          </a:xfrm>
          <a:prstGeom prst="roundRect">
            <a:avLst>
              <a:gd name="adj" fmla="val 50000"/>
            </a:avLst>
          </a:prstGeom>
          <a:solidFill>
            <a:srgbClr val="00A896"/>
          </a:solidFill>
          <a:ln/>
        </p:spPr>
      </p:sp>
      <p:sp>
        <p:nvSpPr>
          <p:cNvPr id="9" name="Text 7"/>
          <p:cNvSpPr/>
          <p:nvPr/>
        </p:nvSpPr>
        <p:spPr>
          <a:xfrm>
            <a:off x="777240" y="3520440"/>
            <a:ext cx="10954512" cy="457200"/>
          </a:xfrm>
          <a:prstGeom prst="rect">
            <a:avLst/>
          </a:prstGeom>
          <a:noFill/>
          <a:ln/>
        </p:spPr>
        <p:txBody>
          <a:bodyPr wrap="square" rtlCol="0" anchor="ctr"/>
          <a:lstStyle/>
          <a:p>
            <a:pPr indent="0" marL="0">
              <a:lnSpc>
                <a:spcPts val="1600"/>
              </a:lnSpc>
              <a:buNone/>
            </a:pPr>
            <a:r>
              <a:rPr lang="en-US" sz="1300" dirty="0">
                <a:solidFill>
                  <a:srgbClr val="222B33"/>
                </a:solidFill>
                <a:latin typeface="Calibri" pitchFamily="34" charset="0"/>
                <a:ea typeface="Calibri" pitchFamily="34" charset="-122"/>
                <a:cs typeface="Calibri" pitchFamily="34" charset="-120"/>
              </a:rPr>
              <a:t>Comprehensive review of Physics-Informed Neural Networks (PINNs) for battery applications</a:t>
            </a:r>
            <a:endParaRPr lang="en-US" sz="1300" dirty="0"/>
          </a:p>
        </p:txBody>
      </p:sp>
      <p:sp>
        <p:nvSpPr>
          <p:cNvPr id="10" name="Shape 8"/>
          <p:cNvSpPr/>
          <p:nvPr/>
        </p:nvSpPr>
        <p:spPr>
          <a:xfrm>
            <a:off x="457200" y="4133088"/>
            <a:ext cx="146304" cy="146304"/>
          </a:xfrm>
          <a:prstGeom prst="roundRect">
            <a:avLst>
              <a:gd name="adj" fmla="val 50000"/>
            </a:avLst>
          </a:prstGeom>
          <a:solidFill>
            <a:srgbClr val="00A896"/>
          </a:solidFill>
          <a:ln/>
        </p:spPr>
      </p:sp>
      <p:sp>
        <p:nvSpPr>
          <p:cNvPr id="11" name="Text 9"/>
          <p:cNvSpPr/>
          <p:nvPr/>
        </p:nvSpPr>
        <p:spPr>
          <a:xfrm>
            <a:off x="777240" y="4032504"/>
            <a:ext cx="10954512" cy="457200"/>
          </a:xfrm>
          <a:prstGeom prst="rect">
            <a:avLst/>
          </a:prstGeom>
          <a:noFill/>
          <a:ln/>
        </p:spPr>
        <p:txBody>
          <a:bodyPr wrap="square" rtlCol="0" anchor="ctr"/>
          <a:lstStyle/>
          <a:p>
            <a:pPr indent="0" marL="0">
              <a:lnSpc>
                <a:spcPts val="1600"/>
              </a:lnSpc>
              <a:buNone/>
            </a:pPr>
            <a:r>
              <a:rPr lang="en-US" sz="1300" dirty="0">
                <a:solidFill>
                  <a:srgbClr val="222B33"/>
                </a:solidFill>
                <a:latin typeface="Calibri" pitchFamily="34" charset="0"/>
                <a:ea typeface="Calibri" pitchFamily="34" charset="-122"/>
                <a:cs typeface="Calibri" pitchFamily="34" charset="-120"/>
              </a:rPr>
              <a:t>Covers SOH, RUL, SOC, Digital Twins, thermal diagnosis and internal state reconstruction</a:t>
            </a:r>
            <a:endParaRPr lang="en-US" sz="1300" dirty="0"/>
          </a:p>
        </p:txBody>
      </p:sp>
      <p:sp>
        <p:nvSpPr>
          <p:cNvPr id="12" name="Shape 10"/>
          <p:cNvSpPr/>
          <p:nvPr/>
        </p:nvSpPr>
        <p:spPr>
          <a:xfrm>
            <a:off x="457200" y="4645152"/>
            <a:ext cx="146304" cy="146304"/>
          </a:xfrm>
          <a:prstGeom prst="roundRect">
            <a:avLst>
              <a:gd name="adj" fmla="val 50000"/>
            </a:avLst>
          </a:prstGeom>
          <a:solidFill>
            <a:srgbClr val="00A896"/>
          </a:solidFill>
          <a:ln/>
        </p:spPr>
      </p:sp>
      <p:sp>
        <p:nvSpPr>
          <p:cNvPr id="13" name="Text 11"/>
          <p:cNvSpPr/>
          <p:nvPr/>
        </p:nvSpPr>
        <p:spPr>
          <a:xfrm>
            <a:off x="777240" y="4544568"/>
            <a:ext cx="10954512" cy="457200"/>
          </a:xfrm>
          <a:prstGeom prst="rect">
            <a:avLst/>
          </a:prstGeom>
          <a:noFill/>
          <a:ln/>
        </p:spPr>
        <p:txBody>
          <a:bodyPr wrap="square" rtlCol="0" anchor="ctr"/>
          <a:lstStyle/>
          <a:p>
            <a:pPr indent="0" marL="0">
              <a:lnSpc>
                <a:spcPts val="1600"/>
              </a:lnSpc>
              <a:buNone/>
            </a:pPr>
            <a:r>
              <a:rPr lang="en-US" sz="1300" dirty="0">
                <a:solidFill>
                  <a:srgbClr val="222B33"/>
                </a:solidFill>
                <a:latin typeface="Calibri" pitchFamily="34" charset="0"/>
                <a:ea typeface="Calibri" pitchFamily="34" charset="-122"/>
                <a:cs typeface="Calibri" pitchFamily="34" charset="-120"/>
              </a:rPr>
              <a:t>Explains multiple methods for embedding battery physics into neural networks</a:t>
            </a:r>
            <a:endParaRPr lang="en-US" sz="1300" dirty="0"/>
          </a:p>
        </p:txBody>
      </p:sp>
      <p:sp>
        <p:nvSpPr>
          <p:cNvPr id="14" name="Shape 12"/>
          <p:cNvSpPr/>
          <p:nvPr/>
        </p:nvSpPr>
        <p:spPr>
          <a:xfrm>
            <a:off x="457200" y="5157216"/>
            <a:ext cx="146304" cy="146304"/>
          </a:xfrm>
          <a:prstGeom prst="roundRect">
            <a:avLst>
              <a:gd name="adj" fmla="val 50000"/>
            </a:avLst>
          </a:prstGeom>
          <a:solidFill>
            <a:srgbClr val="00A896"/>
          </a:solidFill>
          <a:ln/>
        </p:spPr>
      </p:sp>
      <p:sp>
        <p:nvSpPr>
          <p:cNvPr id="15" name="Text 13"/>
          <p:cNvSpPr/>
          <p:nvPr/>
        </p:nvSpPr>
        <p:spPr>
          <a:xfrm>
            <a:off x="777240" y="5056632"/>
            <a:ext cx="10954512" cy="457200"/>
          </a:xfrm>
          <a:prstGeom prst="rect">
            <a:avLst/>
          </a:prstGeom>
          <a:noFill/>
          <a:ln/>
        </p:spPr>
        <p:txBody>
          <a:bodyPr wrap="square" rtlCol="0" anchor="ctr"/>
          <a:lstStyle/>
          <a:p>
            <a:pPr indent="0" marL="0">
              <a:lnSpc>
                <a:spcPts val="1600"/>
              </a:lnSpc>
              <a:buNone/>
            </a:pPr>
            <a:r>
              <a:rPr lang="en-US" sz="1300" dirty="0">
                <a:solidFill>
                  <a:srgbClr val="222B33"/>
                </a:solidFill>
                <a:latin typeface="Calibri" pitchFamily="34" charset="0"/>
                <a:ea typeface="Calibri" pitchFamily="34" charset="-122"/>
                <a:cs typeface="Calibri" pitchFamily="34" charset="-120"/>
              </a:rPr>
              <a:t>Discusses training stability, domain generalization, uncertainty quantification and interpretability</a:t>
            </a:r>
            <a:endParaRPr lang="en-US" sz="1300" dirty="0"/>
          </a:p>
        </p:txBody>
      </p:sp>
      <p:sp>
        <p:nvSpPr>
          <p:cNvPr id="16" name="Shape 14"/>
          <p:cNvSpPr/>
          <p:nvPr/>
        </p:nvSpPr>
        <p:spPr>
          <a:xfrm>
            <a:off x="457200" y="5669280"/>
            <a:ext cx="146304" cy="146304"/>
          </a:xfrm>
          <a:prstGeom prst="roundRect">
            <a:avLst>
              <a:gd name="adj" fmla="val 50000"/>
            </a:avLst>
          </a:prstGeom>
          <a:solidFill>
            <a:srgbClr val="00A896"/>
          </a:solidFill>
          <a:ln/>
        </p:spPr>
      </p:sp>
      <p:sp>
        <p:nvSpPr>
          <p:cNvPr id="17" name="Text 15"/>
          <p:cNvSpPr/>
          <p:nvPr/>
        </p:nvSpPr>
        <p:spPr>
          <a:xfrm>
            <a:off x="777240" y="5568696"/>
            <a:ext cx="10954512" cy="457200"/>
          </a:xfrm>
          <a:prstGeom prst="rect">
            <a:avLst/>
          </a:prstGeom>
          <a:noFill/>
          <a:ln/>
        </p:spPr>
        <p:txBody>
          <a:bodyPr wrap="square" rtlCol="0" anchor="ctr"/>
          <a:lstStyle/>
          <a:p>
            <a:pPr indent="0" marL="0">
              <a:lnSpc>
                <a:spcPts val="1600"/>
              </a:lnSpc>
              <a:buNone/>
            </a:pPr>
            <a:r>
              <a:rPr lang="en-US" sz="1300" dirty="0">
                <a:solidFill>
                  <a:srgbClr val="222B33"/>
                </a:solidFill>
                <a:latin typeface="Calibri" pitchFamily="34" charset="0"/>
                <a:ea typeface="Calibri" pitchFamily="34" charset="-122"/>
                <a:cs typeface="Calibri" pitchFamily="34" charset="-120"/>
              </a:rPr>
              <a:t>Lays out future research directions for intelligent Battery Management Systems</a:t>
            </a:r>
            <a:endParaRPr lang="en-US" sz="1300" dirty="0"/>
          </a:p>
        </p:txBody>
      </p:sp>
      <p:sp>
        <p:nvSpPr>
          <p:cNvPr id="18" name="Text 16"/>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Adaptive PINN Battery Digital Twin</a:t>
            </a:r>
            <a:endParaRPr lang="en-US" sz="900" dirty="0"/>
          </a:p>
        </p:txBody>
      </p:sp>
      <p:sp>
        <p:nvSpPr>
          <p:cNvPr id="19" name="Text 17"/>
          <p:cNvSpPr/>
          <p:nvPr/>
        </p:nvSpPr>
        <p:spPr>
          <a:xfrm>
            <a:off x="11000232" y="6492240"/>
            <a:ext cx="73152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9144000" cy="27432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POSITIONING OUR WORK</a:t>
            </a:r>
            <a:endParaRPr lang="en-US" sz="1200" dirty="0"/>
          </a:p>
        </p:txBody>
      </p:sp>
      <p:sp>
        <p:nvSpPr>
          <p:cNvPr id="3" name="Text 1"/>
          <p:cNvSpPr/>
          <p:nvPr/>
        </p:nvSpPr>
        <p:spPr>
          <a:xfrm>
            <a:off x="457200" y="566928"/>
            <a:ext cx="11274552" cy="59436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Literature Review &amp; Research Gap</a:t>
            </a:r>
            <a:endParaRPr lang="en-US" sz="2800" dirty="0"/>
          </a:p>
        </p:txBody>
      </p:sp>
      <p:sp>
        <p:nvSpPr>
          <p:cNvPr id="4" name="Text 2"/>
          <p:cNvSpPr/>
          <p:nvPr/>
        </p:nvSpPr>
        <p:spPr>
          <a:xfrm>
            <a:off x="457200" y="1371600"/>
            <a:ext cx="7315200" cy="256032"/>
          </a:xfrm>
          <a:prstGeom prst="rect">
            <a:avLst/>
          </a:prstGeom>
          <a:noFill/>
          <a:ln/>
        </p:spPr>
        <p:txBody>
          <a:bodyPr wrap="square" rtlCol="0" anchor="ctr"/>
          <a:lstStyle/>
          <a:p>
            <a:pPr indent="0" marL="0">
              <a:buNone/>
            </a:pPr>
            <a:r>
              <a:rPr lang="en-US" sz="1100" b="1" spc="150" kern="0" dirty="0">
                <a:solidFill>
                  <a:srgbClr val="028090"/>
                </a:solidFill>
                <a:latin typeface="Calibri" pitchFamily="34" charset="0"/>
                <a:ea typeface="Calibri" pitchFamily="34" charset="-122"/>
                <a:cs typeface="Calibri" pitchFamily="34" charset="-120"/>
              </a:rPr>
              <a:t>RESEARCH GAP</a:t>
            </a:r>
            <a:endParaRPr lang="en-US" sz="1100" dirty="0"/>
          </a:p>
        </p:txBody>
      </p:sp>
      <p:sp>
        <p:nvSpPr>
          <p:cNvPr id="5" name="Text 3"/>
          <p:cNvSpPr/>
          <p:nvPr/>
        </p:nvSpPr>
        <p:spPr>
          <a:xfrm>
            <a:off x="457200" y="1627632"/>
            <a:ext cx="11274552" cy="502920"/>
          </a:xfrm>
          <a:prstGeom prst="rect">
            <a:avLst/>
          </a:prstGeom>
          <a:noFill/>
          <a:ln/>
        </p:spPr>
        <p:txBody>
          <a:bodyPr wrap="square" rtlCol="0" anchor="ctr"/>
          <a:lstStyle/>
          <a:p>
            <a:pPr indent="0" marL="0">
              <a:lnSpc>
                <a:spcPts val="1500"/>
              </a:lnSpc>
              <a:buNone/>
            </a:pPr>
            <a:r>
              <a:rPr lang="en-US" sz="1200" dirty="0">
                <a:solidFill>
                  <a:srgbClr val="222B33"/>
                </a:solidFill>
                <a:latin typeface="Calibri" pitchFamily="34" charset="0"/>
                <a:ea typeface="Calibri" pitchFamily="34" charset="-122"/>
                <a:cs typeface="Calibri" pitchFamily="34" charset="-120"/>
              </a:rPr>
              <a:t>Existing PINN models are trained offline, adapt poorly to changing battery behaviour, and remain difficult to deploy in real-time BMS. Lightweight, continual-learning methods are still an open problem.</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74552" cy="914400"/>
        </p:xfrm>
        <a:graphic>
          <a:graphicData uri="http://schemas.openxmlformats.org/drawingml/2006/table">
            <a:tbl>
              <a:tblPr/>
              <a:tblGrid>
                <a:gridCol w="1783080"/>
                <a:gridCol w="3246120"/>
                <a:gridCol w="2651760"/>
                <a:gridCol w="2770632"/>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Paper</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Key Contribution</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Limitation</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Our Improvement</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B2545"/>
                    </a:solidFill>
                  </a:tcPr>
                </a:tc>
              </a:tr>
              <a:tr h="777240">
                <a:tc>
                  <a:txBody>
                    <a:bodyPr/>
                    <a:lstStyle/>
                    <a:p>
                      <a:pPr indent="0" marL="0">
                        <a:buNone/>
                      </a:pPr>
                      <a:r>
                        <a:rPr lang="en-US" sz="950" b="1" dirty="0">
                          <a:solidFill>
                            <a:srgbClr val="222B33"/>
                          </a:solidFill>
                          <a:latin typeface="Calibri" pitchFamily="34" charset="0"/>
                          <a:ea typeface="Calibri" pitchFamily="34" charset="-122"/>
                          <a:cs typeface="Calibri" pitchFamily="34" charset="-120"/>
                        </a:rPr>
                        <a:t>Applied Energy (2025)</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PINN + Transformer + multi-task learning predicts SOH, RUL and degradation path</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Offline training; adapting to new behaviour needs retraining</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950" b="1" dirty="0">
                          <a:solidFill>
                            <a:srgbClr val="028090"/>
                          </a:solidFill>
                          <a:latin typeface="Calibri" pitchFamily="34" charset="0"/>
                          <a:ea typeface="Calibri" pitchFamily="34" charset="-122"/>
                          <a:cs typeface="Calibri" pitchFamily="34" charset="-120"/>
                        </a:rPr>
                        <a:t>Adaptive Digital Twin with incremental fine-tuning</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r>
              <a:tr h="658368">
                <a:tc>
                  <a:txBody>
                    <a:bodyPr/>
                    <a:lstStyle/>
                    <a:p>
                      <a:pPr indent="0" marL="0">
                        <a:buNone/>
                      </a:pPr>
                      <a:r>
                        <a:rPr lang="en-US" sz="950" b="1" dirty="0">
                          <a:solidFill>
                            <a:srgbClr val="222B33"/>
                          </a:solidFill>
                          <a:latin typeface="Calibri" pitchFamily="34" charset="0"/>
                          <a:ea typeface="Calibri" pitchFamily="34" charset="-122"/>
                          <a:cs typeface="Calibri" pitchFamily="34" charset="-120"/>
                        </a:rPr>
                        <a:t>Energy (2026)</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EM-PINN integrates SEI growth physics for accurate SOH estimation</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SOH-only; no Digital Twin or continual adaptation</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950" b="1" dirty="0">
                          <a:solidFill>
                            <a:srgbClr val="028090"/>
                          </a:solidFill>
                          <a:latin typeface="Calibri" pitchFamily="34" charset="0"/>
                          <a:ea typeface="Calibri" pitchFamily="34" charset="-122"/>
                          <a:cs typeface="Calibri" pitchFamily="34" charset="-120"/>
                        </a:rPr>
                        <a:t>Combines PINN with a Digital Twin predicting SOH and RUL</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r>
              <a:tr h="658368">
                <a:tc>
                  <a:txBody>
                    <a:bodyPr/>
                    <a:lstStyle/>
                    <a:p>
                      <a:pPr indent="0" marL="0">
                        <a:buNone/>
                      </a:pPr>
                      <a:r>
                        <a:rPr lang="en-US" sz="950" b="1" dirty="0">
                          <a:solidFill>
                            <a:srgbClr val="222B33"/>
                          </a:solidFill>
                          <a:latin typeface="Calibri" pitchFamily="34" charset="0"/>
                          <a:ea typeface="Calibri" pitchFamily="34" charset="-122"/>
                          <a:cs typeface="Calibri" pitchFamily="34" charset="-120"/>
                        </a:rPr>
                        <a:t>Scientific Reports (2025)</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Cycle-aware physics-informed framework for RUL prediction</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Offline; limited personalization per battery</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950" b="1" dirty="0">
                          <a:solidFill>
                            <a:srgbClr val="028090"/>
                          </a:solidFill>
                          <a:latin typeface="Calibri" pitchFamily="34" charset="0"/>
                          <a:ea typeface="Calibri" pitchFamily="34" charset="-122"/>
                          <a:cs typeface="Calibri" pitchFamily="34" charset="-120"/>
                        </a:rPr>
                        <a:t>Continuously updates predictions with new operational data</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r>
              <a:tr h="658368">
                <a:tc>
                  <a:txBody>
                    <a:bodyPr/>
                    <a:lstStyle/>
                    <a:p>
                      <a:pPr indent="0" marL="0">
                        <a:buNone/>
                      </a:pPr>
                      <a:r>
                        <a:rPr lang="en-US" sz="950" b="1" dirty="0">
                          <a:solidFill>
                            <a:srgbClr val="222B33"/>
                          </a:solidFill>
                          <a:latin typeface="Calibri" pitchFamily="34" charset="0"/>
                          <a:ea typeface="Calibri" pitchFamily="34" charset="-122"/>
                          <a:cs typeface="Calibri" pitchFamily="34" charset="-120"/>
                        </a:rPr>
                        <a:t>Complex &amp; Intelligent Systems (2025)</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PINN + contrastive learning for low-label SOH estimation</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Train-then-deploy workflow; no post-deployment adaptation</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950" b="1" dirty="0">
                          <a:solidFill>
                            <a:srgbClr val="028090"/>
                          </a:solidFill>
                          <a:latin typeface="Calibri" pitchFamily="34" charset="0"/>
                          <a:ea typeface="Calibri" pitchFamily="34" charset="-122"/>
                          <a:cs typeface="Calibri" pitchFamily="34" charset="-120"/>
                        </a:rPr>
                        <a:t>Supports incremental learning without full retraining</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r>
              <a:tr h="65836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Proposed Work</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2809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Transformer + PINN + Feedforward DNN + Digital Twin + Adaptive Learning</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28090"/>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2809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Incremental fine-tuning on new battery behaviour, preserving physics constraints</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28090"/>
                    </a:solidFill>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Adaptive PINN Battery Digital Twin</a:t>
            </a:r>
            <a:endParaRPr lang="en-US" sz="900" dirty="0"/>
          </a:p>
        </p:txBody>
      </p:sp>
      <p:sp>
        <p:nvSpPr>
          <p:cNvPr id="8" name="Text 5"/>
          <p:cNvSpPr/>
          <p:nvPr/>
        </p:nvSpPr>
        <p:spPr>
          <a:xfrm>
            <a:off x="11000232" y="6492240"/>
            <a:ext cx="73152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9144000" cy="27432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WHAT SETS THIS WORK APART</a:t>
            </a:r>
            <a:endParaRPr lang="en-US" sz="1200" dirty="0"/>
          </a:p>
        </p:txBody>
      </p:sp>
      <p:sp>
        <p:nvSpPr>
          <p:cNvPr id="3" name="Text 1"/>
          <p:cNvSpPr/>
          <p:nvPr/>
        </p:nvSpPr>
        <p:spPr>
          <a:xfrm>
            <a:off x="457200" y="566928"/>
            <a:ext cx="11274552" cy="59436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Novel Contribution: Adaptive Incremental Learning</a:t>
            </a:r>
            <a:endParaRPr lang="en-US" sz="2800" dirty="0"/>
          </a:p>
        </p:txBody>
      </p:sp>
      <p:sp>
        <p:nvSpPr>
          <p:cNvPr id="4" name="Text 2"/>
          <p:cNvSpPr/>
          <p:nvPr/>
        </p:nvSpPr>
        <p:spPr>
          <a:xfrm>
            <a:off x="457200" y="1353312"/>
            <a:ext cx="11274552" cy="548640"/>
          </a:xfrm>
          <a:prstGeom prst="rect">
            <a:avLst/>
          </a:prstGeom>
          <a:noFill/>
          <a:ln/>
        </p:spPr>
        <p:txBody>
          <a:bodyPr wrap="square" rtlCol="0" anchor="ctr"/>
          <a:lstStyle/>
          <a:p>
            <a:pPr indent="0" marL="0">
              <a:lnSpc>
                <a:spcPts val="1500"/>
              </a:lnSpc>
              <a:buNone/>
            </a:pPr>
            <a:r>
              <a:rPr lang="en-US" sz="1200" dirty="0">
                <a:solidFill>
                  <a:srgbClr val="222B33"/>
                </a:solidFill>
                <a:latin typeface="Calibri" pitchFamily="34" charset="0"/>
                <a:ea typeface="Calibri" pitchFamily="34" charset="-122"/>
                <a:cs typeface="Calibri" pitchFamily="34" charset="-120"/>
              </a:rPr>
              <a:t>Traditional models are trained once on historical data. When battery behaviour shifts with aging, temperature or charging patterns, the whole model must often be retrained — expensive and impractical for real-time BMS.</a:t>
            </a:r>
            <a:endParaRPr lang="en-US" sz="1200" dirty="0"/>
          </a:p>
        </p:txBody>
      </p:sp>
      <p:sp>
        <p:nvSpPr>
          <p:cNvPr id="5" name="Shape 3"/>
          <p:cNvSpPr/>
          <p:nvPr/>
        </p:nvSpPr>
        <p:spPr>
          <a:xfrm>
            <a:off x="457200" y="2011680"/>
            <a:ext cx="5454396" cy="1234440"/>
          </a:xfrm>
          <a:prstGeom prst="roundRect">
            <a:avLst>
              <a:gd name="adj" fmla="val 5185"/>
            </a:avLst>
          </a:prstGeom>
          <a:solidFill>
            <a:srgbClr val="0B2545"/>
          </a:solidFill>
          <a:ln/>
        </p:spPr>
      </p:sp>
      <p:sp>
        <p:nvSpPr>
          <p:cNvPr id="6" name="Text 4"/>
          <p:cNvSpPr/>
          <p:nvPr/>
        </p:nvSpPr>
        <p:spPr>
          <a:xfrm>
            <a:off x="685800" y="2121408"/>
            <a:ext cx="4997196" cy="256032"/>
          </a:xfrm>
          <a:prstGeom prst="rect">
            <a:avLst/>
          </a:prstGeom>
          <a:noFill/>
          <a:ln/>
        </p:spPr>
        <p:txBody>
          <a:bodyPr wrap="square" rtlCol="0" anchor="ctr"/>
          <a:lstStyle/>
          <a:p>
            <a:pPr indent="0" marL="0">
              <a:buNone/>
            </a:pPr>
            <a:r>
              <a:rPr lang="en-US" sz="1050" b="1" spc="100" kern="0" dirty="0">
                <a:solidFill>
                  <a:srgbClr val="00A896"/>
                </a:solidFill>
                <a:latin typeface="Calibri" pitchFamily="34" charset="0"/>
                <a:ea typeface="Calibri" pitchFamily="34" charset="-122"/>
                <a:cs typeface="Calibri" pitchFamily="34" charset="-120"/>
              </a:rPr>
              <a:t>WITHOUT ADAPTIVE LEARNING</a:t>
            </a:r>
            <a:endParaRPr lang="en-US" sz="1050" dirty="0"/>
          </a:p>
        </p:txBody>
      </p:sp>
      <p:sp>
        <p:nvSpPr>
          <p:cNvPr id="7" name="Shape 5"/>
          <p:cNvSpPr/>
          <p:nvPr/>
        </p:nvSpPr>
        <p:spPr>
          <a:xfrm>
            <a:off x="685800" y="2514600"/>
            <a:ext cx="1421892" cy="548640"/>
          </a:xfrm>
          <a:prstGeom prst="roundRect">
            <a:avLst>
              <a:gd name="adj" fmla="val 8333"/>
            </a:avLst>
          </a:prstGeom>
          <a:solidFill>
            <a:srgbClr val="13355E"/>
          </a:solidFill>
          <a:ln w="9525">
            <a:solidFill>
              <a:srgbClr val="2E6C99"/>
            </a:solidFill>
            <a:prstDash val="solid"/>
          </a:ln>
        </p:spPr>
      </p:sp>
      <p:sp>
        <p:nvSpPr>
          <p:cNvPr id="8" name="Text 6"/>
          <p:cNvSpPr/>
          <p:nvPr/>
        </p:nvSpPr>
        <p:spPr>
          <a:xfrm>
            <a:off x="731520" y="2514600"/>
            <a:ext cx="1330452" cy="548640"/>
          </a:xfrm>
          <a:prstGeom prst="rect">
            <a:avLst/>
          </a:prstGeom>
          <a:noFill/>
          <a:ln/>
        </p:spPr>
        <p:txBody>
          <a:bodyPr wrap="square" rtlCol="0" anchor="ctr"/>
          <a:lstStyle/>
          <a:p>
            <a:pPr algn="ctr" indent="0" marL="0">
              <a:lnSpc>
                <a:spcPts val="1000"/>
              </a:lnSpc>
              <a:buNone/>
            </a:pPr>
            <a:r>
              <a:rPr lang="en-US" sz="900" b="1" dirty="0">
                <a:solidFill>
                  <a:srgbClr val="FFFFFF"/>
                </a:solidFill>
                <a:latin typeface="Calibri" pitchFamily="34" charset="0"/>
                <a:ea typeface="Calibri" pitchFamily="34" charset="-122"/>
                <a:cs typeface="Calibri" pitchFamily="34" charset="-120"/>
              </a:rPr>
              <a:t>Old + New</a:t>
            </a:r>
            <a:endParaRPr lang="en-US" sz="900" dirty="0"/>
          </a:p>
          <a:p>
            <a:pPr algn="ctr" indent="0" marL="0">
              <a:lnSpc>
                <a:spcPts val="1000"/>
              </a:lnSpc>
              <a:buNone/>
            </a:pPr>
            <a:r>
              <a:rPr lang="en-US" sz="900" b="1" dirty="0">
                <a:solidFill>
                  <a:srgbClr val="FFFFFF"/>
                </a:solidFill>
                <a:latin typeface="Calibri" pitchFamily="34" charset="0"/>
                <a:ea typeface="Calibri" pitchFamily="34" charset="-122"/>
                <a:cs typeface="Calibri" pitchFamily="34" charset="-120"/>
              </a:rPr>
              <a:t>Dataset</a:t>
            </a:r>
            <a:endParaRPr lang="en-US" sz="900" dirty="0"/>
          </a:p>
        </p:txBody>
      </p:sp>
      <p:sp>
        <p:nvSpPr>
          <p:cNvPr id="9" name="Shape 7"/>
          <p:cNvSpPr/>
          <p:nvPr/>
        </p:nvSpPr>
        <p:spPr>
          <a:xfrm>
            <a:off x="2124151" y="2660904"/>
            <a:ext cx="201168" cy="256032"/>
          </a:xfrm>
          <a:prstGeom prst="chevron">
            <a:avLst/>
          </a:prstGeom>
          <a:solidFill>
            <a:srgbClr val="5B6B79"/>
          </a:solidFill>
          <a:ln/>
        </p:spPr>
      </p:sp>
      <p:sp>
        <p:nvSpPr>
          <p:cNvPr id="10" name="Shape 8"/>
          <p:cNvSpPr/>
          <p:nvPr/>
        </p:nvSpPr>
        <p:spPr>
          <a:xfrm>
            <a:off x="2473452" y="2514600"/>
            <a:ext cx="1421892" cy="548640"/>
          </a:xfrm>
          <a:prstGeom prst="roundRect">
            <a:avLst>
              <a:gd name="adj" fmla="val 8333"/>
            </a:avLst>
          </a:prstGeom>
          <a:solidFill>
            <a:srgbClr val="13355E"/>
          </a:solidFill>
          <a:ln w="9525">
            <a:solidFill>
              <a:srgbClr val="2E6C99"/>
            </a:solidFill>
            <a:prstDash val="solid"/>
          </a:ln>
        </p:spPr>
      </p:sp>
      <p:sp>
        <p:nvSpPr>
          <p:cNvPr id="11" name="Text 9"/>
          <p:cNvSpPr/>
          <p:nvPr/>
        </p:nvSpPr>
        <p:spPr>
          <a:xfrm>
            <a:off x="2519172" y="2514600"/>
            <a:ext cx="1330452" cy="548640"/>
          </a:xfrm>
          <a:prstGeom prst="rect">
            <a:avLst/>
          </a:prstGeom>
          <a:noFill/>
          <a:ln/>
        </p:spPr>
        <p:txBody>
          <a:bodyPr wrap="square" rtlCol="0" anchor="ctr"/>
          <a:lstStyle/>
          <a:p>
            <a:pPr algn="ctr" indent="0" marL="0">
              <a:lnSpc>
                <a:spcPts val="1000"/>
              </a:lnSpc>
              <a:buNone/>
            </a:pPr>
            <a:r>
              <a:rPr lang="en-US" sz="900" b="1" dirty="0">
                <a:solidFill>
                  <a:srgbClr val="FFFFFF"/>
                </a:solidFill>
                <a:latin typeface="Calibri" pitchFamily="34" charset="0"/>
                <a:ea typeface="Calibri" pitchFamily="34" charset="-122"/>
                <a:cs typeface="Calibri" pitchFamily="34" charset="-120"/>
              </a:rPr>
              <a:t>Retrain</a:t>
            </a:r>
            <a:endParaRPr lang="en-US" sz="900" dirty="0"/>
          </a:p>
          <a:p>
            <a:pPr algn="ctr" indent="0" marL="0">
              <a:lnSpc>
                <a:spcPts val="1000"/>
              </a:lnSpc>
              <a:buNone/>
            </a:pPr>
            <a:r>
              <a:rPr lang="en-US" sz="900" b="1" dirty="0">
                <a:solidFill>
                  <a:srgbClr val="FFFFFF"/>
                </a:solidFill>
                <a:latin typeface="Calibri" pitchFamily="34" charset="0"/>
                <a:ea typeface="Calibri" pitchFamily="34" charset="-122"/>
                <a:cs typeface="Calibri" pitchFamily="34" charset="-120"/>
              </a:rPr>
              <a:t>Everything</a:t>
            </a:r>
            <a:endParaRPr lang="en-US" sz="900" dirty="0"/>
          </a:p>
        </p:txBody>
      </p:sp>
      <p:sp>
        <p:nvSpPr>
          <p:cNvPr id="12" name="Shape 10"/>
          <p:cNvSpPr/>
          <p:nvPr/>
        </p:nvSpPr>
        <p:spPr>
          <a:xfrm>
            <a:off x="3911803" y="2660904"/>
            <a:ext cx="201168" cy="256032"/>
          </a:xfrm>
          <a:prstGeom prst="chevron">
            <a:avLst/>
          </a:prstGeom>
          <a:solidFill>
            <a:srgbClr val="5B6B79"/>
          </a:solidFill>
          <a:ln/>
        </p:spPr>
      </p:sp>
      <p:sp>
        <p:nvSpPr>
          <p:cNvPr id="13" name="Shape 11"/>
          <p:cNvSpPr/>
          <p:nvPr/>
        </p:nvSpPr>
        <p:spPr>
          <a:xfrm>
            <a:off x="4261104" y="2514600"/>
            <a:ext cx="1421892" cy="548640"/>
          </a:xfrm>
          <a:prstGeom prst="roundRect">
            <a:avLst>
              <a:gd name="adj" fmla="val 8333"/>
            </a:avLst>
          </a:prstGeom>
          <a:solidFill>
            <a:srgbClr val="13355E"/>
          </a:solidFill>
          <a:ln w="9525">
            <a:solidFill>
              <a:srgbClr val="2E6C99"/>
            </a:solidFill>
            <a:prstDash val="solid"/>
          </a:ln>
        </p:spPr>
      </p:sp>
      <p:sp>
        <p:nvSpPr>
          <p:cNvPr id="14" name="Text 12"/>
          <p:cNvSpPr/>
          <p:nvPr/>
        </p:nvSpPr>
        <p:spPr>
          <a:xfrm>
            <a:off x="4306824" y="2514600"/>
            <a:ext cx="1330452" cy="548640"/>
          </a:xfrm>
          <a:prstGeom prst="rect">
            <a:avLst/>
          </a:prstGeom>
          <a:noFill/>
          <a:ln/>
        </p:spPr>
        <p:txBody>
          <a:bodyPr wrap="square" rtlCol="0" anchor="ctr"/>
          <a:lstStyle/>
          <a:p>
            <a:pPr algn="ctr" indent="0" marL="0">
              <a:lnSpc>
                <a:spcPts val="1000"/>
              </a:lnSpc>
              <a:buNone/>
            </a:pPr>
            <a:r>
              <a:rPr lang="en-US" sz="900" b="1" dirty="0">
                <a:solidFill>
                  <a:srgbClr val="FFFFFF"/>
                </a:solidFill>
                <a:latin typeface="Calibri" pitchFamily="34" charset="0"/>
                <a:ea typeface="Calibri" pitchFamily="34" charset="-122"/>
                <a:cs typeface="Calibri" pitchFamily="34" charset="-120"/>
              </a:rPr>
              <a:t>Deploy New</a:t>
            </a:r>
            <a:endParaRPr lang="en-US" sz="900" dirty="0"/>
          </a:p>
          <a:p>
            <a:pPr algn="ctr" indent="0" marL="0">
              <a:lnSpc>
                <a:spcPts val="1000"/>
              </a:lnSpc>
              <a:buNone/>
            </a:pPr>
            <a:r>
              <a:rPr lang="en-US" sz="900" b="1" dirty="0">
                <a:solidFill>
                  <a:srgbClr val="FFFFFF"/>
                </a:solidFill>
                <a:latin typeface="Calibri" pitchFamily="34" charset="0"/>
                <a:ea typeface="Calibri" pitchFamily="34" charset="-122"/>
                <a:cs typeface="Calibri" pitchFamily="34" charset="-120"/>
              </a:rPr>
              <a:t>Model</a:t>
            </a:r>
            <a:endParaRPr lang="en-US" sz="900" dirty="0"/>
          </a:p>
        </p:txBody>
      </p:sp>
      <p:sp>
        <p:nvSpPr>
          <p:cNvPr id="15" name="Shape 13"/>
          <p:cNvSpPr/>
          <p:nvPr/>
        </p:nvSpPr>
        <p:spPr>
          <a:xfrm>
            <a:off x="6277356" y="2011680"/>
            <a:ext cx="5454396" cy="1234440"/>
          </a:xfrm>
          <a:prstGeom prst="roundRect">
            <a:avLst>
              <a:gd name="adj" fmla="val 5185"/>
            </a:avLst>
          </a:prstGeom>
          <a:solidFill>
            <a:srgbClr val="F2F6F8"/>
          </a:solidFill>
          <a:ln/>
        </p:spPr>
      </p:sp>
      <p:sp>
        <p:nvSpPr>
          <p:cNvPr id="16" name="Text 14"/>
          <p:cNvSpPr/>
          <p:nvPr/>
        </p:nvSpPr>
        <p:spPr>
          <a:xfrm>
            <a:off x="6505956" y="2121408"/>
            <a:ext cx="4997196" cy="256032"/>
          </a:xfrm>
          <a:prstGeom prst="rect">
            <a:avLst/>
          </a:prstGeom>
          <a:noFill/>
          <a:ln/>
        </p:spPr>
        <p:txBody>
          <a:bodyPr wrap="square"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WITH ADAPTIVE LEARNING (PROPOSED)</a:t>
            </a:r>
            <a:endParaRPr lang="en-US" sz="1050" dirty="0"/>
          </a:p>
        </p:txBody>
      </p:sp>
      <p:sp>
        <p:nvSpPr>
          <p:cNvPr id="17" name="Shape 15"/>
          <p:cNvSpPr/>
          <p:nvPr/>
        </p:nvSpPr>
        <p:spPr>
          <a:xfrm>
            <a:off x="6505956" y="2514600"/>
            <a:ext cx="1421892" cy="548640"/>
          </a:xfrm>
          <a:prstGeom prst="roundRect">
            <a:avLst>
              <a:gd name="adj" fmla="val 8333"/>
            </a:avLst>
          </a:prstGeom>
          <a:solidFill>
            <a:srgbClr val="FFFFFF"/>
          </a:solidFill>
          <a:ln w="9525">
            <a:solidFill>
              <a:srgbClr val="D7E0E6"/>
            </a:solidFill>
            <a:prstDash val="solid"/>
          </a:ln>
        </p:spPr>
      </p:sp>
      <p:sp>
        <p:nvSpPr>
          <p:cNvPr id="18" name="Text 16"/>
          <p:cNvSpPr/>
          <p:nvPr/>
        </p:nvSpPr>
        <p:spPr>
          <a:xfrm>
            <a:off x="6551676" y="2514600"/>
            <a:ext cx="1330452" cy="548640"/>
          </a:xfrm>
          <a:prstGeom prst="rect">
            <a:avLst/>
          </a:prstGeom>
          <a:noFill/>
          <a:ln/>
        </p:spPr>
        <p:txBody>
          <a:bodyPr wrap="square" rtlCol="0" anchor="ctr"/>
          <a:lstStyle/>
          <a:p>
            <a:pPr algn="ctr" indent="0" marL="0">
              <a:lnSpc>
                <a:spcPts val="1000"/>
              </a:lnSpc>
              <a:buNone/>
            </a:pPr>
            <a:r>
              <a:rPr lang="en-US" sz="900" b="1" dirty="0">
                <a:solidFill>
                  <a:srgbClr val="222B33"/>
                </a:solidFill>
                <a:latin typeface="Calibri" pitchFamily="34" charset="0"/>
                <a:ea typeface="Calibri" pitchFamily="34" charset="-122"/>
                <a:cs typeface="Calibri" pitchFamily="34" charset="-120"/>
              </a:rPr>
              <a:t>Existing Model</a:t>
            </a:r>
            <a:endParaRPr lang="en-US" sz="900" dirty="0"/>
          </a:p>
          <a:p>
            <a:pPr algn="ctr" indent="0" marL="0">
              <a:lnSpc>
                <a:spcPts val="1000"/>
              </a:lnSpc>
              <a:buNone/>
            </a:pPr>
            <a:r>
              <a:rPr lang="en-US" sz="900" b="1" dirty="0">
                <a:solidFill>
                  <a:srgbClr val="222B33"/>
                </a:solidFill>
                <a:latin typeface="Calibri" pitchFamily="34" charset="0"/>
                <a:ea typeface="Calibri" pitchFamily="34" charset="-122"/>
                <a:cs typeface="Calibri" pitchFamily="34" charset="-120"/>
              </a:rPr>
              <a:t>+ New Data</a:t>
            </a:r>
            <a:endParaRPr lang="en-US" sz="900" dirty="0"/>
          </a:p>
        </p:txBody>
      </p:sp>
      <p:sp>
        <p:nvSpPr>
          <p:cNvPr id="19" name="Shape 17"/>
          <p:cNvSpPr/>
          <p:nvPr/>
        </p:nvSpPr>
        <p:spPr>
          <a:xfrm>
            <a:off x="7944307" y="2660904"/>
            <a:ext cx="201168" cy="256032"/>
          </a:xfrm>
          <a:prstGeom prst="chevron">
            <a:avLst/>
          </a:prstGeom>
          <a:solidFill>
            <a:srgbClr val="00A896"/>
          </a:solidFill>
          <a:ln/>
        </p:spPr>
      </p:sp>
      <p:sp>
        <p:nvSpPr>
          <p:cNvPr id="20" name="Shape 18"/>
          <p:cNvSpPr/>
          <p:nvPr/>
        </p:nvSpPr>
        <p:spPr>
          <a:xfrm>
            <a:off x="8293608" y="2514600"/>
            <a:ext cx="1421892" cy="548640"/>
          </a:xfrm>
          <a:prstGeom prst="roundRect">
            <a:avLst>
              <a:gd name="adj" fmla="val 8333"/>
            </a:avLst>
          </a:prstGeom>
          <a:solidFill>
            <a:srgbClr val="FFFFFF"/>
          </a:solidFill>
          <a:ln w="9525">
            <a:solidFill>
              <a:srgbClr val="D7E0E6"/>
            </a:solidFill>
            <a:prstDash val="solid"/>
          </a:ln>
        </p:spPr>
      </p:sp>
      <p:sp>
        <p:nvSpPr>
          <p:cNvPr id="21" name="Text 19"/>
          <p:cNvSpPr/>
          <p:nvPr/>
        </p:nvSpPr>
        <p:spPr>
          <a:xfrm>
            <a:off x="8339328" y="2514600"/>
            <a:ext cx="1330452" cy="548640"/>
          </a:xfrm>
          <a:prstGeom prst="rect">
            <a:avLst/>
          </a:prstGeom>
          <a:noFill/>
          <a:ln/>
        </p:spPr>
        <p:txBody>
          <a:bodyPr wrap="square" rtlCol="0" anchor="ctr"/>
          <a:lstStyle/>
          <a:p>
            <a:pPr algn="ctr" indent="0" marL="0">
              <a:lnSpc>
                <a:spcPts val="1000"/>
              </a:lnSpc>
              <a:buNone/>
            </a:pPr>
            <a:r>
              <a:rPr lang="en-US" sz="900" b="1" dirty="0">
                <a:solidFill>
                  <a:srgbClr val="222B33"/>
                </a:solidFill>
                <a:latin typeface="Calibri" pitchFamily="34" charset="0"/>
                <a:ea typeface="Calibri" pitchFamily="34" charset="-122"/>
                <a:cs typeface="Calibri" pitchFamily="34" charset="-120"/>
              </a:rPr>
              <a:t>Fine-Tune</a:t>
            </a:r>
            <a:endParaRPr lang="en-US" sz="900" dirty="0"/>
          </a:p>
          <a:p>
            <a:pPr algn="ctr" indent="0" marL="0">
              <a:lnSpc>
                <a:spcPts val="1000"/>
              </a:lnSpc>
              <a:buNone/>
            </a:pPr>
            <a:r>
              <a:rPr lang="en-US" sz="900" b="1" dirty="0">
                <a:solidFill>
                  <a:srgbClr val="222B33"/>
                </a:solidFill>
                <a:latin typeface="Calibri" pitchFamily="34" charset="0"/>
                <a:ea typeface="Calibri" pitchFamily="34" charset="-122"/>
                <a:cs typeface="Calibri" pitchFamily="34" charset="-120"/>
              </a:rPr>
              <a:t>Only</a:t>
            </a:r>
            <a:endParaRPr lang="en-US" sz="900" dirty="0"/>
          </a:p>
        </p:txBody>
      </p:sp>
      <p:sp>
        <p:nvSpPr>
          <p:cNvPr id="22" name="Shape 20"/>
          <p:cNvSpPr/>
          <p:nvPr/>
        </p:nvSpPr>
        <p:spPr>
          <a:xfrm>
            <a:off x="9731959" y="2660904"/>
            <a:ext cx="201168" cy="256032"/>
          </a:xfrm>
          <a:prstGeom prst="chevron">
            <a:avLst/>
          </a:prstGeom>
          <a:solidFill>
            <a:srgbClr val="00A896"/>
          </a:solidFill>
          <a:ln/>
        </p:spPr>
      </p:sp>
      <p:sp>
        <p:nvSpPr>
          <p:cNvPr id="23" name="Shape 21"/>
          <p:cNvSpPr/>
          <p:nvPr/>
        </p:nvSpPr>
        <p:spPr>
          <a:xfrm>
            <a:off x="10081260" y="2514600"/>
            <a:ext cx="1421892" cy="548640"/>
          </a:xfrm>
          <a:prstGeom prst="roundRect">
            <a:avLst>
              <a:gd name="adj" fmla="val 8333"/>
            </a:avLst>
          </a:prstGeom>
          <a:solidFill>
            <a:srgbClr val="FFFFFF"/>
          </a:solidFill>
          <a:ln w="9525">
            <a:solidFill>
              <a:srgbClr val="D7E0E6"/>
            </a:solidFill>
            <a:prstDash val="solid"/>
          </a:ln>
        </p:spPr>
      </p:sp>
      <p:sp>
        <p:nvSpPr>
          <p:cNvPr id="24" name="Text 22"/>
          <p:cNvSpPr/>
          <p:nvPr/>
        </p:nvSpPr>
        <p:spPr>
          <a:xfrm>
            <a:off x="10126980" y="2514600"/>
            <a:ext cx="1330452" cy="548640"/>
          </a:xfrm>
          <a:prstGeom prst="rect">
            <a:avLst/>
          </a:prstGeom>
          <a:noFill/>
          <a:ln/>
        </p:spPr>
        <p:txBody>
          <a:bodyPr wrap="square" rtlCol="0" anchor="ctr"/>
          <a:lstStyle/>
          <a:p>
            <a:pPr algn="ctr" indent="0" marL="0">
              <a:lnSpc>
                <a:spcPts val="1000"/>
              </a:lnSpc>
              <a:buNone/>
            </a:pPr>
            <a:r>
              <a:rPr lang="en-US" sz="900" b="1" dirty="0">
                <a:solidFill>
                  <a:srgbClr val="222B33"/>
                </a:solidFill>
                <a:latin typeface="Calibri" pitchFamily="34" charset="0"/>
                <a:ea typeface="Calibri" pitchFamily="34" charset="-122"/>
                <a:cs typeface="Calibri" pitchFamily="34" charset="-120"/>
              </a:rPr>
              <a:t>Updated</a:t>
            </a:r>
            <a:endParaRPr lang="en-US" sz="900" dirty="0"/>
          </a:p>
          <a:p>
            <a:pPr algn="ctr" indent="0" marL="0">
              <a:lnSpc>
                <a:spcPts val="1000"/>
              </a:lnSpc>
              <a:buNone/>
            </a:pPr>
            <a:r>
              <a:rPr lang="en-US" sz="900" b="1" dirty="0">
                <a:solidFill>
                  <a:srgbClr val="222B33"/>
                </a:solidFill>
                <a:latin typeface="Calibri" pitchFamily="34" charset="0"/>
                <a:ea typeface="Calibri" pitchFamily="34" charset="-122"/>
                <a:cs typeface="Calibri" pitchFamily="34" charset="-120"/>
              </a:rPr>
              <a:t>Model</a:t>
            </a:r>
            <a:endParaRPr lang="en-US" sz="900" dirty="0"/>
          </a:p>
        </p:txBody>
      </p:sp>
      <p:sp>
        <p:nvSpPr>
          <p:cNvPr id="25" name="Text 23"/>
          <p:cNvSpPr/>
          <p:nvPr/>
        </p:nvSpPr>
        <p:spPr>
          <a:xfrm>
            <a:off x="457200" y="3611880"/>
            <a:ext cx="5408676" cy="256032"/>
          </a:xfrm>
          <a:prstGeom prst="rect">
            <a:avLst/>
          </a:prstGeom>
          <a:noFill/>
          <a:ln/>
        </p:spPr>
        <p:txBody>
          <a:bodyPr wrap="square" rtlCol="0" anchor="ctr"/>
          <a:lstStyle/>
          <a:p>
            <a:pPr indent="0" marL="0">
              <a:buNone/>
            </a:pPr>
            <a:r>
              <a:rPr lang="en-US" sz="1100" b="1" spc="150" kern="0" dirty="0">
                <a:solidFill>
                  <a:srgbClr val="028090"/>
                </a:solidFill>
                <a:latin typeface="Calibri" pitchFamily="34" charset="0"/>
                <a:ea typeface="Calibri" pitchFamily="34" charset="-122"/>
                <a:cs typeface="Calibri" pitchFamily="34" charset="-120"/>
              </a:rPr>
              <a:t>HOW IT WORKS</a:t>
            </a:r>
            <a:endParaRPr lang="en-US" sz="1100" dirty="0"/>
          </a:p>
        </p:txBody>
      </p:sp>
      <p:sp>
        <p:nvSpPr>
          <p:cNvPr id="26" name="Shape 24"/>
          <p:cNvSpPr/>
          <p:nvPr/>
        </p:nvSpPr>
        <p:spPr>
          <a:xfrm>
            <a:off x="457200" y="3931920"/>
            <a:ext cx="292608" cy="292608"/>
          </a:xfrm>
          <a:prstGeom prst="roundRect">
            <a:avLst>
              <a:gd name="adj" fmla="val 50000"/>
            </a:avLst>
          </a:prstGeom>
          <a:solidFill>
            <a:srgbClr val="0B2545"/>
          </a:solidFill>
          <a:ln/>
        </p:spPr>
      </p:sp>
      <p:sp>
        <p:nvSpPr>
          <p:cNvPr id="27" name="Text 25"/>
          <p:cNvSpPr/>
          <p:nvPr/>
        </p:nvSpPr>
        <p:spPr>
          <a:xfrm>
            <a:off x="457200" y="3931920"/>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8" name="Text 26"/>
          <p:cNvSpPr/>
          <p:nvPr/>
        </p:nvSpPr>
        <p:spPr>
          <a:xfrm>
            <a:off x="868680" y="3913632"/>
            <a:ext cx="4997196" cy="365760"/>
          </a:xfrm>
          <a:prstGeom prst="rect">
            <a:avLst/>
          </a:prstGeom>
          <a:noFill/>
          <a:ln/>
        </p:spPr>
        <p:txBody>
          <a:bodyPr wrap="square" rtlCol="0" anchor="ctr"/>
          <a:lstStyle/>
          <a:p>
            <a:pPr indent="0" marL="0">
              <a:lnSpc>
                <a:spcPts val="1300"/>
              </a:lnSpc>
              <a:buNone/>
            </a:pPr>
            <a:r>
              <a:rPr lang="en-US" sz="1100" dirty="0">
                <a:solidFill>
                  <a:srgbClr val="222B33"/>
                </a:solidFill>
                <a:latin typeface="Calibri" pitchFamily="34" charset="0"/>
                <a:ea typeface="Calibri" pitchFamily="34" charset="-122"/>
                <a:cs typeface="Calibri" pitchFamily="34" charset="-120"/>
              </a:rPr>
              <a:t>Monitor real-time sensor data (V, I, temperature, SOC, cycle count)</a:t>
            </a:r>
            <a:endParaRPr lang="en-US" sz="1100" dirty="0"/>
          </a:p>
        </p:txBody>
      </p:sp>
      <p:sp>
        <p:nvSpPr>
          <p:cNvPr id="29" name="Shape 27"/>
          <p:cNvSpPr/>
          <p:nvPr/>
        </p:nvSpPr>
        <p:spPr>
          <a:xfrm>
            <a:off x="457200" y="4352544"/>
            <a:ext cx="292608" cy="292608"/>
          </a:xfrm>
          <a:prstGeom prst="roundRect">
            <a:avLst>
              <a:gd name="adj" fmla="val 50000"/>
            </a:avLst>
          </a:prstGeom>
          <a:solidFill>
            <a:srgbClr val="0B2545"/>
          </a:solidFill>
          <a:ln/>
        </p:spPr>
      </p:sp>
      <p:sp>
        <p:nvSpPr>
          <p:cNvPr id="30" name="Text 28"/>
          <p:cNvSpPr/>
          <p:nvPr/>
        </p:nvSpPr>
        <p:spPr>
          <a:xfrm>
            <a:off x="457200" y="4352544"/>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9"/>
          <p:cNvSpPr/>
          <p:nvPr/>
        </p:nvSpPr>
        <p:spPr>
          <a:xfrm>
            <a:off x="868680" y="4334256"/>
            <a:ext cx="4997196" cy="365760"/>
          </a:xfrm>
          <a:prstGeom prst="rect">
            <a:avLst/>
          </a:prstGeom>
          <a:noFill/>
          <a:ln/>
        </p:spPr>
        <p:txBody>
          <a:bodyPr wrap="square" rtlCol="0" anchor="ctr"/>
          <a:lstStyle/>
          <a:p>
            <a:pPr indent="0" marL="0">
              <a:lnSpc>
                <a:spcPts val="1300"/>
              </a:lnSpc>
              <a:buNone/>
            </a:pPr>
            <a:r>
              <a:rPr lang="en-US" sz="1100" dirty="0">
                <a:solidFill>
                  <a:srgbClr val="222B33"/>
                </a:solidFill>
                <a:latin typeface="Calibri" pitchFamily="34" charset="0"/>
                <a:ea typeface="Calibri" pitchFamily="34" charset="-122"/>
                <a:cs typeface="Calibri" pitchFamily="34" charset="-120"/>
              </a:rPr>
              <a:t>Detect changes in degradation behaviour</a:t>
            </a:r>
            <a:endParaRPr lang="en-US" sz="1100" dirty="0"/>
          </a:p>
        </p:txBody>
      </p:sp>
      <p:sp>
        <p:nvSpPr>
          <p:cNvPr id="32" name="Shape 30"/>
          <p:cNvSpPr/>
          <p:nvPr/>
        </p:nvSpPr>
        <p:spPr>
          <a:xfrm>
            <a:off x="457200" y="4773168"/>
            <a:ext cx="292608" cy="292608"/>
          </a:xfrm>
          <a:prstGeom prst="roundRect">
            <a:avLst>
              <a:gd name="adj" fmla="val 50000"/>
            </a:avLst>
          </a:prstGeom>
          <a:solidFill>
            <a:srgbClr val="0B2545"/>
          </a:solidFill>
          <a:ln/>
        </p:spPr>
      </p:sp>
      <p:sp>
        <p:nvSpPr>
          <p:cNvPr id="33" name="Text 31"/>
          <p:cNvSpPr/>
          <p:nvPr/>
        </p:nvSpPr>
        <p:spPr>
          <a:xfrm>
            <a:off x="457200" y="4773168"/>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4" name="Text 32"/>
          <p:cNvSpPr/>
          <p:nvPr/>
        </p:nvSpPr>
        <p:spPr>
          <a:xfrm>
            <a:off x="868680" y="4754880"/>
            <a:ext cx="4997196" cy="365760"/>
          </a:xfrm>
          <a:prstGeom prst="rect">
            <a:avLst/>
          </a:prstGeom>
          <a:noFill/>
          <a:ln/>
        </p:spPr>
        <p:txBody>
          <a:bodyPr wrap="square" rtlCol="0" anchor="ctr"/>
          <a:lstStyle/>
          <a:p>
            <a:pPr indent="0" marL="0">
              <a:lnSpc>
                <a:spcPts val="1300"/>
              </a:lnSpc>
              <a:buNone/>
            </a:pPr>
            <a:r>
              <a:rPr lang="en-US" sz="1100" dirty="0">
                <a:solidFill>
                  <a:srgbClr val="222B33"/>
                </a:solidFill>
                <a:latin typeface="Calibri" pitchFamily="34" charset="0"/>
                <a:ea typeface="Calibri" pitchFamily="34" charset="-122"/>
                <a:cs typeface="Calibri" pitchFamily="34" charset="-120"/>
              </a:rPr>
              <a:t>Store important new data in a replay buffer</a:t>
            </a:r>
            <a:endParaRPr lang="en-US" sz="1100" dirty="0"/>
          </a:p>
        </p:txBody>
      </p:sp>
      <p:sp>
        <p:nvSpPr>
          <p:cNvPr id="35" name="Shape 33"/>
          <p:cNvSpPr/>
          <p:nvPr/>
        </p:nvSpPr>
        <p:spPr>
          <a:xfrm>
            <a:off x="457200" y="5193792"/>
            <a:ext cx="292608" cy="292608"/>
          </a:xfrm>
          <a:prstGeom prst="roundRect">
            <a:avLst>
              <a:gd name="adj" fmla="val 50000"/>
            </a:avLst>
          </a:prstGeom>
          <a:solidFill>
            <a:srgbClr val="0B2545"/>
          </a:solidFill>
          <a:ln/>
        </p:spPr>
      </p:sp>
      <p:sp>
        <p:nvSpPr>
          <p:cNvPr id="36" name="Text 34"/>
          <p:cNvSpPr/>
          <p:nvPr/>
        </p:nvSpPr>
        <p:spPr>
          <a:xfrm>
            <a:off x="457200" y="5193792"/>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7" name="Text 35"/>
          <p:cNvSpPr/>
          <p:nvPr/>
        </p:nvSpPr>
        <p:spPr>
          <a:xfrm>
            <a:off x="868680" y="5175504"/>
            <a:ext cx="4997196" cy="365760"/>
          </a:xfrm>
          <a:prstGeom prst="rect">
            <a:avLst/>
          </a:prstGeom>
          <a:noFill/>
          <a:ln/>
        </p:spPr>
        <p:txBody>
          <a:bodyPr wrap="square" rtlCol="0" anchor="ctr"/>
          <a:lstStyle/>
          <a:p>
            <a:pPr indent="0" marL="0">
              <a:lnSpc>
                <a:spcPts val="1300"/>
              </a:lnSpc>
              <a:buNone/>
            </a:pPr>
            <a:r>
              <a:rPr lang="en-US" sz="1100" dirty="0">
                <a:solidFill>
                  <a:srgbClr val="222B33"/>
                </a:solidFill>
                <a:latin typeface="Calibri" pitchFamily="34" charset="0"/>
                <a:ea typeface="Calibri" pitchFamily="34" charset="-122"/>
                <a:cs typeface="Calibri" pitchFamily="34" charset="-120"/>
              </a:rPr>
              <a:t>Incrementally fine-tune the existing model</a:t>
            </a:r>
            <a:endParaRPr lang="en-US" sz="1100" dirty="0"/>
          </a:p>
        </p:txBody>
      </p:sp>
      <p:sp>
        <p:nvSpPr>
          <p:cNvPr id="38" name="Shape 36"/>
          <p:cNvSpPr/>
          <p:nvPr/>
        </p:nvSpPr>
        <p:spPr>
          <a:xfrm>
            <a:off x="457200" y="5614416"/>
            <a:ext cx="292608" cy="292608"/>
          </a:xfrm>
          <a:prstGeom prst="roundRect">
            <a:avLst>
              <a:gd name="adj" fmla="val 50000"/>
            </a:avLst>
          </a:prstGeom>
          <a:solidFill>
            <a:srgbClr val="0B2545"/>
          </a:solidFill>
          <a:ln/>
        </p:spPr>
      </p:sp>
      <p:sp>
        <p:nvSpPr>
          <p:cNvPr id="39" name="Text 37"/>
          <p:cNvSpPr/>
          <p:nvPr/>
        </p:nvSpPr>
        <p:spPr>
          <a:xfrm>
            <a:off x="457200" y="5614416"/>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0" name="Text 38"/>
          <p:cNvSpPr/>
          <p:nvPr/>
        </p:nvSpPr>
        <p:spPr>
          <a:xfrm>
            <a:off x="868680" y="5596128"/>
            <a:ext cx="4997196" cy="365760"/>
          </a:xfrm>
          <a:prstGeom prst="rect">
            <a:avLst/>
          </a:prstGeom>
          <a:noFill/>
          <a:ln/>
        </p:spPr>
        <p:txBody>
          <a:bodyPr wrap="square" rtlCol="0" anchor="ctr"/>
          <a:lstStyle/>
          <a:p>
            <a:pPr indent="0" marL="0">
              <a:lnSpc>
                <a:spcPts val="1300"/>
              </a:lnSpc>
              <a:buNone/>
            </a:pPr>
            <a:r>
              <a:rPr lang="en-US" sz="1100" dirty="0">
                <a:solidFill>
                  <a:srgbClr val="222B33"/>
                </a:solidFill>
                <a:latin typeface="Calibri" pitchFamily="34" charset="0"/>
                <a:ea typeface="Calibri" pitchFamily="34" charset="-122"/>
                <a:cs typeface="Calibri" pitchFamily="34" charset="-120"/>
              </a:rPr>
              <a:t>Update the Digital Twin — no full retraining</a:t>
            </a:r>
            <a:endParaRPr lang="en-US" sz="1100" dirty="0"/>
          </a:p>
        </p:txBody>
      </p:sp>
      <p:sp>
        <p:nvSpPr>
          <p:cNvPr id="41" name="Text 39"/>
          <p:cNvSpPr/>
          <p:nvPr/>
        </p:nvSpPr>
        <p:spPr>
          <a:xfrm>
            <a:off x="6323076" y="3611880"/>
            <a:ext cx="5408676" cy="256032"/>
          </a:xfrm>
          <a:prstGeom prst="rect">
            <a:avLst/>
          </a:prstGeom>
          <a:noFill/>
          <a:ln/>
        </p:spPr>
        <p:txBody>
          <a:bodyPr wrap="square" rtlCol="0" anchor="ctr"/>
          <a:lstStyle/>
          <a:p>
            <a:pPr indent="0" marL="0">
              <a:buNone/>
            </a:pPr>
            <a:r>
              <a:rPr lang="en-US" sz="1100" b="1" spc="150" kern="0" dirty="0">
                <a:solidFill>
                  <a:srgbClr val="028090"/>
                </a:solidFill>
                <a:latin typeface="Calibri" pitchFamily="34" charset="0"/>
                <a:ea typeface="Calibri" pitchFamily="34" charset="-122"/>
                <a:cs typeface="Calibri" pitchFamily="34" charset="-120"/>
              </a:rPr>
              <a:t>ADVANTAGES</a:t>
            </a:r>
            <a:endParaRPr lang="en-US" sz="1100" dirty="0"/>
          </a:p>
        </p:txBody>
      </p:sp>
      <p:sp>
        <p:nvSpPr>
          <p:cNvPr id="42" name="Shape 40"/>
          <p:cNvSpPr/>
          <p:nvPr/>
        </p:nvSpPr>
        <p:spPr>
          <a:xfrm>
            <a:off x="6323076" y="3977640"/>
            <a:ext cx="164592" cy="164592"/>
          </a:xfrm>
          <a:prstGeom prst="roundRect">
            <a:avLst>
              <a:gd name="adj" fmla="val 50000"/>
            </a:avLst>
          </a:prstGeom>
          <a:solidFill>
            <a:srgbClr val="00A896"/>
          </a:solidFill>
          <a:ln/>
        </p:spPr>
      </p:sp>
      <p:sp>
        <p:nvSpPr>
          <p:cNvPr id="43" name="Text 41"/>
          <p:cNvSpPr/>
          <p:nvPr/>
        </p:nvSpPr>
        <p:spPr>
          <a:xfrm>
            <a:off x="6643116" y="3913632"/>
            <a:ext cx="5088636" cy="365760"/>
          </a:xfrm>
          <a:prstGeom prst="rect">
            <a:avLst/>
          </a:prstGeom>
          <a:noFill/>
          <a:ln/>
        </p:spPr>
        <p:txBody>
          <a:bodyPr wrap="square" rtlCol="0" anchor="ctr"/>
          <a:lstStyle/>
          <a:p>
            <a:pPr indent="0" marL="0">
              <a:lnSpc>
                <a:spcPts val="1300"/>
              </a:lnSpc>
              <a:buNone/>
            </a:pPr>
            <a:r>
              <a:rPr lang="en-US" sz="1100" dirty="0">
                <a:solidFill>
                  <a:srgbClr val="222B33"/>
                </a:solidFill>
                <a:latin typeface="Calibri" pitchFamily="34" charset="0"/>
                <a:ea typeface="Calibri" pitchFamily="34" charset="-122"/>
                <a:cs typeface="Calibri" pitchFamily="34" charset="-120"/>
              </a:rPr>
              <a:t>Eliminates full model retraining</a:t>
            </a:r>
            <a:endParaRPr lang="en-US" sz="1100" dirty="0"/>
          </a:p>
        </p:txBody>
      </p:sp>
      <p:sp>
        <p:nvSpPr>
          <p:cNvPr id="44" name="Shape 42"/>
          <p:cNvSpPr/>
          <p:nvPr/>
        </p:nvSpPr>
        <p:spPr>
          <a:xfrm>
            <a:off x="6323076" y="4398264"/>
            <a:ext cx="164592" cy="164592"/>
          </a:xfrm>
          <a:prstGeom prst="roundRect">
            <a:avLst>
              <a:gd name="adj" fmla="val 50000"/>
            </a:avLst>
          </a:prstGeom>
          <a:solidFill>
            <a:srgbClr val="00A896"/>
          </a:solidFill>
          <a:ln/>
        </p:spPr>
      </p:sp>
      <p:sp>
        <p:nvSpPr>
          <p:cNvPr id="45" name="Text 43"/>
          <p:cNvSpPr/>
          <p:nvPr/>
        </p:nvSpPr>
        <p:spPr>
          <a:xfrm>
            <a:off x="6643116" y="4334256"/>
            <a:ext cx="5088636" cy="365760"/>
          </a:xfrm>
          <a:prstGeom prst="rect">
            <a:avLst/>
          </a:prstGeom>
          <a:noFill/>
          <a:ln/>
        </p:spPr>
        <p:txBody>
          <a:bodyPr wrap="square" rtlCol="0" anchor="ctr"/>
          <a:lstStyle/>
          <a:p>
            <a:pPr indent="0" marL="0">
              <a:lnSpc>
                <a:spcPts val="1300"/>
              </a:lnSpc>
              <a:buNone/>
            </a:pPr>
            <a:r>
              <a:rPr lang="en-US" sz="1100" dirty="0">
                <a:solidFill>
                  <a:srgbClr val="222B33"/>
                </a:solidFill>
                <a:latin typeface="Calibri" pitchFamily="34" charset="0"/>
                <a:ea typeface="Calibri" pitchFamily="34" charset="-122"/>
                <a:cs typeface="Calibri" pitchFamily="34" charset="-120"/>
              </a:rPr>
              <a:t>Adapts to changing battery behaviour</a:t>
            </a:r>
            <a:endParaRPr lang="en-US" sz="1100" dirty="0"/>
          </a:p>
        </p:txBody>
      </p:sp>
      <p:sp>
        <p:nvSpPr>
          <p:cNvPr id="46" name="Shape 44"/>
          <p:cNvSpPr/>
          <p:nvPr/>
        </p:nvSpPr>
        <p:spPr>
          <a:xfrm>
            <a:off x="6323076" y="4818888"/>
            <a:ext cx="164592" cy="164592"/>
          </a:xfrm>
          <a:prstGeom prst="roundRect">
            <a:avLst>
              <a:gd name="adj" fmla="val 50000"/>
            </a:avLst>
          </a:prstGeom>
          <a:solidFill>
            <a:srgbClr val="00A896"/>
          </a:solidFill>
          <a:ln/>
        </p:spPr>
      </p:sp>
      <p:sp>
        <p:nvSpPr>
          <p:cNvPr id="47" name="Text 45"/>
          <p:cNvSpPr/>
          <p:nvPr/>
        </p:nvSpPr>
        <p:spPr>
          <a:xfrm>
            <a:off x="6643116" y="4754880"/>
            <a:ext cx="5088636" cy="365760"/>
          </a:xfrm>
          <a:prstGeom prst="rect">
            <a:avLst/>
          </a:prstGeom>
          <a:noFill/>
          <a:ln/>
        </p:spPr>
        <p:txBody>
          <a:bodyPr wrap="square" rtlCol="0" anchor="ctr"/>
          <a:lstStyle/>
          <a:p>
            <a:pPr indent="0" marL="0">
              <a:lnSpc>
                <a:spcPts val="1300"/>
              </a:lnSpc>
              <a:buNone/>
            </a:pPr>
            <a:r>
              <a:rPr lang="en-US" sz="1100" dirty="0">
                <a:solidFill>
                  <a:srgbClr val="222B33"/>
                </a:solidFill>
                <a:latin typeface="Calibri" pitchFamily="34" charset="0"/>
                <a:ea typeface="Calibri" pitchFamily="34" charset="-122"/>
                <a:cs typeface="Calibri" pitchFamily="34" charset="-120"/>
              </a:rPr>
              <a:t>Personalized prediction per battery</a:t>
            </a:r>
            <a:endParaRPr lang="en-US" sz="1100" dirty="0"/>
          </a:p>
        </p:txBody>
      </p:sp>
      <p:sp>
        <p:nvSpPr>
          <p:cNvPr id="48" name="Shape 46"/>
          <p:cNvSpPr/>
          <p:nvPr/>
        </p:nvSpPr>
        <p:spPr>
          <a:xfrm>
            <a:off x="6323076" y="5239512"/>
            <a:ext cx="164592" cy="164592"/>
          </a:xfrm>
          <a:prstGeom prst="roundRect">
            <a:avLst>
              <a:gd name="adj" fmla="val 50000"/>
            </a:avLst>
          </a:prstGeom>
          <a:solidFill>
            <a:srgbClr val="00A896"/>
          </a:solidFill>
          <a:ln/>
        </p:spPr>
      </p:sp>
      <p:sp>
        <p:nvSpPr>
          <p:cNvPr id="49" name="Text 47"/>
          <p:cNvSpPr/>
          <p:nvPr/>
        </p:nvSpPr>
        <p:spPr>
          <a:xfrm>
            <a:off x="6643116" y="5175504"/>
            <a:ext cx="5088636" cy="365760"/>
          </a:xfrm>
          <a:prstGeom prst="rect">
            <a:avLst/>
          </a:prstGeom>
          <a:noFill/>
          <a:ln/>
        </p:spPr>
        <p:txBody>
          <a:bodyPr wrap="square" rtlCol="0" anchor="ctr"/>
          <a:lstStyle/>
          <a:p>
            <a:pPr indent="0" marL="0">
              <a:lnSpc>
                <a:spcPts val="1300"/>
              </a:lnSpc>
              <a:buNone/>
            </a:pPr>
            <a:r>
              <a:rPr lang="en-US" sz="1100" dirty="0">
                <a:solidFill>
                  <a:srgbClr val="222B33"/>
                </a:solidFill>
                <a:latin typeface="Calibri" pitchFamily="34" charset="0"/>
                <a:ea typeface="Calibri" pitchFamily="34" charset="-122"/>
                <a:cs typeface="Calibri" pitchFamily="34" charset="-120"/>
              </a:rPr>
              <a:t>Physics-consistent predictions via PINN</a:t>
            </a:r>
            <a:endParaRPr lang="en-US" sz="1100" dirty="0"/>
          </a:p>
        </p:txBody>
      </p:sp>
      <p:sp>
        <p:nvSpPr>
          <p:cNvPr id="50" name="Shape 48"/>
          <p:cNvSpPr/>
          <p:nvPr/>
        </p:nvSpPr>
        <p:spPr>
          <a:xfrm>
            <a:off x="6323076" y="5660136"/>
            <a:ext cx="164592" cy="164592"/>
          </a:xfrm>
          <a:prstGeom prst="roundRect">
            <a:avLst>
              <a:gd name="adj" fmla="val 50000"/>
            </a:avLst>
          </a:prstGeom>
          <a:solidFill>
            <a:srgbClr val="00A896"/>
          </a:solidFill>
          <a:ln/>
        </p:spPr>
      </p:sp>
      <p:sp>
        <p:nvSpPr>
          <p:cNvPr id="51" name="Text 49"/>
          <p:cNvSpPr/>
          <p:nvPr/>
        </p:nvSpPr>
        <p:spPr>
          <a:xfrm>
            <a:off x="6643116" y="5596128"/>
            <a:ext cx="5088636" cy="365760"/>
          </a:xfrm>
          <a:prstGeom prst="rect">
            <a:avLst/>
          </a:prstGeom>
          <a:noFill/>
          <a:ln/>
        </p:spPr>
        <p:txBody>
          <a:bodyPr wrap="square" rtlCol="0" anchor="ctr"/>
          <a:lstStyle/>
          <a:p>
            <a:pPr indent="0" marL="0">
              <a:lnSpc>
                <a:spcPts val="1300"/>
              </a:lnSpc>
              <a:buNone/>
            </a:pPr>
            <a:r>
              <a:rPr lang="en-US" sz="1100" dirty="0">
                <a:solidFill>
                  <a:srgbClr val="222B33"/>
                </a:solidFill>
                <a:latin typeface="Calibri" pitchFamily="34" charset="0"/>
                <a:ea typeface="Calibri" pitchFamily="34" charset="-122"/>
                <a:cs typeface="Calibri" pitchFamily="34" charset="-120"/>
              </a:rPr>
              <a:t>Fit for real-time BMS deployment</a:t>
            </a:r>
            <a:endParaRPr lang="en-US" sz="1100" dirty="0"/>
          </a:p>
        </p:txBody>
      </p:sp>
      <p:sp>
        <p:nvSpPr>
          <p:cNvPr id="52" name="Text 50"/>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Adaptive PINN Battery Digital Twin</a:t>
            </a:r>
            <a:endParaRPr lang="en-US" sz="900" dirty="0"/>
          </a:p>
        </p:txBody>
      </p:sp>
      <p:sp>
        <p:nvSpPr>
          <p:cNvPr id="53" name="Text 51"/>
          <p:cNvSpPr/>
          <p:nvPr/>
        </p:nvSpPr>
        <p:spPr>
          <a:xfrm>
            <a:off x="11000232" y="6492240"/>
            <a:ext cx="73152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9144000" cy="27432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REAL-WORLD IMPACT</a:t>
            </a:r>
            <a:endParaRPr lang="en-US" sz="1200" dirty="0"/>
          </a:p>
        </p:txBody>
      </p:sp>
      <p:sp>
        <p:nvSpPr>
          <p:cNvPr id="3" name="Text 1"/>
          <p:cNvSpPr/>
          <p:nvPr/>
        </p:nvSpPr>
        <p:spPr>
          <a:xfrm>
            <a:off x="457200" y="566928"/>
            <a:ext cx="11274552" cy="59436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Applications</a:t>
            </a:r>
            <a:endParaRPr lang="en-US" sz="2800" dirty="0"/>
          </a:p>
        </p:txBody>
      </p:sp>
      <p:sp>
        <p:nvSpPr>
          <p:cNvPr id="4" name="Shape 2"/>
          <p:cNvSpPr/>
          <p:nvPr/>
        </p:nvSpPr>
        <p:spPr>
          <a:xfrm>
            <a:off x="457200" y="1508760"/>
            <a:ext cx="3544824" cy="1828800"/>
          </a:xfrm>
          <a:prstGeom prst="roundRect">
            <a:avLst>
              <a:gd name="adj" fmla="val 4000"/>
            </a:avLst>
          </a:prstGeom>
          <a:solidFill>
            <a:srgbClr val="0B2545"/>
          </a:solidFill>
          <a:ln/>
        </p:spPr>
      </p:sp>
      <p:sp>
        <p:nvSpPr>
          <p:cNvPr id="5" name="Shape 3"/>
          <p:cNvSpPr/>
          <p:nvPr/>
        </p:nvSpPr>
        <p:spPr>
          <a:xfrm>
            <a:off x="685800" y="1737360"/>
            <a:ext cx="384048" cy="384048"/>
          </a:xfrm>
          <a:prstGeom prst="roundRect">
            <a:avLst>
              <a:gd name="adj" fmla="val 50000"/>
            </a:avLst>
          </a:prstGeom>
          <a:solidFill>
            <a:srgbClr val="00A896"/>
          </a:solidFill>
          <a:ln/>
        </p:spPr>
      </p:sp>
      <p:sp>
        <p:nvSpPr>
          <p:cNvPr id="6" name="Text 4"/>
          <p:cNvSpPr/>
          <p:nvPr/>
        </p:nvSpPr>
        <p:spPr>
          <a:xfrm>
            <a:off x="685800" y="17373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685800" y="2258568"/>
            <a:ext cx="3087624" cy="457200"/>
          </a:xfrm>
          <a:prstGeom prst="rect">
            <a:avLst/>
          </a:prstGeom>
          <a:noFill/>
          <a:ln/>
        </p:spPr>
        <p:txBody>
          <a:bodyPr wrap="square" rtlCol="0" anchor="ctr"/>
          <a:lstStyle/>
          <a:p>
            <a:pPr indent="0" marL="0">
              <a:lnSpc>
                <a:spcPts val="1600"/>
              </a:lnSpc>
              <a:buNone/>
            </a:pPr>
            <a:r>
              <a:rPr lang="en-US" sz="1450" b="1" dirty="0">
                <a:solidFill>
                  <a:srgbClr val="FFFFFF"/>
                </a:solidFill>
                <a:latin typeface="Cambria" pitchFamily="34" charset="0"/>
                <a:ea typeface="Cambria" pitchFamily="34" charset="-122"/>
                <a:cs typeface="Cambria" pitchFamily="34" charset="-120"/>
              </a:rPr>
              <a:t>Electric Vehicles</a:t>
            </a:r>
            <a:endParaRPr lang="en-US" sz="1450" dirty="0"/>
          </a:p>
        </p:txBody>
      </p:sp>
      <p:sp>
        <p:nvSpPr>
          <p:cNvPr id="8" name="Text 6"/>
          <p:cNvSpPr/>
          <p:nvPr/>
        </p:nvSpPr>
        <p:spPr>
          <a:xfrm>
            <a:off x="685800" y="2715768"/>
            <a:ext cx="3087624" cy="548640"/>
          </a:xfrm>
          <a:prstGeom prst="rect">
            <a:avLst/>
          </a:prstGeom>
          <a:noFill/>
          <a:ln/>
        </p:spPr>
        <p:txBody>
          <a:bodyPr wrap="square" rtlCol="0" anchor="ctr"/>
          <a:lstStyle/>
          <a:p>
            <a:pPr indent="0" marL="0">
              <a:lnSpc>
                <a:spcPts val="1300"/>
              </a:lnSpc>
              <a:buNone/>
            </a:pPr>
            <a:r>
              <a:rPr lang="en-US" sz="1050" dirty="0">
                <a:solidFill>
                  <a:srgbClr val="CBDCE8"/>
                </a:solidFill>
                <a:latin typeface="Calibri" pitchFamily="34" charset="0"/>
                <a:ea typeface="Calibri" pitchFamily="34" charset="-122"/>
                <a:cs typeface="Calibri" pitchFamily="34" charset="-120"/>
              </a:rPr>
              <a:t>Predict battery replacement before failure occurs.</a:t>
            </a:r>
            <a:endParaRPr lang="en-US" sz="1050" dirty="0"/>
          </a:p>
        </p:txBody>
      </p:sp>
      <p:sp>
        <p:nvSpPr>
          <p:cNvPr id="9" name="Shape 7"/>
          <p:cNvSpPr/>
          <p:nvPr/>
        </p:nvSpPr>
        <p:spPr>
          <a:xfrm>
            <a:off x="4322064" y="1508760"/>
            <a:ext cx="3544824" cy="1828800"/>
          </a:xfrm>
          <a:prstGeom prst="roundRect">
            <a:avLst>
              <a:gd name="adj" fmla="val 4000"/>
            </a:avLst>
          </a:prstGeom>
          <a:solidFill>
            <a:srgbClr val="F2F6F8"/>
          </a:solidFill>
          <a:ln/>
        </p:spPr>
      </p:sp>
      <p:sp>
        <p:nvSpPr>
          <p:cNvPr id="10" name="Shape 8"/>
          <p:cNvSpPr/>
          <p:nvPr/>
        </p:nvSpPr>
        <p:spPr>
          <a:xfrm>
            <a:off x="4550664" y="1737360"/>
            <a:ext cx="384048" cy="384048"/>
          </a:xfrm>
          <a:prstGeom prst="roundRect">
            <a:avLst>
              <a:gd name="adj" fmla="val 50000"/>
            </a:avLst>
          </a:prstGeom>
          <a:solidFill>
            <a:srgbClr val="00A896"/>
          </a:solidFill>
          <a:ln/>
        </p:spPr>
      </p:sp>
      <p:sp>
        <p:nvSpPr>
          <p:cNvPr id="11" name="Text 9"/>
          <p:cNvSpPr/>
          <p:nvPr/>
        </p:nvSpPr>
        <p:spPr>
          <a:xfrm>
            <a:off x="4550664" y="17373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550664" y="2258568"/>
            <a:ext cx="3087624" cy="457200"/>
          </a:xfrm>
          <a:prstGeom prst="rect">
            <a:avLst/>
          </a:prstGeom>
          <a:noFill/>
          <a:ln/>
        </p:spPr>
        <p:txBody>
          <a:bodyPr wrap="square" rtlCol="0" anchor="ctr"/>
          <a:lstStyle/>
          <a:p>
            <a:pPr indent="0" marL="0">
              <a:lnSpc>
                <a:spcPts val="1600"/>
              </a:lnSpc>
              <a:buNone/>
            </a:pPr>
            <a:r>
              <a:rPr lang="en-US" sz="1450" b="1" dirty="0">
                <a:solidFill>
                  <a:srgbClr val="0B2545"/>
                </a:solidFill>
                <a:latin typeface="Cambria" pitchFamily="34" charset="0"/>
                <a:ea typeface="Cambria" pitchFamily="34" charset="-122"/>
                <a:cs typeface="Cambria" pitchFamily="34" charset="-120"/>
              </a:rPr>
              <a:t>Solar Storage</a:t>
            </a:r>
            <a:endParaRPr lang="en-US" sz="1450" dirty="0"/>
          </a:p>
        </p:txBody>
      </p:sp>
      <p:sp>
        <p:nvSpPr>
          <p:cNvPr id="13" name="Text 11"/>
          <p:cNvSpPr/>
          <p:nvPr/>
        </p:nvSpPr>
        <p:spPr>
          <a:xfrm>
            <a:off x="4550664" y="2715768"/>
            <a:ext cx="3087624" cy="548640"/>
          </a:xfrm>
          <a:prstGeom prst="rect">
            <a:avLst/>
          </a:prstGeom>
          <a:noFill/>
          <a:ln/>
        </p:spPr>
        <p:txBody>
          <a:bodyPr wrap="square" rtlCol="0" anchor="ctr"/>
          <a:lstStyle/>
          <a:p>
            <a:pPr indent="0" marL="0">
              <a:lnSpc>
                <a:spcPts val="1300"/>
              </a:lnSpc>
              <a:buNone/>
            </a:pPr>
            <a:r>
              <a:rPr lang="en-US" sz="1050" dirty="0">
                <a:solidFill>
                  <a:srgbClr val="5B6B79"/>
                </a:solidFill>
                <a:latin typeface="Calibri" pitchFamily="34" charset="0"/>
                <a:ea typeface="Calibri" pitchFamily="34" charset="-122"/>
                <a:cs typeface="Calibri" pitchFamily="34" charset="-120"/>
              </a:rPr>
              <a:t>Monitor home batteries and predict maintenance needs.</a:t>
            </a:r>
            <a:endParaRPr lang="en-US" sz="1050" dirty="0"/>
          </a:p>
        </p:txBody>
      </p:sp>
      <p:sp>
        <p:nvSpPr>
          <p:cNvPr id="14" name="Shape 12"/>
          <p:cNvSpPr/>
          <p:nvPr/>
        </p:nvSpPr>
        <p:spPr>
          <a:xfrm>
            <a:off x="8186928" y="1508760"/>
            <a:ext cx="3544824" cy="1828800"/>
          </a:xfrm>
          <a:prstGeom prst="roundRect">
            <a:avLst>
              <a:gd name="adj" fmla="val 4000"/>
            </a:avLst>
          </a:prstGeom>
          <a:solidFill>
            <a:srgbClr val="F2F6F8"/>
          </a:solidFill>
          <a:ln/>
        </p:spPr>
      </p:sp>
      <p:sp>
        <p:nvSpPr>
          <p:cNvPr id="15" name="Shape 13"/>
          <p:cNvSpPr/>
          <p:nvPr/>
        </p:nvSpPr>
        <p:spPr>
          <a:xfrm>
            <a:off x="8415528" y="1737360"/>
            <a:ext cx="384048" cy="384048"/>
          </a:xfrm>
          <a:prstGeom prst="roundRect">
            <a:avLst>
              <a:gd name="adj" fmla="val 50000"/>
            </a:avLst>
          </a:prstGeom>
          <a:solidFill>
            <a:srgbClr val="00A896"/>
          </a:solidFill>
          <a:ln/>
        </p:spPr>
      </p:sp>
      <p:sp>
        <p:nvSpPr>
          <p:cNvPr id="16" name="Text 14"/>
          <p:cNvSpPr/>
          <p:nvPr/>
        </p:nvSpPr>
        <p:spPr>
          <a:xfrm>
            <a:off x="8415528" y="17373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415528" y="2258568"/>
            <a:ext cx="3087624" cy="457200"/>
          </a:xfrm>
          <a:prstGeom prst="rect">
            <a:avLst/>
          </a:prstGeom>
          <a:noFill/>
          <a:ln/>
        </p:spPr>
        <p:txBody>
          <a:bodyPr wrap="square" rtlCol="0" anchor="ctr"/>
          <a:lstStyle/>
          <a:p>
            <a:pPr indent="0" marL="0">
              <a:lnSpc>
                <a:spcPts val="1600"/>
              </a:lnSpc>
              <a:buNone/>
            </a:pPr>
            <a:r>
              <a:rPr lang="en-US" sz="1450" b="1" dirty="0">
                <a:solidFill>
                  <a:srgbClr val="0B2545"/>
                </a:solidFill>
                <a:latin typeface="Cambria" pitchFamily="34" charset="0"/>
                <a:ea typeface="Cambria" pitchFamily="34" charset="-122"/>
                <a:cs typeface="Cambria" pitchFamily="34" charset="-120"/>
              </a:rPr>
              <a:t>Smart Grids</a:t>
            </a:r>
            <a:endParaRPr lang="en-US" sz="1450" dirty="0"/>
          </a:p>
        </p:txBody>
      </p:sp>
      <p:sp>
        <p:nvSpPr>
          <p:cNvPr id="18" name="Text 16"/>
          <p:cNvSpPr/>
          <p:nvPr/>
        </p:nvSpPr>
        <p:spPr>
          <a:xfrm>
            <a:off x="8415528" y="2715768"/>
            <a:ext cx="3087624" cy="548640"/>
          </a:xfrm>
          <a:prstGeom prst="rect">
            <a:avLst/>
          </a:prstGeom>
          <a:noFill/>
          <a:ln/>
        </p:spPr>
        <p:txBody>
          <a:bodyPr wrap="square" rtlCol="0" anchor="ctr"/>
          <a:lstStyle/>
          <a:p>
            <a:pPr indent="0" marL="0">
              <a:lnSpc>
                <a:spcPts val="1300"/>
              </a:lnSpc>
              <a:buNone/>
            </a:pPr>
            <a:r>
              <a:rPr lang="en-US" sz="1050" dirty="0">
                <a:solidFill>
                  <a:srgbClr val="5B6B79"/>
                </a:solidFill>
                <a:latin typeface="Calibri" pitchFamily="34" charset="0"/>
                <a:ea typeface="Calibri" pitchFamily="34" charset="-122"/>
                <a:cs typeface="Calibri" pitchFamily="34" charset="-120"/>
              </a:rPr>
              <a:t>Avoid sudden, costly battery failures at scale.</a:t>
            </a:r>
            <a:endParaRPr lang="en-US" sz="1050" dirty="0"/>
          </a:p>
        </p:txBody>
      </p:sp>
      <p:sp>
        <p:nvSpPr>
          <p:cNvPr id="19" name="Shape 17"/>
          <p:cNvSpPr/>
          <p:nvPr/>
        </p:nvSpPr>
        <p:spPr>
          <a:xfrm>
            <a:off x="2229612" y="3657600"/>
            <a:ext cx="3544824" cy="1828800"/>
          </a:xfrm>
          <a:prstGeom prst="roundRect">
            <a:avLst>
              <a:gd name="adj" fmla="val 4000"/>
            </a:avLst>
          </a:prstGeom>
          <a:solidFill>
            <a:srgbClr val="F2F6F8"/>
          </a:solidFill>
          <a:ln/>
        </p:spPr>
      </p:sp>
      <p:sp>
        <p:nvSpPr>
          <p:cNvPr id="20" name="Shape 18"/>
          <p:cNvSpPr/>
          <p:nvPr/>
        </p:nvSpPr>
        <p:spPr>
          <a:xfrm>
            <a:off x="2458212" y="3886200"/>
            <a:ext cx="384048" cy="384048"/>
          </a:xfrm>
          <a:prstGeom prst="roundRect">
            <a:avLst>
              <a:gd name="adj" fmla="val 50000"/>
            </a:avLst>
          </a:prstGeom>
          <a:solidFill>
            <a:srgbClr val="00A896"/>
          </a:solidFill>
          <a:ln/>
        </p:spPr>
      </p:sp>
      <p:sp>
        <p:nvSpPr>
          <p:cNvPr id="21" name="Text 19"/>
          <p:cNvSpPr/>
          <p:nvPr/>
        </p:nvSpPr>
        <p:spPr>
          <a:xfrm>
            <a:off x="2458212" y="388620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2458212" y="4407408"/>
            <a:ext cx="3087624" cy="457200"/>
          </a:xfrm>
          <a:prstGeom prst="rect">
            <a:avLst/>
          </a:prstGeom>
          <a:noFill/>
          <a:ln/>
        </p:spPr>
        <p:txBody>
          <a:bodyPr wrap="square" rtlCol="0" anchor="ctr"/>
          <a:lstStyle/>
          <a:p>
            <a:pPr indent="0" marL="0">
              <a:lnSpc>
                <a:spcPts val="1600"/>
              </a:lnSpc>
              <a:buNone/>
            </a:pPr>
            <a:r>
              <a:rPr lang="en-US" sz="1450" b="1" dirty="0">
                <a:solidFill>
                  <a:srgbClr val="0B2545"/>
                </a:solidFill>
                <a:latin typeface="Cambria" pitchFamily="34" charset="0"/>
                <a:ea typeface="Cambria" pitchFamily="34" charset="-122"/>
                <a:cs typeface="Cambria" pitchFamily="34" charset="-120"/>
              </a:rPr>
              <a:t>Drones</a:t>
            </a:r>
            <a:endParaRPr lang="en-US" sz="1450" dirty="0"/>
          </a:p>
        </p:txBody>
      </p:sp>
      <p:sp>
        <p:nvSpPr>
          <p:cNvPr id="23" name="Text 21"/>
          <p:cNvSpPr/>
          <p:nvPr/>
        </p:nvSpPr>
        <p:spPr>
          <a:xfrm>
            <a:off x="2458212" y="4864608"/>
            <a:ext cx="3087624" cy="548640"/>
          </a:xfrm>
          <a:prstGeom prst="rect">
            <a:avLst/>
          </a:prstGeom>
          <a:noFill/>
          <a:ln/>
        </p:spPr>
        <p:txBody>
          <a:bodyPr wrap="square" rtlCol="0" anchor="ctr"/>
          <a:lstStyle/>
          <a:p>
            <a:pPr indent="0" marL="0">
              <a:lnSpc>
                <a:spcPts val="1300"/>
              </a:lnSpc>
              <a:buNone/>
            </a:pPr>
            <a:r>
              <a:rPr lang="en-US" sz="1050" dirty="0">
                <a:solidFill>
                  <a:srgbClr val="5B6B79"/>
                </a:solidFill>
                <a:latin typeface="Calibri" pitchFamily="34" charset="0"/>
                <a:ea typeface="Calibri" pitchFamily="34" charset="-122"/>
                <a:cs typeface="Calibri" pitchFamily="34" charset="-120"/>
              </a:rPr>
              <a:t>Estimate safe remaining flying time in-flight.</a:t>
            </a:r>
            <a:endParaRPr lang="en-US" sz="1050" dirty="0"/>
          </a:p>
        </p:txBody>
      </p:sp>
      <p:sp>
        <p:nvSpPr>
          <p:cNvPr id="24" name="Shape 22"/>
          <p:cNvSpPr/>
          <p:nvPr/>
        </p:nvSpPr>
        <p:spPr>
          <a:xfrm>
            <a:off x="6094476" y="3657600"/>
            <a:ext cx="3544824" cy="1828800"/>
          </a:xfrm>
          <a:prstGeom prst="roundRect">
            <a:avLst>
              <a:gd name="adj" fmla="val 4000"/>
            </a:avLst>
          </a:prstGeom>
          <a:solidFill>
            <a:srgbClr val="F2F6F8"/>
          </a:solidFill>
          <a:ln/>
        </p:spPr>
      </p:sp>
      <p:sp>
        <p:nvSpPr>
          <p:cNvPr id="25" name="Shape 23"/>
          <p:cNvSpPr/>
          <p:nvPr/>
        </p:nvSpPr>
        <p:spPr>
          <a:xfrm>
            <a:off x="6323076" y="3886200"/>
            <a:ext cx="384048" cy="384048"/>
          </a:xfrm>
          <a:prstGeom prst="roundRect">
            <a:avLst>
              <a:gd name="adj" fmla="val 50000"/>
            </a:avLst>
          </a:prstGeom>
          <a:solidFill>
            <a:srgbClr val="00A896"/>
          </a:solidFill>
          <a:ln/>
        </p:spPr>
      </p:sp>
      <p:sp>
        <p:nvSpPr>
          <p:cNvPr id="26" name="Text 24"/>
          <p:cNvSpPr/>
          <p:nvPr/>
        </p:nvSpPr>
        <p:spPr>
          <a:xfrm>
            <a:off x="6323076" y="388620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6323076" y="4407408"/>
            <a:ext cx="3087624" cy="457200"/>
          </a:xfrm>
          <a:prstGeom prst="rect">
            <a:avLst/>
          </a:prstGeom>
          <a:noFill/>
          <a:ln/>
        </p:spPr>
        <p:txBody>
          <a:bodyPr wrap="square" rtlCol="0" anchor="ctr"/>
          <a:lstStyle/>
          <a:p>
            <a:pPr indent="0" marL="0">
              <a:lnSpc>
                <a:spcPts val="1600"/>
              </a:lnSpc>
              <a:buNone/>
            </a:pPr>
            <a:r>
              <a:rPr lang="en-US" sz="1450" b="1" dirty="0">
                <a:solidFill>
                  <a:srgbClr val="0B2545"/>
                </a:solidFill>
                <a:latin typeface="Cambria" pitchFamily="34" charset="0"/>
                <a:ea typeface="Cambria" pitchFamily="34" charset="-122"/>
                <a:cs typeface="Cambria" pitchFamily="34" charset="-120"/>
              </a:rPr>
              <a:t>Laptops &amp; Smartphones</a:t>
            </a:r>
            <a:endParaRPr lang="en-US" sz="1450" dirty="0"/>
          </a:p>
        </p:txBody>
      </p:sp>
      <p:sp>
        <p:nvSpPr>
          <p:cNvPr id="28" name="Text 26"/>
          <p:cNvSpPr/>
          <p:nvPr/>
        </p:nvSpPr>
        <p:spPr>
          <a:xfrm>
            <a:off x="6323076" y="4864608"/>
            <a:ext cx="3087624" cy="548640"/>
          </a:xfrm>
          <a:prstGeom prst="rect">
            <a:avLst/>
          </a:prstGeom>
          <a:noFill/>
          <a:ln/>
        </p:spPr>
        <p:txBody>
          <a:bodyPr wrap="square" rtlCol="0" anchor="ctr"/>
          <a:lstStyle/>
          <a:p>
            <a:pPr indent="0" marL="0">
              <a:lnSpc>
                <a:spcPts val="1300"/>
              </a:lnSpc>
              <a:buNone/>
            </a:pPr>
            <a:r>
              <a:rPr lang="en-US" sz="1050" dirty="0">
                <a:solidFill>
                  <a:srgbClr val="5B6B79"/>
                </a:solidFill>
                <a:latin typeface="Calibri" pitchFamily="34" charset="0"/>
                <a:ea typeface="Calibri" pitchFamily="34" charset="-122"/>
                <a:cs typeface="Calibri" pitchFamily="34" charset="-120"/>
              </a:rPr>
              <a:t>More accurate battery degradation estimates.</a:t>
            </a:r>
            <a:endParaRPr lang="en-US" sz="1050" dirty="0"/>
          </a:p>
        </p:txBody>
      </p:sp>
      <p:sp>
        <p:nvSpPr>
          <p:cNvPr id="29" name="Text 2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Adaptive PINN Battery Digital Twin</a:t>
            </a:r>
            <a:endParaRPr lang="en-US" sz="900" dirty="0"/>
          </a:p>
        </p:txBody>
      </p:sp>
      <p:sp>
        <p:nvSpPr>
          <p:cNvPr id="30" name="Text 28"/>
          <p:cNvSpPr/>
          <p:nvPr/>
        </p:nvSpPr>
        <p:spPr>
          <a:xfrm>
            <a:off x="11000232" y="6492240"/>
            <a:ext cx="73152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457200" y="502920"/>
            <a:ext cx="9144000" cy="292608"/>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457200" y="777240"/>
            <a:ext cx="11274552"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Project Summary</a:t>
            </a:r>
            <a:endParaRPr lang="en-US" sz="2600" dirty="0"/>
          </a:p>
        </p:txBody>
      </p:sp>
      <p:sp>
        <p:nvSpPr>
          <p:cNvPr id="4" name="Shape 2"/>
          <p:cNvSpPr/>
          <p:nvPr/>
        </p:nvSpPr>
        <p:spPr>
          <a:xfrm>
            <a:off x="457200" y="1755648"/>
            <a:ext cx="164592" cy="164592"/>
          </a:xfrm>
          <a:prstGeom prst="roundRect">
            <a:avLst>
              <a:gd name="adj" fmla="val 50000"/>
            </a:avLst>
          </a:prstGeom>
          <a:solidFill>
            <a:srgbClr val="00A896"/>
          </a:solidFill>
          <a:ln/>
        </p:spPr>
      </p:sp>
      <p:sp>
        <p:nvSpPr>
          <p:cNvPr id="5" name="Text 3"/>
          <p:cNvSpPr/>
          <p:nvPr/>
        </p:nvSpPr>
        <p:spPr>
          <a:xfrm>
            <a:off x="822960" y="1645920"/>
            <a:ext cx="10908792" cy="594360"/>
          </a:xfrm>
          <a:prstGeom prst="rect">
            <a:avLst/>
          </a:prstGeom>
          <a:noFill/>
          <a:ln/>
        </p:spPr>
        <p:txBody>
          <a:bodyPr wrap="square" rtlCol="0" anchor="ctr"/>
          <a:lstStyle/>
          <a:p>
            <a:pPr indent="0" marL="0">
              <a:lnSpc>
                <a:spcPts val="1700"/>
              </a:lnSpc>
              <a:buNone/>
            </a:pPr>
            <a:r>
              <a:rPr lang="en-US" sz="1350" dirty="0">
                <a:solidFill>
                  <a:srgbClr val="E7EEF3"/>
                </a:solidFill>
                <a:latin typeface="Calibri" pitchFamily="34" charset="0"/>
                <a:ea typeface="Calibri" pitchFamily="34" charset="-122"/>
                <a:cs typeface="Calibri" pitchFamily="34" charset="-120"/>
              </a:rPr>
              <a:t>Proposed an Adaptive Physics-Informed Battery Digital Twin for accurate SOH and RUL estimation.</a:t>
            </a:r>
            <a:endParaRPr lang="en-US" sz="1350" dirty="0"/>
          </a:p>
        </p:txBody>
      </p:sp>
      <p:sp>
        <p:nvSpPr>
          <p:cNvPr id="6" name="Shape 4"/>
          <p:cNvSpPr/>
          <p:nvPr/>
        </p:nvSpPr>
        <p:spPr>
          <a:xfrm>
            <a:off x="457200" y="2441448"/>
            <a:ext cx="164592" cy="164592"/>
          </a:xfrm>
          <a:prstGeom prst="roundRect">
            <a:avLst>
              <a:gd name="adj" fmla="val 50000"/>
            </a:avLst>
          </a:prstGeom>
          <a:solidFill>
            <a:srgbClr val="00A896"/>
          </a:solidFill>
          <a:ln/>
        </p:spPr>
      </p:sp>
      <p:sp>
        <p:nvSpPr>
          <p:cNvPr id="7" name="Text 5"/>
          <p:cNvSpPr/>
          <p:nvPr/>
        </p:nvSpPr>
        <p:spPr>
          <a:xfrm>
            <a:off x="822960" y="2331720"/>
            <a:ext cx="10908792" cy="594360"/>
          </a:xfrm>
          <a:prstGeom prst="rect">
            <a:avLst/>
          </a:prstGeom>
          <a:noFill/>
          <a:ln/>
        </p:spPr>
        <p:txBody>
          <a:bodyPr wrap="square" rtlCol="0" anchor="ctr"/>
          <a:lstStyle/>
          <a:p>
            <a:pPr indent="0" marL="0">
              <a:lnSpc>
                <a:spcPts val="1700"/>
              </a:lnSpc>
              <a:buNone/>
            </a:pPr>
            <a:r>
              <a:rPr lang="en-US" sz="1350" dirty="0">
                <a:solidFill>
                  <a:srgbClr val="E7EEF3"/>
                </a:solidFill>
                <a:latin typeface="Calibri" pitchFamily="34" charset="0"/>
                <a:ea typeface="Calibri" pitchFamily="34" charset="-122"/>
                <a:cs typeface="Calibri" pitchFamily="34" charset="-120"/>
              </a:rPr>
              <a:t>Integrated Transformer Encoder, PINN and Feedforward DNN to combine data-driven learning with battery physics.</a:t>
            </a:r>
            <a:endParaRPr lang="en-US" sz="1350" dirty="0"/>
          </a:p>
        </p:txBody>
      </p:sp>
      <p:sp>
        <p:nvSpPr>
          <p:cNvPr id="8" name="Shape 6"/>
          <p:cNvSpPr/>
          <p:nvPr/>
        </p:nvSpPr>
        <p:spPr>
          <a:xfrm>
            <a:off x="457200" y="3127248"/>
            <a:ext cx="164592" cy="164592"/>
          </a:xfrm>
          <a:prstGeom prst="roundRect">
            <a:avLst>
              <a:gd name="adj" fmla="val 50000"/>
            </a:avLst>
          </a:prstGeom>
          <a:solidFill>
            <a:srgbClr val="00A896"/>
          </a:solidFill>
          <a:ln/>
        </p:spPr>
      </p:sp>
      <p:sp>
        <p:nvSpPr>
          <p:cNvPr id="9" name="Text 7"/>
          <p:cNvSpPr/>
          <p:nvPr/>
        </p:nvSpPr>
        <p:spPr>
          <a:xfrm>
            <a:off x="822960" y="3017520"/>
            <a:ext cx="10908792" cy="594360"/>
          </a:xfrm>
          <a:prstGeom prst="rect">
            <a:avLst/>
          </a:prstGeom>
          <a:noFill/>
          <a:ln/>
        </p:spPr>
        <p:txBody>
          <a:bodyPr wrap="square" rtlCol="0" anchor="ctr"/>
          <a:lstStyle/>
          <a:p>
            <a:pPr indent="0" marL="0">
              <a:lnSpc>
                <a:spcPts val="1700"/>
              </a:lnSpc>
              <a:buNone/>
            </a:pPr>
            <a:r>
              <a:rPr lang="en-US" sz="1350" dirty="0">
                <a:solidFill>
                  <a:srgbClr val="E7EEF3"/>
                </a:solidFill>
                <a:latin typeface="Calibri" pitchFamily="34" charset="0"/>
                <a:ea typeface="Calibri" pitchFamily="34" charset="-122"/>
                <a:cs typeface="Calibri" pitchFamily="34" charset="-120"/>
              </a:rPr>
              <a:t>Introduced incremental adaptive learning to keep the Digital Twin current without full model retraining.</a:t>
            </a:r>
            <a:endParaRPr lang="en-US" sz="1350" dirty="0"/>
          </a:p>
        </p:txBody>
      </p:sp>
      <p:sp>
        <p:nvSpPr>
          <p:cNvPr id="10" name="Shape 8"/>
          <p:cNvSpPr/>
          <p:nvPr/>
        </p:nvSpPr>
        <p:spPr>
          <a:xfrm>
            <a:off x="457200" y="3813048"/>
            <a:ext cx="164592" cy="164592"/>
          </a:xfrm>
          <a:prstGeom prst="roundRect">
            <a:avLst>
              <a:gd name="adj" fmla="val 50000"/>
            </a:avLst>
          </a:prstGeom>
          <a:solidFill>
            <a:srgbClr val="00A896"/>
          </a:solidFill>
          <a:ln/>
        </p:spPr>
      </p:sp>
      <p:sp>
        <p:nvSpPr>
          <p:cNvPr id="11" name="Text 9"/>
          <p:cNvSpPr/>
          <p:nvPr/>
        </p:nvSpPr>
        <p:spPr>
          <a:xfrm>
            <a:off x="822960" y="3703320"/>
            <a:ext cx="10908792" cy="594360"/>
          </a:xfrm>
          <a:prstGeom prst="rect">
            <a:avLst/>
          </a:prstGeom>
          <a:noFill/>
          <a:ln/>
        </p:spPr>
        <p:txBody>
          <a:bodyPr wrap="square" rtlCol="0" anchor="ctr"/>
          <a:lstStyle/>
          <a:p>
            <a:pPr indent="0" marL="0">
              <a:lnSpc>
                <a:spcPts val="1700"/>
              </a:lnSpc>
              <a:buNone/>
            </a:pPr>
            <a:r>
              <a:rPr lang="en-US" sz="1350" dirty="0">
                <a:solidFill>
                  <a:srgbClr val="E7EEF3"/>
                </a:solidFill>
                <a:latin typeface="Calibri" pitchFamily="34" charset="0"/>
                <a:ea typeface="Calibri" pitchFamily="34" charset="-122"/>
                <a:cs typeface="Calibri" pitchFamily="34" charset="-120"/>
              </a:rPr>
              <a:t>Overcomes key limits of pure deep-learning and pure physics-based models with real-time, physically consistent predictions.</a:t>
            </a:r>
            <a:endParaRPr lang="en-US" sz="1350" dirty="0"/>
          </a:p>
        </p:txBody>
      </p:sp>
      <p:sp>
        <p:nvSpPr>
          <p:cNvPr id="12" name="Shape 10"/>
          <p:cNvSpPr/>
          <p:nvPr/>
        </p:nvSpPr>
        <p:spPr>
          <a:xfrm>
            <a:off x="457200" y="4572000"/>
            <a:ext cx="11274552" cy="777240"/>
          </a:xfrm>
          <a:prstGeom prst="roundRect">
            <a:avLst>
              <a:gd name="adj" fmla="val 9412"/>
            </a:avLst>
          </a:prstGeom>
          <a:solidFill>
            <a:srgbClr val="13355E"/>
          </a:solidFill>
          <a:ln/>
        </p:spPr>
      </p:sp>
      <p:sp>
        <p:nvSpPr>
          <p:cNvPr id="13" name="Text 11"/>
          <p:cNvSpPr/>
          <p:nvPr/>
        </p:nvSpPr>
        <p:spPr>
          <a:xfrm>
            <a:off x="731520" y="4572000"/>
            <a:ext cx="10725912" cy="777240"/>
          </a:xfrm>
          <a:prstGeom prst="rect">
            <a:avLst/>
          </a:prstGeom>
          <a:noFill/>
          <a:ln/>
        </p:spPr>
        <p:txBody>
          <a:bodyPr wrap="square" rtlCol="0" anchor="ctr"/>
          <a:lstStyle/>
          <a:p>
            <a:pPr indent="0" marL="0">
              <a:lnSpc>
                <a:spcPts val="1600"/>
              </a:lnSpc>
              <a:buNone/>
            </a:pPr>
            <a:r>
              <a:rPr lang="en-US" sz="1250" b="1" dirty="0">
                <a:solidFill>
                  <a:srgbClr val="00A896"/>
                </a:solidFill>
                <a:latin typeface="Calibri" pitchFamily="34" charset="0"/>
                <a:ea typeface="Calibri" pitchFamily="34" charset="-122"/>
                <a:cs typeface="Calibri" pitchFamily="34" charset="-120"/>
              </a:rPr>
              <a:t>Potential impact:  </a:t>
            </a:r>
            <a:pPr indent="0" marL="0">
              <a:lnSpc>
                <a:spcPts val="1600"/>
              </a:lnSpc>
              <a:buNone/>
            </a:pPr>
            <a:r>
              <a:rPr lang="en-US" sz="1250" dirty="0">
                <a:solidFill>
                  <a:srgbClr val="E7EEF3"/>
                </a:solidFill>
                <a:latin typeface="Calibri" pitchFamily="34" charset="0"/>
                <a:ea typeface="Calibri" pitchFamily="34" charset="-122"/>
                <a:cs typeface="Calibri" pitchFamily="34" charset="-120"/>
              </a:rPr>
              <a:t>Electric Vehicles, Battery Management Systems, Renewable Energy Storage, Smart Grids, Drones and Consumer Electronics.</a:t>
            </a:r>
            <a:endParaRPr lang="en-US" sz="1250" dirty="0"/>
          </a:p>
        </p:txBody>
      </p:sp>
      <p:sp>
        <p:nvSpPr>
          <p:cNvPr id="14" name="Text 1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Adaptive PINN Battery Digital Twin</a:t>
            </a:r>
            <a:endParaRPr lang="en-US" sz="900" dirty="0"/>
          </a:p>
        </p:txBody>
      </p:sp>
      <p:sp>
        <p:nvSpPr>
          <p:cNvPr id="15" name="Text 13"/>
          <p:cNvSpPr/>
          <p:nvPr/>
        </p:nvSpPr>
        <p:spPr>
          <a:xfrm>
            <a:off x="11000232" y="6492240"/>
            <a:ext cx="73152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10 / 11</a:t>
            </a:r>
            <a:endParaRPr lang="en-US" sz="900" dirty="0"/>
          </a:p>
        </p:txBody>
      </p:sp>
      <p:sp>
        <p:nvSpPr>
          <p:cNvPr id="16" name="Text 1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7C93A6"/>
                </a:solidFill>
                <a:latin typeface="Calibri" pitchFamily="34" charset="0"/>
                <a:ea typeface="Calibri" pitchFamily="34" charset="-122"/>
                <a:cs typeface="Calibri" pitchFamily="34" charset="-120"/>
              </a:rPr>
              <a:t>Adaptive PINN Battery Digital Twin</a:t>
            </a:r>
            <a:endParaRPr lang="en-US" sz="900" dirty="0"/>
          </a:p>
        </p:txBody>
      </p:sp>
      <p:sp>
        <p:nvSpPr>
          <p:cNvPr id="17" name="Text 15"/>
          <p:cNvSpPr/>
          <p:nvPr/>
        </p:nvSpPr>
        <p:spPr>
          <a:xfrm>
            <a:off x="11000232" y="6492240"/>
            <a:ext cx="731520" cy="274320"/>
          </a:xfrm>
          <a:prstGeom prst="rect">
            <a:avLst/>
          </a:prstGeom>
          <a:noFill/>
          <a:ln/>
        </p:spPr>
        <p:txBody>
          <a:bodyPr wrap="square" rtlCol="0" anchor="ctr"/>
          <a:lstStyle/>
          <a:p>
            <a:pPr algn="r" indent="0" marL="0">
              <a:buNone/>
            </a:pPr>
            <a:r>
              <a:rPr lang="en-US" sz="900" dirty="0">
                <a:solidFill>
                  <a:srgbClr val="7C93A6"/>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9144000" cy="27432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SOURCES</a:t>
            </a:r>
            <a:endParaRPr lang="en-US" sz="1200" dirty="0"/>
          </a:p>
        </p:txBody>
      </p:sp>
      <p:sp>
        <p:nvSpPr>
          <p:cNvPr id="3" name="Text 1"/>
          <p:cNvSpPr/>
          <p:nvPr/>
        </p:nvSpPr>
        <p:spPr>
          <a:xfrm>
            <a:off x="457200" y="566928"/>
            <a:ext cx="11274552" cy="59436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References</a:t>
            </a:r>
            <a:endParaRPr lang="en-US" sz="2800" dirty="0"/>
          </a:p>
        </p:txBody>
      </p:sp>
      <p:sp>
        <p:nvSpPr>
          <p:cNvPr id="4" name="Shape 2"/>
          <p:cNvSpPr/>
          <p:nvPr/>
        </p:nvSpPr>
        <p:spPr>
          <a:xfrm>
            <a:off x="457200" y="1463040"/>
            <a:ext cx="310896" cy="310896"/>
          </a:xfrm>
          <a:prstGeom prst="roundRect">
            <a:avLst>
              <a:gd name="adj" fmla="val 50000"/>
            </a:avLst>
          </a:prstGeom>
          <a:solidFill>
            <a:srgbClr val="00A896"/>
          </a:solidFill>
          <a:ln/>
        </p:spPr>
      </p:sp>
      <p:sp>
        <p:nvSpPr>
          <p:cNvPr id="5" name="Text 3"/>
          <p:cNvSpPr/>
          <p:nvPr/>
        </p:nvSpPr>
        <p:spPr>
          <a:xfrm>
            <a:off x="457200" y="146304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914400" y="1417320"/>
            <a:ext cx="10817352" cy="365760"/>
          </a:xfrm>
          <a:prstGeom prst="rect">
            <a:avLst/>
          </a:prstGeom>
          <a:noFill/>
          <a:ln/>
        </p:spPr>
        <p:txBody>
          <a:bodyPr wrap="square" rtlCol="0" anchor="ctr"/>
          <a:lstStyle/>
          <a:p>
            <a:pPr indent="0" marL="0">
              <a:lnSpc>
                <a:spcPts val="1400"/>
              </a:lnSpc>
              <a:buNone/>
            </a:pPr>
            <a:r>
              <a:rPr lang="en-US" sz="1200" b="1" dirty="0">
                <a:solidFill>
                  <a:srgbClr val="0B2545"/>
                </a:solidFill>
                <a:latin typeface="Calibri" pitchFamily="34" charset="0"/>
                <a:ea typeface="Calibri" pitchFamily="34" charset="-122"/>
                <a:cs typeface="Calibri" pitchFamily="34" charset="-120"/>
              </a:rPr>
              <a:t>Physics-informed neural networks for battery modeling and state estimation: A methodological review</a:t>
            </a:r>
            <a:endParaRPr lang="en-US" sz="1200" dirty="0"/>
          </a:p>
        </p:txBody>
      </p:sp>
      <p:sp>
        <p:nvSpPr>
          <p:cNvPr id="7" name="Text 5"/>
          <p:cNvSpPr/>
          <p:nvPr/>
        </p:nvSpPr>
        <p:spPr>
          <a:xfrm>
            <a:off x="914400" y="1810512"/>
            <a:ext cx="10817352" cy="274320"/>
          </a:xfrm>
          <a:prstGeom prst="rect">
            <a:avLst/>
          </a:prstGeom>
          <a:noFill/>
          <a:ln/>
        </p:spPr>
        <p:txBody>
          <a:bodyPr wrap="square" rtlCol="0" anchor="ctr"/>
          <a:lstStyle/>
          <a:p>
            <a:pPr indent="0" marL="0">
              <a:buNone/>
            </a:pPr>
            <a:r>
              <a:rPr lang="en-US" sz="950" i="1" dirty="0">
                <a:solidFill>
                  <a:srgbClr val="028090"/>
                </a:solidFill>
                <a:latin typeface="Calibri" pitchFamily="34" charset="0"/>
                <a:ea typeface="Calibri" pitchFamily="34" charset="-122"/>
                <a:cs typeface="Calibri" pitchFamily="34" charset="-120"/>
              </a:rPr>
              <a:t>Renewable and Sustainable Energy Reviews, 2026   </a:t>
            </a:r>
            <a:pPr indent="0" marL="0">
              <a:buNone/>
            </a:pPr>
            <a:r>
              <a:rPr lang="en-US" sz="950" u="sng" dirty="0">
                <a:solidFill>
                  <a:srgbClr val="5B6B79"/>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https://www.sciencedirect.com/science/article/pii/S1364032126005253</a:t>
            </a:r>
            <a:endParaRPr lang="en-US" sz="950" dirty="0"/>
          </a:p>
        </p:txBody>
      </p:sp>
      <p:sp>
        <p:nvSpPr>
          <p:cNvPr id="8" name="Shape 6"/>
          <p:cNvSpPr/>
          <p:nvPr/>
        </p:nvSpPr>
        <p:spPr>
          <a:xfrm>
            <a:off x="457200" y="2395728"/>
            <a:ext cx="310896" cy="310896"/>
          </a:xfrm>
          <a:prstGeom prst="roundRect">
            <a:avLst>
              <a:gd name="adj" fmla="val 50000"/>
            </a:avLst>
          </a:prstGeom>
          <a:solidFill>
            <a:srgbClr val="00A896"/>
          </a:solidFill>
          <a:ln/>
        </p:spPr>
      </p:sp>
      <p:sp>
        <p:nvSpPr>
          <p:cNvPr id="9" name="Text 7"/>
          <p:cNvSpPr/>
          <p:nvPr/>
        </p:nvSpPr>
        <p:spPr>
          <a:xfrm>
            <a:off x="457200" y="2395728"/>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914400" y="2350008"/>
            <a:ext cx="10817352" cy="365760"/>
          </a:xfrm>
          <a:prstGeom prst="rect">
            <a:avLst/>
          </a:prstGeom>
          <a:noFill/>
          <a:ln/>
        </p:spPr>
        <p:txBody>
          <a:bodyPr wrap="square" rtlCol="0" anchor="ctr"/>
          <a:lstStyle/>
          <a:p>
            <a:pPr indent="0" marL="0">
              <a:lnSpc>
                <a:spcPts val="1400"/>
              </a:lnSpc>
              <a:buNone/>
            </a:pPr>
            <a:r>
              <a:rPr lang="en-US" sz="1200" b="1" dirty="0">
                <a:solidFill>
                  <a:srgbClr val="0B2545"/>
                </a:solidFill>
                <a:latin typeface="Calibri" pitchFamily="34" charset="0"/>
                <a:ea typeface="Calibri" pitchFamily="34" charset="-122"/>
                <a:cs typeface="Calibri" pitchFamily="34" charset="-120"/>
              </a:rPr>
              <a:t>Physics-informed neural network for co-estimation of state of health, remaining useful life, and short-term degradation path in Lithium-ion batteries</a:t>
            </a:r>
            <a:endParaRPr lang="en-US" sz="1200" dirty="0"/>
          </a:p>
        </p:txBody>
      </p:sp>
      <p:sp>
        <p:nvSpPr>
          <p:cNvPr id="11" name="Text 9"/>
          <p:cNvSpPr/>
          <p:nvPr/>
        </p:nvSpPr>
        <p:spPr>
          <a:xfrm>
            <a:off x="914400" y="2743200"/>
            <a:ext cx="10817352" cy="274320"/>
          </a:xfrm>
          <a:prstGeom prst="rect">
            <a:avLst/>
          </a:prstGeom>
          <a:noFill/>
          <a:ln/>
        </p:spPr>
        <p:txBody>
          <a:bodyPr wrap="square" rtlCol="0" anchor="ctr"/>
          <a:lstStyle/>
          <a:p>
            <a:pPr indent="0" marL="0">
              <a:buNone/>
            </a:pPr>
            <a:r>
              <a:rPr lang="en-US" sz="950" i="1" dirty="0">
                <a:solidFill>
                  <a:srgbClr val="028090"/>
                </a:solidFill>
                <a:latin typeface="Calibri" pitchFamily="34" charset="0"/>
                <a:ea typeface="Calibri" pitchFamily="34" charset="-122"/>
                <a:cs typeface="Calibri" pitchFamily="34" charset="-120"/>
              </a:rPr>
              <a:t>Applied Energy, 2025   </a:t>
            </a:r>
            <a:pPr indent="0" marL="0">
              <a:buNone/>
            </a:pPr>
            <a:r>
              <a:rPr lang="en-US" sz="950" u="sng" dirty="0">
                <a:solidFill>
                  <a:srgbClr val="5B6B7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https://www.sciencedirect.com/science/article/pii/S0306261925011572</a:t>
            </a:r>
            <a:endParaRPr lang="en-US" sz="950" dirty="0"/>
          </a:p>
        </p:txBody>
      </p:sp>
      <p:sp>
        <p:nvSpPr>
          <p:cNvPr id="12" name="Shape 10"/>
          <p:cNvSpPr/>
          <p:nvPr/>
        </p:nvSpPr>
        <p:spPr>
          <a:xfrm>
            <a:off x="457200" y="3328416"/>
            <a:ext cx="310896" cy="310896"/>
          </a:xfrm>
          <a:prstGeom prst="roundRect">
            <a:avLst>
              <a:gd name="adj" fmla="val 50000"/>
            </a:avLst>
          </a:prstGeom>
          <a:solidFill>
            <a:srgbClr val="00A896"/>
          </a:solidFill>
          <a:ln/>
        </p:spPr>
      </p:sp>
      <p:sp>
        <p:nvSpPr>
          <p:cNvPr id="13" name="Text 11"/>
          <p:cNvSpPr/>
          <p:nvPr/>
        </p:nvSpPr>
        <p:spPr>
          <a:xfrm>
            <a:off x="457200" y="3328416"/>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14400" y="3282696"/>
            <a:ext cx="10817352" cy="365760"/>
          </a:xfrm>
          <a:prstGeom prst="rect">
            <a:avLst/>
          </a:prstGeom>
          <a:noFill/>
          <a:ln/>
        </p:spPr>
        <p:txBody>
          <a:bodyPr wrap="square" rtlCol="0" anchor="ctr"/>
          <a:lstStyle/>
          <a:p>
            <a:pPr indent="0" marL="0">
              <a:lnSpc>
                <a:spcPts val="1400"/>
              </a:lnSpc>
              <a:buNone/>
            </a:pPr>
            <a:r>
              <a:rPr lang="en-US" sz="1200" b="1" dirty="0">
                <a:solidFill>
                  <a:srgbClr val="0B2545"/>
                </a:solidFill>
                <a:latin typeface="Calibri" pitchFamily="34" charset="0"/>
                <a:ea typeface="Calibri" pitchFamily="34" charset="-122"/>
                <a:cs typeface="Calibri" pitchFamily="34" charset="-120"/>
              </a:rPr>
              <a:t>Physical informed neural network for SOH estimation of Lithium-ion battery with electrochemical mechanism</a:t>
            </a:r>
            <a:endParaRPr lang="en-US" sz="1200" dirty="0"/>
          </a:p>
        </p:txBody>
      </p:sp>
      <p:sp>
        <p:nvSpPr>
          <p:cNvPr id="15" name="Text 13"/>
          <p:cNvSpPr/>
          <p:nvPr/>
        </p:nvSpPr>
        <p:spPr>
          <a:xfrm>
            <a:off x="914400" y="3675888"/>
            <a:ext cx="10817352" cy="274320"/>
          </a:xfrm>
          <a:prstGeom prst="rect">
            <a:avLst/>
          </a:prstGeom>
          <a:noFill/>
          <a:ln/>
        </p:spPr>
        <p:txBody>
          <a:bodyPr wrap="square" rtlCol="0" anchor="ctr"/>
          <a:lstStyle/>
          <a:p>
            <a:pPr indent="0" marL="0">
              <a:buNone/>
            </a:pPr>
            <a:r>
              <a:rPr lang="en-US" sz="950" i="1" dirty="0">
                <a:solidFill>
                  <a:srgbClr val="028090"/>
                </a:solidFill>
                <a:latin typeface="Calibri" pitchFamily="34" charset="0"/>
                <a:ea typeface="Calibri" pitchFamily="34" charset="-122"/>
                <a:cs typeface="Calibri" pitchFamily="34" charset="-120"/>
              </a:rPr>
              <a:t>Energy, 2026   </a:t>
            </a:r>
            <a:pPr indent="0" marL="0">
              <a:buNone/>
            </a:pPr>
            <a:r>
              <a:rPr lang="en-US" sz="950" u="sng" dirty="0">
                <a:solidFill>
                  <a:srgbClr val="5B6B7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https://www.sciencedirect.com/science/article/pii/S0360544225053964</a:t>
            </a:r>
            <a:endParaRPr lang="en-US" sz="950" dirty="0"/>
          </a:p>
        </p:txBody>
      </p:sp>
      <p:sp>
        <p:nvSpPr>
          <p:cNvPr id="16" name="Shape 14"/>
          <p:cNvSpPr/>
          <p:nvPr/>
        </p:nvSpPr>
        <p:spPr>
          <a:xfrm>
            <a:off x="457200" y="4261104"/>
            <a:ext cx="310896" cy="310896"/>
          </a:xfrm>
          <a:prstGeom prst="roundRect">
            <a:avLst>
              <a:gd name="adj" fmla="val 50000"/>
            </a:avLst>
          </a:prstGeom>
          <a:solidFill>
            <a:srgbClr val="00A896"/>
          </a:solidFill>
          <a:ln/>
        </p:spPr>
      </p:sp>
      <p:sp>
        <p:nvSpPr>
          <p:cNvPr id="17" name="Text 15"/>
          <p:cNvSpPr/>
          <p:nvPr/>
        </p:nvSpPr>
        <p:spPr>
          <a:xfrm>
            <a:off x="457200" y="4261104"/>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914400" y="4215384"/>
            <a:ext cx="10817352" cy="365760"/>
          </a:xfrm>
          <a:prstGeom prst="rect">
            <a:avLst/>
          </a:prstGeom>
          <a:noFill/>
          <a:ln/>
        </p:spPr>
        <p:txBody>
          <a:bodyPr wrap="square" rtlCol="0" anchor="ctr"/>
          <a:lstStyle/>
          <a:p>
            <a:pPr indent="0" marL="0">
              <a:lnSpc>
                <a:spcPts val="1400"/>
              </a:lnSpc>
              <a:buNone/>
            </a:pPr>
            <a:r>
              <a:rPr lang="en-US" sz="1200" b="1" dirty="0">
                <a:solidFill>
                  <a:srgbClr val="0B2545"/>
                </a:solidFill>
                <a:latin typeface="Calibri" pitchFamily="34" charset="0"/>
                <a:ea typeface="Calibri" pitchFamily="34" charset="-122"/>
                <a:cs typeface="Calibri" pitchFamily="34" charset="-120"/>
              </a:rPr>
              <a:t>A cycle-aware and physics-informed framework for battery remaining useful life prediction</a:t>
            </a:r>
            <a:endParaRPr lang="en-US" sz="1200" dirty="0"/>
          </a:p>
        </p:txBody>
      </p:sp>
      <p:sp>
        <p:nvSpPr>
          <p:cNvPr id="19" name="Text 17"/>
          <p:cNvSpPr/>
          <p:nvPr/>
        </p:nvSpPr>
        <p:spPr>
          <a:xfrm>
            <a:off x="914400" y="4608576"/>
            <a:ext cx="10817352" cy="274320"/>
          </a:xfrm>
          <a:prstGeom prst="rect">
            <a:avLst/>
          </a:prstGeom>
          <a:noFill/>
          <a:ln/>
        </p:spPr>
        <p:txBody>
          <a:bodyPr wrap="square" rtlCol="0" anchor="ctr"/>
          <a:lstStyle/>
          <a:p>
            <a:pPr indent="0" marL="0">
              <a:buNone/>
            </a:pPr>
            <a:r>
              <a:rPr lang="en-US" sz="950" i="1" dirty="0">
                <a:solidFill>
                  <a:srgbClr val="028090"/>
                </a:solidFill>
                <a:latin typeface="Calibri" pitchFamily="34" charset="0"/>
                <a:ea typeface="Calibri" pitchFamily="34" charset="-122"/>
                <a:cs typeface="Calibri" pitchFamily="34" charset="-120"/>
              </a:rPr>
              <a:t>Scientific Reports, 2025   </a:t>
            </a:r>
            <a:pPr indent="0" marL="0">
              <a:buNone/>
            </a:pPr>
            <a:r>
              <a:rPr lang="en-US" sz="950" u="sng" dirty="0">
                <a:solidFill>
                  <a:srgbClr val="5B6B7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https://www.researchgate.net/publication/399255851_A_cycle-aware_and_physics-informed_framework_for_battery_remaining_useful_life_prediction</a:t>
            </a:r>
            <a:endParaRPr lang="en-US" sz="950" dirty="0"/>
          </a:p>
        </p:txBody>
      </p:sp>
      <p:sp>
        <p:nvSpPr>
          <p:cNvPr id="20" name="Shape 18"/>
          <p:cNvSpPr/>
          <p:nvPr/>
        </p:nvSpPr>
        <p:spPr>
          <a:xfrm>
            <a:off x="457200" y="5193792"/>
            <a:ext cx="310896" cy="310896"/>
          </a:xfrm>
          <a:prstGeom prst="roundRect">
            <a:avLst>
              <a:gd name="adj" fmla="val 50000"/>
            </a:avLst>
          </a:prstGeom>
          <a:solidFill>
            <a:srgbClr val="00A896"/>
          </a:solidFill>
          <a:ln/>
        </p:spPr>
      </p:sp>
      <p:sp>
        <p:nvSpPr>
          <p:cNvPr id="21" name="Text 19"/>
          <p:cNvSpPr/>
          <p:nvPr/>
        </p:nvSpPr>
        <p:spPr>
          <a:xfrm>
            <a:off x="457200" y="519379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914400" y="5148072"/>
            <a:ext cx="10817352" cy="365760"/>
          </a:xfrm>
          <a:prstGeom prst="rect">
            <a:avLst/>
          </a:prstGeom>
          <a:noFill/>
          <a:ln/>
        </p:spPr>
        <p:txBody>
          <a:bodyPr wrap="square" rtlCol="0" anchor="ctr"/>
          <a:lstStyle/>
          <a:p>
            <a:pPr indent="0" marL="0">
              <a:lnSpc>
                <a:spcPts val="1400"/>
              </a:lnSpc>
              <a:buNone/>
            </a:pPr>
            <a:r>
              <a:rPr lang="en-US" sz="1200" b="1" dirty="0">
                <a:solidFill>
                  <a:srgbClr val="0B2545"/>
                </a:solidFill>
                <a:latin typeface="Calibri" pitchFamily="34" charset="0"/>
                <a:ea typeface="Calibri" pitchFamily="34" charset="-122"/>
                <a:cs typeface="Calibri" pitchFamily="34" charset="-120"/>
              </a:rPr>
              <a:t>Physics-informed neural network and momentum contrastive learning for battery state of health estimation</a:t>
            </a:r>
            <a:endParaRPr lang="en-US" sz="1200" dirty="0"/>
          </a:p>
        </p:txBody>
      </p:sp>
      <p:sp>
        <p:nvSpPr>
          <p:cNvPr id="23" name="Text 21"/>
          <p:cNvSpPr/>
          <p:nvPr/>
        </p:nvSpPr>
        <p:spPr>
          <a:xfrm>
            <a:off x="914400" y="5541264"/>
            <a:ext cx="10817352" cy="274320"/>
          </a:xfrm>
          <a:prstGeom prst="rect">
            <a:avLst/>
          </a:prstGeom>
          <a:noFill/>
          <a:ln/>
        </p:spPr>
        <p:txBody>
          <a:bodyPr wrap="square" rtlCol="0" anchor="ctr"/>
          <a:lstStyle/>
          <a:p>
            <a:pPr indent="0" marL="0">
              <a:buNone/>
            </a:pPr>
            <a:r>
              <a:rPr lang="en-US" sz="950" i="1" dirty="0">
                <a:solidFill>
                  <a:srgbClr val="028090"/>
                </a:solidFill>
                <a:latin typeface="Calibri" pitchFamily="34" charset="0"/>
                <a:ea typeface="Calibri" pitchFamily="34" charset="-122"/>
                <a:cs typeface="Calibri" pitchFamily="34" charset="-120"/>
              </a:rPr>
              <a:t>Complex &amp; Intelligent Systems, 2025   </a:t>
            </a:r>
            <a:pPr indent="0" marL="0">
              <a:buNone/>
            </a:pPr>
            <a:r>
              <a:rPr lang="en-US" sz="950" u="sng" dirty="0">
                <a:solidFill>
                  <a:srgbClr val="5B6B7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https://www.researchgate.net/publication/398786756_Physics-informed_neural_network_and_momentum_contrastive_learning_for_battery_state_of_health_estimation</a:t>
            </a:r>
            <a:endParaRPr lang="en-US" sz="950" dirty="0"/>
          </a:p>
        </p:txBody>
      </p:sp>
      <p:sp>
        <p:nvSpPr>
          <p:cNvPr id="24" name="Text 2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Adaptive PINN Battery Digital Twin</a:t>
            </a:r>
            <a:endParaRPr lang="en-US" sz="900" dirty="0"/>
          </a:p>
        </p:txBody>
      </p:sp>
      <p:sp>
        <p:nvSpPr>
          <p:cNvPr id="25" name="Text 23"/>
          <p:cNvSpPr/>
          <p:nvPr/>
        </p:nvSpPr>
        <p:spPr>
          <a:xfrm>
            <a:off x="11000232" y="6492240"/>
            <a:ext cx="73152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11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9144000" cy="27432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FOUNDATION FOR TRAINING</a:t>
            </a:r>
            <a:endParaRPr lang="en-US" sz="1200" dirty="0"/>
          </a:p>
        </p:txBody>
      </p:sp>
      <p:sp>
        <p:nvSpPr>
          <p:cNvPr id="3" name="Text 1"/>
          <p:cNvSpPr/>
          <p:nvPr/>
        </p:nvSpPr>
        <p:spPr>
          <a:xfrm>
            <a:off x="457200" y="566928"/>
            <a:ext cx="11274552" cy="59436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Datasets Used &amp; Rationale</a:t>
            </a:r>
            <a:endParaRPr lang="en-US" sz="2800" dirty="0"/>
          </a:p>
        </p:txBody>
      </p:sp>
      <p:sp>
        <p:nvSpPr>
          <p:cNvPr id="4" name="Text 2"/>
          <p:cNvSpPr/>
          <p:nvPr/>
        </p:nvSpPr>
        <p:spPr>
          <a:xfrm>
            <a:off x="457200" y="1371600"/>
            <a:ext cx="7315200" cy="256032"/>
          </a:xfrm>
          <a:prstGeom prst="rect">
            <a:avLst/>
          </a:prstGeom>
          <a:noFill/>
          <a:ln/>
        </p:spPr>
        <p:txBody>
          <a:bodyPr wrap="square" rtlCol="0" anchor="ctr"/>
          <a:lstStyle/>
          <a:p>
            <a:pPr indent="0" marL="0">
              <a:buNone/>
            </a:pPr>
            <a:r>
              <a:rPr lang="en-US" sz="1100" b="1" spc="150" kern="0" dirty="0">
                <a:solidFill>
                  <a:srgbClr val="028090"/>
                </a:solidFill>
                <a:latin typeface="Calibri" pitchFamily="34" charset="0"/>
                <a:ea typeface="Calibri" pitchFamily="34" charset="-122"/>
                <a:cs typeface="Calibri" pitchFamily="34" charset="-120"/>
              </a:rPr>
              <a:t>SELECTED DATASETS</a:t>
            </a:r>
            <a:endParaRPr lang="en-US" sz="1100" dirty="0"/>
          </a:p>
        </p:txBody>
      </p:sp>
      <p:sp>
        <p:nvSpPr>
          <p:cNvPr id="5" name="Text 3"/>
          <p:cNvSpPr/>
          <p:nvPr/>
        </p:nvSpPr>
        <p:spPr>
          <a:xfrm>
            <a:off x="457200" y="1627632"/>
            <a:ext cx="11274552" cy="502920"/>
          </a:xfrm>
          <a:prstGeom prst="rect">
            <a:avLst/>
          </a:prstGeom>
          <a:noFill/>
          <a:ln/>
        </p:spPr>
        <p:txBody>
          <a:bodyPr wrap="square" rtlCol="0" anchor="ctr"/>
          <a:lstStyle/>
          <a:p>
            <a:pPr indent="0" marL="0">
              <a:lnSpc>
                <a:spcPts val="1500"/>
              </a:lnSpc>
              <a:buNone/>
            </a:pPr>
            <a:r>
              <a:rPr lang="en-US" sz="1200" dirty="0">
                <a:solidFill>
                  <a:srgbClr val="222B33"/>
                </a:solidFill>
                <a:latin typeface="Calibri" pitchFamily="34" charset="0"/>
                <a:ea typeface="Calibri" pitchFamily="34" charset="-122"/>
                <a:cs typeface="Calibri" pitchFamily="34" charset="-120"/>
              </a:rPr>
              <a:t>Public benchmark battery datasets cited across the reviewed papers, spanning lab-aged, second-life, and vehicle-field conditions, chosen to validate SOH/RUL estimation under diverse chemistries and operating regimes.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74552" cy="914400"/>
        </p:xfrm>
        <a:graphic>
          <a:graphicData uri="http://schemas.openxmlformats.org/drawingml/2006/table">
            <a:tbl>
              <a:tblPr/>
              <a:tblGrid>
                <a:gridCol w="1783080"/>
                <a:gridCol w="3246120"/>
                <a:gridCol w="2651760"/>
                <a:gridCol w="2770632"/>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Dataset</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Scope</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Link</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This Dataset</a:t>
                      </a:r>
                      <a:endParaRPr lang="en-US" sz="10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B2545"/>
                    </a:solidFill>
                  </a:tcPr>
                </a:tc>
              </a:tr>
              <a:tr h="777240">
                <a:tc>
                  <a:txBody>
                    <a:bodyPr/>
                    <a:lstStyle/>
                    <a:p>
                      <a:pPr indent="0" marL="0">
                        <a:buNone/>
                      </a:pPr>
                      <a:r>
                        <a:rPr lang="en-US" sz="950" b="1" dirty="0">
                          <a:solidFill>
                            <a:srgbClr val="222B33"/>
                          </a:solidFill>
                          <a:latin typeface="Calibri" pitchFamily="34" charset="0"/>
                          <a:ea typeface="Calibri" pitchFamily="34" charset="-122"/>
                          <a:cs typeface="Calibri" pitchFamily="34" charset="-120"/>
                        </a:rPr>
                        <a:t>NASA &amp; Oxford Battery</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Lab-aged Li-ion cells; narrow current/temperature range; classic PINN-SOH benchmark</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950" dirty="0">
                          <a:hlinkClick r:id="rIdNASA"/>
                          <a:solidFill>
                            <a:srgbClr val="028090"/>
                          </a:solidFill>
                          <a:latin typeface="Calibri" pitchFamily="34" charset="0"/>
                          <a:ea typeface="Calibri" pitchFamily="34" charset="-122"/>
                          <a:cs typeface="Calibri" pitchFamily="34" charset="-120"/>
                          <a:u val="sng"/>
                        </a:rPr>
                        <a:t>data.nasa.gov (PCoE)</a:t>
                      </a:r>
                      <a:r>
                        <a:rPr lang="en-US" sz="950" dirty="0">
                          <a:solidFill>
                            <a:srgbClr val="5B6B79"/>
                          </a:solidFill>
                          <a:latin typeface="Calibri" pitchFamily="34" charset="0"/>
                          <a:ea typeface="Calibri" pitchFamily="34" charset="-122"/>
                          <a:cs typeface="Calibri" pitchFamily="34" charset="-120"/>
                        </a:rPr>
                        <a:t> / </a:t>
                      </a:r>
                      <a:r>
                        <a:rPr lang="en-US" sz="950" dirty="0">
                          <a:hlinkClick r:id="rIdOxford"/>
                          <a:solidFill>
                            <a:srgbClr val="028090"/>
                          </a:solidFill>
                          <a:latin typeface="Calibri" pitchFamily="34" charset="0"/>
                          <a:ea typeface="Calibri" pitchFamily="34" charset="-122"/>
                          <a:cs typeface="Calibri" pitchFamily="34" charset="-120"/>
                          <a:u val="sng"/>
                        </a:rPr>
                        <a:t>howey-lab Oxford Battery Degradation Dataset</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950" b="1" dirty="0">
                          <a:hlinkClick xmlns:r="http://schemas.openxmlformats.org/officeDocument/2006/relationships" r:id="rIdCite0"/>
                          <a:solidFill>
                            <a:srgbClr val="028090"/>
                          </a:solidFill>
                          <a:latin typeface="Calibri" pitchFamily="34" charset="0"/>
                          <a:ea typeface="Calibri" pitchFamily="34" charset="-122"/>
                          <a:cs typeface="Calibri" pitchFamily="34" charset="-120"/>
                          <a:u val="sng"/>
                        </a:rPr>
                        <a:t>[0] </a:t>
                      </a:r>
                      <a:r>
                        <a:rPr lang="en-US" sz="950" b="1" dirty="0">
                          <a:solidFill>
                            <a:srgbClr val="028090"/>
                          </a:solidFill>
                          <a:latin typeface="Calibri" pitchFamily="34" charset="0"/>
                          <a:ea typeface="Calibri" pitchFamily="34" charset="-122"/>
                          <a:cs typeface="Calibri" pitchFamily="34" charset="-120"/>
                        </a:rPr>
                        <a:t>Standard reference set used by our base-paper PINN methodology review to validate degradation-physics constraints</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r>
              <a:tr h="658368">
                <a:tc>
                  <a:txBody>
                    <a:bodyPr/>
                    <a:lstStyle/>
                    <a:p>
                      <a:pPr indent="0" marL="0">
                        <a:buNone/>
                      </a:pPr>
                      <a:r>
                        <a:rPr lang="en-US" sz="950" b="1" dirty="0">
                          <a:solidFill>
                            <a:srgbClr val="222B33"/>
                          </a:solidFill>
                          <a:latin typeface="Calibri" pitchFamily="34" charset="0"/>
                          <a:ea typeface="Calibri" pitchFamily="34" charset="-122"/>
                          <a:cs typeface="Calibri" pitchFamily="34" charset="-120"/>
                        </a:rPr>
                        <a:t>Stanford-MIT-Toyota (Severson)</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124 LFP/graphite cells, 72 fast-charging policies, cycled to end-of-life</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950" dirty="0">
                          <a:hlinkClick r:id="rIdMIT"/>
                          <a:solidFill>
                            <a:srgbClr val="028090"/>
                          </a:solidFill>
                          <a:latin typeface="Calibri" pitchFamily="34" charset="0"/>
                          <a:ea typeface="Calibri" pitchFamily="34" charset="-122"/>
                          <a:cs typeface="Calibri" pitchFamily="34" charset="-120"/>
                          <a:u val="sng"/>
                        </a:rPr>
                        <a:t>data.matr.io (Battery Evaluation and Early Prediction project)</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950" b="1" dirty="0">
                          <a:hlinkClick xmlns:r="http://schemas.openxmlformats.org/officeDocument/2006/relationships" r:id="rIdCite1"/>
                          <a:solidFill>
                            <a:srgbClr val="028090"/>
                          </a:solidFill>
                          <a:latin typeface="Calibri" pitchFamily="34" charset="0"/>
                          <a:ea typeface="Calibri" pitchFamily="34" charset="-122"/>
                          <a:cs typeface="Calibri" pitchFamily="34" charset="-120"/>
                          <a:u val="sng"/>
                        </a:rPr>
                        <a:t>[1] </a:t>
                      </a:r>
                      <a:r>
                        <a:rPr lang="en-US" sz="950" b="1" dirty="0">
                          <a:solidFill>
                            <a:srgbClr val="028090"/>
                          </a:solidFill>
                          <a:latin typeface="Calibri" pitchFamily="34" charset="0"/>
                          <a:ea typeface="Calibri" pitchFamily="34" charset="-122"/>
                          <a:cs typeface="Calibri" pitchFamily="34" charset="-120"/>
                        </a:rPr>
                        <a:t>Used by the RUL-focused papers for early-cycle degradation trajectories and fast-charging diversity</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r>
              <a:tr h="658368">
                <a:tc>
                  <a:txBody>
                    <a:bodyPr/>
                    <a:lstStyle/>
                    <a:p>
                      <a:pPr indent="0" marL="0">
                        <a:buNone/>
                      </a:pPr>
                      <a:r>
                        <a:rPr lang="en-US" sz="950" b="1" dirty="0">
                          <a:solidFill>
                            <a:srgbClr val="222B33"/>
                          </a:solidFill>
                          <a:latin typeface="Calibri" pitchFamily="34" charset="0"/>
                          <a:ea typeface="Calibri" pitchFamily="34" charset="-122"/>
                          <a:cs typeface="Calibri" pitchFamily="34" charset="-120"/>
                        </a:rPr>
                        <a:t>TJU &amp; XJTU</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Multi-chemistry aging data with IC-curve health features across varied cycling protocols</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Tianjin University / </a:t>
                      </a:r>
                      <a:r>
                        <a:rPr lang="en-US" sz="950" dirty="0">
                          <a:hlinkClick r:id="rIdXJTU"/>
                          <a:solidFill>
                            <a:srgbClr val="028090"/>
                          </a:solidFill>
                          <a:latin typeface="Calibri" pitchFamily="34" charset="0"/>
                          <a:ea typeface="Calibri" pitchFamily="34" charset="-122"/>
                          <a:cs typeface="Calibri" pitchFamily="34" charset="-120"/>
                          <a:u val="sng"/>
                        </a:rPr>
                        <a:t>Xi'an Jiaotong University battery aging repositories</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c>
                  <a:txBody>
                    <a:bodyPr/>
                    <a:lstStyle/>
                    <a:p>
                      <a:pPr indent="0" marL="0">
                        <a:buNone/>
                      </a:pPr>
                      <a:r>
                        <a:rPr lang="en-US" sz="950" b="1" dirty="0">
                          <a:hlinkClick xmlns:r="http://schemas.openxmlformats.org/officeDocument/2006/relationships" r:id="rIdCite2"/>
                          <a:solidFill>
                            <a:srgbClr val="028090"/>
                          </a:solidFill>
                          <a:latin typeface="Calibri" pitchFamily="34" charset="0"/>
                          <a:ea typeface="Calibri" pitchFamily="34" charset="-122"/>
                          <a:cs typeface="Calibri" pitchFamily="34" charset="-120"/>
                          <a:u val="sng"/>
                        </a:rPr>
                        <a:t>[2] </a:t>
                      </a:r>
                      <a:r>
                        <a:rPr lang="en-US" sz="950" b="1" dirty="0">
                          <a:solidFill>
                            <a:srgbClr val="028090"/>
                          </a:solidFill>
                          <a:latin typeface="Calibri" pitchFamily="34" charset="0"/>
                          <a:ea typeface="Calibri" pitchFamily="34" charset="-122"/>
                          <a:cs typeface="Calibri" pitchFamily="34" charset="-120"/>
                        </a:rPr>
                        <a:t>Referenced by the time-series PINN-SOH literature to test cross-dataset transfer of the Adaptive Learning module</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FFFFF"/>
                    </a:solidFill>
                  </a:tcPr>
                </a:tc>
              </a:tr>
              <a:tr h="658368">
                <a:tc>
                  <a:txBody>
                    <a:bodyPr/>
                    <a:lstStyle/>
                    <a:p>
                      <a:pPr indent="0" marL="0">
                        <a:buNone/>
                      </a:pPr>
                      <a:r>
                        <a:rPr lang="en-US" sz="950" b="1" dirty="0">
                          <a:solidFill>
                            <a:srgbClr val="222B33"/>
                          </a:solidFill>
                          <a:latin typeface="Calibri" pitchFamily="34" charset="0"/>
                          <a:ea typeface="Calibri" pitchFamily="34" charset="-122"/>
                          <a:cs typeface="Calibri" pitchFamily="34" charset="-120"/>
                        </a:rPr>
                        <a:t>CALCE &amp; Panasonic 18650PF</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950" dirty="0">
                          <a:solidFill>
                            <a:srgbClr val="5B6B79"/>
                          </a:solidFill>
                          <a:latin typeface="Calibri" pitchFamily="34" charset="0"/>
                          <a:ea typeface="Calibri" pitchFamily="34" charset="-122"/>
                          <a:cs typeface="Calibri" pitchFamily="34" charset="-120"/>
                        </a:rPr>
                        <a:t>Dynamic charge/discharge cycles, -10°C to 20°C, multi-temperature conditions</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950" dirty="0">
                          <a:hlinkClick r:id="rIdCALCE"/>
                          <a:solidFill>
                            <a:srgbClr val="028090"/>
                          </a:solidFill>
                          <a:latin typeface="Calibri" pitchFamily="34" charset="0"/>
                          <a:ea typeface="Calibri" pitchFamily="34" charset="-122"/>
                          <a:cs typeface="Calibri" pitchFamily="34" charset="-120"/>
                          <a:u val="sng"/>
                        </a:rPr>
                        <a:t>calce.umd.edu (Battery Research Group)</a:t>
                      </a:r>
                      <a:r>
                        <a:rPr lang="en-US" sz="950" dirty="0">
                          <a:solidFill>
                            <a:srgbClr val="5B6B79"/>
                          </a:solidFill>
                          <a:latin typeface="Calibri" pitchFamily="34" charset="0"/>
                          <a:ea typeface="Calibri" pitchFamily="34" charset="-122"/>
                          <a:cs typeface="Calibri" pitchFamily="34" charset="-120"/>
                        </a:rPr>
                        <a:t> / </a:t>
                      </a:r>
                      <a:r>
                        <a:rPr lang="en-US" sz="950" dirty="0">
                          <a:hlinkClick r:id="rIdNASA"/>
                          <a:solidFill>
                            <a:srgbClr val="028090"/>
                          </a:solidFill>
                          <a:latin typeface="Calibri" pitchFamily="34" charset="0"/>
                          <a:ea typeface="Calibri" pitchFamily="34" charset="-122"/>
                          <a:cs typeface="Calibri" pitchFamily="34" charset="-120"/>
                          <a:u val="sng"/>
                        </a:rPr>
                        <a:t>NASA Ames Prognostics Center</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c>
                  <a:txBody>
                    <a:bodyPr/>
                    <a:lstStyle/>
                    <a:p>
                      <a:pPr indent="0" marL="0">
                        <a:buNone/>
                      </a:pPr>
                      <a:r>
                        <a:rPr lang="en-US" sz="950" b="1" dirty="0">
                          <a:hlinkClick xmlns:r="http://schemas.openxmlformats.org/officeDocument/2006/relationships" r:id="rIdCite3"/>
                          <a:solidFill>
                            <a:srgbClr val="028090"/>
                          </a:solidFill>
                          <a:latin typeface="Calibri" pitchFamily="34" charset="0"/>
                          <a:ea typeface="Calibri" pitchFamily="34" charset="-122"/>
                          <a:cs typeface="Calibri" pitchFamily="34" charset="-120"/>
                          <a:u val="sng"/>
                        </a:rPr>
                        <a:t>[3] </a:t>
                      </a:r>
                      <a:r>
                        <a:rPr lang="en-US" sz="950" b="1" dirty="0">
                          <a:solidFill>
                            <a:srgbClr val="028090"/>
                          </a:solidFill>
                          <a:latin typeface="Calibri" pitchFamily="34" charset="0"/>
                          <a:ea typeface="Calibri" pitchFamily="34" charset="-122"/>
                          <a:cs typeface="Calibri" pitchFamily="34" charset="-120"/>
                        </a:rPr>
                        <a:t>Provides low-temperature, condition-diverse cycles to stress-test physics-informed robustness</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F2F6F8"/>
                    </a:solidFill>
                  </a:tcPr>
                </a:tc>
              </a:tr>
              <a:tr h="65836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Second-Life LIB (SL-LIB)</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2809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84 retired batteries, 21 working conditions, real second-life usage patterns</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28090"/>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Self-designed dataset (Bayesian PINN, Applied Energy 2025)</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28090"/>
                    </a:solidFill>
                  </a:tcPr>
                </a:tc>
                <a:tc>
                  <a:txBody>
                    <a:bodyPr/>
                    <a:lstStyle/>
                    <a:p>
                      <a:pPr indent="0" marL="0">
                        <a:buNone/>
                      </a:pPr>
                      <a:r>
                        <a:rPr lang="en-US" sz="950" b="1" dirty="0">
                          <a:hlinkClick xmlns:r="http://schemas.openxmlformats.org/officeDocument/2006/relationships" r:id="rIdCite4"/>
                          <a:solidFill>
                            <a:srgbClr val="FFFFFF"/>
                          </a:solidFill>
                          <a:latin typeface="Calibri" pitchFamily="34" charset="0"/>
                          <a:ea typeface="Calibri" pitchFamily="34" charset="-122"/>
                          <a:cs typeface="Calibri" pitchFamily="34" charset="-120"/>
                          <a:u val="sng"/>
                        </a:rPr>
                        <a:t>[4] </a:t>
                      </a:r>
                      <a:r>
                        <a:rPr lang="en-US" sz="950" b="1" dirty="0">
                          <a:solidFill>
                            <a:srgbClr val="FFFFFF"/>
                          </a:solidFill>
                          <a:latin typeface="Calibri" pitchFamily="34" charset="0"/>
                          <a:ea typeface="Calibri" pitchFamily="34" charset="-122"/>
                          <a:cs typeface="Calibri" pitchFamily="34" charset="-120"/>
                        </a:rPr>
                        <a:t>Real-world retired-battery data supports validating adaptive learning on genuinely shifting degradation behaviour</a:t>
                      </a:r>
                      <a:endParaRPr lang="en-US" sz="950" dirty="0">
                        <a:latin typeface="Calibri" charset="0"/>
                        <a:ea typeface="Calibri" charset="0"/>
                        <a:cs typeface="Calibri" charset="0"/>
                      </a:endParaRPr>
                    </a:p>
                  </a:txBody>
                  <a:tcPr marL="91440" marR="91440" marT="45720" marB="45720" anchor="ctr">
                    <a:lnL w="9525" cap="flat" cmpd="sng" algn="ctr">
                      <a:solidFill>
                        <a:srgbClr val="D7E0E6"/>
                      </a:solidFill>
                      <a:prstDash val="solid"/>
                      <a:round/>
                      <a:headEnd type="none" w="med" len="med"/>
                      <a:tailEnd type="none" w="med" len="med"/>
                    </a:lnL>
                    <a:lnR w="9525" cap="flat" cmpd="sng" algn="ctr">
                      <a:solidFill>
                        <a:srgbClr val="D7E0E6"/>
                      </a:solidFill>
                      <a:prstDash val="solid"/>
                      <a:round/>
                      <a:headEnd type="none" w="med" len="med"/>
                      <a:tailEnd type="none" w="med" len="med"/>
                    </a:lnR>
                    <a:lnT w="9525" cap="flat" cmpd="sng" algn="ctr">
                      <a:solidFill>
                        <a:srgbClr val="D7E0E6"/>
                      </a:solidFill>
                      <a:prstDash val="solid"/>
                      <a:round/>
                      <a:headEnd type="none" w="med" len="med"/>
                      <a:tailEnd type="none" w="med" len="med"/>
                    </a:lnT>
                    <a:lnB w="9525" cap="flat" cmpd="sng" algn="ctr">
                      <a:solidFill>
                        <a:srgbClr val="D7E0E6"/>
                      </a:solidFill>
                      <a:prstDash val="solid"/>
                      <a:round/>
                      <a:headEnd type="none" w="med" len="med"/>
                      <a:tailEnd type="none" w="med" len="med"/>
                    </a:lnB>
                    <a:solidFill>
                      <a:srgbClr val="028090"/>
                    </a:solidFill>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B79"/>
                </a:solidFill>
                <a:latin typeface="Calibri" pitchFamily="34" charset="0"/>
                <a:ea typeface="Calibri" pitchFamily="34" charset="-122"/>
                <a:cs typeface="Calibri" pitchFamily="34" charset="-120"/>
              </a:rPr>
              <a:t>Datasets Used &amp; Rationale</a:t>
            </a:r>
            <a:endParaRPr lang="en-US" sz="900" dirty="0"/>
          </a:p>
        </p:txBody>
      </p:sp>
      <p:sp>
        <p:nvSpPr>
          <p:cNvPr id="8" name="Text 5"/>
          <p:cNvSpPr/>
          <p:nvPr/>
        </p:nvSpPr>
        <p:spPr>
          <a:xfrm>
            <a:off x="11000232" y="6492240"/>
            <a:ext cx="73152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2026-08-06T15:58:46Z</dcterms:created>
  <dcterms:modified xsi:type="dcterms:W3CDTF">2026-08-06T15:58:46Z</dcterms:modified>
</cp:coreProperties>
</file>