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aeff172f80214a4c" Type="http://schemas.openxmlformats.org/officeDocument/2006/relationships/extended-properties" Target="docProps/app.xml"/><Relationship Id="Rb4b485d924d54713" Type="http://schemas.openxmlformats.org/officeDocument/2006/relationships/officeDocument" Target="ppt/presentation.xml"/><Relationship Id="Rd110466f2d994126"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168d3a5433264a6c"/>
  </p:sldMasterIdLst>
  <p:notesMasterIdLst>
    <p:notesMasterId xmlns:r="http://schemas.openxmlformats.org/officeDocument/2006/relationships" r:id="R4dd8adc3d3da47f4"/>
  </p:notesMasterIdLst>
  <p:sldIdLst>
    <p:sldId xmlns:r="http://schemas.openxmlformats.org/officeDocument/2006/relationships" id="256" r:id="Rad7ab7cb370d4eaa"/>
    <p:sldId xmlns:r="http://schemas.openxmlformats.org/officeDocument/2006/relationships" id="257" r:id="Rce43d4083eb04e75"/>
    <p:sldId xmlns:r="http://schemas.openxmlformats.org/officeDocument/2006/relationships" id="258" r:id="Rf5f418a03892496b"/>
    <p:sldId xmlns:r="http://schemas.openxmlformats.org/officeDocument/2006/relationships" id="259" r:id="Re8a1992b01d94375"/>
    <p:sldId xmlns:r="http://schemas.openxmlformats.org/officeDocument/2006/relationships" id="260" r:id="Rac8d450418dc457c"/>
    <p:sldId xmlns:r="http://schemas.openxmlformats.org/officeDocument/2006/relationships" id="261" r:id="R7d5987a8a6e9420d"/>
    <p:sldId xmlns:r="http://schemas.openxmlformats.org/officeDocument/2006/relationships" id="262" r:id="Rf10b43d03c3b4e4f"/>
    <p:sldId xmlns:r="http://schemas.openxmlformats.org/officeDocument/2006/relationships" id="263" r:id="R5bf5e3d02b234da9"/>
    <p:sldId xmlns:r="http://schemas.openxmlformats.org/officeDocument/2006/relationships" id="264" r:id="R0cb37951cfed4800"/>
    <p:sldId xmlns:r="http://schemas.openxmlformats.org/officeDocument/2006/relationships" id="265" r:id="Re8d6bfe4c05f4dd1"/>
    <p:sldId xmlns:r="http://schemas.openxmlformats.org/officeDocument/2006/relationships" id="266" r:id="R8b98b686a0c84c90"/>
    <p:sldId xmlns:r="http://schemas.openxmlformats.org/officeDocument/2006/relationships" id="267" r:id="R4d1a3ddc481c4f23"/>
    <p:sldId xmlns:r="http://schemas.openxmlformats.org/officeDocument/2006/relationships" id="268" r:id="Rfc8403c53741490e"/>
    <p:sldId xmlns:r="http://schemas.openxmlformats.org/officeDocument/2006/relationships" id="269" r:id="Rd66c929405984f79"/>
    <p:sldId xmlns:r="http://schemas.openxmlformats.org/officeDocument/2006/relationships" id="270" r:id="Rb3b9b126c9db4ca5"/>
    <p:sldId xmlns:r="http://schemas.openxmlformats.org/officeDocument/2006/relationships" id="271" r:id="R90143bc9d0ee4593"/>
    <p:sldId xmlns:r="http://schemas.openxmlformats.org/officeDocument/2006/relationships" id="272" r:id="R9bddeed6c52c4ca9"/>
    <p:sldId xmlns:r="http://schemas.openxmlformats.org/officeDocument/2006/relationships" id="273" r:id="R72854941dfa64eef"/>
    <p:sldId xmlns:r="http://schemas.openxmlformats.org/officeDocument/2006/relationships" id="274" r:id="R1dfe6f2e83e849be"/>
    <p:sldId xmlns:r="http://schemas.openxmlformats.org/officeDocument/2006/relationships" id="275" r:id="Rabf0f543538b4fef"/>
    <p:sldId xmlns:r="http://schemas.openxmlformats.org/officeDocument/2006/relationships" id="276" r:id="R59f62a3452304e69"/>
    <p:sldId xmlns:r="http://schemas.openxmlformats.org/officeDocument/2006/relationships" id="277" r:id="R4829f5e14d7c4e89"/>
    <p:sldId xmlns:r="http://schemas.openxmlformats.org/officeDocument/2006/relationships" id="278" r:id="R36ad1935b9b948b9"/>
    <p:sldId xmlns:r="http://schemas.openxmlformats.org/officeDocument/2006/relationships" id="279" r:id="R0969a60fe2e94923"/>
    <p:sldId xmlns:r="http://schemas.openxmlformats.org/officeDocument/2006/relationships" id="280" r:id="Rf803b575dc914cec"/>
    <p:sldId xmlns:r="http://schemas.openxmlformats.org/officeDocument/2006/relationships" id="281" r:id="R9434a2e263f44e0e"/>
    <p:sldId xmlns:r="http://schemas.openxmlformats.org/officeDocument/2006/relationships" id="282" r:id="Rb17a5f4027b44c16"/>
    <p:sldId xmlns:r="http://schemas.openxmlformats.org/officeDocument/2006/relationships" id="283" r:id="R3cd933b9ad2549b0"/>
    <p:sldId xmlns:r="http://schemas.openxmlformats.org/officeDocument/2006/relationships" id="284" r:id="R2ccaf58805a3423f"/>
    <p:sldId xmlns:r="http://schemas.openxmlformats.org/officeDocument/2006/relationships" id="285" r:id="Ra50c0e215d094ec4"/>
    <p:sldId xmlns:r="http://schemas.openxmlformats.org/officeDocument/2006/relationships" id="286" r:id="R1fc4dd163f6247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969a60fe2e94923" Type="http://schemas.openxmlformats.org/officeDocument/2006/relationships/slide" Target="slides/slide24.xml"/><Relationship Id="R0cb37951cfed4800" Type="http://schemas.openxmlformats.org/officeDocument/2006/relationships/slide" Target="slides/slide9.xml"/><Relationship Id="R168d3a5433264a6c" Type="http://schemas.openxmlformats.org/officeDocument/2006/relationships/slideMaster" Target="slideMasters/slideMaster1.xml"/><Relationship Id="R1dfe6f2e83e849be" Type="http://schemas.openxmlformats.org/officeDocument/2006/relationships/slide" Target="slides/slide19.xml"/><Relationship Id="R1fc4dd163f6247a4" Type="http://schemas.openxmlformats.org/officeDocument/2006/relationships/slide" Target="slides/slide31.xml"/><Relationship Id="R2ccaf58805a3423f" Type="http://schemas.openxmlformats.org/officeDocument/2006/relationships/slide" Target="slides/slide29.xml"/><Relationship Id="R2f31760d685d43ac" Type="http://schemas.openxmlformats.org/officeDocument/2006/relationships/theme" Target="theme/theme1.xml"/><Relationship Id="R36ad1935b9b948b9" Type="http://schemas.openxmlformats.org/officeDocument/2006/relationships/slide" Target="slides/slide23.xml"/><Relationship Id="R3cd933b9ad2549b0" Type="http://schemas.openxmlformats.org/officeDocument/2006/relationships/slide" Target="slides/slide28.xml"/><Relationship Id="R4829f5e14d7c4e89" Type="http://schemas.openxmlformats.org/officeDocument/2006/relationships/slide" Target="slides/slide22.xml"/><Relationship Id="R4d1a3ddc481c4f23" Type="http://schemas.openxmlformats.org/officeDocument/2006/relationships/slide" Target="slides/slide12.xml"/><Relationship Id="R4dd8adc3d3da47f4" Type="http://schemas.openxmlformats.org/officeDocument/2006/relationships/notesMaster" Target="notesMasters/notesMaster1.xml"/><Relationship Id="R59f62a3452304e69" Type="http://schemas.openxmlformats.org/officeDocument/2006/relationships/slide" Target="slides/slide21.xml"/><Relationship Id="R5bf5e3d02b234da9" Type="http://schemas.openxmlformats.org/officeDocument/2006/relationships/slide" Target="slides/slide8.xml"/><Relationship Id="R72854941dfa64eef" Type="http://schemas.openxmlformats.org/officeDocument/2006/relationships/slide" Target="slides/slide18.xml"/><Relationship Id="R795ddf5b90e84ec7" Type="http://schemas.openxmlformats.org/officeDocument/2006/relationships/viewProps" Target="viewProps.xml"/><Relationship Id="R7d5987a8a6e9420d" Type="http://schemas.openxmlformats.org/officeDocument/2006/relationships/slide" Target="slides/slide6.xml"/><Relationship Id="R8b98b686a0c84c90" Type="http://schemas.openxmlformats.org/officeDocument/2006/relationships/slide" Target="slides/slide11.xml"/><Relationship Id="R90143bc9d0ee4593" Type="http://schemas.openxmlformats.org/officeDocument/2006/relationships/slide" Target="slides/slide16.xml"/><Relationship Id="R9434a2e263f44e0e" Type="http://schemas.openxmlformats.org/officeDocument/2006/relationships/slide" Target="slides/slide26.xml"/><Relationship Id="R9bddeed6c52c4ca9" Type="http://schemas.openxmlformats.org/officeDocument/2006/relationships/slide" Target="slides/slide17.xml"/><Relationship Id="Ra50c0e215d094ec4" Type="http://schemas.openxmlformats.org/officeDocument/2006/relationships/slide" Target="slides/slide30.xml"/><Relationship Id="Rabf0f543538b4fef" Type="http://schemas.openxmlformats.org/officeDocument/2006/relationships/slide" Target="slides/slide20.xml"/><Relationship Id="Rac8d450418dc457c" Type="http://schemas.openxmlformats.org/officeDocument/2006/relationships/slide" Target="slides/slide5.xml"/><Relationship Id="Rad7ab7cb370d4eaa" Type="http://schemas.openxmlformats.org/officeDocument/2006/relationships/slide" Target="slides/slide1.xml"/><Relationship Id="Rb17a5f4027b44c16" Type="http://schemas.openxmlformats.org/officeDocument/2006/relationships/slide" Target="slides/slide27.xml"/><Relationship Id="Rb3b9b126c9db4ca5" Type="http://schemas.openxmlformats.org/officeDocument/2006/relationships/slide" Target="slides/slide15.xml"/><Relationship Id="Rce43d4083eb04e75" Type="http://schemas.openxmlformats.org/officeDocument/2006/relationships/slide" Target="slides/slide2.xml"/><Relationship Id="Rd66c929405984f79" Type="http://schemas.openxmlformats.org/officeDocument/2006/relationships/slide" Target="slides/slide14.xml"/><Relationship Id="Rd80b6705df814846" Type="http://schemas.openxmlformats.org/officeDocument/2006/relationships/tableStyles" Target="tableStyles.xml"/><Relationship Id="Rd88cf3c90ba84c7a" Type="http://schemas.openxmlformats.org/officeDocument/2006/relationships/presProps" Target="presProps.xml"/><Relationship Id="Re8a1992b01d94375" Type="http://schemas.openxmlformats.org/officeDocument/2006/relationships/slide" Target="slides/slide4.xml"/><Relationship Id="Re8d6bfe4c05f4dd1" Type="http://schemas.openxmlformats.org/officeDocument/2006/relationships/slide" Target="slides/slide10.xml"/><Relationship Id="Rf10b43d03c3b4e4f" Type="http://schemas.openxmlformats.org/officeDocument/2006/relationships/slide" Target="slides/slide7.xml"/><Relationship Id="Rf5f418a03892496b" Type="http://schemas.openxmlformats.org/officeDocument/2006/relationships/slide" Target="slides/slide3.xml"/><Relationship Id="Rf803b575dc914cec" Type="http://schemas.openxmlformats.org/officeDocument/2006/relationships/slide" Target="slides/slide25.xml"/><Relationship Id="Rfc8403c53741490e"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d258ff1160734367"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b02825425cef446d" Type="http://schemas.openxmlformats.org/officeDocument/2006/relationships/notesMaster" Target="../notesMasters/notesMaster1.xml"/><Relationship Id="Rd89be86c6c9441e8"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ec9548fdbf84f99" Type="http://schemas.openxmlformats.org/officeDocument/2006/relationships/notesMaster" Target="../notesMasters/notesMaster1.xml"/><Relationship Id="R64a8bceed70a4a27"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47f91beaef3742dd" Type="http://schemas.openxmlformats.org/officeDocument/2006/relationships/notesMaster" Target="../notesMasters/notesMaster1.xml"/><Relationship Id="Rcf62f53cac554266"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c5696859464428" Type="http://schemas.openxmlformats.org/officeDocument/2006/relationships/notesMaster" Target="../notesMasters/notesMaster1.xml"/><Relationship Id="Rc0774069ffc549f8"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0b150eae78ba4d70" Type="http://schemas.openxmlformats.org/officeDocument/2006/relationships/notesMaster" Target="../notesMasters/notesMaster1.xml"/><Relationship Id="R4b21ada75dc44a26"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837be261b24e429f" Type="http://schemas.openxmlformats.org/officeDocument/2006/relationships/notesMaster" Target="../notesMasters/notesMaster1.xml"/><Relationship Id="Rbc7f1d6e69834c78"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0fe06d270d064710" Type="http://schemas.openxmlformats.org/officeDocument/2006/relationships/notesMaster" Target="../notesMasters/notesMaster1.xml"/><Relationship Id="Rac2bc16e14ec4349"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960253d112264632" Type="http://schemas.openxmlformats.org/officeDocument/2006/relationships/slide" Target="../slides/slide8.xml"/><Relationship Id="R9910adf092f947d6"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0bdd7e78ff4d4bc2" Type="http://schemas.openxmlformats.org/officeDocument/2006/relationships/slide" Target="../slides/slide9.xml"/><Relationship Id="Re2cef430cbdd41f6"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1d8b2bd30cf74164" Type="http://schemas.openxmlformats.org/officeDocument/2006/relationships/slide" Target="../slides/slide10.xml"/><Relationship Id="Rbb8cf7794fdc4f98"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1a023c9384484922" Type="http://schemas.openxmlformats.org/officeDocument/2006/relationships/notesMaster" Target="../notesMasters/notesMaster1.xml"/><Relationship Id="R50ecfbd8d8944c5c"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07b4d7fc6f0c42af" Type="http://schemas.openxmlformats.org/officeDocument/2006/relationships/notesMaster" Target="../notesMasters/notesMaster1.xml"/><Relationship Id="R5c3418d4bb5449a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cb8021b1df3d4abb" Type="http://schemas.openxmlformats.org/officeDocument/2006/relationships/slide" Target="../slides/slide13.xml"/><Relationship Id="Red6f53c294454a2c"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b3bb8ceacd7047eb" Type="http://schemas.openxmlformats.org/officeDocument/2006/relationships/notesMaster" Target="../notesMasters/notesMaster1.xml"/><Relationship Id="Rfe06834103de4cd4"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0a2a2df8e77143f2" Type="http://schemas.openxmlformats.org/officeDocument/2006/relationships/notesMaster" Target="../notesMasters/notesMaster1.xml"/><Relationship Id="R4f02a3d868ca4a55"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5f8c8cb5562345e8" Type="http://schemas.openxmlformats.org/officeDocument/2006/relationships/slide" Target="../slides/slide16.xml"/><Relationship Id="R82e39dba22854299"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8197ea2c0b214707" Type="http://schemas.openxmlformats.org/officeDocument/2006/relationships/slide" Target="../slides/slide17.xml"/><Relationship Id="Rf27bfbd0f2ec46a6"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5d050f0197304a96" Type="http://schemas.openxmlformats.org/officeDocument/2006/relationships/slide" Target="../slides/slide18.xml"/><Relationship Id="Re74f4a37064e4ca4"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ac926bca85eb4f1e" Type="http://schemas.openxmlformats.org/officeDocument/2006/relationships/notesMaster" Target="../notesMasters/notesMaster1.xml"/><Relationship Id="Raef0173ef22e43e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4c7be0ed264e4302" Type="http://schemas.openxmlformats.org/officeDocument/2006/relationships/slide" Target="../slides/slide20.xml"/><Relationship Id="Rcf32efc9cb3347b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07c247d0773342d0" Type="http://schemas.openxmlformats.org/officeDocument/2006/relationships/notesMaster" Target="../notesMasters/notesMaster1.xml"/><Relationship Id="R2ba45d50dd9d481f"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1c9eec4a9b5c41bc" Type="http://schemas.openxmlformats.org/officeDocument/2006/relationships/notesMaster" Target="../notesMasters/notesMaster1.xml"/><Relationship Id="R4877aa5775a64197"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5f5f830ba1894ec1" Type="http://schemas.openxmlformats.org/officeDocument/2006/relationships/slide" Target="../slides/slide23.xml"/><Relationship Id="R6fb303c8bafa4357"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7426195cd34e4da3" Type="http://schemas.openxmlformats.org/officeDocument/2006/relationships/slide" Target="../slides/slide24.xml"/><Relationship Id="R7ebecc3eb2e34d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aea3616906404ba4" Type="http://schemas.openxmlformats.org/officeDocument/2006/relationships/slide" Target="../slides/slide25.xml"/><Relationship Id="Rbcfd6b09d75240d8"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06d120eb92b5460c" Type="http://schemas.openxmlformats.org/officeDocument/2006/relationships/slide" Target="../slides/slide26.xml"/><Relationship Id="R93299f03aabb4e28"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01f7715e75634e91" Type="http://schemas.openxmlformats.org/officeDocument/2006/relationships/slide" Target="../slides/slide27.xml"/><Relationship Id="R6672bbbb849a435b"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43fbba21ddcc4b28" Type="http://schemas.openxmlformats.org/officeDocument/2006/relationships/slide" Target="../slides/slide28.xml"/><Relationship Id="R739520e7a48b472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2902d58708064bab" Type="http://schemas.openxmlformats.org/officeDocument/2006/relationships/slide" Target="../slides/slide29.xml"/><Relationship Id="R953c1d9d06f24784"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0d7a8c87fc5b48a0" Type="http://schemas.openxmlformats.org/officeDocument/2006/relationships/notesMaster" Target="../notesMasters/notesMaster1.xml"/><Relationship Id="R206bc8dc97e84335"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4907e04a748640e7" Type="http://schemas.openxmlformats.org/officeDocument/2006/relationships/notesMaster" Target="../notesMasters/notesMaster1.xml"/><Relationship Id="R8f9c64c3ca5943f6" Type="http://schemas.openxmlformats.org/officeDocument/2006/relationships/slide" Target="../slides/slide3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II section appended to the supplied deck. Evidence source: D:/DL/battery_twin/outputs/final_evidence_v2/evidence_results.json.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implementation files: D:/DL/battery_twin/src/battery_twin and D:/DL/battery_twin/scripts. The source audit in the HTML report distinguishes proposal claims, literature evidence, and new student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source: https://www.nasa.gov/intelligent-systems-division/discovery-and-systems-health/pcoe/pcoe-data-set-repository/. Local audit and labels are implemented in data.py and features.py. The 636-cycle count is the parser audit across the four selected NASA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models.py, physics.py, training.py. The methodology review and EM-PINN paper inform the physics discussion, but the student POC does not claim to reproduce the SEI-PDE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Tuning source: D:/DL/battery_twin/outputs/tuning/grid.json. The grid JSON records combinations_requested = 54, combinations_run = 54, and seeds = [7, 17,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source: D:/DL/battery_twin/outputs/final_evidence_v2/evidence_results.json and final_summary.csv. Paper metrics are not numerically ranked against this table because datasets, splits, labels, and metric scales differ.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Ablation source: evidence_results.json and ablation_summary.csv. Negative forgetting means the initial-domain SOH MAE improved after adaptation. Full retraining is the cost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Robustness and physical-validity source: evidence_results.json. The monotonic rates are diagnostics because real cells can show local capacity regeneration. Capacity-curve residual is the first-stage data-supported residual, not an SEI-PDE residual.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Faculty rubric source: D:/DL/RUBRICS FOR COURSE BASED DESIGN PROJECT - FALL 26-27.pdf and the supplied Phase II screenshots. The actual recording must be made and uploaded by the student; this slide and video_reflection_script.md prepare the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reflection: AI helped translate the proposal and rubric into code, tests, and evidence tables. Human scientific judgment kept unsupported SEI-PDE claims out of the first NASA implementation. Manual video recording remains the only presentation step not automated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faculty submission, replace PASTE VIDEO URL HERE with the actual Moodle, Stream, Drive, or other approved video URL. The user did not provide a video URL in the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 D:/DL/battery_twin/src/battery_twin/data.py, features.py, models.py, and metrics.py. The EOL threshold is the student-selected primary POC rule, not a universal battery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implementation source: D:/DL/battery_twin/src/battery_twin/physics.py and metrics.py. `nonnegative_consistency` is deliberately zero-valued because the bounded output head already enforces SOH bounds; it is not presented as an active extra constraint.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D:/DL/0.base_paper.pdf, pp. 4–5, equations (1)–(5). The review presents this as a general methodological foundation and surveys different implementations.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D:/DL/0.base_paper.pdf, p. 5, equations (6)–(9). The review explicitly discusses diffusion, boundary conditions, Butler–Volmer kinetics, and charge conservation as candidate electrochemical 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D:/DL/0.base_paper.pdf, pp. 7–8, equations (10)–(16). Equation (13) directly motivates the project SOH label; equations (10)–(12) and (14)–(16) are reviewed physical formulations and 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D:/DL/0.base_paper.pdf, p. 8, equations (17)–(19). The review is methodological; the student project deliberately postpones thermal-PDE and reaction-rate residuals until the required variables and parameters are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source: D:/DL/battery_twin/outputs/final_evidence_v2/evidence_results.json and its rendered summaries. The four training epochs are intentionally retained as the executed POC protocol; longer training and broader validation are next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Acceptance, ablation, robustness, and physical-validity source: D:/DL/battery_twin/outputs/final_evidence_v2/evidence_results.json. PASS* is interpreted with absolute forgetting magnitude: the measured negative value means the prior-domain error improved rather than degraded.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D:/DL/0.base_paper.pdf, 1.pdf, 2.pdf, 3.pdf, 4.pdf. External references: Applied Energy https://www.sciencedirect.com/science/article/pii/S0306261925011572; Energy https://www.sciencedirect.com/science/article/pii/S0360544225053964; Scientific Reports https://www.nature.com/articles/s41598-025-28505-5; Complex &amp; Intelligent Systems https://doi.org/10.1007/s40747-025-02194-z. Do not numerically rank the reported values against the project table without harmonizing datasets, labels, splits, and metric 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a58723b1edc4ec1"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d95282b343e4a2a" Type="http://schemas.openxmlformats.org/officeDocument/2006/relationships/theme" Target="theme/theme2.xml"/><Relationship Id="Rb19fd03d0df44897" Type="http://schemas.openxmlformats.org/officeDocument/2006/relationships/slideLayout" Target="../slideLayouts/slideLayout1.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9fd03d0df4489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80a4457903346a1" Type="http://schemas.openxmlformats.org/officeDocument/2006/relationships/slideLayout" Target="../slideLayouts/slideLayout1.xml"/><Relationship Id="Rffd2e16f0da74e1a"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4cc52a18aa44ef4" Type="http://schemas.openxmlformats.org/officeDocument/2006/relationships/slideLayout" Target="../slideLayouts/slideLayout1.xml"/><Relationship Id="Rd20309afa7344d9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c44a6cfd589e44ba" Type="http://schemas.openxmlformats.org/officeDocument/2006/relationships/slideLayout" Target="../slideLayouts/slideLayout1.xml"/><Relationship Id="Rce98093cd0d44b5a"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358c248e79b24dcb" Type="http://schemas.openxmlformats.org/officeDocument/2006/relationships/slideLayout" Target="../slideLayouts/slideLayout1.xml"/><Relationship Id="Rb76cb894192b440a"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1dc8bcca9d68448c" Type="http://schemas.openxmlformats.org/officeDocument/2006/relationships/notesSlide" Target="../notesSlides/notesSlide5.xml"/><Relationship Id="R5bff0d16fe38414b"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109273a210d2418e" Type="http://schemas.openxmlformats.org/officeDocument/2006/relationships/notesSlide" Target="../notesSlides/notesSlide6.xml"/><Relationship Id="R9799925597904ba7"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5ef9719d9a664283" Type="http://schemas.openxmlformats.org/officeDocument/2006/relationships/notesSlide" Target="../notesSlides/notesSlide7.xml"/><Relationship Id="Re923c4e3860345b0"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055ad13a5d6b44f0" Type="http://schemas.openxmlformats.org/officeDocument/2006/relationships/notesSlide" Target="../notesSlides/notesSlide8.xml"/><Relationship Id="R06e8a8e1c71140ff"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6963c5e1c8724a30" Type="http://schemas.openxmlformats.org/officeDocument/2006/relationships/notesSlide" Target="../notesSlides/notesSlide9.xml"/><Relationship Id="Rc13e2944850f432c"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870a947f4b064344" Type="http://schemas.openxmlformats.org/officeDocument/2006/relationships/notesSlide" Target="../notesSlides/notesSlide10.xml"/><Relationship Id="Rcda7247a10ef4c10"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04557b36b25842de" Type="http://schemas.openxmlformats.org/officeDocument/2006/relationships/hyperlink" Target="https://www.researchgate.net/publication/399255851_A_cycle-aware_and_physics-informed_framework_for_battery_remaining_useful_life_prediction" TargetMode="External"/><Relationship Id="R1d72e10919c14518" Type="http://schemas.openxmlformats.org/officeDocument/2006/relationships/hyperlink" Target="https://www.sciencedirect.com/science/article/pii/S0360544225053964" TargetMode="External"/><Relationship Id="R1fc144bedcb54736" Type="http://schemas.openxmlformats.org/officeDocument/2006/relationships/notesSlide" Target="../notesSlides/notesSlide11.xml"/><Relationship Id="R5785ebe27b7b431c" Type="http://schemas.openxmlformats.org/officeDocument/2006/relationships/slideLayout" Target="../slideLayouts/slideLayout1.xml"/><Relationship Id="R6bb0e909f88d4089" Type="http://schemas.openxmlformats.org/officeDocument/2006/relationships/hyperlink" Target="https://www.sciencedirect.com/science/article/pii/S0306261925011572" TargetMode="External"/><Relationship Id="R7e200f69c9dc4a63" Type="http://schemas.openxmlformats.org/officeDocument/2006/relationships/hyperlink" Target="https://www.researchgate.net/publication/398786756_Physics-informed_neural_network_and_momentum_contrastive_learning_for_battery_state_of_health_estimation" TargetMode="External"/><Relationship Id="Re49394372b8047a6" Type="http://schemas.openxmlformats.org/officeDocument/2006/relationships/hyperlink" Target="https://www.sciencedirect.com/science/article/pii/S1364032126005253" TargetMode="External"/></Relationships>
</file>

<file path=ppt/slides/_rels/slide12.xml.rels><?xml version='1.0' encoding='UTF-8' standalone='yes'?>
<Relationships xmlns="http://schemas.openxmlformats.org/package/2006/relationships"><Relationship Id="R0c851dd7d3454cfe" Type="http://schemas.openxmlformats.org/officeDocument/2006/relationships/notesSlide" Target="../notesSlides/notesSlide12.xml"/><Relationship Id="R12b9086d3d6d4e58"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21f2f9957b3c43fa" Type="http://schemas.openxmlformats.org/officeDocument/2006/relationships/slideLayout" Target="../slideLayouts/slideLayout1.xml"/><Relationship Id="Rdb50e6814c554f2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6ded3d64518f44ec" Type="http://schemas.openxmlformats.org/officeDocument/2006/relationships/slideLayout" Target="../slideLayouts/slideLayout1.xml"/><Relationship Id="R7e693c51a1c34eac"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cce098e022ef42e5" Type="http://schemas.openxmlformats.org/officeDocument/2006/relationships/notesSlide" Target="../notesSlides/notesSlide15.xml"/><Relationship Id="Rce00a54ecc324e22"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2f42e6e7294840b5" Type="http://schemas.openxmlformats.org/officeDocument/2006/relationships/slideLayout" Target="../slideLayouts/slideLayout1.xml"/><Relationship Id="Rc4bb278feb1f45ab"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affbd3a2f4ea4695" Type="http://schemas.openxmlformats.org/officeDocument/2006/relationships/notesSlide" Target="../notesSlides/notesSlide17.xml"/><Relationship Id="Rff1f5c543e4f4218"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5675e3ce515041fc" Type="http://schemas.openxmlformats.org/officeDocument/2006/relationships/slideLayout" Target="../slideLayouts/slideLayout1.xml"/><Relationship Id="R6405bb0483ce495e"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19df57def6ed48d1" Type="http://schemas.openxmlformats.org/officeDocument/2006/relationships/notesSlide" Target="../notesSlides/notesSlide19.xml"/><Relationship Id="Re12eda31265945f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7385bf78f0134864" Type="http://schemas.openxmlformats.org/officeDocument/2006/relationships/notesSlide" Target="../notesSlides/notesSlide20.xml"/><Relationship Id="Ra46065f026e144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1aca3e59fbb74629" Type="http://schemas.openxmlformats.org/officeDocument/2006/relationships/slideLayout" Target="../slideLayouts/slideLayout1.xml"/><Relationship Id="R24728c18808343f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3c7f62e72a5148af" Type="http://schemas.openxmlformats.org/officeDocument/2006/relationships/slideLayout" Target="../slideLayouts/slideLayout1.xml"/><Relationship Id="R628fc1b2464b44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3eacb49c99c84382" Type="http://schemas.openxmlformats.org/officeDocument/2006/relationships/slideLayout" Target="../slideLayouts/slideLayout1.xml"/><Relationship Id="Rfda5a58be7f649ce"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07f1544dfa32483d" Type="http://schemas.openxmlformats.org/officeDocument/2006/relationships/slideLayout" Target="../slideLayouts/slideLayout1.xml"/><Relationship Id="Rd019ae5433c3437b"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19557d12cb274d62" Type="http://schemas.openxmlformats.org/officeDocument/2006/relationships/notesSlide" Target="../notesSlides/notesSlide25.xml"/><Relationship Id="R4e4c61981555464d"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bd5a5126573d4816" Type="http://schemas.openxmlformats.org/officeDocument/2006/relationships/slideLayout" Target="../slideLayouts/slideLayout1.xml"/><Relationship Id="Re66ddf39bab04e5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913543911da74676" Type="http://schemas.openxmlformats.org/officeDocument/2006/relationships/notesSlide" Target="../notesSlides/notesSlide27.xml"/><Relationship Id="Rb00cdd30c2774e5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410b69aac9404dad" Type="http://schemas.openxmlformats.org/officeDocument/2006/relationships/notesSlide" Target="../notesSlides/notesSlide28.xml"/><Relationship Id="Rf18d0d7e235a4be9"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728d6d23e1c34670" Type="http://schemas.openxmlformats.org/officeDocument/2006/relationships/slideLayout" Target="../slideLayouts/slideLayout1.xml"/><Relationship Id="R7ab4a2f44b164be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9b13ba06aa3d4531" Type="http://schemas.openxmlformats.org/officeDocument/2006/relationships/slideLayout" Target="../slideLayouts/slideLayout1.xml"/><Relationship Id="Rddc8574fe4904d5c"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168a88359fd24e49" Type="http://schemas.openxmlformats.org/officeDocument/2006/relationships/notesSlide" Target="../notesSlides/notesSlide31.xml"/><Relationship Id="R4cae365c7c734ccf"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7EFB77E-F176-4EE3-AB0D-E3CB2FAAC2C2}"/>
              </a:ext>
            </a:extLst>
          </p:cNvPr>
          <p:cNvSpPr>
            <a:spLocks xmlns:a="http://schemas.openxmlformats.org/drawingml/2006/main" noGrp="1"/>
          </p:cNvSpPr>
          <p:nvPr/>
        </p:nvSpPr>
        <p:spPr>
          <a:xfrm xmlns:a="http://schemas.openxmlformats.org/drawingml/2006/main">
            <a:off x="8138160" y="0"/>
            <a:ext cx="4050792" cy="6858000"/>
          </a:xfrm>
          <a:prstGeom xmlns:a="http://schemas.openxmlformats.org/drawingml/2006/main" prst="rect">
            <a:avLst/>
          </a:prstGeom>
          <a:solidFill xmlns:a="http://schemas.openxmlformats.org/drawingml/2006/main">
            <a:srgbClr val="13355E"/>
          </a:solidFill>
        </p:spPr>
        <p:txBody xmlns:a="http://schemas.openxmlformats.org/drawingml/2006/main">
          <a:bodyPr/>
          <a:p/>
        </p:txBody>
      </p:sp>
      <p:sp>
        <p:nvSpPr>
          <p:cNvPr id="3" name="Shape 1">
            <a:extLst xmlns:a="http://schemas.openxmlformats.org/drawingml/2006/main">
              <a:ext uri="{FF2B5EF4-FFF2-40B4-BE49-F238E27FC236}">
                <a16:creationId xmlns:a16="http://schemas.microsoft.com/office/drawing/2014/main" id="{CCD948C9-E5F5-4882-8CBA-2880361FEAC3}"/>
              </a:ext>
            </a:extLst>
          </p:cNvPr>
          <p:cNvSpPr>
            <a:spLocks xmlns:a="http://schemas.openxmlformats.org/drawingml/2006/main" noGrp="1"/>
          </p:cNvSpPr>
          <p:nvPr/>
        </p:nvSpPr>
        <p:spPr>
          <a:xfrm xmlns:a="http://schemas.openxmlformats.org/drawingml/2006/main">
            <a:off x="8485632" y="4206240"/>
            <a:ext cx="658368" cy="1828800"/>
          </a:xfrm>
          <a:prstGeom xmlns:a="http://schemas.openxmlformats.org/drawingml/2006/main" prst="roundRect">
            <a:avLst>
              <a:gd name="adj" fmla="val 11111"/>
            </a:avLst>
          </a:prstGeom>
          <a:solidFill xmlns:a="http://schemas.openxmlformats.org/drawingml/2006/main">
            <a:srgbClr val="1B4A73"/>
          </a:solidFill>
          <a:ln xmlns:a="http://schemas.openxmlformats.org/drawingml/2006/main" w="12700">
            <a:solidFill>
              <a:srgbClr val="2E6C99"/>
            </a:solidFill>
            <a:prstDash val="solid"/>
          </a:ln>
        </p:spPr>
        <p:txBody xmlns:a="http://schemas.openxmlformats.org/drawingml/2006/main">
          <a:bodyPr/>
          <a:p/>
        </p:txBody>
      </p:sp>
      <p:sp>
        <p:nvSpPr>
          <p:cNvPr id="4" name="Shape 2">
            <a:extLst xmlns:a="http://schemas.openxmlformats.org/drawingml/2006/main">
              <a:ext uri="{FF2B5EF4-FFF2-40B4-BE49-F238E27FC236}">
                <a16:creationId xmlns:a16="http://schemas.microsoft.com/office/drawing/2014/main" id="{28B53AF0-15DB-43EE-8EF3-280BBDCB874A}"/>
              </a:ext>
            </a:extLst>
          </p:cNvPr>
          <p:cNvSpPr>
            <a:spLocks xmlns:a="http://schemas.openxmlformats.org/drawingml/2006/main" noGrp="1"/>
          </p:cNvSpPr>
          <p:nvPr/>
        </p:nvSpPr>
        <p:spPr>
          <a:xfrm xmlns:a="http://schemas.openxmlformats.org/drawingml/2006/main">
            <a:off x="8558784" y="4315968"/>
            <a:ext cx="512064" cy="1627632"/>
          </a:xfrm>
          <a:prstGeom xmlns:a="http://schemas.openxmlformats.org/drawingml/2006/main" prst="roundRect">
            <a:avLst>
              <a:gd name="adj" fmla="val 10714"/>
            </a:avLst>
          </a:prstGeom>
          <a:solidFill xmlns:a="http://schemas.openxmlformats.org/drawingml/2006/main">
            <a:srgbClr val="00A896"/>
          </a:solidFill>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75CE7D78-17F0-4E89-9FCE-4E1A6180128D}"/>
              </a:ext>
            </a:extLst>
          </p:cNvPr>
          <p:cNvSpPr>
            <a:spLocks xmlns:a="http://schemas.openxmlformats.org/drawingml/2006/main" noGrp="1"/>
          </p:cNvSpPr>
          <p:nvPr/>
        </p:nvSpPr>
        <p:spPr>
          <a:xfrm xmlns:a="http://schemas.openxmlformats.org/drawingml/2006/main">
            <a:off x="9345168" y="4206240"/>
            <a:ext cx="658368" cy="1828800"/>
          </a:xfrm>
          <a:prstGeom xmlns:a="http://schemas.openxmlformats.org/drawingml/2006/main" prst="roundRect">
            <a:avLst>
              <a:gd name="adj" fmla="val 11111"/>
            </a:avLst>
          </a:prstGeom>
          <a:solidFill xmlns:a="http://schemas.openxmlformats.org/drawingml/2006/main">
            <a:srgbClr val="1B4A73"/>
          </a:solidFill>
          <a:ln xmlns:a="http://schemas.openxmlformats.org/drawingml/2006/main" w="12700">
            <a:solidFill>
              <a:srgbClr val="2E6C99"/>
            </a:solidFill>
            <a:prstDash val="solid"/>
          </a:ln>
        </p:spPr>
        <p:txBody xmlns:a="http://schemas.openxmlformats.org/drawingml/2006/main">
          <a:bodyPr/>
          <a:p/>
        </p:txBody>
      </p:sp>
      <p:sp>
        <p:nvSpPr>
          <p:cNvPr id="6" name="Shape 4">
            <a:extLst xmlns:a="http://schemas.openxmlformats.org/drawingml/2006/main">
              <a:ext uri="{FF2B5EF4-FFF2-40B4-BE49-F238E27FC236}">
                <a16:creationId xmlns:a16="http://schemas.microsoft.com/office/drawing/2014/main" id="{5FF26CB1-54D6-472D-ACF5-DF65556C414B}"/>
              </a:ext>
            </a:extLst>
          </p:cNvPr>
          <p:cNvSpPr>
            <a:spLocks xmlns:a="http://schemas.openxmlformats.org/drawingml/2006/main" noGrp="1"/>
          </p:cNvSpPr>
          <p:nvPr/>
        </p:nvSpPr>
        <p:spPr>
          <a:xfrm xmlns:a="http://schemas.openxmlformats.org/drawingml/2006/main">
            <a:off x="9418320" y="4133088"/>
            <a:ext cx="512064" cy="1810512"/>
          </a:xfrm>
          <a:prstGeom xmlns:a="http://schemas.openxmlformats.org/drawingml/2006/main" prst="roundRect">
            <a:avLst>
              <a:gd name="adj" fmla="val 10714"/>
            </a:avLst>
          </a:prstGeom>
          <a:solidFill xmlns:a="http://schemas.openxmlformats.org/drawingml/2006/main">
            <a:srgbClr val="00A89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4ED54EE5-DCE6-4BDB-A98D-FF2AB10517AC}"/>
              </a:ext>
            </a:extLst>
          </p:cNvPr>
          <p:cNvSpPr>
            <a:spLocks xmlns:a="http://schemas.openxmlformats.org/drawingml/2006/main" noGrp="1"/>
          </p:cNvSpPr>
          <p:nvPr/>
        </p:nvSpPr>
        <p:spPr>
          <a:xfrm xmlns:a="http://schemas.openxmlformats.org/drawingml/2006/main">
            <a:off x="10204704" y="4206240"/>
            <a:ext cx="658368" cy="1828800"/>
          </a:xfrm>
          <a:prstGeom xmlns:a="http://schemas.openxmlformats.org/drawingml/2006/main" prst="roundRect">
            <a:avLst>
              <a:gd name="adj" fmla="val 11111"/>
            </a:avLst>
          </a:prstGeom>
          <a:solidFill xmlns:a="http://schemas.openxmlformats.org/drawingml/2006/main">
            <a:srgbClr val="1B4A73"/>
          </a:solidFill>
          <a:ln xmlns:a="http://schemas.openxmlformats.org/drawingml/2006/main" w="12700">
            <a:solidFill>
              <a:srgbClr val="2E6C99"/>
            </a:solidFill>
            <a:prstDash val="solid"/>
          </a:ln>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4A36355C-96FE-4B30-ACDD-E34D67C049B7}"/>
              </a:ext>
            </a:extLst>
          </p:cNvPr>
          <p:cNvSpPr>
            <a:spLocks xmlns:a="http://schemas.openxmlformats.org/drawingml/2006/main" noGrp="1"/>
          </p:cNvSpPr>
          <p:nvPr/>
        </p:nvSpPr>
        <p:spPr>
          <a:xfrm xmlns:a="http://schemas.openxmlformats.org/drawingml/2006/main">
            <a:off x="10277856" y="4864608"/>
            <a:ext cx="512064" cy="1078992"/>
          </a:xfrm>
          <a:prstGeom xmlns:a="http://schemas.openxmlformats.org/drawingml/2006/main" prst="roundRect">
            <a:avLst>
              <a:gd name="adj" fmla="val 10714"/>
            </a:avLst>
          </a:prstGeom>
          <a:solidFill xmlns:a="http://schemas.openxmlformats.org/drawingml/2006/main">
            <a:srgbClr val="00A896"/>
          </a:solidFill>
        </p:spPr>
        <p:txBody xmlns:a="http://schemas.openxmlformats.org/drawingml/2006/main">
          <a:bodyPr/>
          <a:p/>
        </p:txBody>
      </p:sp>
      <p:sp>
        <p:nvSpPr>
          <p:cNvPr id="9" name="Shape 7">
            <a:extLst xmlns:a="http://schemas.openxmlformats.org/drawingml/2006/main">
              <a:ext uri="{FF2B5EF4-FFF2-40B4-BE49-F238E27FC236}">
                <a16:creationId xmlns:a16="http://schemas.microsoft.com/office/drawing/2014/main" id="{BF0B19E4-CF3B-4968-8A7C-D4EEB9D91E6D}"/>
              </a:ext>
            </a:extLst>
          </p:cNvPr>
          <p:cNvSpPr>
            <a:spLocks xmlns:a="http://schemas.openxmlformats.org/drawingml/2006/main" noGrp="1"/>
          </p:cNvSpPr>
          <p:nvPr/>
        </p:nvSpPr>
        <p:spPr>
          <a:xfrm xmlns:a="http://schemas.openxmlformats.org/drawingml/2006/main">
            <a:off x="11064240" y="4206240"/>
            <a:ext cx="658368" cy="1828800"/>
          </a:xfrm>
          <a:prstGeom xmlns:a="http://schemas.openxmlformats.org/drawingml/2006/main" prst="roundRect">
            <a:avLst>
              <a:gd name="adj" fmla="val 11111"/>
            </a:avLst>
          </a:prstGeom>
          <a:solidFill xmlns:a="http://schemas.openxmlformats.org/drawingml/2006/main">
            <a:srgbClr val="1B4A73"/>
          </a:solidFill>
          <a:ln xmlns:a="http://schemas.openxmlformats.org/drawingml/2006/main" w="12700">
            <a:solidFill>
              <a:srgbClr val="2E6C99"/>
            </a:solidFill>
            <a:prstDash val="solid"/>
          </a:ln>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1C75D087-7EFB-4DF5-9B73-7DB4B1FBC3EF}"/>
              </a:ext>
            </a:extLst>
          </p:cNvPr>
          <p:cNvSpPr>
            <a:spLocks xmlns:a="http://schemas.openxmlformats.org/drawingml/2006/main" noGrp="1"/>
          </p:cNvSpPr>
          <p:nvPr/>
        </p:nvSpPr>
        <p:spPr>
          <a:xfrm xmlns:a="http://schemas.openxmlformats.org/drawingml/2006/main">
            <a:off x="11137392" y="4133088"/>
            <a:ext cx="512064" cy="1810512"/>
          </a:xfrm>
          <a:prstGeom xmlns:a="http://schemas.openxmlformats.org/drawingml/2006/main" prst="roundRect">
            <a:avLst>
              <a:gd name="adj" fmla="val 10714"/>
            </a:avLst>
          </a:prstGeom>
          <a:solidFill xmlns:a="http://schemas.openxmlformats.org/drawingml/2006/main">
            <a:srgbClr val="00A89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321C23D9-39E4-4308-8237-C16A74284762}"/>
              </a:ext>
            </a:extLst>
          </p:cNvPr>
          <p:cNvSpPr>
            <a:spLocks xmlns:a="http://schemas.openxmlformats.org/drawingml/2006/main" noGrp="1"/>
          </p:cNvSpPr>
          <p:nvPr/>
        </p:nvSpPr>
        <p:spPr>
          <a:xfrm xmlns:a="http://schemas.openxmlformats.org/drawingml/2006/main">
            <a:off x="8394192" y="3822192"/>
            <a:ext cx="3419856"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spc="200">
                <a:solidFill>
                  <a:srgbClr val="9FC6E0"/>
                </a:solidFill>
                <a:latin typeface="Calibri"/>
                <a:ea typeface="Calibri"/>
                <a:cs typeface="Calibri"/>
              </a:rPr>
              <a:t>SOH  ·  RUL</a:t>
            </a:r>
            <a:endParaRPr sz="1100"/>
          </a:p>
        </p:txBody>
      </p:sp>
      <p:sp>
        <p:nvSpPr>
          <p:cNvPr id="12" name="Text 10">
            <a:extLst xmlns:a="http://schemas.openxmlformats.org/drawingml/2006/main">
              <a:ext uri="{FF2B5EF4-FFF2-40B4-BE49-F238E27FC236}">
                <a16:creationId xmlns:a16="http://schemas.microsoft.com/office/drawing/2014/main" id="{EE7F4F7C-3088-4207-9837-08A26D3A84A4}"/>
              </a:ext>
            </a:extLst>
          </p:cNvPr>
          <p:cNvSpPr>
            <a:spLocks xmlns:a="http://schemas.openxmlformats.org/drawingml/2006/main" noGrp="1"/>
          </p:cNvSpPr>
          <p:nvPr/>
        </p:nvSpPr>
        <p:spPr>
          <a:xfrm xmlns:a="http://schemas.openxmlformats.org/drawingml/2006/main">
            <a:off x="457200" y="1417320"/>
            <a:ext cx="713232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spc="300">
                <a:solidFill>
                  <a:srgbClr val="00A896"/>
                </a:solidFill>
                <a:latin typeface="Calibri"/>
                <a:ea typeface="Calibri"/>
                <a:cs typeface="Calibri"/>
              </a:rPr>
              <a:t>SCOPE  ·  B.TECH PROJECT</a:t>
            </a:r>
            <a:endParaRPr sz="1300"/>
          </a:p>
        </p:txBody>
      </p:sp>
      <p:sp>
        <p:nvSpPr>
          <p:cNvPr id="13" name="Text 11">
            <a:extLst xmlns:a="http://schemas.openxmlformats.org/drawingml/2006/main">
              <a:ext uri="{FF2B5EF4-FFF2-40B4-BE49-F238E27FC236}">
                <a16:creationId xmlns:a16="http://schemas.microsoft.com/office/drawing/2014/main" id="{11294647-F1F2-404C-AF4E-0F6672F8290A}"/>
              </a:ext>
            </a:extLst>
          </p:cNvPr>
          <p:cNvSpPr>
            <a:spLocks xmlns:a="http://schemas.openxmlformats.org/drawingml/2006/main" noGrp="1"/>
          </p:cNvSpPr>
          <p:nvPr/>
        </p:nvSpPr>
        <p:spPr>
          <a:xfrm xmlns:a="http://schemas.openxmlformats.org/drawingml/2006/main">
            <a:off x="457200" y="1874520"/>
            <a:ext cx="7406640" cy="1920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4000"/>
              </a:lnSpc>
              <a:buNone/>
            </a:pPr>
            <a:r>
              <a:rPr sz="3400" b="1">
                <a:solidFill>
                  <a:srgbClr val="FFFFFF"/>
                </a:solidFill>
                <a:latin typeface="Cambria"/>
                <a:ea typeface="Cambria"/>
                <a:cs typeface="Cambria"/>
              </a:rPr>
              <a:t>Adaptive Physics-Informed Battery Digital Twin for SOH and RUL Prediction</a:t>
            </a:r>
            <a:endParaRPr sz="3400"/>
          </a:p>
        </p:txBody>
      </p:sp>
      <p:sp>
        <p:nvSpPr>
          <p:cNvPr id="14" name="Text 12">
            <a:extLst xmlns:a="http://schemas.openxmlformats.org/drawingml/2006/main">
              <a:ext uri="{FF2B5EF4-FFF2-40B4-BE49-F238E27FC236}">
                <a16:creationId xmlns:a16="http://schemas.microsoft.com/office/drawing/2014/main" id="{935876B2-48F8-4BBD-A460-7082038B480F}"/>
              </a:ext>
            </a:extLst>
          </p:cNvPr>
          <p:cNvSpPr>
            <a:spLocks xmlns:a="http://schemas.openxmlformats.org/drawingml/2006/main" noGrp="1"/>
          </p:cNvSpPr>
          <p:nvPr/>
        </p:nvSpPr>
        <p:spPr>
          <a:xfrm xmlns:a="http://schemas.openxmlformats.org/drawingml/2006/main">
            <a:off x="457200" y="379476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i="1">
                <a:solidFill>
                  <a:srgbClr val="AFC7DA"/>
                </a:solidFill>
                <a:latin typeface="Calibri"/>
                <a:ea typeface="Calibri"/>
                <a:cs typeface="Calibri"/>
              </a:rPr>
              <a:t>Energy AI  ·  Battery Management Systems  ·  Physics-Informed Neural Networks</a:t>
            </a:r>
            <a:endParaRPr sz="1300"/>
          </a:p>
        </p:txBody>
      </p:sp>
      <p:sp>
        <p:nvSpPr>
          <p:cNvPr id="15" name="Text 13">
            <a:extLst xmlns:a="http://schemas.openxmlformats.org/drawingml/2006/main">
              <a:ext uri="{FF2B5EF4-FFF2-40B4-BE49-F238E27FC236}">
                <a16:creationId xmlns:a16="http://schemas.microsoft.com/office/drawing/2014/main" id="{5222D5D3-E0AC-4818-8B06-1B87A02B107A}"/>
              </a:ext>
            </a:extLst>
          </p:cNvPr>
          <p:cNvSpPr>
            <a:spLocks xmlns:a="http://schemas.openxmlformats.org/drawingml/2006/main" noGrp="1"/>
          </p:cNvSpPr>
          <p:nvPr/>
        </p:nvSpPr>
        <p:spPr>
          <a:xfrm xmlns:a="http://schemas.openxmlformats.org/drawingml/2006/main">
            <a:off x="457200" y="4892040"/>
            <a:ext cx="3657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200">
                <a:solidFill>
                  <a:srgbClr val="00A896"/>
                </a:solidFill>
                <a:latin typeface="Calibri"/>
                <a:ea typeface="Calibri"/>
                <a:cs typeface="Calibri"/>
              </a:rPr>
              <a:t>TEAM</a:t>
            </a:r>
            <a:endParaRPr sz="1100"/>
          </a:p>
        </p:txBody>
      </p:sp>
      <p:sp>
        <p:nvSpPr>
          <p:cNvPr id="16" name="Text 14">
            <a:extLst xmlns:a="http://schemas.openxmlformats.org/drawingml/2006/main">
              <a:ext uri="{FF2B5EF4-FFF2-40B4-BE49-F238E27FC236}">
                <a16:creationId xmlns:a16="http://schemas.microsoft.com/office/drawing/2014/main" id="{FEF78377-878E-428A-99BE-30A4122514F3}"/>
              </a:ext>
            </a:extLst>
          </p:cNvPr>
          <p:cNvSpPr>
            <a:spLocks xmlns:a="http://schemas.openxmlformats.org/drawingml/2006/main" noGrp="1"/>
          </p:cNvSpPr>
          <p:nvPr/>
        </p:nvSpPr>
        <p:spPr>
          <a:xfrm xmlns:a="http://schemas.openxmlformats.org/drawingml/2006/main">
            <a:off x="457200" y="5230368"/>
            <a:ext cx="6858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M. Chethan Krishna</a:t>
            </a:r>
            <a:r>
              <a:rPr sz="1350">
                <a:solidFill>
                  <a:srgbClr val="8FA9BE"/>
                </a:solidFill>
                <a:latin typeface="Calibri"/>
                <a:ea typeface="Calibri"/>
                <a:cs typeface="Calibri"/>
              </a:rPr>
              <a:t>   23BAI0093</a:t>
            </a:r>
            <a:endParaRPr sz="1350"/>
          </a:p>
        </p:txBody>
      </p:sp>
      <p:sp>
        <p:nvSpPr>
          <p:cNvPr id="17" name="Text 15">
            <a:extLst xmlns:a="http://schemas.openxmlformats.org/drawingml/2006/main">
              <a:ext uri="{FF2B5EF4-FFF2-40B4-BE49-F238E27FC236}">
                <a16:creationId xmlns:a16="http://schemas.microsoft.com/office/drawing/2014/main" id="{4BCB8DCB-8523-46A6-BC23-2ADE2F623200}"/>
              </a:ext>
            </a:extLst>
          </p:cNvPr>
          <p:cNvSpPr>
            <a:spLocks xmlns:a="http://schemas.openxmlformats.org/drawingml/2006/main" noGrp="1"/>
          </p:cNvSpPr>
          <p:nvPr/>
        </p:nvSpPr>
        <p:spPr>
          <a:xfrm xmlns:a="http://schemas.openxmlformats.org/drawingml/2006/main">
            <a:off x="457200" y="5596128"/>
            <a:ext cx="6858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K. Shanmukha Santhosh</a:t>
            </a:r>
            <a:r>
              <a:rPr sz="1350">
                <a:solidFill>
                  <a:srgbClr val="8FA9BE"/>
                </a:solidFill>
                <a:latin typeface="Calibri"/>
                <a:ea typeface="Calibri"/>
                <a:cs typeface="Calibri"/>
              </a:rPr>
              <a:t>   23BAI0157</a:t>
            </a:r>
            <a:endParaRPr sz="1350"/>
          </a:p>
        </p:txBody>
      </p:sp>
      <p:sp>
        <p:nvSpPr>
          <p:cNvPr id="18" name="Text 16">
            <a:extLst xmlns:a="http://schemas.openxmlformats.org/drawingml/2006/main">
              <a:ext uri="{FF2B5EF4-FFF2-40B4-BE49-F238E27FC236}">
                <a16:creationId xmlns:a16="http://schemas.microsoft.com/office/drawing/2014/main" id="{20C5CBD5-3781-4593-9BFA-9018B421E2D8}"/>
              </a:ext>
            </a:extLst>
          </p:cNvPr>
          <p:cNvSpPr>
            <a:spLocks xmlns:a="http://schemas.openxmlformats.org/drawingml/2006/main" noGrp="1"/>
          </p:cNvSpPr>
          <p:nvPr/>
        </p:nvSpPr>
        <p:spPr>
          <a:xfrm xmlns:a="http://schemas.openxmlformats.org/drawingml/2006/main">
            <a:off x="457200" y="5961888"/>
            <a:ext cx="6858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Ashok Reddy</a:t>
            </a:r>
            <a:r>
              <a:rPr sz="1350">
                <a:solidFill>
                  <a:srgbClr val="8FA9BE"/>
                </a:solidFill>
                <a:latin typeface="Calibri"/>
                <a:ea typeface="Calibri"/>
                <a:cs typeface="Calibri"/>
              </a:rPr>
              <a:t>   23BAI0143</a:t>
            </a:r>
            <a:endParaRPr sz="1350"/>
          </a:p>
        </p:txBody>
      </p:sp>
    </p:spTree>
    <p:extLst>
      <p:ext uri="{BB962C8B-B14F-4D97-AF65-F5344CB8AC3E}">
        <p14:creationId xmlns:p14="http://schemas.microsoft.com/office/powerpoint/2010/main" val="10206787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A31C654-CEC3-44CD-B4A7-6F3D027BA86C}"/>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DOMAIN &amp; MOTIVATION</a:t>
            </a:r>
            <a:endParaRPr sz="1200"/>
          </a:p>
        </p:txBody>
      </p:sp>
      <p:sp>
        <p:nvSpPr>
          <p:cNvPr id="3" name="Text 1">
            <a:extLst xmlns:a="http://schemas.openxmlformats.org/drawingml/2006/main">
              <a:ext uri="{FF2B5EF4-FFF2-40B4-BE49-F238E27FC236}">
                <a16:creationId xmlns:a16="http://schemas.microsoft.com/office/drawing/2014/main" id="{C6FA128A-905D-4D37-99C4-23C4A8185C64}"/>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Project Overview &amp; Use Cases</a:t>
            </a:r>
            <a:endParaRPr sz="2800"/>
          </a:p>
        </p:txBody>
      </p:sp>
      <p:sp>
        <p:nvSpPr>
          <p:cNvPr id="4" name="Shape 2">
            <a:extLst xmlns:a="http://schemas.openxmlformats.org/drawingml/2006/main">
              <a:ext uri="{FF2B5EF4-FFF2-40B4-BE49-F238E27FC236}">
                <a16:creationId xmlns:a16="http://schemas.microsoft.com/office/drawing/2014/main" id="{F6B4DB00-909D-4455-B738-956B5C0EEEA4}"/>
              </a:ext>
            </a:extLst>
          </p:cNvPr>
          <p:cNvSpPr>
            <a:spLocks xmlns:a="http://schemas.openxmlformats.org/drawingml/2006/main" noGrp="1"/>
          </p:cNvSpPr>
          <p:nvPr/>
        </p:nvSpPr>
        <p:spPr>
          <a:xfrm xmlns:a="http://schemas.openxmlformats.org/drawingml/2006/main">
            <a:off x="457200" y="1417320"/>
            <a:ext cx="5029200" cy="4892040"/>
          </a:xfrm>
          <a:prstGeom xmlns:a="http://schemas.openxmlformats.org/drawingml/2006/main" prst="roundRect">
            <a:avLst>
              <a:gd name="adj" fmla="val 1495"/>
            </a:avLst>
          </a:prstGeom>
          <a:solidFill xmlns:a="http://schemas.openxmlformats.org/drawingml/2006/main">
            <a:srgbClr val="F2F6F8"/>
          </a:solidFill>
        </p:spPr>
        <p:txBody xmlns:a="http://schemas.openxmlformats.org/drawingml/2006/main">
          <a:bodyPr/>
          <a:p/>
        </p:txBody>
      </p:sp>
      <p:sp>
        <p:nvSpPr>
          <p:cNvPr id="5" name="Text 3">
            <a:extLst xmlns:a="http://schemas.openxmlformats.org/drawingml/2006/main">
              <a:ext uri="{FF2B5EF4-FFF2-40B4-BE49-F238E27FC236}">
                <a16:creationId xmlns:a16="http://schemas.microsoft.com/office/drawing/2014/main" id="{3DE09C76-9CA3-48A5-ADFA-7231600E489F}"/>
              </a:ext>
            </a:extLst>
          </p:cNvPr>
          <p:cNvSpPr>
            <a:spLocks xmlns:a="http://schemas.openxmlformats.org/drawingml/2006/main" noGrp="1"/>
          </p:cNvSpPr>
          <p:nvPr/>
        </p:nvSpPr>
        <p:spPr>
          <a:xfrm xmlns:a="http://schemas.openxmlformats.org/drawingml/2006/main">
            <a:off x="731520" y="1691640"/>
            <a:ext cx="4480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150">
                <a:solidFill>
                  <a:srgbClr val="028090"/>
                </a:solidFill>
                <a:latin typeface="Calibri"/>
                <a:ea typeface="Calibri"/>
                <a:cs typeface="Calibri"/>
              </a:rPr>
              <a:t>DOMAIN</a:t>
            </a:r>
            <a:endParaRPr sz="1000"/>
          </a:p>
        </p:txBody>
      </p:sp>
      <p:sp>
        <p:nvSpPr>
          <p:cNvPr id="6" name="Text 4">
            <a:extLst xmlns:a="http://schemas.openxmlformats.org/drawingml/2006/main">
              <a:ext uri="{FF2B5EF4-FFF2-40B4-BE49-F238E27FC236}">
                <a16:creationId xmlns:a16="http://schemas.microsoft.com/office/drawing/2014/main" id="{3252D716-11F9-439D-A9D7-34477553BFE1}"/>
              </a:ext>
            </a:extLst>
          </p:cNvPr>
          <p:cNvSpPr>
            <a:spLocks xmlns:a="http://schemas.openxmlformats.org/drawingml/2006/main" noGrp="1"/>
          </p:cNvSpPr>
          <p:nvPr/>
        </p:nvSpPr>
        <p:spPr>
          <a:xfrm xmlns:a="http://schemas.openxmlformats.org/drawingml/2006/main">
            <a:off x="731520" y="1911096"/>
            <a:ext cx="44805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22B33"/>
                </a:solidFill>
                <a:latin typeface="Calibri"/>
                <a:ea typeface="Calibri"/>
                <a:cs typeface="Calibri"/>
              </a:rPr>
              <a:t>Energy AI  ·  Battery Management Systems</a:t>
            </a:r>
            <a:endParaRPr sz="1250"/>
          </a:p>
        </p:txBody>
      </p:sp>
      <p:sp>
        <p:nvSpPr>
          <p:cNvPr id="7" name="Text 5">
            <a:extLst xmlns:a="http://schemas.openxmlformats.org/drawingml/2006/main">
              <a:ext uri="{FF2B5EF4-FFF2-40B4-BE49-F238E27FC236}">
                <a16:creationId xmlns:a16="http://schemas.microsoft.com/office/drawing/2014/main" id="{95B7B967-0031-4A17-9180-DAC6FD59528D}"/>
              </a:ext>
            </a:extLst>
          </p:cNvPr>
          <p:cNvSpPr>
            <a:spLocks xmlns:a="http://schemas.openxmlformats.org/drawingml/2006/main" noGrp="1"/>
          </p:cNvSpPr>
          <p:nvPr/>
        </p:nvSpPr>
        <p:spPr>
          <a:xfrm xmlns:a="http://schemas.openxmlformats.org/drawingml/2006/main">
            <a:off x="731520" y="2350008"/>
            <a:ext cx="4480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150">
                <a:solidFill>
                  <a:srgbClr val="028090"/>
                </a:solidFill>
                <a:latin typeface="Calibri"/>
                <a:ea typeface="Calibri"/>
                <a:cs typeface="Calibri"/>
              </a:rPr>
              <a:t>TYPE OF DNN</a:t>
            </a:r>
            <a:endParaRPr sz="1000"/>
          </a:p>
        </p:txBody>
      </p:sp>
      <p:sp>
        <p:nvSpPr>
          <p:cNvPr id="8" name="Text 6">
            <a:extLst xmlns:a="http://schemas.openxmlformats.org/drawingml/2006/main">
              <a:ext uri="{FF2B5EF4-FFF2-40B4-BE49-F238E27FC236}">
                <a16:creationId xmlns:a16="http://schemas.microsoft.com/office/drawing/2014/main" id="{6890FE13-B608-48C1-9479-41A7AFDE92DB}"/>
              </a:ext>
            </a:extLst>
          </p:cNvPr>
          <p:cNvSpPr>
            <a:spLocks xmlns:a="http://schemas.openxmlformats.org/drawingml/2006/main" noGrp="1"/>
          </p:cNvSpPr>
          <p:nvPr/>
        </p:nvSpPr>
        <p:spPr>
          <a:xfrm xmlns:a="http://schemas.openxmlformats.org/drawingml/2006/main">
            <a:off x="731520" y="2569464"/>
            <a:ext cx="44805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22B33"/>
                </a:solidFill>
                <a:latin typeface="Calibri"/>
                <a:ea typeface="Calibri"/>
                <a:cs typeface="Calibri"/>
              </a:rPr>
              <a:t>Physics-Informed Neural Network (PINN) + Feedforward DNN</a:t>
            </a:r>
            <a:endParaRPr sz="1250"/>
          </a:p>
        </p:txBody>
      </p:sp>
      <p:sp>
        <p:nvSpPr>
          <p:cNvPr id="9" name="Text 7">
            <a:extLst xmlns:a="http://schemas.openxmlformats.org/drawingml/2006/main">
              <a:ext uri="{FF2B5EF4-FFF2-40B4-BE49-F238E27FC236}">
                <a16:creationId xmlns:a16="http://schemas.microsoft.com/office/drawing/2014/main" id="{AF9DE6D7-DCEE-4BD4-9B03-CE0E560652EA}"/>
              </a:ext>
            </a:extLst>
          </p:cNvPr>
          <p:cNvSpPr>
            <a:spLocks xmlns:a="http://schemas.openxmlformats.org/drawingml/2006/main" noGrp="1"/>
          </p:cNvSpPr>
          <p:nvPr/>
        </p:nvSpPr>
        <p:spPr>
          <a:xfrm xmlns:a="http://schemas.openxmlformats.org/drawingml/2006/main">
            <a:off x="731520" y="3172968"/>
            <a:ext cx="4480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150">
                <a:solidFill>
                  <a:srgbClr val="028090"/>
                </a:solidFill>
                <a:latin typeface="Calibri"/>
                <a:ea typeface="Calibri"/>
                <a:cs typeface="Calibri"/>
              </a:rPr>
              <a:t>THE CHALLENGE</a:t>
            </a:r>
            <a:endParaRPr sz="1000"/>
          </a:p>
        </p:txBody>
      </p:sp>
      <p:sp>
        <p:nvSpPr>
          <p:cNvPr id="10" name="Text 8">
            <a:extLst xmlns:a="http://schemas.openxmlformats.org/drawingml/2006/main">
              <a:ext uri="{FF2B5EF4-FFF2-40B4-BE49-F238E27FC236}">
                <a16:creationId xmlns:a16="http://schemas.microsoft.com/office/drawing/2014/main" id="{87BEEFDE-B47B-4CDF-B8F3-AED247168184}"/>
              </a:ext>
            </a:extLst>
          </p:cNvPr>
          <p:cNvSpPr>
            <a:spLocks xmlns:a="http://schemas.openxmlformats.org/drawingml/2006/main" noGrp="1"/>
          </p:cNvSpPr>
          <p:nvPr/>
        </p:nvSpPr>
        <p:spPr>
          <a:xfrm xmlns:a="http://schemas.openxmlformats.org/drawingml/2006/main">
            <a:off x="731520" y="3429000"/>
            <a:ext cx="448056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150">
                <a:solidFill>
                  <a:srgbClr val="222B33"/>
                </a:solidFill>
                <a:latin typeface="Calibri"/>
                <a:ea typeface="Calibri"/>
                <a:cs typeface="Calibri"/>
              </a:rPr>
              <a:t>Li-ion batteries degrade with cycling, temperature and age. Pure deep-learning models need large labeled datasets and can be physically inconsistent; pure physics models are too slow for real-time use.</a:t>
            </a:r>
            <a:endParaRPr sz="1150"/>
          </a:p>
        </p:txBody>
      </p:sp>
      <p:sp>
        <p:nvSpPr>
          <p:cNvPr id="11" name="Text 9">
            <a:extLst xmlns:a="http://schemas.openxmlformats.org/drawingml/2006/main">
              <a:ext uri="{FF2B5EF4-FFF2-40B4-BE49-F238E27FC236}">
                <a16:creationId xmlns:a16="http://schemas.microsoft.com/office/drawing/2014/main" id="{C10DAF9F-7E65-4956-A75A-3218685AD1D6}"/>
              </a:ext>
            </a:extLst>
          </p:cNvPr>
          <p:cNvSpPr>
            <a:spLocks xmlns:a="http://schemas.openxmlformats.org/drawingml/2006/main" noGrp="1"/>
          </p:cNvSpPr>
          <p:nvPr/>
        </p:nvSpPr>
        <p:spPr>
          <a:xfrm xmlns:a="http://schemas.openxmlformats.org/drawingml/2006/main">
            <a:off x="731520" y="4389120"/>
            <a:ext cx="4480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150">
                <a:solidFill>
                  <a:srgbClr val="028090"/>
                </a:solidFill>
                <a:latin typeface="Calibri"/>
                <a:ea typeface="Calibri"/>
                <a:cs typeface="Calibri"/>
              </a:rPr>
              <a:t>OUR APPROACH</a:t>
            </a:r>
            <a:endParaRPr sz="1000"/>
          </a:p>
        </p:txBody>
      </p:sp>
      <p:sp>
        <p:nvSpPr>
          <p:cNvPr id="12" name="Text 10">
            <a:extLst xmlns:a="http://schemas.openxmlformats.org/drawingml/2006/main">
              <a:ext uri="{FF2B5EF4-FFF2-40B4-BE49-F238E27FC236}">
                <a16:creationId xmlns:a16="http://schemas.microsoft.com/office/drawing/2014/main" id="{F73658CC-DA75-46D6-BC19-E925580F006C}"/>
              </a:ext>
            </a:extLst>
          </p:cNvPr>
          <p:cNvSpPr>
            <a:spLocks xmlns:a="http://schemas.openxmlformats.org/drawingml/2006/main" noGrp="1"/>
          </p:cNvSpPr>
          <p:nvPr/>
        </p:nvSpPr>
        <p:spPr>
          <a:xfrm xmlns:a="http://schemas.openxmlformats.org/drawingml/2006/main">
            <a:off x="731520" y="4645152"/>
            <a:ext cx="4480560" cy="1051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150">
                <a:solidFill>
                  <a:srgbClr val="222B33"/>
                </a:solidFill>
                <a:latin typeface="Calibri"/>
                <a:ea typeface="Calibri"/>
                <a:cs typeface="Calibri"/>
              </a:rPr>
              <a:t>An Adaptive PINN Battery Digital Twin fuses PINNs, a Transformer Encoder and Incremental Adaptive Learning to continuously estimate SOH and RUL — adapting to new data without full retraining.</a:t>
            </a:r>
            <a:endParaRPr sz="1150"/>
          </a:p>
        </p:txBody>
      </p:sp>
      <p:sp>
        <p:nvSpPr>
          <p:cNvPr id="13" name="Text 11">
            <a:extLst xmlns:a="http://schemas.openxmlformats.org/drawingml/2006/main">
              <a:ext uri="{FF2B5EF4-FFF2-40B4-BE49-F238E27FC236}">
                <a16:creationId xmlns:a16="http://schemas.microsoft.com/office/drawing/2014/main" id="{AA300975-26ED-4604-96C8-ABB10925DD2E}"/>
              </a:ext>
            </a:extLst>
          </p:cNvPr>
          <p:cNvSpPr>
            <a:spLocks xmlns:a="http://schemas.openxmlformats.org/drawingml/2006/main" noGrp="1"/>
          </p:cNvSpPr>
          <p:nvPr/>
        </p:nvSpPr>
        <p:spPr>
          <a:xfrm xmlns:a="http://schemas.openxmlformats.org/drawingml/2006/main">
            <a:off x="5852160" y="1417320"/>
            <a:ext cx="587959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150">
                <a:solidFill>
                  <a:srgbClr val="028090"/>
                </a:solidFill>
                <a:latin typeface="Calibri"/>
                <a:ea typeface="Calibri"/>
                <a:cs typeface="Calibri"/>
              </a:rPr>
              <a:t>WHERE IT APPLIES</a:t>
            </a:r>
            <a:endParaRPr sz="1000"/>
          </a:p>
        </p:txBody>
      </p:sp>
      <p:graphicFrame>
        <p:nvGraphicFramePr>
          <p:cNvPr id="30" name="Table 0"/>
          <p:cNvGraphicFramePr/>
          <p:nvPr/>
        </p:nvGraphicFramePr>
        <p:xfrm>
          <a:off xmlns:a="http://schemas.openxmlformats.org/drawingml/2006/main" x="5852160" y="1709928"/>
          <a:ext xmlns:a="http://schemas.openxmlformats.org/drawingml/2006/main" cx="5879592" cy="914400"/>
        </p:xfrm>
        <a:graphic xmlns:a="http://schemas.openxmlformats.org/drawingml/2006/main">
          <a:graphicData uri="http://schemas.openxmlformats.org/drawingml/2006/table">
            <a:tbl>
              <a:tblPr/>
              <a:tblGrid>
                <a:gridCol w="1691640"/>
                <a:gridCol w="4187952"/>
              </a:tblGrid>
              <a:tr h="310896">
                <a:tc>
                  <a:txBody>
                    <a:bodyPr/>
                    <a:lstStyle/>
                    <a:p>
                      <a:pPr marL="0" indent="0">
                        <a:buNone/>
                      </a:pPr>
                      <a:r>
                        <a:rPr sz="1100" b="1">
                          <a:solidFill>
                            <a:srgbClr val="FFFFFF"/>
                          </a:solidFill>
                          <a:latin typeface="Calibri"/>
                          <a:ea typeface="Calibri"/>
                          <a:cs typeface="Calibri"/>
                        </a:rPr>
                        <a:t>Use Case</a:t>
                      </a:r>
                      <a:endParaRPr sz="11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100" b="1">
                          <a:solidFill>
                            <a:srgbClr val="FFFFFF"/>
                          </a:solidFill>
                          <a:latin typeface="Calibri"/>
                          <a:ea typeface="Calibri"/>
                          <a:cs typeface="Calibri"/>
                        </a:rPr>
                        <a:t>Impact</a:t>
                      </a:r>
                      <a:endParaRPr sz="11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r>
              <a:tr h="603504">
                <a:tc>
                  <a:txBody>
                    <a:bodyPr/>
                    <a:lstStyle/>
                    <a:p>
                      <a:pPr marL="0" indent="0">
                        <a:buNone/>
                      </a:pPr>
                      <a:r>
                        <a:rPr sz="1050" b="1">
                          <a:solidFill>
                            <a:srgbClr val="222B33"/>
                          </a:solidFill>
                          <a:latin typeface="Calibri"/>
                          <a:ea typeface="Calibri"/>
                          <a:cs typeface="Calibri"/>
                        </a:rPr>
                        <a:t>Electric Vehicles</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1000">
                          <a:solidFill>
                            <a:srgbClr val="5B6B79"/>
                          </a:solidFill>
                          <a:latin typeface="Calibri"/>
                          <a:ea typeface="Calibri"/>
                          <a:cs typeface="Calibri"/>
                        </a:rPr>
                        <a:t>Tesla, BYD, Hyundai, Tata EV, MG — predict battery replacement before failure</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03504">
                <a:tc>
                  <a:txBody>
                    <a:bodyPr/>
                    <a:lstStyle/>
                    <a:p>
                      <a:pPr marL="0" indent="0">
                        <a:buNone/>
                      </a:pPr>
                      <a:r>
                        <a:rPr sz="1050" b="1">
                          <a:solidFill>
                            <a:srgbClr val="222B33"/>
                          </a:solidFill>
                          <a:latin typeface="Calibri"/>
                          <a:ea typeface="Calibri"/>
                          <a:cs typeface="Calibri"/>
                        </a:rPr>
                        <a:t>Battery Swapping Stations</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1000">
                          <a:solidFill>
                            <a:srgbClr val="5B6B79"/>
                          </a:solidFill>
                          <a:latin typeface="Calibri"/>
                          <a:ea typeface="Calibri"/>
                          <a:cs typeface="Calibri"/>
                        </a:rPr>
                        <a:t>Identify which battery packs should be retired</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03504">
                <a:tc>
                  <a:txBody>
                    <a:bodyPr/>
                    <a:lstStyle/>
                    <a:p>
                      <a:pPr marL="0" indent="0">
                        <a:buNone/>
                      </a:pPr>
                      <a:r>
                        <a:rPr sz="1050" b="1">
                          <a:solidFill>
                            <a:srgbClr val="222B33"/>
                          </a:solidFill>
                          <a:latin typeface="Calibri"/>
                          <a:ea typeface="Calibri"/>
                          <a:cs typeface="Calibri"/>
                        </a:rPr>
                        <a:t>Solar Energy Storage</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1000">
                          <a:solidFill>
                            <a:srgbClr val="5B6B79"/>
                          </a:solidFill>
                          <a:latin typeface="Calibri"/>
                          <a:ea typeface="Calibri"/>
                          <a:cs typeface="Calibri"/>
                        </a:rPr>
                        <a:t>Monitor home batteries and predict maintenance</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03504">
                <a:tc>
                  <a:txBody>
                    <a:bodyPr/>
                    <a:lstStyle/>
                    <a:p>
                      <a:pPr marL="0" indent="0">
                        <a:buNone/>
                      </a:pPr>
                      <a:r>
                        <a:rPr sz="1050" b="1">
                          <a:solidFill>
                            <a:srgbClr val="222B33"/>
                          </a:solidFill>
                          <a:latin typeface="Calibri"/>
                          <a:ea typeface="Calibri"/>
                          <a:cs typeface="Calibri"/>
                        </a:rPr>
                        <a:t>Grid-Scale Storage</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1000">
                          <a:solidFill>
                            <a:srgbClr val="5B6B79"/>
                          </a:solidFill>
                          <a:latin typeface="Calibri"/>
                          <a:ea typeface="Calibri"/>
                          <a:cs typeface="Calibri"/>
                        </a:rPr>
                        <a:t>Avoid sudden, unplanned battery failures</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457200">
                <a:tc>
                  <a:txBody>
                    <a:bodyPr/>
                    <a:lstStyle/>
                    <a:p>
                      <a:pPr marL="0" indent="0">
                        <a:buNone/>
                      </a:pPr>
                      <a:r>
                        <a:rPr sz="1050" b="1">
                          <a:solidFill>
                            <a:srgbClr val="222B33"/>
                          </a:solidFill>
                          <a:latin typeface="Calibri"/>
                          <a:ea typeface="Calibri"/>
                          <a:cs typeface="Calibri"/>
                        </a:rPr>
                        <a:t>Drone Batteries</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1000">
                          <a:solidFill>
                            <a:srgbClr val="5B6B79"/>
                          </a:solidFill>
                          <a:latin typeface="Calibri"/>
                          <a:ea typeface="Calibri"/>
                          <a:cs typeface="Calibri"/>
                        </a:rPr>
                        <a:t>Estimate safe remaining flying time</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03504">
                <a:tc>
                  <a:txBody>
                    <a:bodyPr/>
                    <a:lstStyle/>
                    <a:p>
                      <a:pPr marL="0" indent="0">
                        <a:buNone/>
                      </a:pPr>
                      <a:r>
                        <a:rPr sz="1050" b="1">
                          <a:solidFill>
                            <a:srgbClr val="222B33"/>
                          </a:solidFill>
                          <a:latin typeface="Calibri"/>
                          <a:ea typeface="Calibri"/>
                          <a:cs typeface="Calibri"/>
                        </a:rPr>
                        <a:t>Space Missions</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1000">
                          <a:solidFill>
                            <a:srgbClr val="5B6B79"/>
                          </a:solidFill>
                          <a:latin typeface="Calibri"/>
                          <a:ea typeface="Calibri"/>
                          <a:cs typeface="Calibri"/>
                        </a:rPr>
                        <a:t>Battery swaps are impossible — lifetime prediction is critical</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03504">
                <a:tc>
                  <a:txBody>
                    <a:bodyPr/>
                    <a:lstStyle/>
                    <a:p>
                      <a:pPr marL="0" indent="0">
                        <a:buNone/>
                      </a:pPr>
                      <a:r>
                        <a:rPr sz="1050" b="1">
                          <a:solidFill>
                            <a:srgbClr val="222B33"/>
                          </a:solidFill>
                          <a:latin typeface="Calibri"/>
                          <a:ea typeface="Calibri"/>
                          <a:cs typeface="Calibri"/>
                        </a:rPr>
                        <a:t>Smartphones &amp; Laptops</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1000">
                          <a:solidFill>
                            <a:srgbClr val="5B6B79"/>
                          </a:solidFill>
                          <a:latin typeface="Calibri"/>
                          <a:ea typeface="Calibri"/>
                          <a:cs typeface="Calibri"/>
                        </a:rPr>
                        <a:t>Sharper degradation estimates than today's health meters</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bl>
          </a:graphicData>
        </a:graphic>
      </p:graphicFrame>
      <p:sp>
        <p:nvSpPr>
          <p:cNvPr id="15" name="Text 12">
            <a:extLst xmlns:a="http://schemas.openxmlformats.org/drawingml/2006/main">
              <a:ext uri="{FF2B5EF4-FFF2-40B4-BE49-F238E27FC236}">
                <a16:creationId xmlns:a16="http://schemas.microsoft.com/office/drawing/2014/main" id="{37B7A373-809A-4ADB-8AEF-BC5537197DE4}"/>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16" name="Text 13">
            <a:extLst xmlns:a="http://schemas.openxmlformats.org/drawingml/2006/main">
              <a:ext uri="{FF2B5EF4-FFF2-40B4-BE49-F238E27FC236}">
                <a16:creationId xmlns:a16="http://schemas.microsoft.com/office/drawing/2014/main" id="{D5BFE1FE-221C-44E9-90AD-4089117DC675}"/>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2 / 10</a:t>
            </a:r>
            <a:endParaRPr sz="900"/>
          </a:p>
        </p:txBody>
      </p:sp>
    </p:spTree>
    <p:extLst>
      <p:ext uri="{BB962C8B-B14F-4D97-AF65-F5344CB8AC3E}">
        <p14:creationId xmlns:p14="http://schemas.microsoft.com/office/powerpoint/2010/main" val="9110678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E2AE5EE-2FF7-4455-950E-6D0269ED5040}"/>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MOTIVATION</a:t>
            </a:r>
            <a:endParaRPr sz="1200"/>
          </a:p>
        </p:txBody>
      </p:sp>
      <p:sp>
        <p:nvSpPr>
          <p:cNvPr id="3" name="Text 1">
            <a:extLst xmlns:a="http://schemas.openxmlformats.org/drawingml/2006/main">
              <a:ext uri="{FF2B5EF4-FFF2-40B4-BE49-F238E27FC236}">
                <a16:creationId xmlns:a16="http://schemas.microsoft.com/office/drawing/2014/main" id="{4123E525-CD80-4CAA-934B-DDD54791B5EF}"/>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Problem Statement</a:t>
            </a:r>
            <a:endParaRPr sz="2800"/>
          </a:p>
        </p:txBody>
      </p:sp>
      <p:sp>
        <p:nvSpPr>
          <p:cNvPr id="4" name="Text 2">
            <a:extLst xmlns:a="http://schemas.openxmlformats.org/drawingml/2006/main">
              <a:ext uri="{FF2B5EF4-FFF2-40B4-BE49-F238E27FC236}">
                <a16:creationId xmlns:a16="http://schemas.microsoft.com/office/drawing/2014/main" id="{335099DA-9761-41CA-8FE0-82DBC6426C02}"/>
              </a:ext>
            </a:extLst>
          </p:cNvPr>
          <p:cNvSpPr>
            <a:spLocks xmlns:a="http://schemas.openxmlformats.org/drawingml/2006/main" noGrp="1"/>
          </p:cNvSpPr>
          <p:nvPr/>
        </p:nvSpPr>
        <p:spPr>
          <a:xfrm xmlns:a="http://schemas.openxmlformats.org/drawingml/2006/main">
            <a:off x="457200" y="1371600"/>
            <a:ext cx="11274552"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800"/>
              </a:lnSpc>
              <a:buNone/>
            </a:pPr>
            <a:r>
              <a:rPr sz="1300">
                <a:solidFill>
                  <a:srgbClr val="222B33"/>
                </a:solidFill>
                <a:latin typeface="Calibri"/>
                <a:ea typeface="Calibri"/>
                <a:cs typeface="Calibri"/>
              </a:rPr>
              <a:t>Lithium-ion batteries power electric vehicles and renewable energy storage, but their performance degrades with charge cycles, temperature, current load and age. Accurately estimating State of Health (SOH) and Remaining Useful Life (RUL) is essential for safety, reliability and efficient maintenance.</a:t>
            </a:r>
            <a:endParaRPr sz="1300"/>
          </a:p>
        </p:txBody>
      </p:sp>
      <p:sp>
        <p:nvSpPr>
          <p:cNvPr id="5" name="Shape 3">
            <a:extLst xmlns:a="http://schemas.openxmlformats.org/drawingml/2006/main">
              <a:ext uri="{FF2B5EF4-FFF2-40B4-BE49-F238E27FC236}">
                <a16:creationId xmlns:a16="http://schemas.microsoft.com/office/drawing/2014/main" id="{4335C530-20DB-4868-BF12-E33E899A16B3}"/>
              </a:ext>
            </a:extLst>
          </p:cNvPr>
          <p:cNvSpPr>
            <a:spLocks xmlns:a="http://schemas.openxmlformats.org/drawingml/2006/main" noGrp="1"/>
          </p:cNvSpPr>
          <p:nvPr/>
        </p:nvSpPr>
        <p:spPr>
          <a:xfrm xmlns:a="http://schemas.openxmlformats.org/drawingml/2006/main">
            <a:off x="457200" y="2514600"/>
            <a:ext cx="5408676" cy="3749040"/>
          </a:xfrm>
          <a:prstGeom xmlns:a="http://schemas.openxmlformats.org/drawingml/2006/main" prst="roundRect">
            <a:avLst>
              <a:gd name="adj" fmla="val 1951"/>
            </a:avLst>
          </a:prstGeom>
          <a:solidFill xmlns:a="http://schemas.openxmlformats.org/drawingml/2006/main">
            <a:srgbClr val="F2F6F8"/>
          </a:solidFill>
        </p:spPr>
        <p:txBody xmlns:a="http://schemas.openxmlformats.org/drawingml/2006/main">
          <a:bodyPr/>
          <a:p/>
        </p:txBody>
      </p:sp>
      <p:sp>
        <p:nvSpPr>
          <p:cNvPr id="6" name="Shape 4">
            <a:extLst xmlns:a="http://schemas.openxmlformats.org/drawingml/2006/main">
              <a:ext uri="{FF2B5EF4-FFF2-40B4-BE49-F238E27FC236}">
                <a16:creationId xmlns:a16="http://schemas.microsoft.com/office/drawing/2014/main" id="{8015C9C8-BE94-480F-8085-CD7335DFEC82}"/>
              </a:ext>
            </a:extLst>
          </p:cNvPr>
          <p:cNvSpPr>
            <a:spLocks xmlns:a="http://schemas.openxmlformats.org/drawingml/2006/main" noGrp="1"/>
          </p:cNvSpPr>
          <p:nvPr/>
        </p:nvSpPr>
        <p:spPr>
          <a:xfrm xmlns:a="http://schemas.openxmlformats.org/drawingml/2006/main">
            <a:off x="731520" y="2788920"/>
            <a:ext cx="457200" cy="457200"/>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94077275-3D8B-4BCD-9FC7-6A7E9E42675E}"/>
              </a:ext>
            </a:extLst>
          </p:cNvPr>
          <p:cNvSpPr>
            <a:spLocks xmlns:a="http://schemas.openxmlformats.org/drawingml/2006/main" noGrp="1"/>
          </p:cNvSpPr>
          <p:nvPr/>
        </p:nvSpPr>
        <p:spPr>
          <a:xfrm xmlns:a="http://schemas.openxmlformats.org/drawingml/2006/main">
            <a:off x="731520" y="3383280"/>
            <a:ext cx="4860036"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0B2545"/>
                </a:solidFill>
                <a:latin typeface="Cambria"/>
                <a:ea typeface="Cambria"/>
                <a:cs typeface="Cambria"/>
              </a:rPr>
              <a:t>Deep Learning Models</a:t>
            </a:r>
            <a:endParaRPr sz="1700"/>
          </a:p>
        </p:txBody>
      </p:sp>
      <p:sp>
        <p:nvSpPr>
          <p:cNvPr id="8" name="Text 6">
            <a:extLst xmlns:a="http://schemas.openxmlformats.org/drawingml/2006/main">
              <a:ext uri="{FF2B5EF4-FFF2-40B4-BE49-F238E27FC236}">
                <a16:creationId xmlns:a16="http://schemas.microsoft.com/office/drawing/2014/main" id="{C79CEBC3-5F43-4379-8DF3-2D698A93BF84}"/>
              </a:ext>
            </a:extLst>
          </p:cNvPr>
          <p:cNvSpPr>
            <a:spLocks xmlns:a="http://schemas.openxmlformats.org/drawingml/2006/main" noGrp="1"/>
          </p:cNvSpPr>
          <p:nvPr/>
        </p:nvSpPr>
        <p:spPr>
          <a:xfrm xmlns:a="http://schemas.openxmlformats.org/drawingml/2006/main">
            <a:off x="731520" y="3931920"/>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Require large volumes of labeled training data</a:t>
            </a:r>
            <a:endParaRPr sz="1200"/>
          </a:p>
        </p:txBody>
      </p:sp>
      <p:sp>
        <p:nvSpPr>
          <p:cNvPr id="9" name="Text 7">
            <a:extLst xmlns:a="http://schemas.openxmlformats.org/drawingml/2006/main">
              <a:ext uri="{FF2B5EF4-FFF2-40B4-BE49-F238E27FC236}">
                <a16:creationId xmlns:a16="http://schemas.microsoft.com/office/drawing/2014/main" id="{F47DE491-03B2-413E-800F-72B4070E0ED4}"/>
              </a:ext>
            </a:extLst>
          </p:cNvPr>
          <p:cNvSpPr>
            <a:spLocks xmlns:a="http://schemas.openxmlformats.org/drawingml/2006/main" noGrp="1"/>
          </p:cNvSpPr>
          <p:nvPr/>
        </p:nvSpPr>
        <p:spPr>
          <a:xfrm xmlns:a="http://schemas.openxmlformats.org/drawingml/2006/main">
            <a:off x="731520" y="4645152"/>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May produce physically inconsistent predictions</a:t>
            </a:r>
            <a:endParaRPr sz="1200"/>
          </a:p>
        </p:txBody>
      </p:sp>
      <p:sp>
        <p:nvSpPr>
          <p:cNvPr id="10" name="Text 8">
            <a:extLst xmlns:a="http://schemas.openxmlformats.org/drawingml/2006/main">
              <a:ext uri="{FF2B5EF4-FFF2-40B4-BE49-F238E27FC236}">
                <a16:creationId xmlns:a16="http://schemas.microsoft.com/office/drawing/2014/main" id="{5B333616-05A0-485A-B14F-231405453456}"/>
              </a:ext>
            </a:extLst>
          </p:cNvPr>
          <p:cNvSpPr>
            <a:spLocks xmlns:a="http://schemas.openxmlformats.org/drawingml/2006/main" noGrp="1"/>
          </p:cNvSpPr>
          <p:nvPr/>
        </p:nvSpPr>
        <p:spPr>
          <a:xfrm xmlns:a="http://schemas.openxmlformats.org/drawingml/2006/main">
            <a:off x="731520" y="5358384"/>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Limited generalization to unseen operating conditions</a:t>
            </a:r>
            <a:endParaRPr sz="1200"/>
          </a:p>
        </p:txBody>
      </p:sp>
      <p:sp>
        <p:nvSpPr>
          <p:cNvPr id="11" name="Shape 9">
            <a:extLst xmlns:a="http://schemas.openxmlformats.org/drawingml/2006/main">
              <a:ext uri="{FF2B5EF4-FFF2-40B4-BE49-F238E27FC236}">
                <a16:creationId xmlns:a16="http://schemas.microsoft.com/office/drawing/2014/main" id="{41AA81B6-4B1E-4D4A-990E-1CDC579DADE4}"/>
              </a:ext>
            </a:extLst>
          </p:cNvPr>
          <p:cNvSpPr>
            <a:spLocks xmlns:a="http://schemas.openxmlformats.org/drawingml/2006/main" noGrp="1"/>
          </p:cNvSpPr>
          <p:nvPr/>
        </p:nvSpPr>
        <p:spPr>
          <a:xfrm xmlns:a="http://schemas.openxmlformats.org/drawingml/2006/main">
            <a:off x="6323076" y="2514600"/>
            <a:ext cx="5408676" cy="3749040"/>
          </a:xfrm>
          <a:prstGeom xmlns:a="http://schemas.openxmlformats.org/drawingml/2006/main" prst="roundRect">
            <a:avLst>
              <a:gd name="adj" fmla="val 1951"/>
            </a:avLst>
          </a:prstGeom>
          <a:solidFill xmlns:a="http://schemas.openxmlformats.org/drawingml/2006/main">
            <a:srgbClr val="F2F6F8"/>
          </a:solidFill>
        </p:spPr>
        <p:txBody xmlns:a="http://schemas.openxmlformats.org/drawingml/2006/main">
          <a:bodyPr/>
          <a:p/>
        </p:txBody>
      </p:sp>
      <p:sp>
        <p:nvSpPr>
          <p:cNvPr id="12" name="Shape 10">
            <a:extLst xmlns:a="http://schemas.openxmlformats.org/drawingml/2006/main">
              <a:ext uri="{FF2B5EF4-FFF2-40B4-BE49-F238E27FC236}">
                <a16:creationId xmlns:a16="http://schemas.microsoft.com/office/drawing/2014/main" id="{AA39861B-0C2C-4C97-925B-1BD88D9048D1}"/>
              </a:ext>
            </a:extLst>
          </p:cNvPr>
          <p:cNvSpPr>
            <a:spLocks xmlns:a="http://schemas.openxmlformats.org/drawingml/2006/main" noGrp="1"/>
          </p:cNvSpPr>
          <p:nvPr/>
        </p:nvSpPr>
        <p:spPr>
          <a:xfrm xmlns:a="http://schemas.openxmlformats.org/drawingml/2006/main">
            <a:off x="6597396" y="2788920"/>
            <a:ext cx="457200" cy="457200"/>
          </a:xfrm>
          <a:prstGeom xmlns:a="http://schemas.openxmlformats.org/drawingml/2006/main" prst="roundRect">
            <a:avLst>
              <a:gd name="adj" fmla="val 50000"/>
            </a:avLst>
          </a:prstGeom>
          <a:solidFill xmlns:a="http://schemas.openxmlformats.org/drawingml/2006/main">
            <a:srgbClr val="13355E"/>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ED3D7720-D9A3-48EE-BFEA-A5AF86C7A698}"/>
              </a:ext>
            </a:extLst>
          </p:cNvPr>
          <p:cNvSpPr>
            <a:spLocks xmlns:a="http://schemas.openxmlformats.org/drawingml/2006/main" noGrp="1"/>
          </p:cNvSpPr>
          <p:nvPr/>
        </p:nvSpPr>
        <p:spPr>
          <a:xfrm xmlns:a="http://schemas.openxmlformats.org/drawingml/2006/main">
            <a:off x="6597396" y="3383280"/>
            <a:ext cx="4860036"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0B2545"/>
                </a:solidFill>
                <a:latin typeface="Cambria"/>
                <a:ea typeface="Cambria"/>
                <a:cs typeface="Cambria"/>
              </a:rPr>
              <a:t>Physics-Based Models</a:t>
            </a:r>
            <a:endParaRPr sz="1700"/>
          </a:p>
        </p:txBody>
      </p:sp>
      <p:sp>
        <p:nvSpPr>
          <p:cNvPr id="14" name="Text 12">
            <a:extLst xmlns:a="http://schemas.openxmlformats.org/drawingml/2006/main">
              <a:ext uri="{FF2B5EF4-FFF2-40B4-BE49-F238E27FC236}">
                <a16:creationId xmlns:a16="http://schemas.microsoft.com/office/drawing/2014/main" id="{C8642BC8-E182-4A9D-8258-83C7E854A7A4}"/>
              </a:ext>
            </a:extLst>
          </p:cNvPr>
          <p:cNvSpPr>
            <a:spLocks xmlns:a="http://schemas.openxmlformats.org/drawingml/2006/main" noGrp="1"/>
          </p:cNvSpPr>
          <p:nvPr/>
        </p:nvSpPr>
        <p:spPr>
          <a:xfrm xmlns:a="http://schemas.openxmlformats.org/drawingml/2006/main">
            <a:off x="6597396" y="3931920"/>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Computationally expensive to run</a:t>
            </a:r>
            <a:endParaRPr sz="1200"/>
          </a:p>
        </p:txBody>
      </p:sp>
      <p:sp>
        <p:nvSpPr>
          <p:cNvPr id="15" name="Text 13">
            <a:extLst xmlns:a="http://schemas.openxmlformats.org/drawingml/2006/main">
              <a:ext uri="{FF2B5EF4-FFF2-40B4-BE49-F238E27FC236}">
                <a16:creationId xmlns:a16="http://schemas.microsoft.com/office/drawing/2014/main" id="{495E9F76-5138-4365-BA41-CA25F7B8935C}"/>
              </a:ext>
            </a:extLst>
          </p:cNvPr>
          <p:cNvSpPr>
            <a:spLocks xmlns:a="http://schemas.openxmlformats.org/drawingml/2006/main" noGrp="1"/>
          </p:cNvSpPr>
          <p:nvPr/>
        </p:nvSpPr>
        <p:spPr>
          <a:xfrm xmlns:a="http://schemas.openxmlformats.org/drawingml/2006/main">
            <a:off x="6597396" y="4645152"/>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Difficult to deploy for real-time estimation</a:t>
            </a:r>
            <a:endParaRPr sz="1200"/>
          </a:p>
        </p:txBody>
      </p:sp>
      <p:sp>
        <p:nvSpPr>
          <p:cNvPr id="16" name="Text 14">
            <a:extLst xmlns:a="http://schemas.openxmlformats.org/drawingml/2006/main">
              <a:ext uri="{FF2B5EF4-FFF2-40B4-BE49-F238E27FC236}">
                <a16:creationId xmlns:a16="http://schemas.microsoft.com/office/drawing/2014/main" id="{1C7CFC65-71D6-4104-8CF5-1F00A4CDF6E2}"/>
              </a:ext>
            </a:extLst>
          </p:cNvPr>
          <p:cNvSpPr>
            <a:spLocks xmlns:a="http://schemas.openxmlformats.org/drawingml/2006/main" noGrp="1"/>
          </p:cNvSpPr>
          <p:nvPr/>
        </p:nvSpPr>
        <p:spPr>
          <a:xfrm xmlns:a="http://schemas.openxmlformats.org/drawingml/2006/main">
            <a:off x="6597396" y="5358384"/>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Rely on complex electrochemical simulations</a:t>
            </a:r>
            <a:endParaRPr sz="1200"/>
          </a:p>
        </p:txBody>
      </p:sp>
      <p:sp>
        <p:nvSpPr>
          <p:cNvPr id="17" name="Text 15">
            <a:extLst xmlns:a="http://schemas.openxmlformats.org/drawingml/2006/main">
              <a:ext uri="{FF2B5EF4-FFF2-40B4-BE49-F238E27FC236}">
                <a16:creationId xmlns:a16="http://schemas.microsoft.com/office/drawing/2014/main" id="{4D2E1F3C-29AF-414F-AD35-0348DCD889F8}"/>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18" name="Text 16">
            <a:extLst xmlns:a="http://schemas.openxmlformats.org/drawingml/2006/main">
              <a:ext uri="{FF2B5EF4-FFF2-40B4-BE49-F238E27FC236}">
                <a16:creationId xmlns:a16="http://schemas.microsoft.com/office/drawing/2014/main" id="{5758F383-EA6F-4892-8C2D-44FA76104497}"/>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3 / 10</a:t>
            </a:r>
            <a:endParaRPr sz="900"/>
          </a:p>
        </p:txBody>
      </p:sp>
    </p:spTree>
    <p:extLst>
      <p:ext uri="{BB962C8B-B14F-4D97-AF65-F5344CB8AC3E}">
        <p14:creationId xmlns:p14="http://schemas.microsoft.com/office/powerpoint/2010/main" val="20330160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E1B40FB-833B-439D-8B5E-7F2A744BAE4E}"/>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SYSTEM DESIGN</a:t>
            </a:r>
            <a:endParaRPr sz="1200"/>
          </a:p>
        </p:txBody>
      </p:sp>
      <p:sp>
        <p:nvSpPr>
          <p:cNvPr id="3" name="Text 1">
            <a:extLst xmlns:a="http://schemas.openxmlformats.org/drawingml/2006/main">
              <a:ext uri="{FF2B5EF4-FFF2-40B4-BE49-F238E27FC236}">
                <a16:creationId xmlns:a16="http://schemas.microsoft.com/office/drawing/2014/main" id="{1FE6FB9B-6075-4D9D-82A5-097D5D541200}"/>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Proposed Approach &amp; Architecture</a:t>
            </a:r>
            <a:endParaRPr sz="2800"/>
          </a:p>
        </p:txBody>
      </p:sp>
      <p:sp>
        <p:nvSpPr>
          <p:cNvPr id="4" name="Text 2">
            <a:extLst xmlns:a="http://schemas.openxmlformats.org/drawingml/2006/main">
              <a:ext uri="{FF2B5EF4-FFF2-40B4-BE49-F238E27FC236}">
                <a16:creationId xmlns:a16="http://schemas.microsoft.com/office/drawing/2014/main" id="{43CC74DD-ABCB-4709-8247-9A6F05B51744}"/>
              </a:ext>
            </a:extLst>
          </p:cNvPr>
          <p:cNvSpPr>
            <a:spLocks xmlns:a="http://schemas.openxmlformats.org/drawingml/2006/main" noGrp="1"/>
          </p:cNvSpPr>
          <p:nvPr/>
        </p:nvSpPr>
        <p:spPr>
          <a:xfrm xmlns:a="http://schemas.openxmlformats.org/drawingml/2006/main">
            <a:off x="457200" y="1371600"/>
            <a:ext cx="11274552"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250">
                <a:solidFill>
                  <a:srgbClr val="222B33"/>
                </a:solidFill>
                <a:latin typeface="Calibri"/>
                <a:ea typeface="Calibri"/>
                <a:cs typeface="Calibri"/>
              </a:rPr>
              <a:t>Real-time sensor data, electrochemical battery physics and deep learning combine to estimate SOH and RUL. The Digital Twin continuously adapts to new battery behaviour through incremental learning — no full retraining required.</a:t>
            </a:r>
            <a:endParaRPr sz="1250"/>
          </a:p>
        </p:txBody>
      </p:sp>
      <p:sp>
        <p:nvSpPr>
          <p:cNvPr id="5" name="Shape 3">
            <a:extLst xmlns:a="http://schemas.openxmlformats.org/drawingml/2006/main">
              <a:ext uri="{FF2B5EF4-FFF2-40B4-BE49-F238E27FC236}">
                <a16:creationId xmlns:a16="http://schemas.microsoft.com/office/drawing/2014/main" id="{E6B696A4-9BA4-4F5E-9C88-9DE123718DBF}"/>
              </a:ext>
            </a:extLst>
          </p:cNvPr>
          <p:cNvSpPr>
            <a:spLocks xmlns:a="http://schemas.openxmlformats.org/drawingml/2006/main" noGrp="1"/>
          </p:cNvSpPr>
          <p:nvPr/>
        </p:nvSpPr>
        <p:spPr>
          <a:xfrm xmlns:a="http://schemas.openxmlformats.org/drawingml/2006/main">
            <a:off x="457200" y="2377440"/>
            <a:ext cx="1859890" cy="2331720"/>
          </a:xfrm>
          <a:prstGeom xmlns:a="http://schemas.openxmlformats.org/drawingml/2006/main" prst="roundRect">
            <a:avLst>
              <a:gd name="adj" fmla="val 3441"/>
            </a:avLst>
          </a:prstGeom>
          <a:solidFill xmlns:a="http://schemas.openxmlformats.org/drawingml/2006/main">
            <a:srgbClr val="F2F6F8"/>
          </a:solidFill>
        </p:spPr>
        <p:txBody xmlns:a="http://schemas.openxmlformats.org/drawingml/2006/main">
          <a:bodyPr/>
          <a:p/>
        </p:txBody>
      </p:sp>
      <p:sp>
        <p:nvSpPr>
          <p:cNvPr id="6" name="Shape 4">
            <a:extLst xmlns:a="http://schemas.openxmlformats.org/drawingml/2006/main">
              <a:ext uri="{FF2B5EF4-FFF2-40B4-BE49-F238E27FC236}">
                <a16:creationId xmlns:a16="http://schemas.microsoft.com/office/drawing/2014/main" id="{86B466C2-BEE0-4FD6-B311-AEBC96F9F037}"/>
              </a:ext>
            </a:extLst>
          </p:cNvPr>
          <p:cNvSpPr>
            <a:spLocks xmlns:a="http://schemas.openxmlformats.org/drawingml/2006/main" noGrp="1"/>
          </p:cNvSpPr>
          <p:nvPr/>
        </p:nvSpPr>
        <p:spPr>
          <a:xfrm xmlns:a="http://schemas.openxmlformats.org/drawingml/2006/main">
            <a:off x="603504" y="2560320"/>
            <a:ext cx="310896" cy="310896"/>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A2DED683-6B46-4BC0-8C72-EE12B496AC39}"/>
              </a:ext>
            </a:extLst>
          </p:cNvPr>
          <p:cNvSpPr>
            <a:spLocks xmlns:a="http://schemas.openxmlformats.org/drawingml/2006/main" noGrp="1"/>
          </p:cNvSpPr>
          <p:nvPr/>
        </p:nvSpPr>
        <p:spPr>
          <a:xfrm xmlns:a="http://schemas.openxmlformats.org/drawingml/2006/main">
            <a:off x="603504" y="256032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endParaRPr sz="1200"/>
          </a:p>
        </p:txBody>
      </p:sp>
      <p:sp>
        <p:nvSpPr>
          <p:cNvPr id="8" name="Text 6">
            <a:extLst xmlns:a="http://schemas.openxmlformats.org/drawingml/2006/main">
              <a:ext uri="{FF2B5EF4-FFF2-40B4-BE49-F238E27FC236}">
                <a16:creationId xmlns:a16="http://schemas.microsoft.com/office/drawing/2014/main" id="{B4FAB551-81F6-4649-9622-1A3717E2AAB5}"/>
              </a:ext>
            </a:extLst>
          </p:cNvPr>
          <p:cNvSpPr>
            <a:spLocks xmlns:a="http://schemas.openxmlformats.org/drawingml/2006/main" noGrp="1"/>
          </p:cNvSpPr>
          <p:nvPr/>
        </p:nvSpPr>
        <p:spPr>
          <a:xfrm xmlns:a="http://schemas.openxmlformats.org/drawingml/2006/main">
            <a:off x="603504" y="2999232"/>
            <a:ext cx="156728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50" b="1">
                <a:solidFill>
                  <a:srgbClr val="0B2545"/>
                </a:solidFill>
                <a:latin typeface="Cambria"/>
                <a:ea typeface="Cambria"/>
                <a:cs typeface="Cambria"/>
              </a:rPr>
              <a:t>Historical Battery Dataset</a:t>
            </a:r>
            <a:endParaRPr sz="1250"/>
          </a:p>
        </p:txBody>
      </p:sp>
      <p:sp>
        <p:nvSpPr>
          <p:cNvPr id="9" name="Text 7">
            <a:extLst xmlns:a="http://schemas.openxmlformats.org/drawingml/2006/main">
              <a:ext uri="{FF2B5EF4-FFF2-40B4-BE49-F238E27FC236}">
                <a16:creationId xmlns:a16="http://schemas.microsoft.com/office/drawing/2014/main" id="{914FC478-30E0-4F1A-A0AB-2FC7C1D2552A}"/>
              </a:ext>
            </a:extLst>
          </p:cNvPr>
          <p:cNvSpPr>
            <a:spLocks xmlns:a="http://schemas.openxmlformats.org/drawingml/2006/main" noGrp="1"/>
          </p:cNvSpPr>
          <p:nvPr/>
        </p:nvSpPr>
        <p:spPr>
          <a:xfrm xmlns:a="http://schemas.openxmlformats.org/drawingml/2006/main">
            <a:off x="603504" y="3584448"/>
            <a:ext cx="1567282"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1000">
                <a:solidFill>
                  <a:srgbClr val="5B6B79"/>
                </a:solidFill>
                <a:latin typeface="Calibri"/>
                <a:ea typeface="Calibri"/>
                <a:cs typeface="Calibri"/>
              </a:rPr>
              <a:t>Voltage, current, temperature and cycling history feed the pipeline.</a:t>
            </a:r>
            <a:endParaRPr sz="1000"/>
          </a:p>
        </p:txBody>
      </p:sp>
      <p:sp>
        <p:nvSpPr>
          <p:cNvPr id="10" name="Shape 8">
            <a:extLst xmlns:a="http://schemas.openxmlformats.org/drawingml/2006/main">
              <a:ext uri="{FF2B5EF4-FFF2-40B4-BE49-F238E27FC236}">
                <a16:creationId xmlns:a16="http://schemas.microsoft.com/office/drawing/2014/main" id="{78642815-3CE5-4744-A00C-80345C489C4E}"/>
              </a:ext>
            </a:extLst>
          </p:cNvPr>
          <p:cNvSpPr>
            <a:spLocks xmlns:a="http://schemas.openxmlformats.org/drawingml/2006/main" noGrp="1"/>
          </p:cNvSpPr>
          <p:nvPr/>
        </p:nvSpPr>
        <p:spPr>
          <a:xfrm xmlns:a="http://schemas.openxmlformats.org/drawingml/2006/main">
            <a:off x="2347265" y="3415284"/>
            <a:ext cx="292608" cy="256032"/>
          </a:xfrm>
          <a:prstGeom xmlns:a="http://schemas.openxmlformats.org/drawingml/2006/main" prst="chevron">
            <a:avLst/>
          </a:prstGeom>
          <a:solidFill xmlns:a="http://schemas.openxmlformats.org/drawingml/2006/main">
            <a:srgbClr val="00A896"/>
          </a:solidFill>
        </p:spPr>
        <p:txBody xmlns:a="http://schemas.openxmlformats.org/drawingml/2006/main">
          <a:bodyPr/>
          <a:p/>
        </p:txBody>
      </p:sp>
      <p:sp>
        <p:nvSpPr>
          <p:cNvPr id="11" name="Shape 9">
            <a:extLst xmlns:a="http://schemas.openxmlformats.org/drawingml/2006/main">
              <a:ext uri="{FF2B5EF4-FFF2-40B4-BE49-F238E27FC236}">
                <a16:creationId xmlns:a16="http://schemas.microsoft.com/office/drawing/2014/main" id="{0FA1D812-99C4-44C7-BFCD-368A19F7F53A}"/>
              </a:ext>
            </a:extLst>
          </p:cNvPr>
          <p:cNvSpPr>
            <a:spLocks xmlns:a="http://schemas.openxmlformats.org/drawingml/2006/main" noGrp="1"/>
          </p:cNvSpPr>
          <p:nvPr/>
        </p:nvSpPr>
        <p:spPr>
          <a:xfrm xmlns:a="http://schemas.openxmlformats.org/drawingml/2006/main">
            <a:off x="2810866" y="2377440"/>
            <a:ext cx="1859890" cy="2331720"/>
          </a:xfrm>
          <a:prstGeom xmlns:a="http://schemas.openxmlformats.org/drawingml/2006/main" prst="roundRect">
            <a:avLst>
              <a:gd name="adj" fmla="val 3441"/>
            </a:avLst>
          </a:prstGeom>
          <a:solidFill xmlns:a="http://schemas.openxmlformats.org/drawingml/2006/main">
            <a:srgbClr val="F2F6F8"/>
          </a:solidFill>
        </p:spPr>
        <p:txBody xmlns:a="http://schemas.openxmlformats.org/drawingml/2006/main">
          <a:bodyPr/>
          <a:p/>
        </p:txBody>
      </p:sp>
      <p:sp>
        <p:nvSpPr>
          <p:cNvPr id="12" name="Shape 10">
            <a:extLst xmlns:a="http://schemas.openxmlformats.org/drawingml/2006/main">
              <a:ext uri="{FF2B5EF4-FFF2-40B4-BE49-F238E27FC236}">
                <a16:creationId xmlns:a16="http://schemas.microsoft.com/office/drawing/2014/main" id="{CE641658-35B1-4EE9-850C-1FFA7CE9171F}"/>
              </a:ext>
            </a:extLst>
          </p:cNvPr>
          <p:cNvSpPr>
            <a:spLocks xmlns:a="http://schemas.openxmlformats.org/drawingml/2006/main" noGrp="1"/>
          </p:cNvSpPr>
          <p:nvPr/>
        </p:nvSpPr>
        <p:spPr>
          <a:xfrm xmlns:a="http://schemas.openxmlformats.org/drawingml/2006/main">
            <a:off x="2957170" y="2560320"/>
            <a:ext cx="310896" cy="310896"/>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85DC2B77-6F83-4F6A-B15D-DE16DE28435A}"/>
              </a:ext>
            </a:extLst>
          </p:cNvPr>
          <p:cNvSpPr>
            <a:spLocks xmlns:a="http://schemas.openxmlformats.org/drawingml/2006/main" noGrp="1"/>
          </p:cNvSpPr>
          <p:nvPr/>
        </p:nvSpPr>
        <p:spPr>
          <a:xfrm xmlns:a="http://schemas.openxmlformats.org/drawingml/2006/main">
            <a:off x="2957170" y="256032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endParaRPr sz="1200"/>
          </a:p>
        </p:txBody>
      </p:sp>
      <p:sp>
        <p:nvSpPr>
          <p:cNvPr id="14" name="Text 12">
            <a:extLst xmlns:a="http://schemas.openxmlformats.org/drawingml/2006/main">
              <a:ext uri="{FF2B5EF4-FFF2-40B4-BE49-F238E27FC236}">
                <a16:creationId xmlns:a16="http://schemas.microsoft.com/office/drawing/2014/main" id="{E7BFF22C-E1A0-4FA1-9BCD-B98D64202CC6}"/>
              </a:ext>
            </a:extLst>
          </p:cNvPr>
          <p:cNvSpPr>
            <a:spLocks xmlns:a="http://schemas.openxmlformats.org/drawingml/2006/main" noGrp="1"/>
          </p:cNvSpPr>
          <p:nvPr/>
        </p:nvSpPr>
        <p:spPr>
          <a:xfrm xmlns:a="http://schemas.openxmlformats.org/drawingml/2006/main">
            <a:off x="2957170" y="2999232"/>
            <a:ext cx="156728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50" b="1">
                <a:solidFill>
                  <a:srgbClr val="0B2545"/>
                </a:solidFill>
                <a:latin typeface="Cambria"/>
                <a:ea typeface="Cambria"/>
                <a:cs typeface="Cambria"/>
              </a:rPr>
              <a:t>Transformer Encoder</a:t>
            </a:r>
            <a:endParaRPr sz="1250"/>
          </a:p>
        </p:txBody>
      </p:sp>
      <p:sp>
        <p:nvSpPr>
          <p:cNvPr id="15" name="Text 13">
            <a:extLst xmlns:a="http://schemas.openxmlformats.org/drawingml/2006/main">
              <a:ext uri="{FF2B5EF4-FFF2-40B4-BE49-F238E27FC236}">
                <a16:creationId xmlns:a16="http://schemas.microsoft.com/office/drawing/2014/main" id="{E10372DE-C9C2-4AAC-A234-113AF3F30734}"/>
              </a:ext>
            </a:extLst>
          </p:cNvPr>
          <p:cNvSpPr>
            <a:spLocks xmlns:a="http://schemas.openxmlformats.org/drawingml/2006/main" noGrp="1"/>
          </p:cNvSpPr>
          <p:nvPr/>
        </p:nvSpPr>
        <p:spPr>
          <a:xfrm xmlns:a="http://schemas.openxmlformats.org/drawingml/2006/main">
            <a:off x="2957170" y="3584448"/>
            <a:ext cx="1567282"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1000">
                <a:solidFill>
                  <a:srgbClr val="5B6B79"/>
                </a:solidFill>
                <a:latin typeface="Calibri"/>
                <a:ea typeface="Calibri"/>
                <a:cs typeface="Calibri"/>
              </a:rPr>
              <a:t>Learns long-term degradation patterns across sensor streams.</a:t>
            </a:r>
            <a:endParaRPr sz="1000"/>
          </a:p>
        </p:txBody>
      </p:sp>
      <p:sp>
        <p:nvSpPr>
          <p:cNvPr id="16" name="Shape 14">
            <a:extLst xmlns:a="http://schemas.openxmlformats.org/drawingml/2006/main">
              <a:ext uri="{FF2B5EF4-FFF2-40B4-BE49-F238E27FC236}">
                <a16:creationId xmlns:a16="http://schemas.microsoft.com/office/drawing/2014/main" id="{FC9FB6A3-C286-43D4-A40C-E2377526A864}"/>
              </a:ext>
            </a:extLst>
          </p:cNvPr>
          <p:cNvSpPr>
            <a:spLocks xmlns:a="http://schemas.openxmlformats.org/drawingml/2006/main" noGrp="1"/>
          </p:cNvSpPr>
          <p:nvPr/>
        </p:nvSpPr>
        <p:spPr>
          <a:xfrm xmlns:a="http://schemas.openxmlformats.org/drawingml/2006/main">
            <a:off x="4700930" y="3415284"/>
            <a:ext cx="292608" cy="256032"/>
          </a:xfrm>
          <a:prstGeom xmlns:a="http://schemas.openxmlformats.org/drawingml/2006/main" prst="chevron">
            <a:avLst/>
          </a:prstGeom>
          <a:solidFill xmlns:a="http://schemas.openxmlformats.org/drawingml/2006/main">
            <a:srgbClr val="00A896"/>
          </a:solidFill>
        </p:spPr>
        <p:txBody xmlns:a="http://schemas.openxmlformats.org/drawingml/2006/main">
          <a:bodyPr/>
          <a:p/>
        </p:txBody>
      </p:sp>
      <p:sp>
        <p:nvSpPr>
          <p:cNvPr id="17" name="Shape 15">
            <a:extLst xmlns:a="http://schemas.openxmlformats.org/drawingml/2006/main">
              <a:ext uri="{FF2B5EF4-FFF2-40B4-BE49-F238E27FC236}">
                <a16:creationId xmlns:a16="http://schemas.microsoft.com/office/drawing/2014/main" id="{CA451785-2A1A-4B06-AE53-E72D38672593}"/>
              </a:ext>
            </a:extLst>
          </p:cNvPr>
          <p:cNvSpPr>
            <a:spLocks xmlns:a="http://schemas.openxmlformats.org/drawingml/2006/main" noGrp="1"/>
          </p:cNvSpPr>
          <p:nvPr/>
        </p:nvSpPr>
        <p:spPr>
          <a:xfrm xmlns:a="http://schemas.openxmlformats.org/drawingml/2006/main">
            <a:off x="5164531" y="2377440"/>
            <a:ext cx="1859890" cy="2331720"/>
          </a:xfrm>
          <a:prstGeom xmlns:a="http://schemas.openxmlformats.org/drawingml/2006/main" prst="roundRect">
            <a:avLst>
              <a:gd name="adj" fmla="val 3441"/>
            </a:avLst>
          </a:prstGeom>
          <a:solidFill xmlns:a="http://schemas.openxmlformats.org/drawingml/2006/main">
            <a:srgbClr val="F2F6F8"/>
          </a:solidFill>
        </p:spPr>
        <p:txBody xmlns:a="http://schemas.openxmlformats.org/drawingml/2006/main">
          <a:bodyPr/>
          <a:p/>
        </p:txBody>
      </p:sp>
      <p:sp>
        <p:nvSpPr>
          <p:cNvPr id="18" name="Shape 16">
            <a:extLst xmlns:a="http://schemas.openxmlformats.org/drawingml/2006/main">
              <a:ext uri="{FF2B5EF4-FFF2-40B4-BE49-F238E27FC236}">
                <a16:creationId xmlns:a16="http://schemas.microsoft.com/office/drawing/2014/main" id="{B5465E8E-4940-4EF9-A182-86DC9A3103D1}"/>
              </a:ext>
            </a:extLst>
          </p:cNvPr>
          <p:cNvSpPr>
            <a:spLocks xmlns:a="http://schemas.openxmlformats.org/drawingml/2006/main" noGrp="1"/>
          </p:cNvSpPr>
          <p:nvPr/>
        </p:nvSpPr>
        <p:spPr>
          <a:xfrm xmlns:a="http://schemas.openxmlformats.org/drawingml/2006/main">
            <a:off x="5310835" y="2560320"/>
            <a:ext cx="310896" cy="310896"/>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C8FA3267-1810-4B2C-AB98-BFAAEB7A958A}"/>
              </a:ext>
            </a:extLst>
          </p:cNvPr>
          <p:cNvSpPr>
            <a:spLocks xmlns:a="http://schemas.openxmlformats.org/drawingml/2006/main" noGrp="1"/>
          </p:cNvSpPr>
          <p:nvPr/>
        </p:nvSpPr>
        <p:spPr>
          <a:xfrm xmlns:a="http://schemas.openxmlformats.org/drawingml/2006/main">
            <a:off x="5310835" y="256032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endParaRPr sz="1200"/>
          </a:p>
        </p:txBody>
      </p:sp>
      <p:sp>
        <p:nvSpPr>
          <p:cNvPr id="20" name="Text 18">
            <a:extLst xmlns:a="http://schemas.openxmlformats.org/drawingml/2006/main">
              <a:ext uri="{FF2B5EF4-FFF2-40B4-BE49-F238E27FC236}">
                <a16:creationId xmlns:a16="http://schemas.microsoft.com/office/drawing/2014/main" id="{8E6C3800-5C2C-40A5-82FA-AA5F03AC4C46}"/>
              </a:ext>
            </a:extLst>
          </p:cNvPr>
          <p:cNvSpPr>
            <a:spLocks xmlns:a="http://schemas.openxmlformats.org/drawingml/2006/main" noGrp="1"/>
          </p:cNvSpPr>
          <p:nvPr/>
        </p:nvSpPr>
        <p:spPr>
          <a:xfrm xmlns:a="http://schemas.openxmlformats.org/drawingml/2006/main">
            <a:off x="5310835" y="2999232"/>
            <a:ext cx="156728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50" b="1">
                <a:solidFill>
                  <a:srgbClr val="0B2545"/>
                </a:solidFill>
                <a:latin typeface="Cambria"/>
                <a:ea typeface="Cambria"/>
                <a:cs typeface="Cambria"/>
              </a:rPr>
              <a:t>PINN Layer</a:t>
            </a:r>
            <a:endParaRPr sz="1250"/>
          </a:p>
        </p:txBody>
      </p:sp>
      <p:sp>
        <p:nvSpPr>
          <p:cNvPr id="21" name="Text 19">
            <a:extLst xmlns:a="http://schemas.openxmlformats.org/drawingml/2006/main">
              <a:ext uri="{FF2B5EF4-FFF2-40B4-BE49-F238E27FC236}">
                <a16:creationId xmlns:a16="http://schemas.microsoft.com/office/drawing/2014/main" id="{FE6719E2-CA9D-42AF-9714-574222A61427}"/>
              </a:ext>
            </a:extLst>
          </p:cNvPr>
          <p:cNvSpPr>
            <a:spLocks xmlns:a="http://schemas.openxmlformats.org/drawingml/2006/main" noGrp="1"/>
          </p:cNvSpPr>
          <p:nvPr/>
        </p:nvSpPr>
        <p:spPr>
          <a:xfrm xmlns:a="http://schemas.openxmlformats.org/drawingml/2006/main">
            <a:off x="5310835" y="3584448"/>
            <a:ext cx="1567282"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1000">
                <a:solidFill>
                  <a:srgbClr val="5B6B79"/>
                </a:solidFill>
                <a:latin typeface="Calibri"/>
                <a:ea typeface="Calibri"/>
                <a:cs typeface="Calibri"/>
              </a:rPr>
              <a:t>Embeds electrochemical physics so outputs stay physically consistent.</a:t>
            </a:r>
            <a:endParaRPr sz="1000"/>
          </a:p>
        </p:txBody>
      </p:sp>
      <p:sp>
        <p:nvSpPr>
          <p:cNvPr id="22" name="Shape 20">
            <a:extLst xmlns:a="http://schemas.openxmlformats.org/drawingml/2006/main">
              <a:ext uri="{FF2B5EF4-FFF2-40B4-BE49-F238E27FC236}">
                <a16:creationId xmlns:a16="http://schemas.microsoft.com/office/drawing/2014/main" id="{1A04588F-8800-4BB9-B54F-8D0CC7D30D8F}"/>
              </a:ext>
            </a:extLst>
          </p:cNvPr>
          <p:cNvSpPr>
            <a:spLocks xmlns:a="http://schemas.openxmlformats.org/drawingml/2006/main" noGrp="1"/>
          </p:cNvSpPr>
          <p:nvPr/>
        </p:nvSpPr>
        <p:spPr>
          <a:xfrm xmlns:a="http://schemas.openxmlformats.org/drawingml/2006/main">
            <a:off x="7054596" y="3415284"/>
            <a:ext cx="292608" cy="256032"/>
          </a:xfrm>
          <a:prstGeom xmlns:a="http://schemas.openxmlformats.org/drawingml/2006/main" prst="chevron">
            <a:avLst/>
          </a:prstGeom>
          <a:solidFill xmlns:a="http://schemas.openxmlformats.org/drawingml/2006/main">
            <a:srgbClr val="00A896"/>
          </a:solidFill>
        </p:spPr>
        <p:txBody xmlns:a="http://schemas.openxmlformats.org/drawingml/2006/main">
          <a:bodyPr/>
          <a:p/>
        </p:txBody>
      </p:sp>
      <p:sp>
        <p:nvSpPr>
          <p:cNvPr id="23" name="Shape 21">
            <a:extLst xmlns:a="http://schemas.openxmlformats.org/drawingml/2006/main">
              <a:ext uri="{FF2B5EF4-FFF2-40B4-BE49-F238E27FC236}">
                <a16:creationId xmlns:a16="http://schemas.microsoft.com/office/drawing/2014/main" id="{28F6A879-8F0E-44E7-90BF-38D7A8FC4BAA}"/>
              </a:ext>
            </a:extLst>
          </p:cNvPr>
          <p:cNvSpPr>
            <a:spLocks xmlns:a="http://schemas.openxmlformats.org/drawingml/2006/main" noGrp="1"/>
          </p:cNvSpPr>
          <p:nvPr/>
        </p:nvSpPr>
        <p:spPr>
          <a:xfrm xmlns:a="http://schemas.openxmlformats.org/drawingml/2006/main">
            <a:off x="7518197" y="2377440"/>
            <a:ext cx="1859890" cy="2331720"/>
          </a:xfrm>
          <a:prstGeom xmlns:a="http://schemas.openxmlformats.org/drawingml/2006/main" prst="roundRect">
            <a:avLst>
              <a:gd name="adj" fmla="val 3441"/>
            </a:avLst>
          </a:prstGeom>
          <a:solidFill xmlns:a="http://schemas.openxmlformats.org/drawingml/2006/main">
            <a:srgbClr val="F2F6F8"/>
          </a:solidFill>
        </p:spPr>
        <p:txBody xmlns:a="http://schemas.openxmlformats.org/drawingml/2006/main">
          <a:bodyPr/>
          <a:p/>
        </p:txBody>
      </p:sp>
      <p:sp>
        <p:nvSpPr>
          <p:cNvPr id="24" name="Shape 22">
            <a:extLst xmlns:a="http://schemas.openxmlformats.org/drawingml/2006/main">
              <a:ext uri="{FF2B5EF4-FFF2-40B4-BE49-F238E27FC236}">
                <a16:creationId xmlns:a16="http://schemas.microsoft.com/office/drawing/2014/main" id="{E8683BD7-EEC2-45C9-828E-155E495CDEB3}"/>
              </a:ext>
            </a:extLst>
          </p:cNvPr>
          <p:cNvSpPr>
            <a:spLocks xmlns:a="http://schemas.openxmlformats.org/drawingml/2006/main" noGrp="1"/>
          </p:cNvSpPr>
          <p:nvPr/>
        </p:nvSpPr>
        <p:spPr>
          <a:xfrm xmlns:a="http://schemas.openxmlformats.org/drawingml/2006/main">
            <a:off x="7664501" y="2560320"/>
            <a:ext cx="310896" cy="310896"/>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16920A0D-1ED7-4877-ADDD-96FA95662EAE}"/>
              </a:ext>
            </a:extLst>
          </p:cNvPr>
          <p:cNvSpPr>
            <a:spLocks xmlns:a="http://schemas.openxmlformats.org/drawingml/2006/main" noGrp="1"/>
          </p:cNvSpPr>
          <p:nvPr/>
        </p:nvSpPr>
        <p:spPr>
          <a:xfrm xmlns:a="http://schemas.openxmlformats.org/drawingml/2006/main">
            <a:off x="7664501" y="256032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4</a:t>
            </a:r>
            <a:endParaRPr sz="1200"/>
          </a:p>
        </p:txBody>
      </p:sp>
      <p:sp>
        <p:nvSpPr>
          <p:cNvPr id="26" name="Text 24">
            <a:extLst xmlns:a="http://schemas.openxmlformats.org/drawingml/2006/main">
              <a:ext uri="{FF2B5EF4-FFF2-40B4-BE49-F238E27FC236}">
                <a16:creationId xmlns:a16="http://schemas.microsoft.com/office/drawing/2014/main" id="{764D7045-8A46-4555-9B08-E5D73930DE89}"/>
              </a:ext>
            </a:extLst>
          </p:cNvPr>
          <p:cNvSpPr>
            <a:spLocks xmlns:a="http://schemas.openxmlformats.org/drawingml/2006/main" noGrp="1"/>
          </p:cNvSpPr>
          <p:nvPr/>
        </p:nvSpPr>
        <p:spPr>
          <a:xfrm xmlns:a="http://schemas.openxmlformats.org/drawingml/2006/main">
            <a:off x="7664501" y="2999232"/>
            <a:ext cx="156728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50" b="1">
                <a:solidFill>
                  <a:srgbClr val="0B2545"/>
                </a:solidFill>
                <a:latin typeface="Cambria"/>
                <a:ea typeface="Cambria"/>
                <a:cs typeface="Cambria"/>
              </a:rPr>
              <a:t>Feedforward NN</a:t>
            </a:r>
            <a:endParaRPr sz="1250"/>
          </a:p>
        </p:txBody>
      </p:sp>
      <p:sp>
        <p:nvSpPr>
          <p:cNvPr id="27" name="Text 25">
            <a:extLst xmlns:a="http://schemas.openxmlformats.org/drawingml/2006/main">
              <a:ext uri="{FF2B5EF4-FFF2-40B4-BE49-F238E27FC236}">
                <a16:creationId xmlns:a16="http://schemas.microsoft.com/office/drawing/2014/main" id="{88D62B66-BC16-4E3D-83AE-3499BCB3C544}"/>
              </a:ext>
            </a:extLst>
          </p:cNvPr>
          <p:cNvSpPr>
            <a:spLocks xmlns:a="http://schemas.openxmlformats.org/drawingml/2006/main" noGrp="1"/>
          </p:cNvSpPr>
          <p:nvPr/>
        </p:nvSpPr>
        <p:spPr>
          <a:xfrm xmlns:a="http://schemas.openxmlformats.org/drawingml/2006/main">
            <a:off x="7664501" y="3584448"/>
            <a:ext cx="1567282"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1000">
                <a:solidFill>
                  <a:srgbClr val="5B6B79"/>
                </a:solidFill>
                <a:latin typeface="Calibri"/>
                <a:ea typeface="Calibri"/>
                <a:cs typeface="Calibri"/>
              </a:rPr>
              <a:t>Produces final SOH and RUL predictions.</a:t>
            </a:r>
            <a:endParaRPr sz="1000"/>
          </a:p>
        </p:txBody>
      </p:sp>
      <p:sp>
        <p:nvSpPr>
          <p:cNvPr id="28" name="Shape 26">
            <a:extLst xmlns:a="http://schemas.openxmlformats.org/drawingml/2006/main">
              <a:ext uri="{FF2B5EF4-FFF2-40B4-BE49-F238E27FC236}">
                <a16:creationId xmlns:a16="http://schemas.microsoft.com/office/drawing/2014/main" id="{5B1B5767-0437-4BF2-8FB9-990520435CF8}"/>
              </a:ext>
            </a:extLst>
          </p:cNvPr>
          <p:cNvSpPr>
            <a:spLocks xmlns:a="http://schemas.openxmlformats.org/drawingml/2006/main" noGrp="1"/>
          </p:cNvSpPr>
          <p:nvPr/>
        </p:nvSpPr>
        <p:spPr>
          <a:xfrm xmlns:a="http://schemas.openxmlformats.org/drawingml/2006/main">
            <a:off x="9408262" y="3415284"/>
            <a:ext cx="292608" cy="256032"/>
          </a:xfrm>
          <a:prstGeom xmlns:a="http://schemas.openxmlformats.org/drawingml/2006/main" prst="chevron">
            <a:avLst/>
          </a:prstGeom>
          <a:solidFill xmlns:a="http://schemas.openxmlformats.org/drawingml/2006/main">
            <a:srgbClr val="00A896"/>
          </a:solidFill>
        </p:spPr>
        <p:txBody xmlns:a="http://schemas.openxmlformats.org/drawingml/2006/main">
          <a:bodyPr/>
          <a:p/>
        </p:txBody>
      </p:sp>
      <p:sp>
        <p:nvSpPr>
          <p:cNvPr id="29" name="Shape 27">
            <a:extLst xmlns:a="http://schemas.openxmlformats.org/drawingml/2006/main">
              <a:ext uri="{FF2B5EF4-FFF2-40B4-BE49-F238E27FC236}">
                <a16:creationId xmlns:a16="http://schemas.microsoft.com/office/drawing/2014/main" id="{2CEDEEA9-7EF0-4018-92BB-7A4A2874CA1C}"/>
              </a:ext>
            </a:extLst>
          </p:cNvPr>
          <p:cNvSpPr>
            <a:spLocks xmlns:a="http://schemas.openxmlformats.org/drawingml/2006/main" noGrp="1"/>
          </p:cNvSpPr>
          <p:nvPr/>
        </p:nvSpPr>
        <p:spPr>
          <a:xfrm xmlns:a="http://schemas.openxmlformats.org/drawingml/2006/main">
            <a:off x="9871862" y="2377440"/>
            <a:ext cx="1859890" cy="2331720"/>
          </a:xfrm>
          <a:prstGeom xmlns:a="http://schemas.openxmlformats.org/drawingml/2006/main" prst="roundRect">
            <a:avLst>
              <a:gd name="adj" fmla="val 3441"/>
            </a:avLst>
          </a:prstGeom>
          <a:solidFill xmlns:a="http://schemas.openxmlformats.org/drawingml/2006/main">
            <a:srgbClr val="0B2545"/>
          </a:solidFill>
        </p:spPr>
        <p:txBody xmlns:a="http://schemas.openxmlformats.org/drawingml/2006/main">
          <a:bodyPr/>
          <a:p/>
        </p:txBody>
      </p:sp>
      <p:sp>
        <p:nvSpPr>
          <p:cNvPr id="30" name="Shape 28">
            <a:extLst xmlns:a="http://schemas.openxmlformats.org/drawingml/2006/main">
              <a:ext uri="{FF2B5EF4-FFF2-40B4-BE49-F238E27FC236}">
                <a16:creationId xmlns:a16="http://schemas.microsoft.com/office/drawing/2014/main" id="{BE4CC0EE-E612-43FF-8C96-18CB7DBD251B}"/>
              </a:ext>
            </a:extLst>
          </p:cNvPr>
          <p:cNvSpPr>
            <a:spLocks xmlns:a="http://schemas.openxmlformats.org/drawingml/2006/main" noGrp="1"/>
          </p:cNvSpPr>
          <p:nvPr/>
        </p:nvSpPr>
        <p:spPr>
          <a:xfrm xmlns:a="http://schemas.openxmlformats.org/drawingml/2006/main">
            <a:off x="10018166" y="2560320"/>
            <a:ext cx="310896" cy="310896"/>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598C48CC-BE8F-45E0-AA12-4CD5F5D8BA25}"/>
              </a:ext>
            </a:extLst>
          </p:cNvPr>
          <p:cNvSpPr>
            <a:spLocks xmlns:a="http://schemas.openxmlformats.org/drawingml/2006/main" noGrp="1"/>
          </p:cNvSpPr>
          <p:nvPr/>
        </p:nvSpPr>
        <p:spPr>
          <a:xfrm xmlns:a="http://schemas.openxmlformats.org/drawingml/2006/main">
            <a:off x="10018166" y="256032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5</a:t>
            </a:r>
            <a:endParaRPr sz="1200"/>
          </a:p>
        </p:txBody>
      </p:sp>
      <p:sp>
        <p:nvSpPr>
          <p:cNvPr id="32" name="Text 30">
            <a:extLst xmlns:a="http://schemas.openxmlformats.org/drawingml/2006/main">
              <a:ext uri="{FF2B5EF4-FFF2-40B4-BE49-F238E27FC236}">
                <a16:creationId xmlns:a16="http://schemas.microsoft.com/office/drawing/2014/main" id="{F41DF1B9-52B8-41F1-BFD1-CE660CECC411}"/>
              </a:ext>
            </a:extLst>
          </p:cNvPr>
          <p:cNvSpPr>
            <a:spLocks xmlns:a="http://schemas.openxmlformats.org/drawingml/2006/main" noGrp="1"/>
          </p:cNvSpPr>
          <p:nvPr/>
        </p:nvSpPr>
        <p:spPr>
          <a:xfrm xmlns:a="http://schemas.openxmlformats.org/drawingml/2006/main">
            <a:off x="10018166" y="2999232"/>
            <a:ext cx="156728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50" b="1">
                <a:solidFill>
                  <a:srgbClr val="FFFFFF"/>
                </a:solidFill>
                <a:latin typeface="Cambria"/>
                <a:ea typeface="Cambria"/>
                <a:cs typeface="Cambria"/>
              </a:rPr>
              <a:t>Adaptive Learning Module</a:t>
            </a:r>
            <a:endParaRPr sz="1250"/>
          </a:p>
        </p:txBody>
      </p:sp>
      <p:sp>
        <p:nvSpPr>
          <p:cNvPr id="33" name="Text 31">
            <a:extLst xmlns:a="http://schemas.openxmlformats.org/drawingml/2006/main">
              <a:ext uri="{FF2B5EF4-FFF2-40B4-BE49-F238E27FC236}">
                <a16:creationId xmlns:a16="http://schemas.microsoft.com/office/drawing/2014/main" id="{86CE6737-3729-4C3F-9852-10FE828AB54F}"/>
              </a:ext>
            </a:extLst>
          </p:cNvPr>
          <p:cNvSpPr>
            <a:spLocks xmlns:a="http://schemas.openxmlformats.org/drawingml/2006/main" noGrp="1"/>
          </p:cNvSpPr>
          <p:nvPr/>
        </p:nvSpPr>
        <p:spPr>
          <a:xfrm xmlns:a="http://schemas.openxmlformats.org/drawingml/2006/main">
            <a:off x="10018166" y="3584448"/>
            <a:ext cx="1567282"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1000">
                <a:solidFill>
                  <a:srgbClr val="CBDCE8"/>
                </a:solidFill>
                <a:latin typeface="Calibri"/>
                <a:ea typeface="Calibri"/>
                <a:cs typeface="Calibri"/>
              </a:rPr>
              <a:t>Detects behaviour shifts and updates the twin incrementally.</a:t>
            </a:r>
            <a:endParaRPr sz="1000"/>
          </a:p>
        </p:txBody>
      </p:sp>
      <p:sp>
        <p:nvSpPr>
          <p:cNvPr id="34" name="Text 32">
            <a:extLst xmlns:a="http://schemas.openxmlformats.org/drawingml/2006/main">
              <a:ext uri="{FF2B5EF4-FFF2-40B4-BE49-F238E27FC236}">
                <a16:creationId xmlns:a16="http://schemas.microsoft.com/office/drawing/2014/main" id="{39B2FE03-9850-4BE0-8977-BAEC7A8A48E7}"/>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35" name="Text 33">
            <a:extLst xmlns:a="http://schemas.openxmlformats.org/drawingml/2006/main">
              <a:ext uri="{FF2B5EF4-FFF2-40B4-BE49-F238E27FC236}">
                <a16:creationId xmlns:a16="http://schemas.microsoft.com/office/drawing/2014/main" id="{F61177A6-54F6-48A4-A6EB-8518552D0151}"/>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4 / 10</a:t>
            </a:r>
            <a:endParaRPr sz="900"/>
          </a:p>
        </p:txBody>
      </p:sp>
    </p:spTree>
    <p:extLst>
      <p:ext uri="{BB962C8B-B14F-4D97-AF65-F5344CB8AC3E}">
        <p14:creationId xmlns:p14="http://schemas.microsoft.com/office/powerpoint/2010/main" val="17740342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7E37F1-E5E4-4B07-8461-8458A910656D}"/>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FOUNDATION REFERENCE</a:t>
            </a:r>
            <a:endParaRPr sz="1200"/>
          </a:p>
        </p:txBody>
      </p:sp>
      <p:sp>
        <p:nvSpPr>
          <p:cNvPr id="3" name="Text 1">
            <a:extLst xmlns:a="http://schemas.openxmlformats.org/drawingml/2006/main">
              <a:ext uri="{FF2B5EF4-FFF2-40B4-BE49-F238E27FC236}">
                <a16:creationId xmlns:a16="http://schemas.microsoft.com/office/drawing/2014/main" id="{C13DD0F2-6A05-4C08-91E9-1405DF08DFA4}"/>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Base Paper</a:t>
            </a:r>
            <a:endParaRPr sz="2800"/>
          </a:p>
        </p:txBody>
      </p:sp>
      <p:sp>
        <p:nvSpPr>
          <p:cNvPr id="4" name="Shape 2">
            <a:extLst xmlns:a="http://schemas.openxmlformats.org/drawingml/2006/main">
              <a:ext uri="{FF2B5EF4-FFF2-40B4-BE49-F238E27FC236}">
                <a16:creationId xmlns:a16="http://schemas.microsoft.com/office/drawing/2014/main" id="{3605857E-6868-4619-8316-E6DEEEBC269F}"/>
              </a:ext>
            </a:extLst>
          </p:cNvPr>
          <p:cNvSpPr>
            <a:spLocks xmlns:a="http://schemas.openxmlformats.org/drawingml/2006/main" noGrp="1"/>
          </p:cNvSpPr>
          <p:nvPr/>
        </p:nvSpPr>
        <p:spPr>
          <a:xfrm xmlns:a="http://schemas.openxmlformats.org/drawingml/2006/main">
            <a:off x="457200" y="1417320"/>
            <a:ext cx="11274552" cy="1417320"/>
          </a:xfrm>
          <a:prstGeom xmlns:a="http://schemas.openxmlformats.org/drawingml/2006/main" prst="roundRect">
            <a:avLst>
              <a:gd name="adj" fmla="val 5161"/>
            </a:avLst>
          </a:prstGeom>
          <a:solidFill xmlns:a="http://schemas.openxmlformats.org/drawingml/2006/main">
            <a:srgbClr val="0B2545"/>
          </a:solidFill>
        </p:spPr>
        <p:txBody xmlns:a="http://schemas.openxmlformats.org/drawingml/2006/main">
          <a:bodyPr/>
          <a:p/>
        </p:txBody>
      </p:sp>
      <p:sp>
        <p:nvSpPr>
          <p:cNvPr id="5" name="Text 3">
            <a:extLst xmlns:a="http://schemas.openxmlformats.org/drawingml/2006/main">
              <a:ext uri="{FF2B5EF4-FFF2-40B4-BE49-F238E27FC236}">
                <a16:creationId xmlns:a16="http://schemas.microsoft.com/office/drawing/2014/main" id="{B6BE735F-4BF6-48FC-9FFC-520D9D9F2CFB}"/>
              </a:ext>
            </a:extLst>
          </p:cNvPr>
          <p:cNvSpPr>
            <a:spLocks xmlns:a="http://schemas.openxmlformats.org/drawingml/2006/main" noGrp="1"/>
          </p:cNvSpPr>
          <p:nvPr/>
        </p:nvSpPr>
        <p:spPr>
          <a:xfrm xmlns:a="http://schemas.openxmlformats.org/drawingml/2006/main">
            <a:off x="822960" y="1600200"/>
            <a:ext cx="10543032"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2200"/>
              </a:lnSpc>
              <a:buNone/>
            </a:pPr>
            <a:r>
              <a:rPr sz="1800" b="1" i="1">
                <a:solidFill>
                  <a:srgbClr val="FFFFFF"/>
                </a:solidFill>
                <a:latin typeface="Cambria"/>
                <a:ea typeface="Cambria"/>
                <a:cs typeface="Cambria"/>
              </a:rPr>
              <a:t>Physics-Informed Neural Networks for Battery Modeling and State Estimation: A Methodological Review</a:t>
            </a:r>
            <a:endParaRPr sz="1800"/>
          </a:p>
        </p:txBody>
      </p:sp>
      <p:sp>
        <p:nvSpPr>
          <p:cNvPr id="6" name="Text 4">
            <a:extLst xmlns:a="http://schemas.openxmlformats.org/drawingml/2006/main">
              <a:ext uri="{FF2B5EF4-FFF2-40B4-BE49-F238E27FC236}">
                <a16:creationId xmlns:a16="http://schemas.microsoft.com/office/drawing/2014/main" id="{335E4484-4702-4600-9129-79587D43C295}"/>
              </a:ext>
            </a:extLst>
          </p:cNvPr>
          <p:cNvSpPr>
            <a:spLocks xmlns:a="http://schemas.openxmlformats.org/drawingml/2006/main" noGrp="1"/>
          </p:cNvSpPr>
          <p:nvPr/>
        </p:nvSpPr>
        <p:spPr>
          <a:xfrm xmlns:a="http://schemas.openxmlformats.org/drawingml/2006/main">
            <a:off x="822960" y="2423160"/>
            <a:ext cx="10543032"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896"/>
                </a:solidFill>
                <a:latin typeface="Calibri"/>
                <a:ea typeface="Calibri"/>
                <a:cs typeface="Calibri"/>
              </a:rPr>
              <a:t>Renewable and Sustainable Energy Reviews, 2026</a:t>
            </a:r>
            <a:endParaRPr sz="1200"/>
          </a:p>
        </p:txBody>
      </p:sp>
      <p:sp>
        <p:nvSpPr>
          <p:cNvPr id="7" name="Text 5">
            <a:extLst xmlns:a="http://schemas.openxmlformats.org/drawingml/2006/main">
              <a:ext uri="{FF2B5EF4-FFF2-40B4-BE49-F238E27FC236}">
                <a16:creationId xmlns:a16="http://schemas.microsoft.com/office/drawing/2014/main" id="{E83D33A6-AC79-4891-9B35-E4A079AD8DD0}"/>
              </a:ext>
            </a:extLst>
          </p:cNvPr>
          <p:cNvSpPr>
            <a:spLocks xmlns:a="http://schemas.openxmlformats.org/drawingml/2006/main" noGrp="1"/>
          </p:cNvSpPr>
          <p:nvPr/>
        </p:nvSpPr>
        <p:spPr>
          <a:xfrm xmlns:a="http://schemas.openxmlformats.org/drawingml/2006/main">
            <a:off x="457200" y="320040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028090"/>
                </a:solidFill>
                <a:latin typeface="Calibri"/>
                <a:ea typeface="Calibri"/>
                <a:cs typeface="Calibri"/>
              </a:rPr>
              <a:t>WHY THIS PAPER WAS SELECTED</a:t>
            </a:r>
            <a:endParaRPr sz="1100"/>
          </a:p>
        </p:txBody>
      </p:sp>
      <p:sp>
        <p:nvSpPr>
          <p:cNvPr id="8" name="Shape 6">
            <a:extLst xmlns:a="http://schemas.openxmlformats.org/drawingml/2006/main">
              <a:ext uri="{FF2B5EF4-FFF2-40B4-BE49-F238E27FC236}">
                <a16:creationId xmlns:a16="http://schemas.microsoft.com/office/drawing/2014/main" id="{155599D7-52C8-45BC-AA23-542658C66779}"/>
              </a:ext>
            </a:extLst>
          </p:cNvPr>
          <p:cNvSpPr>
            <a:spLocks xmlns:a="http://schemas.openxmlformats.org/drawingml/2006/main" noGrp="1"/>
          </p:cNvSpPr>
          <p:nvPr/>
        </p:nvSpPr>
        <p:spPr>
          <a:xfrm xmlns:a="http://schemas.openxmlformats.org/drawingml/2006/main">
            <a:off x="457200" y="3621024"/>
            <a:ext cx="146304" cy="146304"/>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3701FDF-3BDF-4F52-870D-8F3A3C1C224F}"/>
              </a:ext>
            </a:extLst>
          </p:cNvPr>
          <p:cNvSpPr>
            <a:spLocks xmlns:a="http://schemas.openxmlformats.org/drawingml/2006/main" noGrp="1"/>
          </p:cNvSpPr>
          <p:nvPr/>
        </p:nvSpPr>
        <p:spPr>
          <a:xfrm xmlns:a="http://schemas.openxmlformats.org/drawingml/2006/main">
            <a:off x="777240" y="3520440"/>
            <a:ext cx="10954512"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300">
                <a:solidFill>
                  <a:srgbClr val="222B33"/>
                </a:solidFill>
                <a:latin typeface="Calibri"/>
                <a:ea typeface="Calibri"/>
                <a:cs typeface="Calibri"/>
              </a:rPr>
              <a:t>Comprehensive review of Physics-Informed Neural Networks (PINNs) for battery applications</a:t>
            </a:r>
            <a:endParaRPr sz="1300"/>
          </a:p>
        </p:txBody>
      </p:sp>
      <p:sp>
        <p:nvSpPr>
          <p:cNvPr id="10" name="Shape 8">
            <a:extLst xmlns:a="http://schemas.openxmlformats.org/drawingml/2006/main">
              <a:ext uri="{FF2B5EF4-FFF2-40B4-BE49-F238E27FC236}">
                <a16:creationId xmlns:a16="http://schemas.microsoft.com/office/drawing/2014/main" id="{7B9776CF-9276-43EE-B6F0-2707106C73D4}"/>
              </a:ext>
            </a:extLst>
          </p:cNvPr>
          <p:cNvSpPr>
            <a:spLocks xmlns:a="http://schemas.openxmlformats.org/drawingml/2006/main" noGrp="1"/>
          </p:cNvSpPr>
          <p:nvPr/>
        </p:nvSpPr>
        <p:spPr>
          <a:xfrm xmlns:a="http://schemas.openxmlformats.org/drawingml/2006/main">
            <a:off x="457200" y="4133088"/>
            <a:ext cx="146304" cy="146304"/>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9EBD2360-C0FD-4656-9DF9-3B2F4F0C77CB}"/>
              </a:ext>
            </a:extLst>
          </p:cNvPr>
          <p:cNvSpPr>
            <a:spLocks xmlns:a="http://schemas.openxmlformats.org/drawingml/2006/main" noGrp="1"/>
          </p:cNvSpPr>
          <p:nvPr/>
        </p:nvSpPr>
        <p:spPr>
          <a:xfrm xmlns:a="http://schemas.openxmlformats.org/drawingml/2006/main">
            <a:off x="777240" y="4032504"/>
            <a:ext cx="10954512"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300">
                <a:solidFill>
                  <a:srgbClr val="222B33"/>
                </a:solidFill>
                <a:latin typeface="Calibri"/>
                <a:ea typeface="Calibri"/>
                <a:cs typeface="Calibri"/>
              </a:rPr>
              <a:t>Covers SOH, RUL, SOC, Digital Twins, thermal diagnosis and internal state reconstruction</a:t>
            </a:r>
            <a:endParaRPr sz="1300"/>
          </a:p>
        </p:txBody>
      </p:sp>
      <p:sp>
        <p:nvSpPr>
          <p:cNvPr id="12" name="Shape 10">
            <a:extLst xmlns:a="http://schemas.openxmlformats.org/drawingml/2006/main">
              <a:ext uri="{FF2B5EF4-FFF2-40B4-BE49-F238E27FC236}">
                <a16:creationId xmlns:a16="http://schemas.microsoft.com/office/drawing/2014/main" id="{C845584A-FE6B-4EFD-8511-107D08EDEC3B}"/>
              </a:ext>
            </a:extLst>
          </p:cNvPr>
          <p:cNvSpPr>
            <a:spLocks xmlns:a="http://schemas.openxmlformats.org/drawingml/2006/main" noGrp="1"/>
          </p:cNvSpPr>
          <p:nvPr/>
        </p:nvSpPr>
        <p:spPr>
          <a:xfrm xmlns:a="http://schemas.openxmlformats.org/drawingml/2006/main">
            <a:off x="457200" y="4645152"/>
            <a:ext cx="146304" cy="146304"/>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DF3843E1-F39F-4004-A5B1-B0C6F126B063}"/>
              </a:ext>
            </a:extLst>
          </p:cNvPr>
          <p:cNvSpPr>
            <a:spLocks xmlns:a="http://schemas.openxmlformats.org/drawingml/2006/main" noGrp="1"/>
          </p:cNvSpPr>
          <p:nvPr/>
        </p:nvSpPr>
        <p:spPr>
          <a:xfrm xmlns:a="http://schemas.openxmlformats.org/drawingml/2006/main">
            <a:off x="777240" y="4544568"/>
            <a:ext cx="10954512"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300">
                <a:solidFill>
                  <a:srgbClr val="222B33"/>
                </a:solidFill>
                <a:latin typeface="Calibri"/>
                <a:ea typeface="Calibri"/>
                <a:cs typeface="Calibri"/>
              </a:rPr>
              <a:t>Explains multiple methods for embedding battery physics into neural networks</a:t>
            </a:r>
            <a:endParaRPr sz="1300"/>
          </a:p>
        </p:txBody>
      </p:sp>
      <p:sp>
        <p:nvSpPr>
          <p:cNvPr id="14" name="Shape 12">
            <a:extLst xmlns:a="http://schemas.openxmlformats.org/drawingml/2006/main">
              <a:ext uri="{FF2B5EF4-FFF2-40B4-BE49-F238E27FC236}">
                <a16:creationId xmlns:a16="http://schemas.microsoft.com/office/drawing/2014/main" id="{2209556B-F43A-4F64-A1BA-8FD3E78A64AC}"/>
              </a:ext>
            </a:extLst>
          </p:cNvPr>
          <p:cNvSpPr>
            <a:spLocks xmlns:a="http://schemas.openxmlformats.org/drawingml/2006/main" noGrp="1"/>
          </p:cNvSpPr>
          <p:nvPr/>
        </p:nvSpPr>
        <p:spPr>
          <a:xfrm xmlns:a="http://schemas.openxmlformats.org/drawingml/2006/main">
            <a:off x="457200" y="5157216"/>
            <a:ext cx="146304" cy="146304"/>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C754340-0DA7-4E52-B11B-2AA4B5A85F2D}"/>
              </a:ext>
            </a:extLst>
          </p:cNvPr>
          <p:cNvSpPr>
            <a:spLocks xmlns:a="http://schemas.openxmlformats.org/drawingml/2006/main" noGrp="1"/>
          </p:cNvSpPr>
          <p:nvPr/>
        </p:nvSpPr>
        <p:spPr>
          <a:xfrm xmlns:a="http://schemas.openxmlformats.org/drawingml/2006/main">
            <a:off x="777240" y="5056632"/>
            <a:ext cx="10954512"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300">
                <a:solidFill>
                  <a:srgbClr val="222B33"/>
                </a:solidFill>
                <a:latin typeface="Calibri"/>
                <a:ea typeface="Calibri"/>
                <a:cs typeface="Calibri"/>
              </a:rPr>
              <a:t>Discusses training stability, domain generalization, uncertainty quantification and interpretability</a:t>
            </a:r>
            <a:endParaRPr sz="1300"/>
          </a:p>
        </p:txBody>
      </p:sp>
      <p:sp>
        <p:nvSpPr>
          <p:cNvPr id="16" name="Shape 14">
            <a:extLst xmlns:a="http://schemas.openxmlformats.org/drawingml/2006/main">
              <a:ext uri="{FF2B5EF4-FFF2-40B4-BE49-F238E27FC236}">
                <a16:creationId xmlns:a16="http://schemas.microsoft.com/office/drawing/2014/main" id="{A23E9ABD-1F1F-46A9-8849-AC95F1A065BC}"/>
              </a:ext>
            </a:extLst>
          </p:cNvPr>
          <p:cNvSpPr>
            <a:spLocks xmlns:a="http://schemas.openxmlformats.org/drawingml/2006/main" noGrp="1"/>
          </p:cNvSpPr>
          <p:nvPr/>
        </p:nvSpPr>
        <p:spPr>
          <a:xfrm xmlns:a="http://schemas.openxmlformats.org/drawingml/2006/main">
            <a:off x="457200" y="5669280"/>
            <a:ext cx="146304" cy="146304"/>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D066397-40AA-4C1C-807F-C7A5904FDA36}"/>
              </a:ext>
            </a:extLst>
          </p:cNvPr>
          <p:cNvSpPr>
            <a:spLocks xmlns:a="http://schemas.openxmlformats.org/drawingml/2006/main" noGrp="1"/>
          </p:cNvSpPr>
          <p:nvPr/>
        </p:nvSpPr>
        <p:spPr>
          <a:xfrm xmlns:a="http://schemas.openxmlformats.org/drawingml/2006/main">
            <a:off x="777240" y="5568696"/>
            <a:ext cx="10954512"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300">
                <a:solidFill>
                  <a:srgbClr val="222B33"/>
                </a:solidFill>
                <a:latin typeface="Calibri"/>
                <a:ea typeface="Calibri"/>
                <a:cs typeface="Calibri"/>
              </a:rPr>
              <a:t>Lays out future research directions for intelligent Battery Management Systems</a:t>
            </a:r>
            <a:endParaRPr sz="1300"/>
          </a:p>
        </p:txBody>
      </p:sp>
      <p:sp>
        <p:nvSpPr>
          <p:cNvPr id="18" name="Text 16">
            <a:extLst xmlns:a="http://schemas.openxmlformats.org/drawingml/2006/main">
              <a:ext uri="{FF2B5EF4-FFF2-40B4-BE49-F238E27FC236}">
                <a16:creationId xmlns:a16="http://schemas.microsoft.com/office/drawing/2014/main" id="{65D814F5-226E-4484-82B4-B4FD1EBB61D2}"/>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19" name="Text 17">
            <a:extLst xmlns:a="http://schemas.openxmlformats.org/drawingml/2006/main">
              <a:ext uri="{FF2B5EF4-FFF2-40B4-BE49-F238E27FC236}">
                <a16:creationId xmlns:a16="http://schemas.microsoft.com/office/drawing/2014/main" id="{CE3CA154-D8A0-4674-9DB8-C5C6B9CCF5D1}"/>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5 / 10</a:t>
            </a:r>
            <a:endParaRPr sz="900"/>
          </a:p>
        </p:txBody>
      </p:sp>
    </p:spTree>
    <p:extLst>
      <p:ext uri="{BB962C8B-B14F-4D97-AF65-F5344CB8AC3E}">
        <p14:creationId xmlns:p14="http://schemas.microsoft.com/office/powerpoint/2010/main" val="18573419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0F39D73-EE7B-40D4-99A6-8FA723356006}"/>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POSITIONING OUR WORK</a:t>
            </a:r>
            <a:endParaRPr sz="1200"/>
          </a:p>
        </p:txBody>
      </p:sp>
      <p:sp>
        <p:nvSpPr>
          <p:cNvPr id="3" name="Text 1">
            <a:extLst xmlns:a="http://schemas.openxmlformats.org/drawingml/2006/main">
              <a:ext uri="{FF2B5EF4-FFF2-40B4-BE49-F238E27FC236}">
                <a16:creationId xmlns:a16="http://schemas.microsoft.com/office/drawing/2014/main" id="{8730B749-BEF2-4EFC-AB69-E4B487085D78}"/>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Literature Review &amp; Research Gap</a:t>
            </a:r>
            <a:endParaRPr sz="2800"/>
          </a:p>
        </p:txBody>
      </p:sp>
      <p:sp>
        <p:nvSpPr>
          <p:cNvPr id="4" name="Text 2">
            <a:extLst xmlns:a="http://schemas.openxmlformats.org/drawingml/2006/main">
              <a:ext uri="{FF2B5EF4-FFF2-40B4-BE49-F238E27FC236}">
                <a16:creationId xmlns:a16="http://schemas.microsoft.com/office/drawing/2014/main" id="{6AF75834-5202-47F4-BDB7-37228171BCDD}"/>
              </a:ext>
            </a:extLst>
          </p:cNvPr>
          <p:cNvSpPr>
            <a:spLocks xmlns:a="http://schemas.openxmlformats.org/drawingml/2006/main" noGrp="1"/>
          </p:cNvSpPr>
          <p:nvPr/>
        </p:nvSpPr>
        <p:spPr>
          <a:xfrm xmlns:a="http://schemas.openxmlformats.org/drawingml/2006/main">
            <a:off x="457200" y="1371600"/>
            <a:ext cx="731520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028090"/>
                </a:solidFill>
                <a:latin typeface="Calibri"/>
                <a:ea typeface="Calibri"/>
                <a:cs typeface="Calibri"/>
              </a:rPr>
              <a:t>RESEARCH GAP</a:t>
            </a:r>
            <a:endParaRPr sz="1100"/>
          </a:p>
        </p:txBody>
      </p:sp>
      <p:sp>
        <p:nvSpPr>
          <p:cNvPr id="5" name="Text 3">
            <a:extLst xmlns:a="http://schemas.openxmlformats.org/drawingml/2006/main">
              <a:ext uri="{FF2B5EF4-FFF2-40B4-BE49-F238E27FC236}">
                <a16:creationId xmlns:a16="http://schemas.microsoft.com/office/drawing/2014/main" id="{E02E651F-37AE-4A19-9CAB-0B3A7FC5541B}"/>
              </a:ext>
            </a:extLst>
          </p:cNvPr>
          <p:cNvSpPr>
            <a:spLocks xmlns:a="http://schemas.openxmlformats.org/drawingml/2006/main" noGrp="1"/>
          </p:cNvSpPr>
          <p:nvPr/>
        </p:nvSpPr>
        <p:spPr>
          <a:xfrm xmlns:a="http://schemas.openxmlformats.org/drawingml/2006/main">
            <a:off x="457200" y="1627632"/>
            <a:ext cx="1127455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200">
                <a:solidFill>
                  <a:srgbClr val="222B33"/>
                </a:solidFill>
                <a:latin typeface="Calibri"/>
                <a:ea typeface="Calibri"/>
                <a:cs typeface="Calibri"/>
              </a:rPr>
              <a:t>Existing PINN models are trained offline, adapt poorly to changing battery behaviour, and remain difficult to deploy in real-time BMS. Lightweight, continual-learning methods are still an open problem.</a:t>
            </a:r>
            <a:endParaRPr sz="1200"/>
          </a:p>
        </p:txBody>
      </p:sp>
      <p:graphicFrame>
        <p:nvGraphicFramePr>
          <p:cNvPr id="14" name="Table 0"/>
          <p:cNvGraphicFramePr/>
          <p:nvPr/>
        </p:nvGraphicFramePr>
        <p:xfrm>
          <a:off xmlns:a="http://schemas.openxmlformats.org/drawingml/2006/main" x="457200" y="2240280"/>
          <a:ext xmlns:a="http://schemas.openxmlformats.org/drawingml/2006/main" cx="11274552" cy="914400"/>
        </p:xfrm>
        <a:graphic xmlns:a="http://schemas.openxmlformats.org/drawingml/2006/main">
          <a:graphicData uri="http://schemas.openxmlformats.org/drawingml/2006/table">
            <a:tbl>
              <a:tblPr/>
              <a:tblGrid>
                <a:gridCol w="1783080"/>
                <a:gridCol w="3246120"/>
                <a:gridCol w="2651760"/>
                <a:gridCol w="2770632"/>
              </a:tblGrid>
              <a:tr h="310896">
                <a:tc>
                  <a:txBody>
                    <a:bodyPr/>
                    <a:lstStyle/>
                    <a:p>
                      <a:pPr marL="0" indent="0">
                        <a:buNone/>
                      </a:pPr>
                      <a:r>
                        <a:rPr sz="1050" b="1">
                          <a:solidFill>
                            <a:srgbClr val="FFFFFF"/>
                          </a:solidFill>
                          <a:latin typeface="Calibri"/>
                          <a:ea typeface="Calibri"/>
                          <a:cs typeface="Calibri"/>
                        </a:rPr>
                        <a:t>Paper</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Key Contribution</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Limitation</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Our Improvement</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r>
              <a:tr h="777240">
                <a:tc>
                  <a:txBody>
                    <a:bodyPr/>
                    <a:lstStyle/>
                    <a:p>
                      <a:pPr marL="0" indent="0">
                        <a:buNone/>
                      </a:pPr>
                      <a:r>
                        <a:rPr sz="950" b="1">
                          <a:solidFill>
                            <a:srgbClr val="222B33"/>
                          </a:solidFill>
                          <a:latin typeface="Calibri"/>
                          <a:ea typeface="Calibri"/>
                          <a:cs typeface="Calibri"/>
                        </a:rPr>
                        <a:t>Applied Energy (2025)</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PINN + Transformer + multi-task learning predicts SOH, RUL and degradation path</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Offline training; adapting to new behaviour needs retraining</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b="1">
                          <a:solidFill>
                            <a:srgbClr val="028090"/>
                          </a:solidFill>
                          <a:latin typeface="Calibri"/>
                          <a:ea typeface="Calibri"/>
                          <a:cs typeface="Calibri"/>
                        </a:rPr>
                        <a:t>Adaptive Digital Twin with incremental fine-tuning</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58368">
                <a:tc>
                  <a:txBody>
                    <a:bodyPr/>
                    <a:lstStyle/>
                    <a:p>
                      <a:pPr marL="0" indent="0">
                        <a:buNone/>
                      </a:pPr>
                      <a:r>
                        <a:rPr sz="950" b="1">
                          <a:solidFill>
                            <a:srgbClr val="222B33"/>
                          </a:solidFill>
                          <a:latin typeface="Calibri"/>
                          <a:ea typeface="Calibri"/>
                          <a:cs typeface="Calibri"/>
                        </a:rPr>
                        <a:t>Energy (2026)</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EM-PINN integrates SEI growth physics for accurate SOH estimation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SOH-only; no Digital Twin or continual adaptation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b="1">
                          <a:solidFill>
                            <a:srgbClr val="028090"/>
                          </a:solidFill>
                          <a:latin typeface="Calibri"/>
                          <a:ea typeface="Calibri"/>
                          <a:cs typeface="Calibri"/>
                        </a:rPr>
                        <a:t>Combines PINN with a Digital Twin predicting SOH and RUL</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58368">
                <a:tc>
                  <a:txBody>
                    <a:bodyPr/>
                    <a:lstStyle/>
                    <a:p>
                      <a:pPr marL="0" indent="0">
                        <a:buNone/>
                      </a:pPr>
                      <a:r>
                        <a:rPr sz="950" b="1">
                          <a:solidFill>
                            <a:srgbClr val="222B33"/>
                          </a:solidFill>
                          <a:latin typeface="Calibri"/>
                          <a:ea typeface="Calibri"/>
                          <a:cs typeface="Calibri"/>
                        </a:rPr>
                        <a:t>Scientific Reports (2025)</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Cycle-aware physics-informed framework for RUL prediction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Offline; limited personalization per battery</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b="1">
                          <a:solidFill>
                            <a:srgbClr val="028090"/>
                          </a:solidFill>
                          <a:latin typeface="Calibri"/>
                          <a:ea typeface="Calibri"/>
                          <a:cs typeface="Calibri"/>
                        </a:rPr>
                        <a:t>Continuously updates predictions with new operational data</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58368">
                <a:tc>
                  <a:txBody>
                    <a:bodyPr/>
                    <a:lstStyle/>
                    <a:p>
                      <a:pPr marL="0" indent="0">
                        <a:buNone/>
                      </a:pPr>
                      <a:r>
                        <a:rPr sz="950" b="1">
                          <a:solidFill>
                            <a:srgbClr val="222B33"/>
                          </a:solidFill>
                          <a:latin typeface="Calibri"/>
                          <a:ea typeface="Calibri"/>
                          <a:cs typeface="Calibri"/>
                        </a:rPr>
                        <a:t>Complex &amp; Intelligent Systems (2025)</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PINN + contrastive learning for low-label SOH estimation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Train-then-deploy workflow; no post-deployment adaptation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b="1">
                          <a:solidFill>
                            <a:srgbClr val="028090"/>
                          </a:solidFill>
                          <a:latin typeface="Calibri"/>
                          <a:ea typeface="Calibri"/>
                          <a:cs typeface="Calibri"/>
                        </a:rPr>
                        <a:t>Supports incremental learning without full retraining</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58368">
                <a:tc>
                  <a:txBody>
                    <a:bodyPr/>
                    <a:lstStyle/>
                    <a:p>
                      <a:pPr marL="0" indent="0">
                        <a:buNone/>
                      </a:pPr>
                      <a:r>
                        <a:rPr sz="950" b="1">
                          <a:solidFill>
                            <a:srgbClr val="FFFFFF"/>
                          </a:solidFill>
                          <a:latin typeface="Calibri"/>
                          <a:ea typeface="Calibri"/>
                          <a:cs typeface="Calibri"/>
                        </a:rPr>
                        <a:t>Proposed Work</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b="1">
                          <a:solidFill>
                            <a:srgbClr val="FFFFFF"/>
                          </a:solidFill>
                          <a:latin typeface="Calibri"/>
                          <a:ea typeface="Calibri"/>
                          <a:cs typeface="Calibri"/>
                        </a:rPr>
                        <a:t>Transformer + PINN + Feedforward DNN + Digital Twin + Adaptive Learning</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a:solidFill>
                            <a:srgbClr val="FFFFFF"/>
                          </a:solidFill>
                          <a:latin typeface="Calibri"/>
                          <a:ea typeface="Calibri"/>
                          <a:cs typeface="Calibri"/>
                        </a:rPr>
                        <a:t>—</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b="1">
                          <a:solidFill>
                            <a:srgbClr val="FFFFFF"/>
                          </a:solidFill>
                          <a:latin typeface="Calibri"/>
                          <a:ea typeface="Calibri"/>
                          <a:cs typeface="Calibri"/>
                        </a:rPr>
                        <a:t>Incremental fine-tuning on new battery behaviour, preserving physics constraints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r>
            </a:tbl>
          </a:graphicData>
        </a:graphic>
      </p:graphicFrame>
      <p:sp>
        <p:nvSpPr>
          <p:cNvPr id="7" name="Text 4">
            <a:extLst xmlns:a="http://schemas.openxmlformats.org/drawingml/2006/main">
              <a:ext uri="{FF2B5EF4-FFF2-40B4-BE49-F238E27FC236}">
                <a16:creationId xmlns:a16="http://schemas.microsoft.com/office/drawing/2014/main" id="{B301B0E3-93B1-490F-A880-AA27300B018E}"/>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8" name="Text 5">
            <a:extLst xmlns:a="http://schemas.openxmlformats.org/drawingml/2006/main">
              <a:ext uri="{FF2B5EF4-FFF2-40B4-BE49-F238E27FC236}">
                <a16:creationId xmlns:a16="http://schemas.microsoft.com/office/drawing/2014/main" id="{9E049BE4-2F90-4F94-A8EF-BF1A847AF040}"/>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6 / 10</a:t>
            </a:r>
            <a:endParaRPr sz="900"/>
          </a:p>
        </p:txBody>
      </p:sp>
    </p:spTree>
    <p:extLst>
      <p:ext uri="{BB962C8B-B14F-4D97-AF65-F5344CB8AC3E}">
        <p14:creationId xmlns:p14="http://schemas.microsoft.com/office/powerpoint/2010/main" val="5576645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009B6E7-5AF8-4B02-8D63-F4B2717A7B3D}"/>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FOUNDATION FOR TRAINING</a:t>
            </a:r>
            <a:endParaRPr sz="1200"/>
          </a:p>
        </p:txBody>
      </p:sp>
      <p:sp>
        <p:nvSpPr>
          <p:cNvPr id="3" name="Text 1">
            <a:extLst xmlns:a="http://schemas.openxmlformats.org/drawingml/2006/main">
              <a:ext uri="{FF2B5EF4-FFF2-40B4-BE49-F238E27FC236}">
                <a16:creationId xmlns:a16="http://schemas.microsoft.com/office/drawing/2014/main" id="{F2A5353E-C257-4A7D-A91A-D620F0617953}"/>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Datasets Used &amp; Rationale</a:t>
            </a:r>
            <a:endParaRPr sz="2800"/>
          </a:p>
        </p:txBody>
      </p:sp>
      <p:sp>
        <p:nvSpPr>
          <p:cNvPr id="4" name="Text 2">
            <a:extLst xmlns:a="http://schemas.openxmlformats.org/drawingml/2006/main">
              <a:ext uri="{FF2B5EF4-FFF2-40B4-BE49-F238E27FC236}">
                <a16:creationId xmlns:a16="http://schemas.microsoft.com/office/drawing/2014/main" id="{EA4F8D67-E77D-436A-8419-27C44AF943D1}"/>
              </a:ext>
            </a:extLst>
          </p:cNvPr>
          <p:cNvSpPr>
            <a:spLocks xmlns:a="http://schemas.openxmlformats.org/drawingml/2006/main" noGrp="1"/>
          </p:cNvSpPr>
          <p:nvPr/>
        </p:nvSpPr>
        <p:spPr>
          <a:xfrm xmlns:a="http://schemas.openxmlformats.org/drawingml/2006/main">
            <a:off x="457200" y="1371600"/>
            <a:ext cx="731520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028090"/>
                </a:solidFill>
                <a:latin typeface="Calibri"/>
                <a:ea typeface="Calibri"/>
                <a:cs typeface="Calibri"/>
              </a:rPr>
              <a:t>SELECTED DATASETS</a:t>
            </a:r>
            <a:endParaRPr sz="1100"/>
          </a:p>
        </p:txBody>
      </p:sp>
      <p:sp>
        <p:nvSpPr>
          <p:cNvPr id="5" name="Text 3">
            <a:extLst xmlns:a="http://schemas.openxmlformats.org/drawingml/2006/main">
              <a:ext uri="{FF2B5EF4-FFF2-40B4-BE49-F238E27FC236}">
                <a16:creationId xmlns:a16="http://schemas.microsoft.com/office/drawing/2014/main" id="{EBDAF778-EFAF-4CEA-8F09-227A8E522485}"/>
              </a:ext>
            </a:extLst>
          </p:cNvPr>
          <p:cNvSpPr>
            <a:spLocks xmlns:a="http://schemas.openxmlformats.org/drawingml/2006/main" noGrp="1"/>
          </p:cNvSpPr>
          <p:nvPr/>
        </p:nvSpPr>
        <p:spPr>
          <a:xfrm xmlns:a="http://schemas.openxmlformats.org/drawingml/2006/main">
            <a:off x="457200" y="1627632"/>
            <a:ext cx="1127455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200">
                <a:solidFill>
                  <a:srgbClr val="222B33"/>
                </a:solidFill>
                <a:latin typeface="Calibri"/>
                <a:ea typeface="Calibri"/>
                <a:cs typeface="Calibri"/>
              </a:rPr>
              <a:t>Public benchmark battery datasets cited across the reviewed papers, spanning lab-aged, second-life, and vehicle-field conditions, chosen to validate SOH/RUL estimation under diverse chemistries and operating regimes.</a:t>
            </a:r>
            <a:endParaRPr sz="1200"/>
          </a:p>
        </p:txBody>
      </p:sp>
      <p:graphicFrame>
        <p:nvGraphicFramePr>
          <p:cNvPr id="14" name="Table 0"/>
          <p:cNvGraphicFramePr/>
          <p:nvPr/>
        </p:nvGraphicFramePr>
        <p:xfrm>
          <a:off xmlns:a="http://schemas.openxmlformats.org/drawingml/2006/main" x="457200" y="2240280"/>
          <a:ext xmlns:a="http://schemas.openxmlformats.org/drawingml/2006/main" cx="11274552" cy="914400"/>
        </p:xfrm>
        <a:graphic xmlns:a="http://schemas.openxmlformats.org/drawingml/2006/main">
          <a:graphicData uri="http://schemas.openxmlformats.org/drawingml/2006/table">
            <a:tbl>
              <a:tblPr/>
              <a:tblGrid>
                <a:gridCol w="1783080"/>
                <a:gridCol w="3246120"/>
                <a:gridCol w="2651760"/>
                <a:gridCol w="2770632"/>
              </a:tblGrid>
              <a:tr h="310896">
                <a:tc>
                  <a:txBody>
                    <a:bodyPr/>
                    <a:lstStyle/>
                    <a:p>
                      <a:pPr marL="0" indent="0">
                        <a:buNone/>
                      </a:pPr>
                      <a:r>
                        <a:rPr sz="1050" b="1">
                          <a:solidFill>
                            <a:srgbClr val="FFFFFF"/>
                          </a:solidFill>
                          <a:latin typeface="Calibri"/>
                          <a:ea typeface="Calibri"/>
                          <a:cs typeface="Calibri"/>
                        </a:rPr>
                        <a:t>Dataset</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Scope</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Link</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Why This Dataset</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r>
              <a:tr h="777240">
                <a:tc>
                  <a:txBody>
                    <a:bodyPr/>
                    <a:lstStyle/>
                    <a:p>
                      <a:pPr marL="0" indent="0">
                        <a:buNone/>
                      </a:pPr>
                      <a:r>
                        <a:rPr sz="950" b="1">
                          <a:solidFill>
                            <a:srgbClr val="222B33"/>
                          </a:solidFill>
                          <a:latin typeface="Calibri"/>
                          <a:ea typeface="Calibri"/>
                          <a:cs typeface="Calibri"/>
                        </a:rPr>
                        <a:t>NASA &amp; Oxford Battery</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Lab-aged Li-ion cells; narrow current/temperature range; classic PINN-SOH benchmark</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028090"/>
                          </a:solidFill>
                          <a:latin typeface="Calibri"/>
                          <a:ea typeface="Calibri"/>
                          <a:cs typeface="Calibri"/>
                        </a:rPr>
                        <a:t>data.nasa.gov (PCoE)</a:t>
                      </a:r>
                      <a:r>
                        <a:rPr sz="950">
                          <a:solidFill>
                            <a:srgbClr val="5B6B79"/>
                          </a:solidFill>
                          <a:latin typeface="Calibri"/>
                          <a:ea typeface="Calibri"/>
                          <a:cs typeface="Calibri"/>
                        </a:rPr>
                        <a:t> / </a:t>
                      </a:r>
                      <a:r>
                        <a:rPr sz="950">
                          <a:solidFill>
                            <a:srgbClr val="028090"/>
                          </a:solidFill>
                          <a:latin typeface="Calibri"/>
                          <a:ea typeface="Calibri"/>
                          <a:cs typeface="Calibri"/>
                        </a:rPr>
                        <a:t>howey-lab Oxford Battery Degradation Dataset</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b="1">
                          <a:solidFill>
                            <a:srgbClr val="028090"/>
                          </a:solidFill>
                          <a:latin typeface="Calibri"/>
                          <a:ea typeface="Calibri"/>
                          <a:cs typeface="Calibri"/>
                        </a:rPr>
                        <a:t>[0] </a:t>
                      </a:r>
                      <a:r>
                        <a:rPr sz="950" b="1">
                          <a:solidFill>
                            <a:srgbClr val="028090"/>
                          </a:solidFill>
                          <a:latin typeface="Calibri"/>
                          <a:ea typeface="Calibri"/>
                          <a:cs typeface="Calibri"/>
                        </a:rPr>
                        <a:t>Standard reference set used by our base-paper PINN methodology review to validate degradation-physics constraints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58368">
                <a:tc>
                  <a:txBody>
                    <a:bodyPr/>
                    <a:lstStyle/>
                    <a:p>
                      <a:pPr marL="0" indent="0">
                        <a:buNone/>
                      </a:pPr>
                      <a:r>
                        <a:rPr sz="950" b="1">
                          <a:solidFill>
                            <a:srgbClr val="222B33"/>
                          </a:solidFill>
                          <a:latin typeface="Calibri"/>
                          <a:ea typeface="Calibri"/>
                          <a:cs typeface="Calibri"/>
                        </a:rPr>
                        <a:t>Stanford-MIT-Toyota (Severson)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124 LFP/graphite cells, 72 fast-charging policies, cycled to end-of-life</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028090"/>
                          </a:solidFill>
                          <a:latin typeface="Calibri"/>
                          <a:ea typeface="Calibri"/>
                          <a:cs typeface="Calibri"/>
                        </a:rPr>
                        <a:t>data.matr.io (Battery Evaluation and Early Prediction project)</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b="1">
                          <a:solidFill>
                            <a:srgbClr val="028090"/>
                          </a:solidFill>
                          <a:latin typeface="Calibri"/>
                          <a:ea typeface="Calibri"/>
                          <a:cs typeface="Calibri"/>
                        </a:rPr>
                        <a:t>[1] </a:t>
                      </a:r>
                      <a:r>
                        <a:rPr sz="950" b="1">
                          <a:solidFill>
                            <a:srgbClr val="028090"/>
                          </a:solidFill>
                          <a:latin typeface="Calibri"/>
                          <a:ea typeface="Calibri"/>
                          <a:cs typeface="Calibri"/>
                        </a:rPr>
                        <a:t>Used by the RUL-focused papers for early-cycle degradation trajectories and fast-charging diversity</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58368">
                <a:tc>
                  <a:txBody>
                    <a:bodyPr/>
                    <a:lstStyle/>
                    <a:p>
                      <a:pPr marL="0" indent="0">
                        <a:buNone/>
                      </a:pPr>
                      <a:r>
                        <a:rPr sz="950" b="1">
                          <a:solidFill>
                            <a:srgbClr val="222B33"/>
                          </a:solidFill>
                          <a:latin typeface="Calibri"/>
                          <a:ea typeface="Calibri"/>
                          <a:cs typeface="Calibri"/>
                        </a:rPr>
                        <a:t>TJU &amp; XJTU</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Multi-chemistry aging data with IC-curve health features across varied cycling protocols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Tianjin University / </a:t>
                      </a:r>
                      <a:r>
                        <a:rPr sz="950">
                          <a:solidFill>
                            <a:srgbClr val="028090"/>
                          </a:solidFill>
                          <a:latin typeface="Calibri"/>
                          <a:ea typeface="Calibri"/>
                          <a:cs typeface="Calibri"/>
                        </a:rPr>
                        <a:t>Xi'an Jiaotong University battery aging repositories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b="1">
                          <a:solidFill>
                            <a:srgbClr val="028090"/>
                          </a:solidFill>
                          <a:latin typeface="Calibri"/>
                          <a:ea typeface="Calibri"/>
                          <a:cs typeface="Calibri"/>
                        </a:rPr>
                        <a:t>[2] </a:t>
                      </a:r>
                      <a:r>
                        <a:rPr sz="950" b="1">
                          <a:solidFill>
                            <a:srgbClr val="028090"/>
                          </a:solidFill>
                          <a:latin typeface="Calibri"/>
                          <a:ea typeface="Calibri"/>
                          <a:cs typeface="Calibri"/>
                        </a:rPr>
                        <a:t>Referenced by the time-series PINN-SOH literature to test cross-dataset transfer of the Adaptive Learning module</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58368">
                <a:tc>
                  <a:txBody>
                    <a:bodyPr/>
                    <a:lstStyle/>
                    <a:p>
                      <a:pPr marL="0" indent="0">
                        <a:buNone/>
                      </a:pPr>
                      <a:r>
                        <a:rPr sz="950" b="1">
                          <a:solidFill>
                            <a:srgbClr val="222B33"/>
                          </a:solidFill>
                          <a:latin typeface="Calibri"/>
                          <a:ea typeface="Calibri"/>
                          <a:cs typeface="Calibri"/>
                        </a:rPr>
                        <a:t>CALCE &amp; Panasonic 18650PF</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Dynamic charge/discharge cycles, -10°C to 20°C, multi-temperature conditions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028090"/>
                          </a:solidFill>
                          <a:latin typeface="Calibri"/>
                          <a:ea typeface="Calibri"/>
                          <a:cs typeface="Calibri"/>
                        </a:rPr>
                        <a:t>calce.umd.edu (Battery Research Group)</a:t>
                      </a:r>
                      <a:r>
                        <a:rPr sz="950">
                          <a:solidFill>
                            <a:srgbClr val="5B6B79"/>
                          </a:solidFill>
                          <a:latin typeface="Calibri"/>
                          <a:ea typeface="Calibri"/>
                          <a:cs typeface="Calibri"/>
                        </a:rPr>
                        <a:t> / </a:t>
                      </a:r>
                      <a:r>
                        <a:rPr sz="950">
                          <a:solidFill>
                            <a:srgbClr val="028090"/>
                          </a:solidFill>
                          <a:latin typeface="Calibri"/>
                          <a:ea typeface="Calibri"/>
                          <a:cs typeface="Calibri"/>
                        </a:rPr>
                        <a:t>NASA Ames Prognostics Center</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b="1">
                          <a:solidFill>
                            <a:srgbClr val="028090"/>
                          </a:solidFill>
                          <a:latin typeface="Calibri"/>
                          <a:ea typeface="Calibri"/>
                          <a:cs typeface="Calibri"/>
                        </a:rPr>
                        <a:t>[3] </a:t>
                      </a:r>
                      <a:r>
                        <a:rPr sz="950" b="1">
                          <a:solidFill>
                            <a:srgbClr val="028090"/>
                          </a:solidFill>
                          <a:latin typeface="Calibri"/>
                          <a:ea typeface="Calibri"/>
                          <a:cs typeface="Calibri"/>
                        </a:rPr>
                        <a:t>Provides low-temperature, condition-diverse cycles to stress-test physics-informed robustness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58368">
                <a:tc>
                  <a:txBody>
                    <a:bodyPr/>
                    <a:lstStyle/>
                    <a:p>
                      <a:pPr marL="0" indent="0">
                        <a:buNone/>
                      </a:pPr>
                      <a:r>
                        <a:rPr sz="950" b="1">
                          <a:solidFill>
                            <a:srgbClr val="FFFFFF"/>
                          </a:solidFill>
                          <a:latin typeface="Calibri"/>
                          <a:ea typeface="Calibri"/>
                          <a:cs typeface="Calibri"/>
                        </a:rPr>
                        <a:t>Second-Life LIB (SL-LIB)</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b="1">
                          <a:solidFill>
                            <a:srgbClr val="FFFFFF"/>
                          </a:solidFill>
                          <a:latin typeface="Calibri"/>
                          <a:ea typeface="Calibri"/>
                          <a:cs typeface="Calibri"/>
                        </a:rPr>
                        <a:t>84 retired batteries, 21 working conditions, real second-life usage patterns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a:solidFill>
                            <a:srgbClr val="FFFFFF"/>
                          </a:solidFill>
                          <a:latin typeface="Calibri"/>
                          <a:ea typeface="Calibri"/>
                          <a:cs typeface="Calibri"/>
                        </a:rPr>
                        <a:t>Self-designed dataset (Bayesian PINN, Applied Energy 2025)</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b="1">
                          <a:solidFill>
                            <a:srgbClr val="FFFFFF"/>
                          </a:solidFill>
                          <a:latin typeface="Calibri"/>
                          <a:ea typeface="Calibri"/>
                          <a:cs typeface="Calibri"/>
                        </a:rPr>
                        <a:t>[4] </a:t>
                      </a:r>
                      <a:r>
                        <a:rPr sz="950" b="1">
                          <a:solidFill>
                            <a:srgbClr val="FFFFFF"/>
                          </a:solidFill>
                          <a:latin typeface="Calibri"/>
                          <a:ea typeface="Calibri"/>
                          <a:cs typeface="Calibri"/>
                        </a:rPr>
                        <a:t>Real-world retired-battery data supports validating adaptive learning on genuinely shifting degradation behaviour</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r>
            </a:tbl>
          </a:graphicData>
        </a:graphic>
      </p:graphicFrame>
      <p:sp>
        <p:nvSpPr>
          <p:cNvPr id="7" name="Text 4">
            <a:extLst xmlns:a="http://schemas.openxmlformats.org/drawingml/2006/main">
              <a:ext uri="{FF2B5EF4-FFF2-40B4-BE49-F238E27FC236}">
                <a16:creationId xmlns:a16="http://schemas.microsoft.com/office/drawing/2014/main" id="{7F9F0DD5-41F1-48F2-BC7B-4C2122639982}"/>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Datasets Used &amp; Rationale</a:t>
            </a:r>
            <a:endParaRPr sz="900"/>
          </a:p>
        </p:txBody>
      </p:sp>
      <p:sp>
        <p:nvSpPr>
          <p:cNvPr id="8" name="Text 5">
            <a:extLst xmlns:a="http://schemas.openxmlformats.org/drawingml/2006/main">
              <a:ext uri="{FF2B5EF4-FFF2-40B4-BE49-F238E27FC236}">
                <a16:creationId xmlns:a16="http://schemas.microsoft.com/office/drawing/2014/main" id="{3CEAE3CF-B71A-4F07-B4A5-5C360CBC376C}"/>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7 / 11</a:t>
            </a:r>
            <a:endParaRPr sz="900"/>
          </a:p>
        </p:txBody>
      </p:sp>
    </p:spTree>
    <p:extLst>
      <p:ext uri="{BB962C8B-B14F-4D97-AF65-F5344CB8AC3E}">
        <p14:creationId xmlns:p14="http://schemas.microsoft.com/office/powerpoint/2010/main" val="10998945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43846E-B2C1-4F72-B5DC-94D32D28FB15}"/>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WHAT SETS THIS WORK APART</a:t>
            </a:r>
            <a:endParaRPr sz="1200"/>
          </a:p>
        </p:txBody>
      </p:sp>
      <p:sp>
        <p:nvSpPr>
          <p:cNvPr id="3" name="Text 1">
            <a:extLst xmlns:a="http://schemas.openxmlformats.org/drawingml/2006/main">
              <a:ext uri="{FF2B5EF4-FFF2-40B4-BE49-F238E27FC236}">
                <a16:creationId xmlns:a16="http://schemas.microsoft.com/office/drawing/2014/main" id="{92F656DD-D2E1-4DB5-BDD8-145E6AFE75C7}"/>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Novel Contribution: Adaptive Incremental Learning</a:t>
            </a:r>
            <a:endParaRPr sz="2800"/>
          </a:p>
        </p:txBody>
      </p:sp>
      <p:sp>
        <p:nvSpPr>
          <p:cNvPr id="4" name="Text 2">
            <a:extLst xmlns:a="http://schemas.openxmlformats.org/drawingml/2006/main">
              <a:ext uri="{FF2B5EF4-FFF2-40B4-BE49-F238E27FC236}">
                <a16:creationId xmlns:a16="http://schemas.microsoft.com/office/drawing/2014/main" id="{29F70BB2-3596-4295-A7B0-A39DC23FB97E}"/>
              </a:ext>
            </a:extLst>
          </p:cNvPr>
          <p:cNvSpPr>
            <a:spLocks xmlns:a="http://schemas.openxmlformats.org/drawingml/2006/main" noGrp="1"/>
          </p:cNvSpPr>
          <p:nvPr/>
        </p:nvSpPr>
        <p:spPr>
          <a:xfrm xmlns:a="http://schemas.openxmlformats.org/drawingml/2006/main">
            <a:off x="457200" y="1353312"/>
            <a:ext cx="112745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200">
                <a:solidFill>
                  <a:srgbClr val="222B33"/>
                </a:solidFill>
                <a:latin typeface="Calibri"/>
                <a:ea typeface="Calibri"/>
                <a:cs typeface="Calibri"/>
              </a:rPr>
              <a:t>Traditional models are trained once on historical data. When battery behaviour shifts with aging, temperature or charging patterns, the whole model must often be retrained — expensive and impractical for real-time BMS.</a:t>
            </a:r>
            <a:endParaRPr sz="1200"/>
          </a:p>
        </p:txBody>
      </p:sp>
      <p:sp>
        <p:nvSpPr>
          <p:cNvPr id="5" name="Shape 3">
            <a:extLst xmlns:a="http://schemas.openxmlformats.org/drawingml/2006/main">
              <a:ext uri="{FF2B5EF4-FFF2-40B4-BE49-F238E27FC236}">
                <a16:creationId xmlns:a16="http://schemas.microsoft.com/office/drawing/2014/main" id="{369CDD3A-F73A-4B37-A96C-EEFF460E477D}"/>
              </a:ext>
            </a:extLst>
          </p:cNvPr>
          <p:cNvSpPr>
            <a:spLocks xmlns:a="http://schemas.openxmlformats.org/drawingml/2006/main" noGrp="1"/>
          </p:cNvSpPr>
          <p:nvPr/>
        </p:nvSpPr>
        <p:spPr>
          <a:xfrm xmlns:a="http://schemas.openxmlformats.org/drawingml/2006/main">
            <a:off x="457200" y="2011680"/>
            <a:ext cx="5454396" cy="1234440"/>
          </a:xfrm>
          <a:prstGeom xmlns:a="http://schemas.openxmlformats.org/drawingml/2006/main" prst="roundRect">
            <a:avLst>
              <a:gd name="adj" fmla="val 5185"/>
            </a:avLst>
          </a:prstGeom>
          <a:solidFill xmlns:a="http://schemas.openxmlformats.org/drawingml/2006/main">
            <a:srgbClr val="0B2545"/>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A2ED891E-54F6-4AE9-89D2-B78FC0BD67B7}"/>
              </a:ext>
            </a:extLst>
          </p:cNvPr>
          <p:cNvSpPr>
            <a:spLocks xmlns:a="http://schemas.openxmlformats.org/drawingml/2006/main" noGrp="1"/>
          </p:cNvSpPr>
          <p:nvPr/>
        </p:nvSpPr>
        <p:spPr>
          <a:xfrm xmlns:a="http://schemas.openxmlformats.org/drawingml/2006/main">
            <a:off x="685800" y="2121408"/>
            <a:ext cx="499719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spc="100">
                <a:solidFill>
                  <a:srgbClr val="00A896"/>
                </a:solidFill>
                <a:latin typeface="Calibri"/>
                <a:ea typeface="Calibri"/>
                <a:cs typeface="Calibri"/>
              </a:rPr>
              <a:t>WITHOUT ADAPTIVE LEARNING</a:t>
            </a:r>
            <a:endParaRPr sz="1050"/>
          </a:p>
        </p:txBody>
      </p:sp>
      <p:sp>
        <p:nvSpPr>
          <p:cNvPr id="7" name="Shape 5">
            <a:extLst xmlns:a="http://schemas.openxmlformats.org/drawingml/2006/main">
              <a:ext uri="{FF2B5EF4-FFF2-40B4-BE49-F238E27FC236}">
                <a16:creationId xmlns:a16="http://schemas.microsoft.com/office/drawing/2014/main" id="{5BE5D7FD-96FA-4B9E-A651-483A6DD18E31}"/>
              </a:ext>
            </a:extLst>
          </p:cNvPr>
          <p:cNvSpPr>
            <a:spLocks xmlns:a="http://schemas.openxmlformats.org/drawingml/2006/main" noGrp="1"/>
          </p:cNvSpPr>
          <p:nvPr/>
        </p:nvSpPr>
        <p:spPr>
          <a:xfrm xmlns:a="http://schemas.openxmlformats.org/drawingml/2006/main">
            <a:off x="685800" y="2514600"/>
            <a:ext cx="1421892" cy="548640"/>
          </a:xfrm>
          <a:prstGeom xmlns:a="http://schemas.openxmlformats.org/drawingml/2006/main" prst="roundRect">
            <a:avLst>
              <a:gd name="adj" fmla="val 8333"/>
            </a:avLst>
          </a:prstGeom>
          <a:solidFill xmlns:a="http://schemas.openxmlformats.org/drawingml/2006/main">
            <a:srgbClr val="13355E"/>
          </a:solidFill>
          <a:ln xmlns:a="http://schemas.openxmlformats.org/drawingml/2006/main" w="9525">
            <a:solidFill>
              <a:srgbClr val="2E6C99"/>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1049F3-4B6E-416C-A979-660BB580FFC8}"/>
              </a:ext>
            </a:extLst>
          </p:cNvPr>
          <p:cNvSpPr>
            <a:spLocks xmlns:a="http://schemas.openxmlformats.org/drawingml/2006/main" noGrp="1"/>
          </p:cNvSpPr>
          <p:nvPr/>
        </p:nvSpPr>
        <p:spPr>
          <a:xfrm xmlns:a="http://schemas.openxmlformats.org/drawingml/2006/main">
            <a:off x="731520"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FFFFFF"/>
                </a:solidFill>
                <a:latin typeface="Calibri"/>
                <a:ea typeface="Calibri"/>
                <a:cs typeface="Calibri"/>
              </a:rPr>
              <a:t>Old + New</a:t>
            </a:r>
            <a:endParaRPr sz="900"/>
          </a:p>
          <a:p xmlns:a="http://schemas.openxmlformats.org/drawingml/2006/main">
            <a:pPr marL="0" indent="0" algn="ctr">
              <a:lnSpc>
                <a:spcPts val="1000"/>
              </a:lnSpc>
              <a:buNone/>
            </a:pPr>
            <a:r>
              <a:rPr sz="900" b="1">
                <a:solidFill>
                  <a:srgbClr val="FFFFFF"/>
                </a:solidFill>
                <a:latin typeface="Calibri"/>
                <a:ea typeface="Calibri"/>
                <a:cs typeface="Calibri"/>
              </a:rPr>
              <a:t>Dataset</a:t>
            </a:r>
            <a:endParaRPr sz="900"/>
          </a:p>
        </p:txBody>
      </p:sp>
      <p:sp>
        <p:nvSpPr>
          <p:cNvPr id="9" name="Shape 7">
            <a:extLst xmlns:a="http://schemas.openxmlformats.org/drawingml/2006/main">
              <a:ext uri="{FF2B5EF4-FFF2-40B4-BE49-F238E27FC236}">
                <a16:creationId xmlns:a16="http://schemas.microsoft.com/office/drawing/2014/main" id="{977F11E2-65C2-47EB-9F4F-880FDC70A168}"/>
              </a:ext>
            </a:extLst>
          </p:cNvPr>
          <p:cNvSpPr>
            <a:spLocks xmlns:a="http://schemas.openxmlformats.org/drawingml/2006/main" noGrp="1"/>
          </p:cNvSpPr>
          <p:nvPr/>
        </p:nvSpPr>
        <p:spPr>
          <a:xfrm xmlns:a="http://schemas.openxmlformats.org/drawingml/2006/main">
            <a:off x="2124151" y="2660904"/>
            <a:ext cx="201168" cy="256032"/>
          </a:xfrm>
          <a:prstGeom xmlns:a="http://schemas.openxmlformats.org/drawingml/2006/main" prst="chevron">
            <a:avLst/>
          </a:prstGeom>
          <a:solidFill xmlns:a="http://schemas.openxmlformats.org/drawingml/2006/main">
            <a:srgbClr val="5B6B79"/>
          </a:solidFill>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C03005AE-AF52-4F8B-94C9-F6C7BD017DC8}"/>
              </a:ext>
            </a:extLst>
          </p:cNvPr>
          <p:cNvSpPr>
            <a:spLocks xmlns:a="http://schemas.openxmlformats.org/drawingml/2006/main" noGrp="1"/>
          </p:cNvSpPr>
          <p:nvPr/>
        </p:nvSpPr>
        <p:spPr>
          <a:xfrm xmlns:a="http://schemas.openxmlformats.org/drawingml/2006/main">
            <a:off x="2473452" y="2514600"/>
            <a:ext cx="1421892" cy="548640"/>
          </a:xfrm>
          <a:prstGeom xmlns:a="http://schemas.openxmlformats.org/drawingml/2006/main" prst="roundRect">
            <a:avLst>
              <a:gd name="adj" fmla="val 8333"/>
            </a:avLst>
          </a:prstGeom>
          <a:solidFill xmlns:a="http://schemas.openxmlformats.org/drawingml/2006/main">
            <a:srgbClr val="13355E"/>
          </a:solidFill>
          <a:ln xmlns:a="http://schemas.openxmlformats.org/drawingml/2006/main" w="9525">
            <a:solidFill>
              <a:srgbClr val="2E6C99"/>
            </a:solidFill>
            <a:prstDash val="solid"/>
          </a:ln>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85D696FB-92DD-4AEB-AC1B-140E1F3882E3}"/>
              </a:ext>
            </a:extLst>
          </p:cNvPr>
          <p:cNvSpPr>
            <a:spLocks xmlns:a="http://schemas.openxmlformats.org/drawingml/2006/main" noGrp="1"/>
          </p:cNvSpPr>
          <p:nvPr/>
        </p:nvSpPr>
        <p:spPr>
          <a:xfrm xmlns:a="http://schemas.openxmlformats.org/drawingml/2006/main">
            <a:off x="2519172"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FFFFFF"/>
                </a:solidFill>
                <a:latin typeface="Calibri"/>
                <a:ea typeface="Calibri"/>
                <a:cs typeface="Calibri"/>
              </a:rPr>
              <a:t>Retrain</a:t>
            </a:r>
            <a:endParaRPr sz="900"/>
          </a:p>
          <a:p xmlns:a="http://schemas.openxmlformats.org/drawingml/2006/main">
            <a:pPr marL="0" indent="0" algn="ctr">
              <a:lnSpc>
                <a:spcPts val="1000"/>
              </a:lnSpc>
              <a:buNone/>
            </a:pPr>
            <a:r>
              <a:rPr sz="900" b="1">
                <a:solidFill>
                  <a:srgbClr val="FFFFFF"/>
                </a:solidFill>
                <a:latin typeface="Calibri"/>
                <a:ea typeface="Calibri"/>
                <a:cs typeface="Calibri"/>
              </a:rPr>
              <a:t>Everything</a:t>
            </a:r>
            <a:endParaRPr sz="900"/>
          </a:p>
        </p:txBody>
      </p:sp>
      <p:sp>
        <p:nvSpPr>
          <p:cNvPr id="12" name="Shape 10">
            <a:extLst xmlns:a="http://schemas.openxmlformats.org/drawingml/2006/main">
              <a:ext uri="{FF2B5EF4-FFF2-40B4-BE49-F238E27FC236}">
                <a16:creationId xmlns:a16="http://schemas.microsoft.com/office/drawing/2014/main" id="{E503F26F-79B5-4B29-9B97-978CC9653DD9}"/>
              </a:ext>
            </a:extLst>
          </p:cNvPr>
          <p:cNvSpPr>
            <a:spLocks xmlns:a="http://schemas.openxmlformats.org/drawingml/2006/main" noGrp="1"/>
          </p:cNvSpPr>
          <p:nvPr/>
        </p:nvSpPr>
        <p:spPr>
          <a:xfrm xmlns:a="http://schemas.openxmlformats.org/drawingml/2006/main">
            <a:off x="3911803" y="2660904"/>
            <a:ext cx="201168" cy="256032"/>
          </a:xfrm>
          <a:prstGeom xmlns:a="http://schemas.openxmlformats.org/drawingml/2006/main" prst="chevron">
            <a:avLst/>
          </a:prstGeom>
          <a:solidFill xmlns:a="http://schemas.openxmlformats.org/drawingml/2006/main">
            <a:srgbClr val="5B6B79"/>
          </a:solidFill>
        </p:spPr>
        <p:txBody xmlns:a="http://schemas.openxmlformats.org/drawingml/2006/main">
          <a:bodyPr/>
          <a:p/>
        </p:txBody>
      </p:sp>
      <p:sp>
        <p:nvSpPr>
          <p:cNvPr id="13" name="Shape 11">
            <a:extLst xmlns:a="http://schemas.openxmlformats.org/drawingml/2006/main">
              <a:ext uri="{FF2B5EF4-FFF2-40B4-BE49-F238E27FC236}">
                <a16:creationId xmlns:a16="http://schemas.microsoft.com/office/drawing/2014/main" id="{480DDC21-441D-4A32-AA3E-4D94242A2FFC}"/>
              </a:ext>
            </a:extLst>
          </p:cNvPr>
          <p:cNvSpPr>
            <a:spLocks xmlns:a="http://schemas.openxmlformats.org/drawingml/2006/main" noGrp="1"/>
          </p:cNvSpPr>
          <p:nvPr/>
        </p:nvSpPr>
        <p:spPr>
          <a:xfrm xmlns:a="http://schemas.openxmlformats.org/drawingml/2006/main">
            <a:off x="4261104" y="2514600"/>
            <a:ext cx="1421892" cy="548640"/>
          </a:xfrm>
          <a:prstGeom xmlns:a="http://schemas.openxmlformats.org/drawingml/2006/main" prst="roundRect">
            <a:avLst>
              <a:gd name="adj" fmla="val 8333"/>
            </a:avLst>
          </a:prstGeom>
          <a:solidFill xmlns:a="http://schemas.openxmlformats.org/drawingml/2006/main">
            <a:srgbClr val="13355E"/>
          </a:solidFill>
          <a:ln xmlns:a="http://schemas.openxmlformats.org/drawingml/2006/main" w="9525">
            <a:solidFill>
              <a:srgbClr val="2E6C99"/>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FC2E9521-983E-476B-840F-F9362BE166B3}"/>
              </a:ext>
            </a:extLst>
          </p:cNvPr>
          <p:cNvSpPr>
            <a:spLocks xmlns:a="http://schemas.openxmlformats.org/drawingml/2006/main" noGrp="1"/>
          </p:cNvSpPr>
          <p:nvPr/>
        </p:nvSpPr>
        <p:spPr>
          <a:xfrm xmlns:a="http://schemas.openxmlformats.org/drawingml/2006/main">
            <a:off x="4306824"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FFFFFF"/>
                </a:solidFill>
                <a:latin typeface="Calibri"/>
                <a:ea typeface="Calibri"/>
                <a:cs typeface="Calibri"/>
              </a:rPr>
              <a:t>Deploy New</a:t>
            </a:r>
            <a:endParaRPr sz="900"/>
          </a:p>
          <a:p xmlns:a="http://schemas.openxmlformats.org/drawingml/2006/main">
            <a:pPr marL="0" indent="0" algn="ctr">
              <a:lnSpc>
                <a:spcPts val="1000"/>
              </a:lnSpc>
              <a:buNone/>
            </a:pPr>
            <a:r>
              <a:rPr sz="900" b="1">
                <a:solidFill>
                  <a:srgbClr val="FFFFFF"/>
                </a:solidFill>
                <a:latin typeface="Calibri"/>
                <a:ea typeface="Calibri"/>
                <a:cs typeface="Calibri"/>
              </a:rPr>
              <a:t>Model</a:t>
            </a:r>
            <a:endParaRPr sz="900"/>
          </a:p>
        </p:txBody>
      </p:sp>
      <p:sp>
        <p:nvSpPr>
          <p:cNvPr id="15" name="Shape 13">
            <a:extLst xmlns:a="http://schemas.openxmlformats.org/drawingml/2006/main">
              <a:ext uri="{FF2B5EF4-FFF2-40B4-BE49-F238E27FC236}">
                <a16:creationId xmlns:a16="http://schemas.microsoft.com/office/drawing/2014/main" id="{93848841-78B3-4308-B6FD-7D9485BC1DC6}"/>
              </a:ext>
            </a:extLst>
          </p:cNvPr>
          <p:cNvSpPr>
            <a:spLocks xmlns:a="http://schemas.openxmlformats.org/drawingml/2006/main" noGrp="1"/>
          </p:cNvSpPr>
          <p:nvPr/>
        </p:nvSpPr>
        <p:spPr>
          <a:xfrm xmlns:a="http://schemas.openxmlformats.org/drawingml/2006/main">
            <a:off x="6277356" y="2011680"/>
            <a:ext cx="5454396" cy="1234440"/>
          </a:xfrm>
          <a:prstGeom xmlns:a="http://schemas.openxmlformats.org/drawingml/2006/main" prst="roundRect">
            <a:avLst>
              <a:gd name="adj" fmla="val 5185"/>
            </a:avLst>
          </a:prstGeom>
          <a:solidFill xmlns:a="http://schemas.openxmlformats.org/drawingml/2006/main">
            <a:srgbClr val="F2F6F8"/>
          </a:solidFill>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1DA48CEB-BDEB-4197-8BFA-5D46E0C543CA}"/>
              </a:ext>
            </a:extLst>
          </p:cNvPr>
          <p:cNvSpPr>
            <a:spLocks xmlns:a="http://schemas.openxmlformats.org/drawingml/2006/main" noGrp="1"/>
          </p:cNvSpPr>
          <p:nvPr/>
        </p:nvSpPr>
        <p:spPr>
          <a:xfrm xmlns:a="http://schemas.openxmlformats.org/drawingml/2006/main">
            <a:off x="6505956" y="2121408"/>
            <a:ext cx="499719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spc="100">
                <a:solidFill>
                  <a:srgbClr val="028090"/>
                </a:solidFill>
                <a:latin typeface="Calibri"/>
                <a:ea typeface="Calibri"/>
                <a:cs typeface="Calibri"/>
              </a:rPr>
              <a:t>WITH ADAPTIVE LEARNING (PROPOSED)</a:t>
            </a:r>
            <a:endParaRPr sz="1050"/>
          </a:p>
        </p:txBody>
      </p:sp>
      <p:sp>
        <p:nvSpPr>
          <p:cNvPr id="17" name="Shape 15">
            <a:extLst xmlns:a="http://schemas.openxmlformats.org/drawingml/2006/main">
              <a:ext uri="{FF2B5EF4-FFF2-40B4-BE49-F238E27FC236}">
                <a16:creationId xmlns:a16="http://schemas.microsoft.com/office/drawing/2014/main" id="{1F16FF94-6A37-4EEC-93A0-9F77B86C1965}"/>
              </a:ext>
            </a:extLst>
          </p:cNvPr>
          <p:cNvSpPr>
            <a:spLocks xmlns:a="http://schemas.openxmlformats.org/drawingml/2006/main" noGrp="1"/>
          </p:cNvSpPr>
          <p:nvPr/>
        </p:nvSpPr>
        <p:spPr>
          <a:xfrm xmlns:a="http://schemas.openxmlformats.org/drawingml/2006/main">
            <a:off x="6505956" y="2514600"/>
            <a:ext cx="1421892" cy="54864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7E0E6"/>
            </a:solidFill>
            <a:prstDash val="solid"/>
          </a:ln>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6EF01983-923C-4D3D-B356-03A4F34DA80F}"/>
              </a:ext>
            </a:extLst>
          </p:cNvPr>
          <p:cNvSpPr>
            <a:spLocks xmlns:a="http://schemas.openxmlformats.org/drawingml/2006/main" noGrp="1"/>
          </p:cNvSpPr>
          <p:nvPr/>
        </p:nvSpPr>
        <p:spPr>
          <a:xfrm xmlns:a="http://schemas.openxmlformats.org/drawingml/2006/main">
            <a:off x="6551676"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222B33"/>
                </a:solidFill>
                <a:latin typeface="Calibri"/>
                <a:ea typeface="Calibri"/>
                <a:cs typeface="Calibri"/>
              </a:rPr>
              <a:t>Existing Model</a:t>
            </a:r>
            <a:endParaRPr sz="900"/>
          </a:p>
          <a:p xmlns:a="http://schemas.openxmlformats.org/drawingml/2006/main">
            <a:pPr marL="0" indent="0" algn="ctr">
              <a:lnSpc>
                <a:spcPts val="1000"/>
              </a:lnSpc>
              <a:buNone/>
            </a:pPr>
            <a:r>
              <a:rPr sz="900" b="1">
                <a:solidFill>
                  <a:srgbClr val="222B33"/>
                </a:solidFill>
                <a:latin typeface="Calibri"/>
                <a:ea typeface="Calibri"/>
                <a:cs typeface="Calibri"/>
              </a:rPr>
              <a:t>+ New Data</a:t>
            </a:r>
            <a:endParaRPr sz="900"/>
          </a:p>
        </p:txBody>
      </p:sp>
      <p:sp>
        <p:nvSpPr>
          <p:cNvPr id="19" name="Shape 17">
            <a:extLst xmlns:a="http://schemas.openxmlformats.org/drawingml/2006/main">
              <a:ext uri="{FF2B5EF4-FFF2-40B4-BE49-F238E27FC236}">
                <a16:creationId xmlns:a16="http://schemas.microsoft.com/office/drawing/2014/main" id="{38CB3347-5118-47CA-9EBC-5214042ACABE}"/>
              </a:ext>
            </a:extLst>
          </p:cNvPr>
          <p:cNvSpPr>
            <a:spLocks xmlns:a="http://schemas.openxmlformats.org/drawingml/2006/main" noGrp="1"/>
          </p:cNvSpPr>
          <p:nvPr/>
        </p:nvSpPr>
        <p:spPr>
          <a:xfrm xmlns:a="http://schemas.openxmlformats.org/drawingml/2006/main">
            <a:off x="7944307" y="2660904"/>
            <a:ext cx="201168" cy="256032"/>
          </a:xfrm>
          <a:prstGeom xmlns:a="http://schemas.openxmlformats.org/drawingml/2006/main" prst="chevron">
            <a:avLst/>
          </a:prstGeom>
          <a:solidFill xmlns:a="http://schemas.openxmlformats.org/drawingml/2006/main">
            <a:srgbClr val="00A896"/>
          </a:solidFill>
        </p:spPr>
        <p:txBody xmlns:a="http://schemas.openxmlformats.org/drawingml/2006/main">
          <a:bodyPr/>
          <a:p/>
        </p:txBody>
      </p:sp>
      <p:sp>
        <p:nvSpPr>
          <p:cNvPr id="20" name="Shape 18">
            <a:extLst xmlns:a="http://schemas.openxmlformats.org/drawingml/2006/main">
              <a:ext uri="{FF2B5EF4-FFF2-40B4-BE49-F238E27FC236}">
                <a16:creationId xmlns:a16="http://schemas.microsoft.com/office/drawing/2014/main" id="{672455E6-706E-4935-8005-B9F304778F4D}"/>
              </a:ext>
            </a:extLst>
          </p:cNvPr>
          <p:cNvSpPr>
            <a:spLocks xmlns:a="http://schemas.openxmlformats.org/drawingml/2006/main" noGrp="1"/>
          </p:cNvSpPr>
          <p:nvPr/>
        </p:nvSpPr>
        <p:spPr>
          <a:xfrm xmlns:a="http://schemas.openxmlformats.org/drawingml/2006/main">
            <a:off x="8293608" y="2514600"/>
            <a:ext cx="1421892" cy="54864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7E0E6"/>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70963D9A-91B4-4759-9289-A2F26A8E2389}"/>
              </a:ext>
            </a:extLst>
          </p:cNvPr>
          <p:cNvSpPr>
            <a:spLocks xmlns:a="http://schemas.openxmlformats.org/drawingml/2006/main" noGrp="1"/>
          </p:cNvSpPr>
          <p:nvPr/>
        </p:nvSpPr>
        <p:spPr>
          <a:xfrm xmlns:a="http://schemas.openxmlformats.org/drawingml/2006/main">
            <a:off x="8339328"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222B33"/>
                </a:solidFill>
                <a:latin typeface="Calibri"/>
                <a:ea typeface="Calibri"/>
                <a:cs typeface="Calibri"/>
              </a:rPr>
              <a:t>Fine-Tune</a:t>
            </a:r>
            <a:endParaRPr sz="900"/>
          </a:p>
          <a:p xmlns:a="http://schemas.openxmlformats.org/drawingml/2006/main">
            <a:pPr marL="0" indent="0" algn="ctr">
              <a:lnSpc>
                <a:spcPts val="1000"/>
              </a:lnSpc>
              <a:buNone/>
            </a:pPr>
            <a:r>
              <a:rPr sz="900" b="1">
                <a:solidFill>
                  <a:srgbClr val="222B33"/>
                </a:solidFill>
                <a:latin typeface="Calibri"/>
                <a:ea typeface="Calibri"/>
                <a:cs typeface="Calibri"/>
              </a:rPr>
              <a:t>Only</a:t>
            </a:r>
            <a:endParaRPr sz="900"/>
          </a:p>
        </p:txBody>
      </p:sp>
      <p:sp>
        <p:nvSpPr>
          <p:cNvPr id="22" name="Shape 20">
            <a:extLst xmlns:a="http://schemas.openxmlformats.org/drawingml/2006/main">
              <a:ext uri="{FF2B5EF4-FFF2-40B4-BE49-F238E27FC236}">
                <a16:creationId xmlns:a16="http://schemas.microsoft.com/office/drawing/2014/main" id="{CFD71AFF-D6BC-4052-BEB9-937B0004C4E3}"/>
              </a:ext>
            </a:extLst>
          </p:cNvPr>
          <p:cNvSpPr>
            <a:spLocks xmlns:a="http://schemas.openxmlformats.org/drawingml/2006/main" noGrp="1"/>
          </p:cNvSpPr>
          <p:nvPr/>
        </p:nvSpPr>
        <p:spPr>
          <a:xfrm xmlns:a="http://schemas.openxmlformats.org/drawingml/2006/main">
            <a:off x="9731959" y="2660904"/>
            <a:ext cx="201168" cy="256032"/>
          </a:xfrm>
          <a:prstGeom xmlns:a="http://schemas.openxmlformats.org/drawingml/2006/main" prst="chevron">
            <a:avLst/>
          </a:prstGeom>
          <a:solidFill xmlns:a="http://schemas.openxmlformats.org/drawingml/2006/main">
            <a:srgbClr val="00A896"/>
          </a:solidFill>
        </p:spPr>
        <p:txBody xmlns:a="http://schemas.openxmlformats.org/drawingml/2006/main">
          <a:bodyPr/>
          <a:p/>
        </p:txBody>
      </p:sp>
      <p:sp>
        <p:nvSpPr>
          <p:cNvPr id="23" name="Shape 21">
            <a:extLst xmlns:a="http://schemas.openxmlformats.org/drawingml/2006/main">
              <a:ext uri="{FF2B5EF4-FFF2-40B4-BE49-F238E27FC236}">
                <a16:creationId xmlns:a16="http://schemas.microsoft.com/office/drawing/2014/main" id="{97A831B0-80A5-4F42-A4F6-34E2ED54AF66}"/>
              </a:ext>
            </a:extLst>
          </p:cNvPr>
          <p:cNvSpPr>
            <a:spLocks xmlns:a="http://schemas.openxmlformats.org/drawingml/2006/main" noGrp="1"/>
          </p:cNvSpPr>
          <p:nvPr/>
        </p:nvSpPr>
        <p:spPr>
          <a:xfrm xmlns:a="http://schemas.openxmlformats.org/drawingml/2006/main">
            <a:off x="10081260" y="2514600"/>
            <a:ext cx="1421892" cy="54864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7E0E6"/>
            </a:solidFill>
            <a:prstDash val="solid"/>
          </a:ln>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82D549EE-A665-4F55-B323-2F2059DD07C0}"/>
              </a:ext>
            </a:extLst>
          </p:cNvPr>
          <p:cNvSpPr>
            <a:spLocks xmlns:a="http://schemas.openxmlformats.org/drawingml/2006/main" noGrp="1"/>
          </p:cNvSpPr>
          <p:nvPr/>
        </p:nvSpPr>
        <p:spPr>
          <a:xfrm xmlns:a="http://schemas.openxmlformats.org/drawingml/2006/main">
            <a:off x="10126980"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222B33"/>
                </a:solidFill>
                <a:latin typeface="Calibri"/>
                <a:ea typeface="Calibri"/>
                <a:cs typeface="Calibri"/>
              </a:rPr>
              <a:t>Updated</a:t>
            </a:r>
            <a:endParaRPr sz="900"/>
          </a:p>
          <a:p xmlns:a="http://schemas.openxmlformats.org/drawingml/2006/main">
            <a:pPr marL="0" indent="0" algn="ctr">
              <a:lnSpc>
                <a:spcPts val="1000"/>
              </a:lnSpc>
              <a:buNone/>
            </a:pPr>
            <a:r>
              <a:rPr sz="900" b="1">
                <a:solidFill>
                  <a:srgbClr val="222B33"/>
                </a:solidFill>
                <a:latin typeface="Calibri"/>
                <a:ea typeface="Calibri"/>
                <a:cs typeface="Calibri"/>
              </a:rPr>
              <a:t>Model</a:t>
            </a:r>
            <a:endParaRPr sz="900"/>
          </a:p>
        </p:txBody>
      </p:sp>
      <p:sp>
        <p:nvSpPr>
          <p:cNvPr id="25" name="Text 23">
            <a:extLst xmlns:a="http://schemas.openxmlformats.org/drawingml/2006/main">
              <a:ext uri="{FF2B5EF4-FFF2-40B4-BE49-F238E27FC236}">
                <a16:creationId xmlns:a16="http://schemas.microsoft.com/office/drawing/2014/main" id="{5A21E390-3265-48E9-B3E1-321A5C826537}"/>
              </a:ext>
            </a:extLst>
          </p:cNvPr>
          <p:cNvSpPr>
            <a:spLocks xmlns:a="http://schemas.openxmlformats.org/drawingml/2006/main" noGrp="1"/>
          </p:cNvSpPr>
          <p:nvPr/>
        </p:nvSpPr>
        <p:spPr>
          <a:xfrm xmlns:a="http://schemas.openxmlformats.org/drawingml/2006/main">
            <a:off x="457200" y="3611880"/>
            <a:ext cx="540867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028090"/>
                </a:solidFill>
                <a:latin typeface="Calibri"/>
                <a:ea typeface="Calibri"/>
                <a:cs typeface="Calibri"/>
              </a:rPr>
              <a:t>HOW IT WORKS</a:t>
            </a:r>
            <a:endParaRPr sz="1100"/>
          </a:p>
        </p:txBody>
      </p:sp>
      <p:sp>
        <p:nvSpPr>
          <p:cNvPr id="26" name="Shape 24">
            <a:extLst xmlns:a="http://schemas.openxmlformats.org/drawingml/2006/main">
              <a:ext uri="{FF2B5EF4-FFF2-40B4-BE49-F238E27FC236}">
                <a16:creationId xmlns:a16="http://schemas.microsoft.com/office/drawing/2014/main" id="{D5B0193B-336E-4121-8C72-7114404776EE}"/>
              </a:ext>
            </a:extLst>
          </p:cNvPr>
          <p:cNvSpPr>
            <a:spLocks xmlns:a="http://schemas.openxmlformats.org/drawingml/2006/main" noGrp="1"/>
          </p:cNvSpPr>
          <p:nvPr/>
        </p:nvSpPr>
        <p:spPr>
          <a:xfrm xmlns:a="http://schemas.openxmlformats.org/drawingml/2006/main">
            <a:off x="457200" y="3931920"/>
            <a:ext cx="292608" cy="292608"/>
          </a:xfrm>
          <a:prstGeom xmlns:a="http://schemas.openxmlformats.org/drawingml/2006/main" prst="roundRect">
            <a:avLst>
              <a:gd name="adj" fmla="val 50000"/>
            </a:avLst>
          </a:prstGeom>
          <a:solidFill xmlns:a="http://schemas.openxmlformats.org/drawingml/2006/main">
            <a:srgbClr val="0B2545"/>
          </a:solidFill>
        </p:spPr>
        <p:txBody xmlns:a="http://schemas.openxmlformats.org/drawingml/2006/main">
          <a:bodyPr/>
          <a:p/>
        </p:txBody>
      </p:sp>
      <p:sp>
        <p:nvSpPr>
          <p:cNvPr id="27" name="Text 25">
            <a:extLst xmlns:a="http://schemas.openxmlformats.org/drawingml/2006/main">
              <a:ext uri="{FF2B5EF4-FFF2-40B4-BE49-F238E27FC236}">
                <a16:creationId xmlns:a16="http://schemas.microsoft.com/office/drawing/2014/main" id="{FD5A7DA2-DD20-4B1F-8643-B89A3C5D8591}"/>
              </a:ext>
            </a:extLst>
          </p:cNvPr>
          <p:cNvSpPr>
            <a:spLocks xmlns:a="http://schemas.openxmlformats.org/drawingml/2006/main" noGrp="1"/>
          </p:cNvSpPr>
          <p:nvPr/>
        </p:nvSpPr>
        <p:spPr>
          <a:xfrm xmlns:a="http://schemas.openxmlformats.org/drawingml/2006/main">
            <a:off x="457200" y="3931920"/>
            <a:ext cx="29260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endParaRPr sz="1100"/>
          </a:p>
        </p:txBody>
      </p:sp>
      <p:sp>
        <p:nvSpPr>
          <p:cNvPr id="28" name="Text 26">
            <a:extLst xmlns:a="http://schemas.openxmlformats.org/drawingml/2006/main">
              <a:ext uri="{FF2B5EF4-FFF2-40B4-BE49-F238E27FC236}">
                <a16:creationId xmlns:a16="http://schemas.microsoft.com/office/drawing/2014/main" id="{73370148-03C3-4751-9907-8EE543C90CCE}"/>
              </a:ext>
            </a:extLst>
          </p:cNvPr>
          <p:cNvSpPr>
            <a:spLocks xmlns:a="http://schemas.openxmlformats.org/drawingml/2006/main" noGrp="1"/>
          </p:cNvSpPr>
          <p:nvPr/>
        </p:nvSpPr>
        <p:spPr>
          <a:xfrm xmlns:a="http://schemas.openxmlformats.org/drawingml/2006/main">
            <a:off x="868680" y="3913632"/>
            <a:ext cx="499719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Monitor real-time sensor data (V, I, temperature, SOC, cycle count)</a:t>
            </a:r>
            <a:endParaRPr sz="1100"/>
          </a:p>
        </p:txBody>
      </p:sp>
      <p:sp>
        <p:nvSpPr>
          <p:cNvPr id="29" name="Shape 27">
            <a:extLst xmlns:a="http://schemas.openxmlformats.org/drawingml/2006/main">
              <a:ext uri="{FF2B5EF4-FFF2-40B4-BE49-F238E27FC236}">
                <a16:creationId xmlns:a16="http://schemas.microsoft.com/office/drawing/2014/main" id="{31ABC1D4-6468-47ED-9E31-F95DDC4D3D00}"/>
              </a:ext>
            </a:extLst>
          </p:cNvPr>
          <p:cNvSpPr>
            <a:spLocks xmlns:a="http://schemas.openxmlformats.org/drawingml/2006/main" noGrp="1"/>
          </p:cNvSpPr>
          <p:nvPr/>
        </p:nvSpPr>
        <p:spPr>
          <a:xfrm xmlns:a="http://schemas.openxmlformats.org/drawingml/2006/main">
            <a:off x="457200" y="4352544"/>
            <a:ext cx="292608" cy="292608"/>
          </a:xfrm>
          <a:prstGeom xmlns:a="http://schemas.openxmlformats.org/drawingml/2006/main" prst="roundRect">
            <a:avLst>
              <a:gd name="adj" fmla="val 50000"/>
            </a:avLst>
          </a:prstGeom>
          <a:solidFill xmlns:a="http://schemas.openxmlformats.org/drawingml/2006/main">
            <a:srgbClr val="0B2545"/>
          </a:solidFill>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C29B384C-9E1E-4BD4-A7F5-DD42CB7C4284}"/>
              </a:ext>
            </a:extLst>
          </p:cNvPr>
          <p:cNvSpPr>
            <a:spLocks xmlns:a="http://schemas.openxmlformats.org/drawingml/2006/main" noGrp="1"/>
          </p:cNvSpPr>
          <p:nvPr/>
        </p:nvSpPr>
        <p:spPr>
          <a:xfrm xmlns:a="http://schemas.openxmlformats.org/drawingml/2006/main">
            <a:off x="457200" y="4352544"/>
            <a:ext cx="29260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endParaRPr sz="1100"/>
          </a:p>
        </p:txBody>
      </p:sp>
      <p:sp>
        <p:nvSpPr>
          <p:cNvPr id="31" name="Text 29">
            <a:extLst xmlns:a="http://schemas.openxmlformats.org/drawingml/2006/main">
              <a:ext uri="{FF2B5EF4-FFF2-40B4-BE49-F238E27FC236}">
                <a16:creationId xmlns:a16="http://schemas.microsoft.com/office/drawing/2014/main" id="{41CA5C48-CD6E-48C3-A7E1-E84907200AEA}"/>
              </a:ext>
            </a:extLst>
          </p:cNvPr>
          <p:cNvSpPr>
            <a:spLocks xmlns:a="http://schemas.openxmlformats.org/drawingml/2006/main" noGrp="1"/>
          </p:cNvSpPr>
          <p:nvPr/>
        </p:nvSpPr>
        <p:spPr>
          <a:xfrm xmlns:a="http://schemas.openxmlformats.org/drawingml/2006/main">
            <a:off x="868680" y="4334256"/>
            <a:ext cx="499719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Detect changes in degradation behaviour</a:t>
            </a:r>
            <a:endParaRPr sz="1100"/>
          </a:p>
        </p:txBody>
      </p:sp>
      <p:sp>
        <p:nvSpPr>
          <p:cNvPr id="32" name="Shape 30">
            <a:extLst xmlns:a="http://schemas.openxmlformats.org/drawingml/2006/main">
              <a:ext uri="{FF2B5EF4-FFF2-40B4-BE49-F238E27FC236}">
                <a16:creationId xmlns:a16="http://schemas.microsoft.com/office/drawing/2014/main" id="{909F8A9C-76DC-4A53-ADBA-070990EDCF46}"/>
              </a:ext>
            </a:extLst>
          </p:cNvPr>
          <p:cNvSpPr>
            <a:spLocks xmlns:a="http://schemas.openxmlformats.org/drawingml/2006/main" noGrp="1"/>
          </p:cNvSpPr>
          <p:nvPr/>
        </p:nvSpPr>
        <p:spPr>
          <a:xfrm xmlns:a="http://schemas.openxmlformats.org/drawingml/2006/main">
            <a:off x="457200" y="4773168"/>
            <a:ext cx="292608" cy="292608"/>
          </a:xfrm>
          <a:prstGeom xmlns:a="http://schemas.openxmlformats.org/drawingml/2006/main" prst="roundRect">
            <a:avLst>
              <a:gd name="adj" fmla="val 50000"/>
            </a:avLst>
          </a:prstGeom>
          <a:solidFill xmlns:a="http://schemas.openxmlformats.org/drawingml/2006/main">
            <a:srgbClr val="0B2545"/>
          </a:solidFill>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CBE726B2-9280-43E1-A289-B2A9DB5786B4}"/>
              </a:ext>
            </a:extLst>
          </p:cNvPr>
          <p:cNvSpPr>
            <a:spLocks xmlns:a="http://schemas.openxmlformats.org/drawingml/2006/main" noGrp="1"/>
          </p:cNvSpPr>
          <p:nvPr/>
        </p:nvSpPr>
        <p:spPr>
          <a:xfrm xmlns:a="http://schemas.openxmlformats.org/drawingml/2006/main">
            <a:off x="457200" y="4773168"/>
            <a:ext cx="29260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endParaRPr sz="1100"/>
          </a:p>
        </p:txBody>
      </p:sp>
      <p:sp>
        <p:nvSpPr>
          <p:cNvPr id="34" name="Text 32">
            <a:extLst xmlns:a="http://schemas.openxmlformats.org/drawingml/2006/main">
              <a:ext uri="{FF2B5EF4-FFF2-40B4-BE49-F238E27FC236}">
                <a16:creationId xmlns:a16="http://schemas.microsoft.com/office/drawing/2014/main" id="{6CAB0A87-FFF9-437D-A4E5-463A1B693044}"/>
              </a:ext>
            </a:extLst>
          </p:cNvPr>
          <p:cNvSpPr>
            <a:spLocks xmlns:a="http://schemas.openxmlformats.org/drawingml/2006/main" noGrp="1"/>
          </p:cNvSpPr>
          <p:nvPr/>
        </p:nvSpPr>
        <p:spPr>
          <a:xfrm xmlns:a="http://schemas.openxmlformats.org/drawingml/2006/main">
            <a:off x="868680" y="4754880"/>
            <a:ext cx="499719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Store important new data in a replay buffer</a:t>
            </a:r>
            <a:endParaRPr sz="1100"/>
          </a:p>
        </p:txBody>
      </p:sp>
      <p:sp>
        <p:nvSpPr>
          <p:cNvPr id="35" name="Shape 33">
            <a:extLst xmlns:a="http://schemas.openxmlformats.org/drawingml/2006/main">
              <a:ext uri="{FF2B5EF4-FFF2-40B4-BE49-F238E27FC236}">
                <a16:creationId xmlns:a16="http://schemas.microsoft.com/office/drawing/2014/main" id="{E23CB4D9-3AA3-4FAE-9763-6DC67FD70323}"/>
              </a:ext>
            </a:extLst>
          </p:cNvPr>
          <p:cNvSpPr>
            <a:spLocks xmlns:a="http://schemas.openxmlformats.org/drawingml/2006/main" noGrp="1"/>
          </p:cNvSpPr>
          <p:nvPr/>
        </p:nvSpPr>
        <p:spPr>
          <a:xfrm xmlns:a="http://schemas.openxmlformats.org/drawingml/2006/main">
            <a:off x="457200" y="5193792"/>
            <a:ext cx="292608" cy="292608"/>
          </a:xfrm>
          <a:prstGeom xmlns:a="http://schemas.openxmlformats.org/drawingml/2006/main" prst="roundRect">
            <a:avLst>
              <a:gd name="adj" fmla="val 50000"/>
            </a:avLst>
          </a:prstGeom>
          <a:solidFill xmlns:a="http://schemas.openxmlformats.org/drawingml/2006/main">
            <a:srgbClr val="0B2545"/>
          </a:solidFill>
        </p:spPr>
        <p:txBody xmlns:a="http://schemas.openxmlformats.org/drawingml/2006/main">
          <a:bodyPr/>
          <a:p/>
        </p:txBody>
      </p:sp>
      <p:sp>
        <p:nvSpPr>
          <p:cNvPr id="36" name="Text 34">
            <a:extLst xmlns:a="http://schemas.openxmlformats.org/drawingml/2006/main">
              <a:ext uri="{FF2B5EF4-FFF2-40B4-BE49-F238E27FC236}">
                <a16:creationId xmlns:a16="http://schemas.microsoft.com/office/drawing/2014/main" id="{29700237-8E8A-434C-9BFE-49D41A892FC0}"/>
              </a:ext>
            </a:extLst>
          </p:cNvPr>
          <p:cNvSpPr>
            <a:spLocks xmlns:a="http://schemas.openxmlformats.org/drawingml/2006/main" noGrp="1"/>
          </p:cNvSpPr>
          <p:nvPr/>
        </p:nvSpPr>
        <p:spPr>
          <a:xfrm xmlns:a="http://schemas.openxmlformats.org/drawingml/2006/main">
            <a:off x="457200" y="5193792"/>
            <a:ext cx="29260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endParaRPr sz="1100"/>
          </a:p>
        </p:txBody>
      </p:sp>
      <p:sp>
        <p:nvSpPr>
          <p:cNvPr id="37" name="Text 35">
            <a:extLst xmlns:a="http://schemas.openxmlformats.org/drawingml/2006/main">
              <a:ext uri="{FF2B5EF4-FFF2-40B4-BE49-F238E27FC236}">
                <a16:creationId xmlns:a16="http://schemas.microsoft.com/office/drawing/2014/main" id="{C8A393BF-FADD-41F7-8293-E6BE4C9263FF}"/>
              </a:ext>
            </a:extLst>
          </p:cNvPr>
          <p:cNvSpPr>
            <a:spLocks xmlns:a="http://schemas.openxmlformats.org/drawingml/2006/main" noGrp="1"/>
          </p:cNvSpPr>
          <p:nvPr/>
        </p:nvSpPr>
        <p:spPr>
          <a:xfrm xmlns:a="http://schemas.openxmlformats.org/drawingml/2006/main">
            <a:off x="868680" y="5175504"/>
            <a:ext cx="499719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Incrementally fine-tune the existing model</a:t>
            </a:r>
            <a:endParaRPr sz="1100"/>
          </a:p>
        </p:txBody>
      </p:sp>
      <p:sp>
        <p:nvSpPr>
          <p:cNvPr id="38" name="Shape 36">
            <a:extLst xmlns:a="http://schemas.openxmlformats.org/drawingml/2006/main">
              <a:ext uri="{FF2B5EF4-FFF2-40B4-BE49-F238E27FC236}">
                <a16:creationId xmlns:a16="http://schemas.microsoft.com/office/drawing/2014/main" id="{0E7ED745-7F0E-44BB-BC74-9944DC77C247}"/>
              </a:ext>
            </a:extLst>
          </p:cNvPr>
          <p:cNvSpPr>
            <a:spLocks xmlns:a="http://schemas.openxmlformats.org/drawingml/2006/main" noGrp="1"/>
          </p:cNvSpPr>
          <p:nvPr/>
        </p:nvSpPr>
        <p:spPr>
          <a:xfrm xmlns:a="http://schemas.openxmlformats.org/drawingml/2006/main">
            <a:off x="457200" y="5614416"/>
            <a:ext cx="292608" cy="292608"/>
          </a:xfrm>
          <a:prstGeom xmlns:a="http://schemas.openxmlformats.org/drawingml/2006/main" prst="roundRect">
            <a:avLst>
              <a:gd name="adj" fmla="val 50000"/>
            </a:avLst>
          </a:prstGeom>
          <a:solidFill xmlns:a="http://schemas.openxmlformats.org/drawingml/2006/main">
            <a:srgbClr val="0B2545"/>
          </a:solidFill>
        </p:spPr>
        <p:txBody xmlns:a="http://schemas.openxmlformats.org/drawingml/2006/main">
          <a:bodyPr/>
          <a:p/>
        </p:txBody>
      </p:sp>
      <p:sp>
        <p:nvSpPr>
          <p:cNvPr id="39" name="Text 37">
            <a:extLst xmlns:a="http://schemas.openxmlformats.org/drawingml/2006/main">
              <a:ext uri="{FF2B5EF4-FFF2-40B4-BE49-F238E27FC236}">
                <a16:creationId xmlns:a16="http://schemas.microsoft.com/office/drawing/2014/main" id="{880594D3-8999-4ADA-9CCE-666A286617DA}"/>
              </a:ext>
            </a:extLst>
          </p:cNvPr>
          <p:cNvSpPr>
            <a:spLocks xmlns:a="http://schemas.openxmlformats.org/drawingml/2006/main" noGrp="1"/>
          </p:cNvSpPr>
          <p:nvPr/>
        </p:nvSpPr>
        <p:spPr>
          <a:xfrm xmlns:a="http://schemas.openxmlformats.org/drawingml/2006/main">
            <a:off x="457200" y="5614416"/>
            <a:ext cx="29260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endParaRPr sz="1100"/>
          </a:p>
        </p:txBody>
      </p:sp>
      <p:sp>
        <p:nvSpPr>
          <p:cNvPr id="40" name="Text 38">
            <a:extLst xmlns:a="http://schemas.openxmlformats.org/drawingml/2006/main">
              <a:ext uri="{FF2B5EF4-FFF2-40B4-BE49-F238E27FC236}">
                <a16:creationId xmlns:a16="http://schemas.microsoft.com/office/drawing/2014/main" id="{69272BCA-9EEE-4E83-BB35-48E5E81BE086}"/>
              </a:ext>
            </a:extLst>
          </p:cNvPr>
          <p:cNvSpPr>
            <a:spLocks xmlns:a="http://schemas.openxmlformats.org/drawingml/2006/main" noGrp="1"/>
          </p:cNvSpPr>
          <p:nvPr/>
        </p:nvSpPr>
        <p:spPr>
          <a:xfrm xmlns:a="http://schemas.openxmlformats.org/drawingml/2006/main">
            <a:off x="868680" y="5596128"/>
            <a:ext cx="499719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Update the Digital Twin — no full retraining</a:t>
            </a:r>
            <a:endParaRPr sz="1100"/>
          </a:p>
        </p:txBody>
      </p:sp>
      <p:sp>
        <p:nvSpPr>
          <p:cNvPr id="41" name="Text 39">
            <a:extLst xmlns:a="http://schemas.openxmlformats.org/drawingml/2006/main">
              <a:ext uri="{FF2B5EF4-FFF2-40B4-BE49-F238E27FC236}">
                <a16:creationId xmlns:a16="http://schemas.microsoft.com/office/drawing/2014/main" id="{ABDD6F1C-74A1-4ADD-B2D3-8C8473AC2653}"/>
              </a:ext>
            </a:extLst>
          </p:cNvPr>
          <p:cNvSpPr>
            <a:spLocks xmlns:a="http://schemas.openxmlformats.org/drawingml/2006/main" noGrp="1"/>
          </p:cNvSpPr>
          <p:nvPr/>
        </p:nvSpPr>
        <p:spPr>
          <a:xfrm xmlns:a="http://schemas.openxmlformats.org/drawingml/2006/main">
            <a:off x="6323076" y="3611880"/>
            <a:ext cx="540867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028090"/>
                </a:solidFill>
                <a:latin typeface="Calibri"/>
                <a:ea typeface="Calibri"/>
                <a:cs typeface="Calibri"/>
              </a:rPr>
              <a:t>ADVANTAGES</a:t>
            </a:r>
            <a:endParaRPr sz="1100"/>
          </a:p>
        </p:txBody>
      </p:sp>
      <p:sp>
        <p:nvSpPr>
          <p:cNvPr id="42" name="Shape 40">
            <a:extLst xmlns:a="http://schemas.openxmlformats.org/drawingml/2006/main">
              <a:ext uri="{FF2B5EF4-FFF2-40B4-BE49-F238E27FC236}">
                <a16:creationId xmlns:a16="http://schemas.microsoft.com/office/drawing/2014/main" id="{2C68150A-A4C0-4622-832D-7FAFB7CDF093}"/>
              </a:ext>
            </a:extLst>
          </p:cNvPr>
          <p:cNvSpPr>
            <a:spLocks xmlns:a="http://schemas.openxmlformats.org/drawingml/2006/main" noGrp="1"/>
          </p:cNvSpPr>
          <p:nvPr/>
        </p:nvSpPr>
        <p:spPr>
          <a:xfrm xmlns:a="http://schemas.openxmlformats.org/drawingml/2006/main">
            <a:off x="6323076" y="3977640"/>
            <a:ext cx="164592" cy="164592"/>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43" name="Text 41">
            <a:extLst xmlns:a="http://schemas.openxmlformats.org/drawingml/2006/main">
              <a:ext uri="{FF2B5EF4-FFF2-40B4-BE49-F238E27FC236}">
                <a16:creationId xmlns:a16="http://schemas.microsoft.com/office/drawing/2014/main" id="{02741859-1181-4372-808E-D0745781D167}"/>
              </a:ext>
            </a:extLst>
          </p:cNvPr>
          <p:cNvSpPr>
            <a:spLocks xmlns:a="http://schemas.openxmlformats.org/drawingml/2006/main" noGrp="1"/>
          </p:cNvSpPr>
          <p:nvPr/>
        </p:nvSpPr>
        <p:spPr>
          <a:xfrm xmlns:a="http://schemas.openxmlformats.org/drawingml/2006/main">
            <a:off x="6643116" y="3913632"/>
            <a:ext cx="508863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Eliminates full model retraining</a:t>
            </a:r>
            <a:endParaRPr sz="1100"/>
          </a:p>
        </p:txBody>
      </p:sp>
      <p:sp>
        <p:nvSpPr>
          <p:cNvPr id="44" name="Shape 42">
            <a:extLst xmlns:a="http://schemas.openxmlformats.org/drawingml/2006/main">
              <a:ext uri="{FF2B5EF4-FFF2-40B4-BE49-F238E27FC236}">
                <a16:creationId xmlns:a16="http://schemas.microsoft.com/office/drawing/2014/main" id="{3BECD449-4621-4FFD-87E0-B35E259FE625}"/>
              </a:ext>
            </a:extLst>
          </p:cNvPr>
          <p:cNvSpPr>
            <a:spLocks xmlns:a="http://schemas.openxmlformats.org/drawingml/2006/main" noGrp="1"/>
          </p:cNvSpPr>
          <p:nvPr/>
        </p:nvSpPr>
        <p:spPr>
          <a:xfrm xmlns:a="http://schemas.openxmlformats.org/drawingml/2006/main">
            <a:off x="6323076" y="4398264"/>
            <a:ext cx="164592" cy="164592"/>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45" name="Text 43">
            <a:extLst xmlns:a="http://schemas.openxmlformats.org/drawingml/2006/main">
              <a:ext uri="{FF2B5EF4-FFF2-40B4-BE49-F238E27FC236}">
                <a16:creationId xmlns:a16="http://schemas.microsoft.com/office/drawing/2014/main" id="{0CFDD964-91F4-4D8C-BF27-FC10A62377CA}"/>
              </a:ext>
            </a:extLst>
          </p:cNvPr>
          <p:cNvSpPr>
            <a:spLocks xmlns:a="http://schemas.openxmlformats.org/drawingml/2006/main" noGrp="1"/>
          </p:cNvSpPr>
          <p:nvPr/>
        </p:nvSpPr>
        <p:spPr>
          <a:xfrm xmlns:a="http://schemas.openxmlformats.org/drawingml/2006/main">
            <a:off x="6643116" y="4334256"/>
            <a:ext cx="508863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Adapts to changing battery behaviour</a:t>
            </a:r>
            <a:endParaRPr sz="1100"/>
          </a:p>
        </p:txBody>
      </p:sp>
      <p:sp>
        <p:nvSpPr>
          <p:cNvPr id="46" name="Shape 44">
            <a:extLst xmlns:a="http://schemas.openxmlformats.org/drawingml/2006/main">
              <a:ext uri="{FF2B5EF4-FFF2-40B4-BE49-F238E27FC236}">
                <a16:creationId xmlns:a16="http://schemas.microsoft.com/office/drawing/2014/main" id="{F09ACB98-EB0C-487E-A12D-D5D0F34D3CF2}"/>
              </a:ext>
            </a:extLst>
          </p:cNvPr>
          <p:cNvSpPr>
            <a:spLocks xmlns:a="http://schemas.openxmlformats.org/drawingml/2006/main" noGrp="1"/>
          </p:cNvSpPr>
          <p:nvPr/>
        </p:nvSpPr>
        <p:spPr>
          <a:xfrm xmlns:a="http://schemas.openxmlformats.org/drawingml/2006/main">
            <a:off x="6323076" y="4818888"/>
            <a:ext cx="164592" cy="164592"/>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47" name="Text 45">
            <a:extLst xmlns:a="http://schemas.openxmlformats.org/drawingml/2006/main">
              <a:ext uri="{FF2B5EF4-FFF2-40B4-BE49-F238E27FC236}">
                <a16:creationId xmlns:a16="http://schemas.microsoft.com/office/drawing/2014/main" id="{5904333B-3906-4649-AB0C-85FF1E5B9C57}"/>
              </a:ext>
            </a:extLst>
          </p:cNvPr>
          <p:cNvSpPr>
            <a:spLocks xmlns:a="http://schemas.openxmlformats.org/drawingml/2006/main" noGrp="1"/>
          </p:cNvSpPr>
          <p:nvPr/>
        </p:nvSpPr>
        <p:spPr>
          <a:xfrm xmlns:a="http://schemas.openxmlformats.org/drawingml/2006/main">
            <a:off x="6643116" y="4754880"/>
            <a:ext cx="508863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Personalized prediction per battery</a:t>
            </a:r>
            <a:endParaRPr sz="1100"/>
          </a:p>
        </p:txBody>
      </p:sp>
      <p:sp>
        <p:nvSpPr>
          <p:cNvPr id="48" name="Shape 46">
            <a:extLst xmlns:a="http://schemas.openxmlformats.org/drawingml/2006/main">
              <a:ext uri="{FF2B5EF4-FFF2-40B4-BE49-F238E27FC236}">
                <a16:creationId xmlns:a16="http://schemas.microsoft.com/office/drawing/2014/main" id="{3E5B102D-673B-4845-BA1E-02E707B3D002}"/>
              </a:ext>
            </a:extLst>
          </p:cNvPr>
          <p:cNvSpPr>
            <a:spLocks xmlns:a="http://schemas.openxmlformats.org/drawingml/2006/main" noGrp="1"/>
          </p:cNvSpPr>
          <p:nvPr/>
        </p:nvSpPr>
        <p:spPr>
          <a:xfrm xmlns:a="http://schemas.openxmlformats.org/drawingml/2006/main">
            <a:off x="6323076" y="5239512"/>
            <a:ext cx="164592" cy="164592"/>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49" name="Text 47">
            <a:extLst xmlns:a="http://schemas.openxmlformats.org/drawingml/2006/main">
              <a:ext uri="{FF2B5EF4-FFF2-40B4-BE49-F238E27FC236}">
                <a16:creationId xmlns:a16="http://schemas.microsoft.com/office/drawing/2014/main" id="{6921307F-7FF2-413B-AFF6-A35C1C14F9B8}"/>
              </a:ext>
            </a:extLst>
          </p:cNvPr>
          <p:cNvSpPr>
            <a:spLocks xmlns:a="http://schemas.openxmlformats.org/drawingml/2006/main" noGrp="1"/>
          </p:cNvSpPr>
          <p:nvPr/>
        </p:nvSpPr>
        <p:spPr>
          <a:xfrm xmlns:a="http://schemas.openxmlformats.org/drawingml/2006/main">
            <a:off x="6643116" y="5175504"/>
            <a:ext cx="508863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Physics-consistent predictions via PINN</a:t>
            </a:r>
            <a:endParaRPr sz="1100"/>
          </a:p>
        </p:txBody>
      </p:sp>
      <p:sp>
        <p:nvSpPr>
          <p:cNvPr id="50" name="Shape 48">
            <a:extLst xmlns:a="http://schemas.openxmlformats.org/drawingml/2006/main">
              <a:ext uri="{FF2B5EF4-FFF2-40B4-BE49-F238E27FC236}">
                <a16:creationId xmlns:a16="http://schemas.microsoft.com/office/drawing/2014/main" id="{974D769B-AC3B-4F3D-9DD1-4D6AEC1A2C3D}"/>
              </a:ext>
            </a:extLst>
          </p:cNvPr>
          <p:cNvSpPr>
            <a:spLocks xmlns:a="http://schemas.openxmlformats.org/drawingml/2006/main" noGrp="1"/>
          </p:cNvSpPr>
          <p:nvPr/>
        </p:nvSpPr>
        <p:spPr>
          <a:xfrm xmlns:a="http://schemas.openxmlformats.org/drawingml/2006/main">
            <a:off x="6323076" y="5660136"/>
            <a:ext cx="164592" cy="164592"/>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51" name="Text 49">
            <a:extLst xmlns:a="http://schemas.openxmlformats.org/drawingml/2006/main">
              <a:ext uri="{FF2B5EF4-FFF2-40B4-BE49-F238E27FC236}">
                <a16:creationId xmlns:a16="http://schemas.microsoft.com/office/drawing/2014/main" id="{648B729C-F859-4953-ABB4-208F8A8D6580}"/>
              </a:ext>
            </a:extLst>
          </p:cNvPr>
          <p:cNvSpPr>
            <a:spLocks xmlns:a="http://schemas.openxmlformats.org/drawingml/2006/main" noGrp="1"/>
          </p:cNvSpPr>
          <p:nvPr/>
        </p:nvSpPr>
        <p:spPr>
          <a:xfrm xmlns:a="http://schemas.openxmlformats.org/drawingml/2006/main">
            <a:off x="6643116" y="5596128"/>
            <a:ext cx="508863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Fit for real-time BMS deployment</a:t>
            </a:r>
            <a:endParaRPr sz="1100"/>
          </a:p>
        </p:txBody>
      </p:sp>
      <p:sp>
        <p:nvSpPr>
          <p:cNvPr id="52" name="Text 50">
            <a:extLst xmlns:a="http://schemas.openxmlformats.org/drawingml/2006/main">
              <a:ext uri="{FF2B5EF4-FFF2-40B4-BE49-F238E27FC236}">
                <a16:creationId xmlns:a16="http://schemas.microsoft.com/office/drawing/2014/main" id="{222BAFE7-D355-4DAE-9ABA-43FA0B9B0610}"/>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53" name="Text 51">
            <a:extLst xmlns:a="http://schemas.openxmlformats.org/drawingml/2006/main">
              <a:ext uri="{FF2B5EF4-FFF2-40B4-BE49-F238E27FC236}">
                <a16:creationId xmlns:a16="http://schemas.microsoft.com/office/drawing/2014/main" id="{944B346C-2EBA-4B1F-B111-5709CE5E0F7B}"/>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8 / 11</a:t>
            </a:r>
            <a:endParaRPr sz="900"/>
          </a:p>
        </p:txBody>
      </p:sp>
    </p:spTree>
    <p:extLst>
      <p:ext uri="{BB962C8B-B14F-4D97-AF65-F5344CB8AC3E}">
        <p14:creationId xmlns:p14="http://schemas.microsoft.com/office/powerpoint/2010/main" val="99501048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1D80C08-6EE2-43F7-8441-3B4E6508965C}"/>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REAL-WORLD IMPACT</a:t>
            </a:r>
            <a:endParaRPr sz="1200"/>
          </a:p>
        </p:txBody>
      </p:sp>
      <p:sp>
        <p:nvSpPr>
          <p:cNvPr id="3" name="Text 1">
            <a:extLst xmlns:a="http://schemas.openxmlformats.org/drawingml/2006/main">
              <a:ext uri="{FF2B5EF4-FFF2-40B4-BE49-F238E27FC236}">
                <a16:creationId xmlns:a16="http://schemas.microsoft.com/office/drawing/2014/main" id="{10D97BE2-5DCE-4C5A-BAA9-421D9B14B586}"/>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Applications</a:t>
            </a:r>
            <a:endParaRPr sz="2800"/>
          </a:p>
        </p:txBody>
      </p:sp>
      <p:sp>
        <p:nvSpPr>
          <p:cNvPr id="4" name="Shape 2">
            <a:extLst xmlns:a="http://schemas.openxmlformats.org/drawingml/2006/main">
              <a:ext uri="{FF2B5EF4-FFF2-40B4-BE49-F238E27FC236}">
                <a16:creationId xmlns:a16="http://schemas.microsoft.com/office/drawing/2014/main" id="{46C7FFD0-2F5D-4C84-A1B3-B38DF74CC0CB}"/>
              </a:ext>
            </a:extLst>
          </p:cNvPr>
          <p:cNvSpPr>
            <a:spLocks xmlns:a="http://schemas.openxmlformats.org/drawingml/2006/main" noGrp="1"/>
          </p:cNvSpPr>
          <p:nvPr/>
        </p:nvSpPr>
        <p:spPr>
          <a:xfrm xmlns:a="http://schemas.openxmlformats.org/drawingml/2006/main">
            <a:off x="457200" y="1508760"/>
            <a:ext cx="3544824" cy="1828800"/>
          </a:xfrm>
          <a:prstGeom xmlns:a="http://schemas.openxmlformats.org/drawingml/2006/main" prst="roundRect">
            <a:avLst>
              <a:gd name="adj" fmla="val 4000"/>
            </a:avLst>
          </a:prstGeom>
          <a:solidFill xmlns:a="http://schemas.openxmlformats.org/drawingml/2006/main">
            <a:srgbClr val="0B2545"/>
          </a:solidFill>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87B23850-2E5F-42E5-ADD8-EB58B1088B52}"/>
              </a:ext>
            </a:extLst>
          </p:cNvPr>
          <p:cNvSpPr>
            <a:spLocks xmlns:a="http://schemas.openxmlformats.org/drawingml/2006/main" noGrp="1"/>
          </p:cNvSpPr>
          <p:nvPr/>
        </p:nvSpPr>
        <p:spPr>
          <a:xfrm xmlns:a="http://schemas.openxmlformats.org/drawingml/2006/main">
            <a:off x="685800" y="1737360"/>
            <a:ext cx="384048" cy="384048"/>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329D0B86-BE56-4EE7-A8C9-F8877A204A55}"/>
              </a:ext>
            </a:extLst>
          </p:cNvPr>
          <p:cNvSpPr>
            <a:spLocks xmlns:a="http://schemas.openxmlformats.org/drawingml/2006/main" noGrp="1"/>
          </p:cNvSpPr>
          <p:nvPr/>
        </p:nvSpPr>
        <p:spPr>
          <a:xfrm xmlns:a="http://schemas.openxmlformats.org/drawingml/2006/main">
            <a:off x="685800" y="173736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endParaRPr sz="1400"/>
          </a:p>
        </p:txBody>
      </p:sp>
      <p:sp>
        <p:nvSpPr>
          <p:cNvPr id="7" name="Text 5">
            <a:extLst xmlns:a="http://schemas.openxmlformats.org/drawingml/2006/main">
              <a:ext uri="{FF2B5EF4-FFF2-40B4-BE49-F238E27FC236}">
                <a16:creationId xmlns:a16="http://schemas.microsoft.com/office/drawing/2014/main" id="{7533CA77-FB6A-4159-B5C6-A80F3BFF6B71}"/>
              </a:ext>
            </a:extLst>
          </p:cNvPr>
          <p:cNvSpPr>
            <a:spLocks xmlns:a="http://schemas.openxmlformats.org/drawingml/2006/main" noGrp="1"/>
          </p:cNvSpPr>
          <p:nvPr/>
        </p:nvSpPr>
        <p:spPr>
          <a:xfrm xmlns:a="http://schemas.openxmlformats.org/drawingml/2006/main">
            <a:off x="685800" y="2258568"/>
            <a:ext cx="308762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450" b="1">
                <a:solidFill>
                  <a:srgbClr val="FFFFFF"/>
                </a:solidFill>
                <a:latin typeface="Cambria"/>
                <a:ea typeface="Cambria"/>
                <a:cs typeface="Cambria"/>
              </a:rPr>
              <a:t>Electric Vehicles</a:t>
            </a:r>
            <a:endParaRPr sz="1450"/>
          </a:p>
        </p:txBody>
      </p:sp>
      <p:sp>
        <p:nvSpPr>
          <p:cNvPr id="8" name="Text 6">
            <a:extLst xmlns:a="http://schemas.openxmlformats.org/drawingml/2006/main">
              <a:ext uri="{FF2B5EF4-FFF2-40B4-BE49-F238E27FC236}">
                <a16:creationId xmlns:a16="http://schemas.microsoft.com/office/drawing/2014/main" id="{BBDF3B80-AF24-43FC-B6A7-8C41B66B49FE}"/>
              </a:ext>
            </a:extLst>
          </p:cNvPr>
          <p:cNvSpPr>
            <a:spLocks xmlns:a="http://schemas.openxmlformats.org/drawingml/2006/main" noGrp="1"/>
          </p:cNvSpPr>
          <p:nvPr/>
        </p:nvSpPr>
        <p:spPr>
          <a:xfrm xmlns:a="http://schemas.openxmlformats.org/drawingml/2006/main">
            <a:off x="685800" y="2715768"/>
            <a:ext cx="308762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CBDCE8"/>
                </a:solidFill>
                <a:latin typeface="Calibri"/>
                <a:ea typeface="Calibri"/>
                <a:cs typeface="Calibri"/>
              </a:rPr>
              <a:t>Predict battery replacement before failure occurs.</a:t>
            </a:r>
            <a:endParaRPr sz="1050"/>
          </a:p>
        </p:txBody>
      </p:sp>
      <p:sp>
        <p:nvSpPr>
          <p:cNvPr id="9" name="Shape 7">
            <a:extLst xmlns:a="http://schemas.openxmlformats.org/drawingml/2006/main">
              <a:ext uri="{FF2B5EF4-FFF2-40B4-BE49-F238E27FC236}">
                <a16:creationId xmlns:a16="http://schemas.microsoft.com/office/drawing/2014/main" id="{0980624B-9B78-43CE-A5E3-C63A07D22745}"/>
              </a:ext>
            </a:extLst>
          </p:cNvPr>
          <p:cNvSpPr>
            <a:spLocks xmlns:a="http://schemas.openxmlformats.org/drawingml/2006/main" noGrp="1"/>
          </p:cNvSpPr>
          <p:nvPr/>
        </p:nvSpPr>
        <p:spPr>
          <a:xfrm xmlns:a="http://schemas.openxmlformats.org/drawingml/2006/main">
            <a:off x="4322064" y="1508760"/>
            <a:ext cx="3544824" cy="1828800"/>
          </a:xfrm>
          <a:prstGeom xmlns:a="http://schemas.openxmlformats.org/drawingml/2006/main" prst="roundRect">
            <a:avLst>
              <a:gd name="adj" fmla="val 4000"/>
            </a:avLst>
          </a:prstGeom>
          <a:solidFill xmlns:a="http://schemas.openxmlformats.org/drawingml/2006/main">
            <a:srgbClr val="F2F6F8"/>
          </a:solidFill>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9A7E25AE-1ABD-4434-95D1-870735D55D09}"/>
              </a:ext>
            </a:extLst>
          </p:cNvPr>
          <p:cNvSpPr>
            <a:spLocks xmlns:a="http://schemas.openxmlformats.org/drawingml/2006/main" noGrp="1"/>
          </p:cNvSpPr>
          <p:nvPr/>
        </p:nvSpPr>
        <p:spPr>
          <a:xfrm xmlns:a="http://schemas.openxmlformats.org/drawingml/2006/main">
            <a:off x="4550664" y="1737360"/>
            <a:ext cx="384048" cy="384048"/>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4B973B9B-10A0-43D6-AA97-08E7BE01531E}"/>
              </a:ext>
            </a:extLst>
          </p:cNvPr>
          <p:cNvSpPr>
            <a:spLocks xmlns:a="http://schemas.openxmlformats.org/drawingml/2006/main" noGrp="1"/>
          </p:cNvSpPr>
          <p:nvPr/>
        </p:nvSpPr>
        <p:spPr>
          <a:xfrm xmlns:a="http://schemas.openxmlformats.org/drawingml/2006/main">
            <a:off x="4550664" y="173736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12" name="Text 10">
            <a:extLst xmlns:a="http://schemas.openxmlformats.org/drawingml/2006/main">
              <a:ext uri="{FF2B5EF4-FFF2-40B4-BE49-F238E27FC236}">
                <a16:creationId xmlns:a16="http://schemas.microsoft.com/office/drawing/2014/main" id="{59435857-0101-4AFB-AE06-C1D48E0078B6}"/>
              </a:ext>
            </a:extLst>
          </p:cNvPr>
          <p:cNvSpPr>
            <a:spLocks xmlns:a="http://schemas.openxmlformats.org/drawingml/2006/main" noGrp="1"/>
          </p:cNvSpPr>
          <p:nvPr/>
        </p:nvSpPr>
        <p:spPr>
          <a:xfrm xmlns:a="http://schemas.openxmlformats.org/drawingml/2006/main">
            <a:off x="4550664" y="2258568"/>
            <a:ext cx="308762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450" b="1">
                <a:solidFill>
                  <a:srgbClr val="0B2545"/>
                </a:solidFill>
                <a:latin typeface="Cambria"/>
                <a:ea typeface="Cambria"/>
                <a:cs typeface="Cambria"/>
              </a:rPr>
              <a:t>Solar Storage</a:t>
            </a:r>
            <a:endParaRPr sz="1450"/>
          </a:p>
        </p:txBody>
      </p:sp>
      <p:sp>
        <p:nvSpPr>
          <p:cNvPr id="13" name="Text 11">
            <a:extLst xmlns:a="http://schemas.openxmlformats.org/drawingml/2006/main">
              <a:ext uri="{FF2B5EF4-FFF2-40B4-BE49-F238E27FC236}">
                <a16:creationId xmlns:a16="http://schemas.microsoft.com/office/drawing/2014/main" id="{494895CC-4A32-495B-B658-CEB1980884F9}"/>
              </a:ext>
            </a:extLst>
          </p:cNvPr>
          <p:cNvSpPr>
            <a:spLocks xmlns:a="http://schemas.openxmlformats.org/drawingml/2006/main" noGrp="1"/>
          </p:cNvSpPr>
          <p:nvPr/>
        </p:nvSpPr>
        <p:spPr>
          <a:xfrm xmlns:a="http://schemas.openxmlformats.org/drawingml/2006/main">
            <a:off x="4550664" y="2715768"/>
            <a:ext cx="308762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5B6B79"/>
                </a:solidFill>
                <a:latin typeface="Calibri"/>
                <a:ea typeface="Calibri"/>
                <a:cs typeface="Calibri"/>
              </a:rPr>
              <a:t>Monitor home batteries and predict maintenance needs.</a:t>
            </a:r>
            <a:endParaRPr sz="1050"/>
          </a:p>
        </p:txBody>
      </p:sp>
      <p:sp>
        <p:nvSpPr>
          <p:cNvPr id="14" name="Shape 12">
            <a:extLst xmlns:a="http://schemas.openxmlformats.org/drawingml/2006/main">
              <a:ext uri="{FF2B5EF4-FFF2-40B4-BE49-F238E27FC236}">
                <a16:creationId xmlns:a16="http://schemas.microsoft.com/office/drawing/2014/main" id="{92B49411-8F4A-4B5D-97A1-DCDC02296D61}"/>
              </a:ext>
            </a:extLst>
          </p:cNvPr>
          <p:cNvSpPr>
            <a:spLocks xmlns:a="http://schemas.openxmlformats.org/drawingml/2006/main" noGrp="1"/>
          </p:cNvSpPr>
          <p:nvPr/>
        </p:nvSpPr>
        <p:spPr>
          <a:xfrm xmlns:a="http://schemas.openxmlformats.org/drawingml/2006/main">
            <a:off x="8186928" y="1508760"/>
            <a:ext cx="3544824" cy="1828800"/>
          </a:xfrm>
          <a:prstGeom xmlns:a="http://schemas.openxmlformats.org/drawingml/2006/main" prst="roundRect">
            <a:avLst>
              <a:gd name="adj" fmla="val 4000"/>
            </a:avLst>
          </a:prstGeom>
          <a:solidFill xmlns:a="http://schemas.openxmlformats.org/drawingml/2006/main">
            <a:srgbClr val="F2F6F8"/>
          </a:solidFill>
        </p:spPr>
        <p:txBody xmlns:a="http://schemas.openxmlformats.org/drawingml/2006/main">
          <a:bodyPr/>
          <a:p/>
        </p:txBody>
      </p:sp>
      <p:sp>
        <p:nvSpPr>
          <p:cNvPr id="15" name="Shape 13">
            <a:extLst xmlns:a="http://schemas.openxmlformats.org/drawingml/2006/main">
              <a:ext uri="{FF2B5EF4-FFF2-40B4-BE49-F238E27FC236}">
                <a16:creationId xmlns:a16="http://schemas.microsoft.com/office/drawing/2014/main" id="{B4887858-90CF-4AAE-AD43-397C484C91F3}"/>
              </a:ext>
            </a:extLst>
          </p:cNvPr>
          <p:cNvSpPr>
            <a:spLocks xmlns:a="http://schemas.openxmlformats.org/drawingml/2006/main" noGrp="1"/>
          </p:cNvSpPr>
          <p:nvPr/>
        </p:nvSpPr>
        <p:spPr>
          <a:xfrm xmlns:a="http://schemas.openxmlformats.org/drawingml/2006/main">
            <a:off x="8415528" y="1737360"/>
            <a:ext cx="384048" cy="384048"/>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48E74F32-FF80-4D15-A855-95963A278C1B}"/>
              </a:ext>
            </a:extLst>
          </p:cNvPr>
          <p:cNvSpPr>
            <a:spLocks xmlns:a="http://schemas.openxmlformats.org/drawingml/2006/main" noGrp="1"/>
          </p:cNvSpPr>
          <p:nvPr/>
        </p:nvSpPr>
        <p:spPr>
          <a:xfrm xmlns:a="http://schemas.openxmlformats.org/drawingml/2006/main">
            <a:off x="8415528" y="173736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3</a:t>
            </a:r>
            <a:endParaRPr sz="1400"/>
          </a:p>
        </p:txBody>
      </p:sp>
      <p:sp>
        <p:nvSpPr>
          <p:cNvPr id="17" name="Text 15">
            <a:extLst xmlns:a="http://schemas.openxmlformats.org/drawingml/2006/main">
              <a:ext uri="{FF2B5EF4-FFF2-40B4-BE49-F238E27FC236}">
                <a16:creationId xmlns:a16="http://schemas.microsoft.com/office/drawing/2014/main" id="{0E323874-0A86-4428-932A-5B368B426770}"/>
              </a:ext>
            </a:extLst>
          </p:cNvPr>
          <p:cNvSpPr>
            <a:spLocks xmlns:a="http://schemas.openxmlformats.org/drawingml/2006/main" noGrp="1"/>
          </p:cNvSpPr>
          <p:nvPr/>
        </p:nvSpPr>
        <p:spPr>
          <a:xfrm xmlns:a="http://schemas.openxmlformats.org/drawingml/2006/main">
            <a:off x="8415528" y="2258568"/>
            <a:ext cx="308762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450" b="1">
                <a:solidFill>
                  <a:srgbClr val="0B2545"/>
                </a:solidFill>
                <a:latin typeface="Cambria"/>
                <a:ea typeface="Cambria"/>
                <a:cs typeface="Cambria"/>
              </a:rPr>
              <a:t>Smart Grids</a:t>
            </a:r>
            <a:endParaRPr sz="1450"/>
          </a:p>
        </p:txBody>
      </p:sp>
      <p:sp>
        <p:nvSpPr>
          <p:cNvPr id="18" name="Text 16">
            <a:extLst xmlns:a="http://schemas.openxmlformats.org/drawingml/2006/main">
              <a:ext uri="{FF2B5EF4-FFF2-40B4-BE49-F238E27FC236}">
                <a16:creationId xmlns:a16="http://schemas.microsoft.com/office/drawing/2014/main" id="{10296BE6-D997-4B88-B2A3-9F433423E282}"/>
              </a:ext>
            </a:extLst>
          </p:cNvPr>
          <p:cNvSpPr>
            <a:spLocks xmlns:a="http://schemas.openxmlformats.org/drawingml/2006/main" noGrp="1"/>
          </p:cNvSpPr>
          <p:nvPr/>
        </p:nvSpPr>
        <p:spPr>
          <a:xfrm xmlns:a="http://schemas.openxmlformats.org/drawingml/2006/main">
            <a:off x="8415528" y="2715768"/>
            <a:ext cx="308762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5B6B79"/>
                </a:solidFill>
                <a:latin typeface="Calibri"/>
                <a:ea typeface="Calibri"/>
                <a:cs typeface="Calibri"/>
              </a:rPr>
              <a:t>Avoid sudden, costly battery failures at scale.</a:t>
            </a:r>
            <a:endParaRPr sz="1050"/>
          </a:p>
        </p:txBody>
      </p:sp>
      <p:sp>
        <p:nvSpPr>
          <p:cNvPr id="19" name="Shape 17">
            <a:extLst xmlns:a="http://schemas.openxmlformats.org/drawingml/2006/main">
              <a:ext uri="{FF2B5EF4-FFF2-40B4-BE49-F238E27FC236}">
                <a16:creationId xmlns:a16="http://schemas.microsoft.com/office/drawing/2014/main" id="{51051130-8FEB-4FB0-AD18-47B112BD0D3D}"/>
              </a:ext>
            </a:extLst>
          </p:cNvPr>
          <p:cNvSpPr>
            <a:spLocks xmlns:a="http://schemas.openxmlformats.org/drawingml/2006/main" noGrp="1"/>
          </p:cNvSpPr>
          <p:nvPr/>
        </p:nvSpPr>
        <p:spPr>
          <a:xfrm xmlns:a="http://schemas.openxmlformats.org/drawingml/2006/main">
            <a:off x="2229612" y="3657600"/>
            <a:ext cx="3544824" cy="1828800"/>
          </a:xfrm>
          <a:prstGeom xmlns:a="http://schemas.openxmlformats.org/drawingml/2006/main" prst="roundRect">
            <a:avLst>
              <a:gd name="adj" fmla="val 4000"/>
            </a:avLst>
          </a:prstGeom>
          <a:solidFill xmlns:a="http://schemas.openxmlformats.org/drawingml/2006/main">
            <a:srgbClr val="F2F6F8"/>
          </a:solidFill>
        </p:spPr>
        <p:txBody xmlns:a="http://schemas.openxmlformats.org/drawingml/2006/main">
          <a:bodyPr/>
          <a:p/>
        </p:txBody>
      </p:sp>
      <p:sp>
        <p:nvSpPr>
          <p:cNvPr id="20" name="Shape 18">
            <a:extLst xmlns:a="http://schemas.openxmlformats.org/drawingml/2006/main">
              <a:ext uri="{FF2B5EF4-FFF2-40B4-BE49-F238E27FC236}">
                <a16:creationId xmlns:a16="http://schemas.microsoft.com/office/drawing/2014/main" id="{A1F53486-D63C-4E7A-8C47-0A21905BA143}"/>
              </a:ext>
            </a:extLst>
          </p:cNvPr>
          <p:cNvSpPr>
            <a:spLocks xmlns:a="http://schemas.openxmlformats.org/drawingml/2006/main" noGrp="1"/>
          </p:cNvSpPr>
          <p:nvPr/>
        </p:nvSpPr>
        <p:spPr>
          <a:xfrm xmlns:a="http://schemas.openxmlformats.org/drawingml/2006/main">
            <a:off x="2458212" y="3886200"/>
            <a:ext cx="384048" cy="384048"/>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F32F939B-7FF5-4498-A9C0-96BC49E09773}"/>
              </a:ext>
            </a:extLst>
          </p:cNvPr>
          <p:cNvSpPr>
            <a:spLocks xmlns:a="http://schemas.openxmlformats.org/drawingml/2006/main" noGrp="1"/>
          </p:cNvSpPr>
          <p:nvPr/>
        </p:nvSpPr>
        <p:spPr>
          <a:xfrm xmlns:a="http://schemas.openxmlformats.org/drawingml/2006/main">
            <a:off x="2458212" y="388620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4</a:t>
            </a:r>
            <a:endParaRPr sz="1400"/>
          </a:p>
        </p:txBody>
      </p:sp>
      <p:sp>
        <p:nvSpPr>
          <p:cNvPr id="22" name="Text 20">
            <a:extLst xmlns:a="http://schemas.openxmlformats.org/drawingml/2006/main">
              <a:ext uri="{FF2B5EF4-FFF2-40B4-BE49-F238E27FC236}">
                <a16:creationId xmlns:a16="http://schemas.microsoft.com/office/drawing/2014/main" id="{2B31239C-2618-43BB-8C41-AA961C11318E}"/>
              </a:ext>
            </a:extLst>
          </p:cNvPr>
          <p:cNvSpPr>
            <a:spLocks xmlns:a="http://schemas.openxmlformats.org/drawingml/2006/main" noGrp="1"/>
          </p:cNvSpPr>
          <p:nvPr/>
        </p:nvSpPr>
        <p:spPr>
          <a:xfrm xmlns:a="http://schemas.openxmlformats.org/drawingml/2006/main">
            <a:off x="2458212" y="4407408"/>
            <a:ext cx="308762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450" b="1">
                <a:solidFill>
                  <a:srgbClr val="0B2545"/>
                </a:solidFill>
                <a:latin typeface="Cambria"/>
                <a:ea typeface="Cambria"/>
                <a:cs typeface="Cambria"/>
              </a:rPr>
              <a:t>Drones</a:t>
            </a:r>
            <a:endParaRPr sz="1450"/>
          </a:p>
        </p:txBody>
      </p:sp>
      <p:sp>
        <p:nvSpPr>
          <p:cNvPr id="23" name="Text 21">
            <a:extLst xmlns:a="http://schemas.openxmlformats.org/drawingml/2006/main">
              <a:ext uri="{FF2B5EF4-FFF2-40B4-BE49-F238E27FC236}">
                <a16:creationId xmlns:a16="http://schemas.microsoft.com/office/drawing/2014/main" id="{939565AE-B55F-41D2-9014-5602D402E4AC}"/>
              </a:ext>
            </a:extLst>
          </p:cNvPr>
          <p:cNvSpPr>
            <a:spLocks xmlns:a="http://schemas.openxmlformats.org/drawingml/2006/main" noGrp="1"/>
          </p:cNvSpPr>
          <p:nvPr/>
        </p:nvSpPr>
        <p:spPr>
          <a:xfrm xmlns:a="http://schemas.openxmlformats.org/drawingml/2006/main">
            <a:off x="2458212" y="4864608"/>
            <a:ext cx="308762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5B6B79"/>
                </a:solidFill>
                <a:latin typeface="Calibri"/>
                <a:ea typeface="Calibri"/>
                <a:cs typeface="Calibri"/>
              </a:rPr>
              <a:t>Estimate safe remaining flying time in-flight.</a:t>
            </a:r>
            <a:endParaRPr sz="1050"/>
          </a:p>
        </p:txBody>
      </p:sp>
      <p:sp>
        <p:nvSpPr>
          <p:cNvPr id="24" name="Shape 22">
            <a:extLst xmlns:a="http://schemas.openxmlformats.org/drawingml/2006/main">
              <a:ext uri="{FF2B5EF4-FFF2-40B4-BE49-F238E27FC236}">
                <a16:creationId xmlns:a16="http://schemas.microsoft.com/office/drawing/2014/main" id="{D6BBB71B-F77C-48E5-9080-FDA109F876D6}"/>
              </a:ext>
            </a:extLst>
          </p:cNvPr>
          <p:cNvSpPr>
            <a:spLocks xmlns:a="http://schemas.openxmlformats.org/drawingml/2006/main" noGrp="1"/>
          </p:cNvSpPr>
          <p:nvPr/>
        </p:nvSpPr>
        <p:spPr>
          <a:xfrm xmlns:a="http://schemas.openxmlformats.org/drawingml/2006/main">
            <a:off x="6094476" y="3657600"/>
            <a:ext cx="3544824" cy="1828800"/>
          </a:xfrm>
          <a:prstGeom xmlns:a="http://schemas.openxmlformats.org/drawingml/2006/main" prst="roundRect">
            <a:avLst>
              <a:gd name="adj" fmla="val 4000"/>
            </a:avLst>
          </a:prstGeom>
          <a:solidFill xmlns:a="http://schemas.openxmlformats.org/drawingml/2006/main">
            <a:srgbClr val="F2F6F8"/>
          </a:solidFill>
        </p:spPr>
        <p:txBody xmlns:a="http://schemas.openxmlformats.org/drawingml/2006/main">
          <a:bodyPr/>
          <a:p/>
        </p:txBody>
      </p:sp>
      <p:sp>
        <p:nvSpPr>
          <p:cNvPr id="25" name="Shape 23">
            <a:extLst xmlns:a="http://schemas.openxmlformats.org/drawingml/2006/main">
              <a:ext uri="{FF2B5EF4-FFF2-40B4-BE49-F238E27FC236}">
                <a16:creationId xmlns:a16="http://schemas.microsoft.com/office/drawing/2014/main" id="{9AD42205-9BA9-4142-8665-ADCDAFF79C76}"/>
              </a:ext>
            </a:extLst>
          </p:cNvPr>
          <p:cNvSpPr>
            <a:spLocks xmlns:a="http://schemas.openxmlformats.org/drawingml/2006/main" noGrp="1"/>
          </p:cNvSpPr>
          <p:nvPr/>
        </p:nvSpPr>
        <p:spPr>
          <a:xfrm xmlns:a="http://schemas.openxmlformats.org/drawingml/2006/main">
            <a:off x="6323076" y="3886200"/>
            <a:ext cx="384048" cy="384048"/>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8A156864-17FA-4390-9237-ED0C1717B475}"/>
              </a:ext>
            </a:extLst>
          </p:cNvPr>
          <p:cNvSpPr>
            <a:spLocks xmlns:a="http://schemas.openxmlformats.org/drawingml/2006/main" noGrp="1"/>
          </p:cNvSpPr>
          <p:nvPr/>
        </p:nvSpPr>
        <p:spPr>
          <a:xfrm xmlns:a="http://schemas.openxmlformats.org/drawingml/2006/main">
            <a:off x="6323076" y="388620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5</a:t>
            </a:r>
            <a:endParaRPr sz="1400"/>
          </a:p>
        </p:txBody>
      </p:sp>
      <p:sp>
        <p:nvSpPr>
          <p:cNvPr id="27" name="Text 25">
            <a:extLst xmlns:a="http://schemas.openxmlformats.org/drawingml/2006/main">
              <a:ext uri="{FF2B5EF4-FFF2-40B4-BE49-F238E27FC236}">
                <a16:creationId xmlns:a16="http://schemas.microsoft.com/office/drawing/2014/main" id="{FC53E16B-F15B-4BD5-A109-D623D50AF2AE}"/>
              </a:ext>
            </a:extLst>
          </p:cNvPr>
          <p:cNvSpPr>
            <a:spLocks xmlns:a="http://schemas.openxmlformats.org/drawingml/2006/main" noGrp="1"/>
          </p:cNvSpPr>
          <p:nvPr/>
        </p:nvSpPr>
        <p:spPr>
          <a:xfrm xmlns:a="http://schemas.openxmlformats.org/drawingml/2006/main">
            <a:off x="6323076" y="4407408"/>
            <a:ext cx="308762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450" b="1">
                <a:solidFill>
                  <a:srgbClr val="0B2545"/>
                </a:solidFill>
                <a:latin typeface="Cambria"/>
                <a:ea typeface="Cambria"/>
                <a:cs typeface="Cambria"/>
              </a:rPr>
              <a:t>Laptops &amp; Smartphones</a:t>
            </a:r>
            <a:endParaRPr sz="1450"/>
          </a:p>
        </p:txBody>
      </p:sp>
      <p:sp>
        <p:nvSpPr>
          <p:cNvPr id="28" name="Text 26">
            <a:extLst xmlns:a="http://schemas.openxmlformats.org/drawingml/2006/main">
              <a:ext uri="{FF2B5EF4-FFF2-40B4-BE49-F238E27FC236}">
                <a16:creationId xmlns:a16="http://schemas.microsoft.com/office/drawing/2014/main" id="{DAF1765B-FDD2-4C21-B735-F9C274D44C36}"/>
              </a:ext>
            </a:extLst>
          </p:cNvPr>
          <p:cNvSpPr>
            <a:spLocks xmlns:a="http://schemas.openxmlformats.org/drawingml/2006/main" noGrp="1"/>
          </p:cNvSpPr>
          <p:nvPr/>
        </p:nvSpPr>
        <p:spPr>
          <a:xfrm xmlns:a="http://schemas.openxmlformats.org/drawingml/2006/main">
            <a:off x="6323076" y="4864608"/>
            <a:ext cx="308762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5B6B79"/>
                </a:solidFill>
                <a:latin typeface="Calibri"/>
                <a:ea typeface="Calibri"/>
                <a:cs typeface="Calibri"/>
              </a:rPr>
              <a:t>More accurate battery degradation estimates.</a:t>
            </a:r>
            <a:endParaRPr sz="1050"/>
          </a:p>
        </p:txBody>
      </p:sp>
      <p:sp>
        <p:nvSpPr>
          <p:cNvPr id="29" name="Text 27">
            <a:extLst xmlns:a="http://schemas.openxmlformats.org/drawingml/2006/main">
              <a:ext uri="{FF2B5EF4-FFF2-40B4-BE49-F238E27FC236}">
                <a16:creationId xmlns:a16="http://schemas.microsoft.com/office/drawing/2014/main" id="{56969FC1-A741-465C-8669-A5DEB2495684}"/>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30" name="Text 28">
            <a:extLst xmlns:a="http://schemas.openxmlformats.org/drawingml/2006/main">
              <a:ext uri="{FF2B5EF4-FFF2-40B4-BE49-F238E27FC236}">
                <a16:creationId xmlns:a16="http://schemas.microsoft.com/office/drawing/2014/main" id="{585E6FF5-1ABC-47F8-BF74-CBEDAFFA276F}"/>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9 / 11</a:t>
            </a:r>
            <a:endParaRPr sz="900"/>
          </a:p>
        </p:txBody>
      </p:sp>
    </p:spTree>
    <p:extLst>
      <p:ext uri="{BB962C8B-B14F-4D97-AF65-F5344CB8AC3E}">
        <p14:creationId xmlns:p14="http://schemas.microsoft.com/office/powerpoint/2010/main" val="969214341"/>
      </p:ext>
    </p:extLst>
  </p:cSld>
</p:sld>
</file>

<file path=ppt/slides/slide10.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55B3D4B-B305-4B9E-A205-27ACA8E1F21E}"/>
              </a:ext>
            </a:extLst>
          </p:cNvPr>
          <p:cNvSpPr>
            <a:spLocks xmlns:a="http://schemas.openxmlformats.org/drawingml/2006/main" noGrp="1"/>
          </p:cNvSpPr>
          <p:nvPr/>
        </p:nvSpPr>
        <p:spPr>
          <a:xfrm xmlns:a="http://schemas.openxmlformats.org/drawingml/2006/main">
            <a:off x="457200" y="502920"/>
            <a:ext cx="91440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0A896"/>
                </a:solidFill>
                <a:latin typeface="Calibri"/>
                <a:ea typeface="Calibri"/>
                <a:cs typeface="Calibri"/>
              </a:rPr>
              <a:t>CONCLUSION</a:t>
            </a:r>
            <a:endParaRPr sz="1200"/>
          </a:p>
        </p:txBody>
      </p:sp>
      <p:sp>
        <p:nvSpPr>
          <p:cNvPr id="3" name="Text 1">
            <a:extLst xmlns:a="http://schemas.openxmlformats.org/drawingml/2006/main">
              <a:ext uri="{FF2B5EF4-FFF2-40B4-BE49-F238E27FC236}">
                <a16:creationId xmlns:a16="http://schemas.microsoft.com/office/drawing/2014/main" id="{18153D1D-4507-4BD8-A7DA-2247AF2B5855}"/>
              </a:ext>
            </a:extLst>
          </p:cNvPr>
          <p:cNvSpPr>
            <a:spLocks xmlns:a="http://schemas.openxmlformats.org/drawingml/2006/main" noGrp="1"/>
          </p:cNvSpPr>
          <p:nvPr/>
        </p:nvSpPr>
        <p:spPr>
          <a:xfrm xmlns:a="http://schemas.openxmlformats.org/drawingml/2006/main">
            <a:off x="457200" y="777240"/>
            <a:ext cx="112745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FFFFFF"/>
                </a:solidFill>
                <a:latin typeface="Cambria"/>
                <a:ea typeface="Cambria"/>
                <a:cs typeface="Cambria"/>
              </a:rPr>
              <a:t>Project Summary</a:t>
            </a:r>
            <a:endParaRPr sz="2600"/>
          </a:p>
        </p:txBody>
      </p:sp>
      <p:sp>
        <p:nvSpPr>
          <p:cNvPr id="4" name="Shape 2">
            <a:extLst xmlns:a="http://schemas.openxmlformats.org/drawingml/2006/main">
              <a:ext uri="{FF2B5EF4-FFF2-40B4-BE49-F238E27FC236}">
                <a16:creationId xmlns:a16="http://schemas.microsoft.com/office/drawing/2014/main" id="{957E4F58-58F7-49BC-8B8E-9C1FEFD200D3}"/>
              </a:ext>
            </a:extLst>
          </p:cNvPr>
          <p:cNvSpPr>
            <a:spLocks xmlns:a="http://schemas.openxmlformats.org/drawingml/2006/main" noGrp="1"/>
          </p:cNvSpPr>
          <p:nvPr/>
        </p:nvSpPr>
        <p:spPr>
          <a:xfrm xmlns:a="http://schemas.openxmlformats.org/drawingml/2006/main">
            <a:off x="457200" y="1755648"/>
            <a:ext cx="164592" cy="164592"/>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5" name="Text 3">
            <a:extLst xmlns:a="http://schemas.openxmlformats.org/drawingml/2006/main">
              <a:ext uri="{FF2B5EF4-FFF2-40B4-BE49-F238E27FC236}">
                <a16:creationId xmlns:a16="http://schemas.microsoft.com/office/drawing/2014/main" id="{C758D417-BE86-460F-849E-5664A9247C6C}"/>
              </a:ext>
            </a:extLst>
          </p:cNvPr>
          <p:cNvSpPr>
            <a:spLocks xmlns:a="http://schemas.openxmlformats.org/drawingml/2006/main" noGrp="1"/>
          </p:cNvSpPr>
          <p:nvPr/>
        </p:nvSpPr>
        <p:spPr>
          <a:xfrm xmlns:a="http://schemas.openxmlformats.org/drawingml/2006/main">
            <a:off x="822960" y="1645920"/>
            <a:ext cx="1090879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700"/>
              </a:lnSpc>
              <a:buNone/>
            </a:pPr>
            <a:r>
              <a:rPr sz="1350">
                <a:solidFill>
                  <a:srgbClr val="E7EEF3"/>
                </a:solidFill>
                <a:latin typeface="Calibri"/>
                <a:ea typeface="Calibri"/>
                <a:cs typeface="Calibri"/>
              </a:rPr>
              <a:t>Proposed an Adaptive Physics-Informed Battery Digital Twin for accurate SOH and RUL estimation.</a:t>
            </a:r>
            <a:endParaRPr sz="1350"/>
          </a:p>
        </p:txBody>
      </p:sp>
      <p:sp>
        <p:nvSpPr>
          <p:cNvPr id="6" name="Shape 4">
            <a:extLst xmlns:a="http://schemas.openxmlformats.org/drawingml/2006/main">
              <a:ext uri="{FF2B5EF4-FFF2-40B4-BE49-F238E27FC236}">
                <a16:creationId xmlns:a16="http://schemas.microsoft.com/office/drawing/2014/main" id="{8F0DD347-84E5-48C2-AC33-3E1692FC4376}"/>
              </a:ext>
            </a:extLst>
          </p:cNvPr>
          <p:cNvSpPr>
            <a:spLocks xmlns:a="http://schemas.openxmlformats.org/drawingml/2006/main" noGrp="1"/>
          </p:cNvSpPr>
          <p:nvPr/>
        </p:nvSpPr>
        <p:spPr>
          <a:xfrm xmlns:a="http://schemas.openxmlformats.org/drawingml/2006/main">
            <a:off x="457200" y="2441448"/>
            <a:ext cx="164592" cy="164592"/>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7DCFB2D0-2686-47E5-A2D9-CBEE05C06430}"/>
              </a:ext>
            </a:extLst>
          </p:cNvPr>
          <p:cNvSpPr>
            <a:spLocks xmlns:a="http://schemas.openxmlformats.org/drawingml/2006/main" noGrp="1"/>
          </p:cNvSpPr>
          <p:nvPr/>
        </p:nvSpPr>
        <p:spPr>
          <a:xfrm xmlns:a="http://schemas.openxmlformats.org/drawingml/2006/main">
            <a:off x="822960" y="2331720"/>
            <a:ext cx="1090879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700"/>
              </a:lnSpc>
              <a:buNone/>
            </a:pPr>
            <a:r>
              <a:rPr sz="1350">
                <a:solidFill>
                  <a:srgbClr val="E7EEF3"/>
                </a:solidFill>
                <a:latin typeface="Calibri"/>
                <a:ea typeface="Calibri"/>
                <a:cs typeface="Calibri"/>
              </a:rPr>
              <a:t>Integrated Transformer Encoder, PINN and Feedforward DNN to combine data-driven learning with battery physics.</a:t>
            </a:r>
            <a:endParaRPr sz="1350"/>
          </a:p>
        </p:txBody>
      </p:sp>
      <p:sp>
        <p:nvSpPr>
          <p:cNvPr id="8" name="Shape 6">
            <a:extLst xmlns:a="http://schemas.openxmlformats.org/drawingml/2006/main">
              <a:ext uri="{FF2B5EF4-FFF2-40B4-BE49-F238E27FC236}">
                <a16:creationId xmlns:a16="http://schemas.microsoft.com/office/drawing/2014/main" id="{70372BE7-B72B-4499-BD1B-D22859F13129}"/>
              </a:ext>
            </a:extLst>
          </p:cNvPr>
          <p:cNvSpPr>
            <a:spLocks xmlns:a="http://schemas.openxmlformats.org/drawingml/2006/main" noGrp="1"/>
          </p:cNvSpPr>
          <p:nvPr/>
        </p:nvSpPr>
        <p:spPr>
          <a:xfrm xmlns:a="http://schemas.openxmlformats.org/drawingml/2006/main">
            <a:off x="457200" y="3127248"/>
            <a:ext cx="164592" cy="164592"/>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4C815130-194C-44EA-A286-0C967908309D}"/>
              </a:ext>
            </a:extLst>
          </p:cNvPr>
          <p:cNvSpPr>
            <a:spLocks xmlns:a="http://schemas.openxmlformats.org/drawingml/2006/main" noGrp="1"/>
          </p:cNvSpPr>
          <p:nvPr/>
        </p:nvSpPr>
        <p:spPr>
          <a:xfrm xmlns:a="http://schemas.openxmlformats.org/drawingml/2006/main">
            <a:off x="822960" y="3017520"/>
            <a:ext cx="1090879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700"/>
              </a:lnSpc>
              <a:buNone/>
            </a:pPr>
            <a:r>
              <a:rPr sz="1350">
                <a:solidFill>
                  <a:srgbClr val="E7EEF3"/>
                </a:solidFill>
                <a:latin typeface="Calibri"/>
                <a:ea typeface="Calibri"/>
                <a:cs typeface="Calibri"/>
              </a:rPr>
              <a:t>Introduced incremental adaptive learning to keep the Digital Twin current without full model retraining.</a:t>
            </a:r>
            <a:endParaRPr sz="1350"/>
          </a:p>
        </p:txBody>
      </p:sp>
      <p:sp>
        <p:nvSpPr>
          <p:cNvPr id="10" name="Shape 8">
            <a:extLst xmlns:a="http://schemas.openxmlformats.org/drawingml/2006/main">
              <a:ext uri="{FF2B5EF4-FFF2-40B4-BE49-F238E27FC236}">
                <a16:creationId xmlns:a16="http://schemas.microsoft.com/office/drawing/2014/main" id="{05A3074E-33EC-4F18-97B4-C1FCC0F8E1B4}"/>
              </a:ext>
            </a:extLst>
          </p:cNvPr>
          <p:cNvSpPr>
            <a:spLocks xmlns:a="http://schemas.openxmlformats.org/drawingml/2006/main" noGrp="1"/>
          </p:cNvSpPr>
          <p:nvPr/>
        </p:nvSpPr>
        <p:spPr>
          <a:xfrm xmlns:a="http://schemas.openxmlformats.org/drawingml/2006/main">
            <a:off x="457200" y="3813048"/>
            <a:ext cx="164592" cy="164592"/>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6B410E2A-7977-44E4-B5C1-33B505A85968}"/>
              </a:ext>
            </a:extLst>
          </p:cNvPr>
          <p:cNvSpPr>
            <a:spLocks xmlns:a="http://schemas.openxmlformats.org/drawingml/2006/main" noGrp="1"/>
          </p:cNvSpPr>
          <p:nvPr/>
        </p:nvSpPr>
        <p:spPr>
          <a:xfrm xmlns:a="http://schemas.openxmlformats.org/drawingml/2006/main">
            <a:off x="822960" y="3703320"/>
            <a:ext cx="1090879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700"/>
              </a:lnSpc>
              <a:buNone/>
            </a:pPr>
            <a:r>
              <a:rPr sz="1350">
                <a:solidFill>
                  <a:srgbClr val="E7EEF3"/>
                </a:solidFill>
                <a:latin typeface="Calibri"/>
                <a:ea typeface="Calibri"/>
                <a:cs typeface="Calibri"/>
              </a:rPr>
              <a:t>Overcomes key limits of pure deep-learning and pure physics-based models with real-time, physically consistent predictions.</a:t>
            </a:r>
            <a:endParaRPr sz="1350"/>
          </a:p>
        </p:txBody>
      </p:sp>
      <p:sp>
        <p:nvSpPr>
          <p:cNvPr id="12" name="Shape 10">
            <a:extLst xmlns:a="http://schemas.openxmlformats.org/drawingml/2006/main">
              <a:ext uri="{FF2B5EF4-FFF2-40B4-BE49-F238E27FC236}">
                <a16:creationId xmlns:a16="http://schemas.microsoft.com/office/drawing/2014/main" id="{313AA430-1EC5-4EA3-A101-C26D41E20515}"/>
              </a:ext>
            </a:extLst>
          </p:cNvPr>
          <p:cNvSpPr>
            <a:spLocks xmlns:a="http://schemas.openxmlformats.org/drawingml/2006/main" noGrp="1"/>
          </p:cNvSpPr>
          <p:nvPr/>
        </p:nvSpPr>
        <p:spPr>
          <a:xfrm xmlns:a="http://schemas.openxmlformats.org/drawingml/2006/main">
            <a:off x="457200" y="4572000"/>
            <a:ext cx="11274552" cy="777240"/>
          </a:xfrm>
          <a:prstGeom xmlns:a="http://schemas.openxmlformats.org/drawingml/2006/main" prst="roundRect">
            <a:avLst>
              <a:gd name="adj" fmla="val 9412"/>
            </a:avLst>
          </a:prstGeom>
          <a:solidFill xmlns:a="http://schemas.openxmlformats.org/drawingml/2006/main">
            <a:srgbClr val="13355E"/>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06ED84B3-27C2-4A64-B735-8C10B9365966}"/>
              </a:ext>
            </a:extLst>
          </p:cNvPr>
          <p:cNvSpPr>
            <a:spLocks xmlns:a="http://schemas.openxmlformats.org/drawingml/2006/main" noGrp="1"/>
          </p:cNvSpPr>
          <p:nvPr/>
        </p:nvSpPr>
        <p:spPr>
          <a:xfrm xmlns:a="http://schemas.openxmlformats.org/drawingml/2006/main">
            <a:off x="731520" y="4572000"/>
            <a:ext cx="10725912"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250" b="1">
                <a:solidFill>
                  <a:srgbClr val="00A896"/>
                </a:solidFill>
                <a:latin typeface="Calibri"/>
                <a:ea typeface="Calibri"/>
                <a:cs typeface="Calibri"/>
              </a:rPr>
              <a:t>Potential impact:  </a:t>
            </a:r>
            <a:r>
              <a:rPr sz="1250">
                <a:solidFill>
                  <a:srgbClr val="E7EEF3"/>
                </a:solidFill>
                <a:latin typeface="Calibri"/>
                <a:ea typeface="Calibri"/>
                <a:cs typeface="Calibri"/>
              </a:rPr>
              <a:t>Electric Vehicles, Battery Management Systems, Renewable Energy Storage, Smart Grids, Drones and Consumer Electronics.</a:t>
            </a:r>
            <a:endParaRPr sz="1250"/>
          </a:p>
        </p:txBody>
      </p:sp>
      <p:sp>
        <p:nvSpPr>
          <p:cNvPr id="14" name="Text 12">
            <a:extLst xmlns:a="http://schemas.openxmlformats.org/drawingml/2006/main">
              <a:ext uri="{FF2B5EF4-FFF2-40B4-BE49-F238E27FC236}">
                <a16:creationId xmlns:a16="http://schemas.microsoft.com/office/drawing/2014/main" id="{E7C27152-9DBF-4FD2-907A-F18E51595B63}"/>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15" name="Text 13">
            <a:extLst xmlns:a="http://schemas.openxmlformats.org/drawingml/2006/main">
              <a:ext uri="{FF2B5EF4-FFF2-40B4-BE49-F238E27FC236}">
                <a16:creationId xmlns:a16="http://schemas.microsoft.com/office/drawing/2014/main" id="{B48011B1-EB73-4ED0-89CD-EF2EA4707593}"/>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10 / 11</a:t>
            </a:r>
            <a:endParaRPr sz="900"/>
          </a:p>
        </p:txBody>
      </p:sp>
      <p:sp>
        <p:nvSpPr>
          <p:cNvPr id="16" name="Text 14">
            <a:extLst xmlns:a="http://schemas.openxmlformats.org/drawingml/2006/main">
              <a:ext uri="{FF2B5EF4-FFF2-40B4-BE49-F238E27FC236}">
                <a16:creationId xmlns:a16="http://schemas.microsoft.com/office/drawing/2014/main" id="{EF29CB1C-7CD0-41D2-A3E4-DA0EF854668A}"/>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93A6"/>
                </a:solidFill>
                <a:latin typeface="Calibri"/>
                <a:ea typeface="Calibri"/>
                <a:cs typeface="Calibri"/>
              </a:rPr>
              <a:t>Adaptive PINN Battery Digital Twin</a:t>
            </a:r>
            <a:endParaRPr sz="900"/>
          </a:p>
        </p:txBody>
      </p:sp>
      <p:sp>
        <p:nvSpPr>
          <p:cNvPr id="17" name="Text 15">
            <a:extLst xmlns:a="http://schemas.openxmlformats.org/drawingml/2006/main">
              <a:ext uri="{FF2B5EF4-FFF2-40B4-BE49-F238E27FC236}">
                <a16:creationId xmlns:a16="http://schemas.microsoft.com/office/drawing/2014/main" id="{E5001EAC-6C91-4E51-8C7B-EAC770E3E4F4}"/>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93A6"/>
                </a:solidFill>
                <a:latin typeface="Calibri"/>
                <a:ea typeface="Calibri"/>
                <a:cs typeface="Calibri"/>
              </a:rPr>
              <a:t>9 / 10</a:t>
            </a:r>
            <a:endParaRPr sz="900"/>
          </a:p>
        </p:txBody>
      </p:sp>
    </p:spTree>
    <p:extLst>
      <p:ext uri="{BB962C8B-B14F-4D97-AF65-F5344CB8AC3E}">
        <p14:creationId xmlns:p14="http://schemas.microsoft.com/office/powerpoint/2010/main" val="46326507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F64021E-0B38-402A-B66F-681E0E8ECAC6}"/>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SOURCES</a:t>
            </a:r>
            <a:endParaRPr sz="1200"/>
          </a:p>
        </p:txBody>
      </p:sp>
      <p:sp>
        <p:nvSpPr>
          <p:cNvPr id="3" name="Text 1">
            <a:extLst xmlns:a="http://schemas.openxmlformats.org/drawingml/2006/main">
              <a:ext uri="{FF2B5EF4-FFF2-40B4-BE49-F238E27FC236}">
                <a16:creationId xmlns:a16="http://schemas.microsoft.com/office/drawing/2014/main" id="{C8E24AE7-FF90-4C60-BC70-B7C1D11245CF}"/>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References</a:t>
            </a:r>
            <a:endParaRPr sz="2800"/>
          </a:p>
        </p:txBody>
      </p:sp>
      <p:sp>
        <p:nvSpPr>
          <p:cNvPr id="4" name="Shape 2">
            <a:extLst xmlns:a="http://schemas.openxmlformats.org/drawingml/2006/main">
              <a:ext uri="{FF2B5EF4-FFF2-40B4-BE49-F238E27FC236}">
                <a16:creationId xmlns:a16="http://schemas.microsoft.com/office/drawing/2014/main" id="{6E2CDBC2-6739-47BE-8B2B-E7C01BD00ACD}"/>
              </a:ext>
            </a:extLst>
          </p:cNvPr>
          <p:cNvSpPr>
            <a:spLocks xmlns:a="http://schemas.openxmlformats.org/drawingml/2006/main" noGrp="1"/>
          </p:cNvSpPr>
          <p:nvPr/>
        </p:nvSpPr>
        <p:spPr>
          <a:xfrm xmlns:a="http://schemas.openxmlformats.org/drawingml/2006/main">
            <a:off x="457200" y="1463040"/>
            <a:ext cx="310896" cy="310896"/>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5" name="Text 3">
            <a:extLst xmlns:a="http://schemas.openxmlformats.org/drawingml/2006/main">
              <a:ext uri="{FF2B5EF4-FFF2-40B4-BE49-F238E27FC236}">
                <a16:creationId xmlns:a16="http://schemas.microsoft.com/office/drawing/2014/main" id="{807200E1-0A6D-4516-B2C3-854120C28C08}"/>
              </a:ext>
            </a:extLst>
          </p:cNvPr>
          <p:cNvSpPr>
            <a:spLocks xmlns:a="http://schemas.openxmlformats.org/drawingml/2006/main" noGrp="1"/>
          </p:cNvSpPr>
          <p:nvPr/>
        </p:nvSpPr>
        <p:spPr>
          <a:xfrm xmlns:a="http://schemas.openxmlformats.org/drawingml/2006/main">
            <a:off x="457200" y="146304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endParaRPr sz="1200"/>
          </a:p>
        </p:txBody>
      </p:sp>
      <p:sp>
        <p:nvSpPr>
          <p:cNvPr id="6" name="Text 4">
            <a:extLst xmlns:a="http://schemas.openxmlformats.org/drawingml/2006/main">
              <a:ext uri="{FF2B5EF4-FFF2-40B4-BE49-F238E27FC236}">
                <a16:creationId xmlns:a16="http://schemas.microsoft.com/office/drawing/2014/main" id="{71F12AA8-C205-41BA-B5FA-6534850DCD9E}"/>
              </a:ext>
            </a:extLst>
          </p:cNvPr>
          <p:cNvSpPr>
            <a:spLocks xmlns:a="http://schemas.openxmlformats.org/drawingml/2006/main" noGrp="1"/>
          </p:cNvSpPr>
          <p:nvPr/>
        </p:nvSpPr>
        <p:spPr>
          <a:xfrm xmlns:a="http://schemas.openxmlformats.org/drawingml/2006/main">
            <a:off x="914400" y="1417320"/>
            <a:ext cx="10817352"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00" b="1">
                <a:solidFill>
                  <a:srgbClr val="0B2545"/>
                </a:solidFill>
                <a:latin typeface="Calibri"/>
                <a:ea typeface="Calibri"/>
                <a:cs typeface="Calibri"/>
              </a:rPr>
              <a:t>Physics-informed neural networks for battery modeling and state estimation: A methodological review</a:t>
            </a:r>
            <a:endParaRPr sz="1200"/>
          </a:p>
        </p:txBody>
      </p:sp>
      <p:sp>
        <p:nvSpPr>
          <p:cNvPr id="7" name="Text 5">
            <a:extLst xmlns:a="http://schemas.openxmlformats.org/drawingml/2006/main">
              <a:ext uri="{FF2B5EF4-FFF2-40B4-BE49-F238E27FC236}">
                <a16:creationId xmlns:a16="http://schemas.microsoft.com/office/drawing/2014/main" id="{C4681360-0611-4AF4-A936-7271CD26F5E6}"/>
              </a:ext>
            </a:extLst>
          </p:cNvPr>
          <p:cNvSpPr>
            <a:spLocks xmlns:a="http://schemas.openxmlformats.org/drawingml/2006/main" noGrp="1"/>
          </p:cNvSpPr>
          <p:nvPr/>
        </p:nvSpPr>
        <p:spPr>
          <a:xfrm xmlns:a="http://schemas.openxmlformats.org/drawingml/2006/main">
            <a:off x="914400" y="1810512"/>
            <a:ext cx="108173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028090"/>
                </a:solidFill>
                <a:latin typeface="Calibri"/>
                <a:ea typeface="Calibri"/>
                <a:cs typeface="Calibri"/>
              </a:rPr>
              <a:t>Renewable and Sustainable Energy Reviews, 2026   </a:t>
            </a:r>
            <a:r>
              <a:rPr sz="950" u="sng">
                <a:solidFill>
                  <a:srgbClr val="5B6B79"/>
                </a:solidFill>
                <a:latin typeface="Calibri"/>
                <a:ea typeface="Calibri"/>
                <a:cs typeface="Calibri"/>
                <a:hlinkClick xmlns:r="http://schemas.openxmlformats.org/officeDocument/2006/relationships" r:id="Re49394372b8047a6"/>
              </a:rPr>
              <a:t>https://www.sciencedirect.com/science/article/pii/S1364032126005253</a:t>
            </a:r>
            <a:endParaRPr sz="950"/>
          </a:p>
        </p:txBody>
      </p:sp>
      <p:sp>
        <p:nvSpPr>
          <p:cNvPr id="8" name="Shape 6">
            <a:extLst xmlns:a="http://schemas.openxmlformats.org/drawingml/2006/main">
              <a:ext uri="{FF2B5EF4-FFF2-40B4-BE49-F238E27FC236}">
                <a16:creationId xmlns:a16="http://schemas.microsoft.com/office/drawing/2014/main" id="{70F588CD-23E1-4DDA-9810-465AD5C4286D}"/>
              </a:ext>
            </a:extLst>
          </p:cNvPr>
          <p:cNvSpPr>
            <a:spLocks xmlns:a="http://schemas.openxmlformats.org/drawingml/2006/main" noGrp="1"/>
          </p:cNvSpPr>
          <p:nvPr/>
        </p:nvSpPr>
        <p:spPr>
          <a:xfrm xmlns:a="http://schemas.openxmlformats.org/drawingml/2006/main">
            <a:off x="457200" y="2395728"/>
            <a:ext cx="310896" cy="310896"/>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496C3A11-0605-41CB-8B23-468014EDBA9D}"/>
              </a:ext>
            </a:extLst>
          </p:cNvPr>
          <p:cNvSpPr>
            <a:spLocks xmlns:a="http://schemas.openxmlformats.org/drawingml/2006/main" noGrp="1"/>
          </p:cNvSpPr>
          <p:nvPr/>
        </p:nvSpPr>
        <p:spPr>
          <a:xfrm xmlns:a="http://schemas.openxmlformats.org/drawingml/2006/main">
            <a:off x="457200" y="2395728"/>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endParaRPr sz="1200"/>
          </a:p>
        </p:txBody>
      </p:sp>
      <p:sp>
        <p:nvSpPr>
          <p:cNvPr id="10" name="Text 8">
            <a:extLst xmlns:a="http://schemas.openxmlformats.org/drawingml/2006/main">
              <a:ext uri="{FF2B5EF4-FFF2-40B4-BE49-F238E27FC236}">
                <a16:creationId xmlns:a16="http://schemas.microsoft.com/office/drawing/2014/main" id="{AD5D3927-0952-418D-B1B3-553A4F8B2CF7}"/>
              </a:ext>
            </a:extLst>
          </p:cNvPr>
          <p:cNvSpPr>
            <a:spLocks xmlns:a="http://schemas.openxmlformats.org/drawingml/2006/main" noGrp="1"/>
          </p:cNvSpPr>
          <p:nvPr/>
        </p:nvSpPr>
        <p:spPr>
          <a:xfrm xmlns:a="http://schemas.openxmlformats.org/drawingml/2006/main">
            <a:off x="914400" y="2350008"/>
            <a:ext cx="10817352"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00" b="1">
                <a:solidFill>
                  <a:srgbClr val="0B2545"/>
                </a:solidFill>
                <a:latin typeface="Calibri"/>
                <a:ea typeface="Calibri"/>
                <a:cs typeface="Calibri"/>
              </a:rPr>
              <a:t>Physics-informed neural network for co-estimation of state of health, remaining useful life, and short-term degradation path in Lithium-ion batteries</a:t>
            </a:r>
            <a:endParaRPr sz="1200"/>
          </a:p>
        </p:txBody>
      </p:sp>
      <p:sp>
        <p:nvSpPr>
          <p:cNvPr id="11" name="Text 9">
            <a:extLst xmlns:a="http://schemas.openxmlformats.org/drawingml/2006/main">
              <a:ext uri="{FF2B5EF4-FFF2-40B4-BE49-F238E27FC236}">
                <a16:creationId xmlns:a16="http://schemas.microsoft.com/office/drawing/2014/main" id="{C64FB341-7853-4D30-8622-E64CEDD4319E}"/>
              </a:ext>
            </a:extLst>
          </p:cNvPr>
          <p:cNvSpPr>
            <a:spLocks xmlns:a="http://schemas.openxmlformats.org/drawingml/2006/main" noGrp="1"/>
          </p:cNvSpPr>
          <p:nvPr/>
        </p:nvSpPr>
        <p:spPr>
          <a:xfrm xmlns:a="http://schemas.openxmlformats.org/drawingml/2006/main">
            <a:off x="914400" y="2743200"/>
            <a:ext cx="108173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028090"/>
                </a:solidFill>
                <a:latin typeface="Calibri"/>
                <a:ea typeface="Calibri"/>
                <a:cs typeface="Calibri"/>
              </a:rPr>
              <a:t>Applied Energy, 2025   </a:t>
            </a:r>
            <a:r>
              <a:rPr sz="950" u="sng">
                <a:solidFill>
                  <a:srgbClr val="5B6B79"/>
                </a:solidFill>
                <a:latin typeface="Calibri"/>
                <a:ea typeface="Calibri"/>
                <a:cs typeface="Calibri"/>
                <a:hlinkClick xmlns:r="http://schemas.openxmlformats.org/officeDocument/2006/relationships" r:id="R6bb0e909f88d4089"/>
              </a:rPr>
              <a:t>https://www.sciencedirect.com/science/article/pii/S0306261925011572</a:t>
            </a:r>
            <a:endParaRPr sz="950"/>
          </a:p>
        </p:txBody>
      </p:sp>
      <p:sp>
        <p:nvSpPr>
          <p:cNvPr id="12" name="Shape 10">
            <a:extLst xmlns:a="http://schemas.openxmlformats.org/drawingml/2006/main">
              <a:ext uri="{FF2B5EF4-FFF2-40B4-BE49-F238E27FC236}">
                <a16:creationId xmlns:a16="http://schemas.microsoft.com/office/drawing/2014/main" id="{06708623-6352-4AA9-86C9-205E799BBF52}"/>
              </a:ext>
            </a:extLst>
          </p:cNvPr>
          <p:cNvSpPr>
            <a:spLocks xmlns:a="http://schemas.openxmlformats.org/drawingml/2006/main" noGrp="1"/>
          </p:cNvSpPr>
          <p:nvPr/>
        </p:nvSpPr>
        <p:spPr>
          <a:xfrm xmlns:a="http://schemas.openxmlformats.org/drawingml/2006/main">
            <a:off x="457200" y="3328416"/>
            <a:ext cx="310896" cy="310896"/>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E28E3D40-5D2E-4E42-8553-A6F8661041C9}"/>
              </a:ext>
            </a:extLst>
          </p:cNvPr>
          <p:cNvSpPr>
            <a:spLocks xmlns:a="http://schemas.openxmlformats.org/drawingml/2006/main" noGrp="1"/>
          </p:cNvSpPr>
          <p:nvPr/>
        </p:nvSpPr>
        <p:spPr>
          <a:xfrm xmlns:a="http://schemas.openxmlformats.org/drawingml/2006/main">
            <a:off x="457200" y="3328416"/>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endParaRPr sz="1200"/>
          </a:p>
        </p:txBody>
      </p:sp>
      <p:sp>
        <p:nvSpPr>
          <p:cNvPr id="14" name="Text 12">
            <a:extLst xmlns:a="http://schemas.openxmlformats.org/drawingml/2006/main">
              <a:ext uri="{FF2B5EF4-FFF2-40B4-BE49-F238E27FC236}">
                <a16:creationId xmlns:a16="http://schemas.microsoft.com/office/drawing/2014/main" id="{6999B076-2A21-4FEC-A74D-0EC98AB47FF1}"/>
              </a:ext>
            </a:extLst>
          </p:cNvPr>
          <p:cNvSpPr>
            <a:spLocks xmlns:a="http://schemas.openxmlformats.org/drawingml/2006/main" noGrp="1"/>
          </p:cNvSpPr>
          <p:nvPr/>
        </p:nvSpPr>
        <p:spPr>
          <a:xfrm xmlns:a="http://schemas.openxmlformats.org/drawingml/2006/main">
            <a:off x="914400" y="3282696"/>
            <a:ext cx="10817352"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00" b="1">
                <a:solidFill>
                  <a:srgbClr val="0B2545"/>
                </a:solidFill>
                <a:latin typeface="Calibri"/>
                <a:ea typeface="Calibri"/>
                <a:cs typeface="Calibri"/>
              </a:rPr>
              <a:t>Physical informed neural network for SOH estimation of Lithium-ion battery with electrochemical mechanism</a:t>
            </a:r>
            <a:endParaRPr sz="1200"/>
          </a:p>
        </p:txBody>
      </p:sp>
      <p:sp>
        <p:nvSpPr>
          <p:cNvPr id="15" name="Text 13">
            <a:extLst xmlns:a="http://schemas.openxmlformats.org/drawingml/2006/main">
              <a:ext uri="{FF2B5EF4-FFF2-40B4-BE49-F238E27FC236}">
                <a16:creationId xmlns:a16="http://schemas.microsoft.com/office/drawing/2014/main" id="{9C7BE2D7-7008-4373-A37C-7ED88726A649}"/>
              </a:ext>
            </a:extLst>
          </p:cNvPr>
          <p:cNvSpPr>
            <a:spLocks xmlns:a="http://schemas.openxmlformats.org/drawingml/2006/main" noGrp="1"/>
          </p:cNvSpPr>
          <p:nvPr/>
        </p:nvSpPr>
        <p:spPr>
          <a:xfrm xmlns:a="http://schemas.openxmlformats.org/drawingml/2006/main">
            <a:off x="914400" y="3675888"/>
            <a:ext cx="108173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028090"/>
                </a:solidFill>
                <a:latin typeface="Calibri"/>
                <a:ea typeface="Calibri"/>
                <a:cs typeface="Calibri"/>
              </a:rPr>
              <a:t>Energy, 2026   </a:t>
            </a:r>
            <a:r>
              <a:rPr sz="950" u="sng">
                <a:solidFill>
                  <a:srgbClr val="5B6B79"/>
                </a:solidFill>
                <a:latin typeface="Calibri"/>
                <a:ea typeface="Calibri"/>
                <a:cs typeface="Calibri"/>
                <a:hlinkClick xmlns:r="http://schemas.openxmlformats.org/officeDocument/2006/relationships" r:id="R1d72e10919c14518"/>
              </a:rPr>
              <a:t>https://www.sciencedirect.com/science/article/pii/S0360544225053964</a:t>
            </a:r>
            <a:endParaRPr sz="950"/>
          </a:p>
        </p:txBody>
      </p:sp>
      <p:sp>
        <p:nvSpPr>
          <p:cNvPr id="16" name="Shape 14">
            <a:extLst xmlns:a="http://schemas.openxmlformats.org/drawingml/2006/main">
              <a:ext uri="{FF2B5EF4-FFF2-40B4-BE49-F238E27FC236}">
                <a16:creationId xmlns:a16="http://schemas.microsoft.com/office/drawing/2014/main" id="{AA0A4C8D-55E6-4D6E-9D0F-4FED993D9549}"/>
              </a:ext>
            </a:extLst>
          </p:cNvPr>
          <p:cNvSpPr>
            <a:spLocks xmlns:a="http://schemas.openxmlformats.org/drawingml/2006/main" noGrp="1"/>
          </p:cNvSpPr>
          <p:nvPr/>
        </p:nvSpPr>
        <p:spPr>
          <a:xfrm xmlns:a="http://schemas.openxmlformats.org/drawingml/2006/main">
            <a:off x="457200" y="4261104"/>
            <a:ext cx="310896" cy="310896"/>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86816727-974E-4A9E-98DA-F81D88BE98FD}"/>
              </a:ext>
            </a:extLst>
          </p:cNvPr>
          <p:cNvSpPr>
            <a:spLocks xmlns:a="http://schemas.openxmlformats.org/drawingml/2006/main" noGrp="1"/>
          </p:cNvSpPr>
          <p:nvPr/>
        </p:nvSpPr>
        <p:spPr>
          <a:xfrm xmlns:a="http://schemas.openxmlformats.org/drawingml/2006/main">
            <a:off x="457200" y="4261104"/>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4</a:t>
            </a:r>
            <a:endParaRPr sz="1200"/>
          </a:p>
        </p:txBody>
      </p:sp>
      <p:sp>
        <p:nvSpPr>
          <p:cNvPr id="18" name="Text 16">
            <a:extLst xmlns:a="http://schemas.openxmlformats.org/drawingml/2006/main">
              <a:ext uri="{FF2B5EF4-FFF2-40B4-BE49-F238E27FC236}">
                <a16:creationId xmlns:a16="http://schemas.microsoft.com/office/drawing/2014/main" id="{F2FAE98D-3F3C-4B1A-ABC6-4B563EBF6B30}"/>
              </a:ext>
            </a:extLst>
          </p:cNvPr>
          <p:cNvSpPr>
            <a:spLocks xmlns:a="http://schemas.openxmlformats.org/drawingml/2006/main" noGrp="1"/>
          </p:cNvSpPr>
          <p:nvPr/>
        </p:nvSpPr>
        <p:spPr>
          <a:xfrm xmlns:a="http://schemas.openxmlformats.org/drawingml/2006/main">
            <a:off x="914400" y="4215384"/>
            <a:ext cx="10817352"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00" b="1">
                <a:solidFill>
                  <a:srgbClr val="0B2545"/>
                </a:solidFill>
                <a:latin typeface="Calibri"/>
                <a:ea typeface="Calibri"/>
                <a:cs typeface="Calibri"/>
              </a:rPr>
              <a:t>A cycle-aware and physics-informed framework for battery remaining useful life prediction</a:t>
            </a:r>
            <a:endParaRPr sz="1200"/>
          </a:p>
        </p:txBody>
      </p:sp>
      <p:sp>
        <p:nvSpPr>
          <p:cNvPr id="19" name="Text 17">
            <a:extLst xmlns:a="http://schemas.openxmlformats.org/drawingml/2006/main">
              <a:ext uri="{FF2B5EF4-FFF2-40B4-BE49-F238E27FC236}">
                <a16:creationId xmlns:a16="http://schemas.microsoft.com/office/drawing/2014/main" id="{BBB69424-FE1B-4573-85F7-0B9342BB2F99}"/>
              </a:ext>
            </a:extLst>
          </p:cNvPr>
          <p:cNvSpPr>
            <a:spLocks xmlns:a="http://schemas.openxmlformats.org/drawingml/2006/main" noGrp="1"/>
          </p:cNvSpPr>
          <p:nvPr/>
        </p:nvSpPr>
        <p:spPr>
          <a:xfrm xmlns:a="http://schemas.openxmlformats.org/drawingml/2006/main">
            <a:off x="914400" y="4608576"/>
            <a:ext cx="108173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028090"/>
                </a:solidFill>
                <a:latin typeface="Calibri"/>
                <a:ea typeface="Calibri"/>
                <a:cs typeface="Calibri"/>
              </a:rPr>
              <a:t>Scientific Reports, 2025   </a:t>
            </a:r>
            <a:r>
              <a:rPr sz="950" u="sng">
                <a:solidFill>
                  <a:srgbClr val="5B6B79"/>
                </a:solidFill>
                <a:latin typeface="Calibri"/>
                <a:ea typeface="Calibri"/>
                <a:cs typeface="Calibri"/>
                <a:hlinkClick xmlns:r="http://schemas.openxmlformats.org/officeDocument/2006/relationships" r:id="R04557b36b25842de"/>
              </a:rPr>
              <a:t>https://www.researchgate.net/publication/399255851_A_cycle-aware_and_physics-informed_framework_for_battery_remaining_useful_life_prediction</a:t>
            </a:r>
            <a:endParaRPr sz="950"/>
          </a:p>
        </p:txBody>
      </p:sp>
      <p:sp>
        <p:nvSpPr>
          <p:cNvPr id="20" name="Shape 18">
            <a:extLst xmlns:a="http://schemas.openxmlformats.org/drawingml/2006/main">
              <a:ext uri="{FF2B5EF4-FFF2-40B4-BE49-F238E27FC236}">
                <a16:creationId xmlns:a16="http://schemas.microsoft.com/office/drawing/2014/main" id="{EE1CEFAF-7EAA-4373-840F-B51C5799DB3D}"/>
              </a:ext>
            </a:extLst>
          </p:cNvPr>
          <p:cNvSpPr>
            <a:spLocks xmlns:a="http://schemas.openxmlformats.org/drawingml/2006/main" noGrp="1"/>
          </p:cNvSpPr>
          <p:nvPr/>
        </p:nvSpPr>
        <p:spPr>
          <a:xfrm xmlns:a="http://schemas.openxmlformats.org/drawingml/2006/main">
            <a:off x="457200" y="5193792"/>
            <a:ext cx="310896" cy="310896"/>
          </a:xfrm>
          <a:prstGeom xmlns:a="http://schemas.openxmlformats.org/drawingml/2006/main" prst="roundRect">
            <a:avLst>
              <a:gd name="adj" fmla="val 50000"/>
            </a:avLst>
          </a:prstGeom>
          <a:solidFill xmlns:a="http://schemas.openxmlformats.org/drawingml/2006/main">
            <a:srgbClr val="00A896"/>
          </a:solidFill>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EFD24182-81A4-4380-8B37-6F713887F3F1}"/>
              </a:ext>
            </a:extLst>
          </p:cNvPr>
          <p:cNvSpPr>
            <a:spLocks xmlns:a="http://schemas.openxmlformats.org/drawingml/2006/main" noGrp="1"/>
          </p:cNvSpPr>
          <p:nvPr/>
        </p:nvSpPr>
        <p:spPr>
          <a:xfrm xmlns:a="http://schemas.openxmlformats.org/drawingml/2006/main">
            <a:off x="457200" y="5193792"/>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5</a:t>
            </a:r>
            <a:endParaRPr sz="1200"/>
          </a:p>
        </p:txBody>
      </p:sp>
      <p:sp>
        <p:nvSpPr>
          <p:cNvPr id="22" name="Text 20">
            <a:extLst xmlns:a="http://schemas.openxmlformats.org/drawingml/2006/main">
              <a:ext uri="{FF2B5EF4-FFF2-40B4-BE49-F238E27FC236}">
                <a16:creationId xmlns:a16="http://schemas.microsoft.com/office/drawing/2014/main" id="{7E39F259-431C-45D2-B5B1-2DDFFAB9CE00}"/>
              </a:ext>
            </a:extLst>
          </p:cNvPr>
          <p:cNvSpPr>
            <a:spLocks xmlns:a="http://schemas.openxmlformats.org/drawingml/2006/main" noGrp="1"/>
          </p:cNvSpPr>
          <p:nvPr/>
        </p:nvSpPr>
        <p:spPr>
          <a:xfrm xmlns:a="http://schemas.openxmlformats.org/drawingml/2006/main">
            <a:off x="914400" y="5148072"/>
            <a:ext cx="10817352"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00" b="1">
                <a:solidFill>
                  <a:srgbClr val="0B2545"/>
                </a:solidFill>
                <a:latin typeface="Calibri"/>
                <a:ea typeface="Calibri"/>
                <a:cs typeface="Calibri"/>
              </a:rPr>
              <a:t>Physics-informed neural network and momentum contrastive learning for battery state of health estimation</a:t>
            </a:r>
            <a:endParaRPr sz="1200"/>
          </a:p>
        </p:txBody>
      </p:sp>
      <p:sp>
        <p:nvSpPr>
          <p:cNvPr id="23" name="Text 21">
            <a:extLst xmlns:a="http://schemas.openxmlformats.org/drawingml/2006/main">
              <a:ext uri="{FF2B5EF4-FFF2-40B4-BE49-F238E27FC236}">
                <a16:creationId xmlns:a16="http://schemas.microsoft.com/office/drawing/2014/main" id="{582D51CD-B1F2-448C-A3A1-C5DEA8F91C1D}"/>
              </a:ext>
            </a:extLst>
          </p:cNvPr>
          <p:cNvSpPr>
            <a:spLocks xmlns:a="http://schemas.openxmlformats.org/drawingml/2006/main" noGrp="1"/>
          </p:cNvSpPr>
          <p:nvPr/>
        </p:nvSpPr>
        <p:spPr>
          <a:xfrm xmlns:a="http://schemas.openxmlformats.org/drawingml/2006/main">
            <a:off x="914400" y="5541264"/>
            <a:ext cx="108173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028090"/>
                </a:solidFill>
                <a:latin typeface="Calibri"/>
                <a:ea typeface="Calibri"/>
                <a:cs typeface="Calibri"/>
              </a:rPr>
              <a:t>Complex &amp; Intelligent Systems, 2025   </a:t>
            </a:r>
            <a:r>
              <a:rPr sz="950" u="sng">
                <a:solidFill>
                  <a:srgbClr val="5B6B79"/>
                </a:solidFill>
                <a:latin typeface="Calibri"/>
                <a:ea typeface="Calibri"/>
                <a:cs typeface="Calibri"/>
                <a:hlinkClick xmlns:r="http://schemas.openxmlformats.org/officeDocument/2006/relationships" r:id="R7e200f69c9dc4a63"/>
              </a:rPr>
              <a:t>https://www.researchgate.net/publication/398786756_Physics-informed_neural_network_and_momentum_contrastive_learning_for_battery_state_of_health_estimation</a:t>
            </a:r>
            <a:endParaRPr sz="950"/>
          </a:p>
        </p:txBody>
      </p:sp>
      <p:sp>
        <p:nvSpPr>
          <p:cNvPr id="24" name="Text 22">
            <a:extLst xmlns:a="http://schemas.openxmlformats.org/drawingml/2006/main">
              <a:ext uri="{FF2B5EF4-FFF2-40B4-BE49-F238E27FC236}">
                <a16:creationId xmlns:a16="http://schemas.microsoft.com/office/drawing/2014/main" id="{0D967B44-DFB9-40D4-8E66-EABA3F86B11E}"/>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25" name="Text 23">
            <a:extLst xmlns:a="http://schemas.openxmlformats.org/drawingml/2006/main">
              <a:ext uri="{FF2B5EF4-FFF2-40B4-BE49-F238E27FC236}">
                <a16:creationId xmlns:a16="http://schemas.microsoft.com/office/drawing/2014/main" id="{09F766EA-2CF9-4B0C-AE73-8A90B84D4692}"/>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11 / 11</a:t>
            </a:r>
            <a:endParaRPr sz="900"/>
          </a:p>
        </p:txBody>
      </p:sp>
    </p:spTree>
    <p:extLst>
      <p:ext uri="{BB962C8B-B14F-4D97-AF65-F5344CB8AC3E}">
        <p14:creationId xmlns:p14="http://schemas.microsoft.com/office/powerpoint/2010/main" val="2145433530"/>
      </p:ext>
    </p:extLst>
  </p:cSld>
</p:sld>
</file>

<file path=ppt/slides/slide12.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E95383E-7F76-4600-91FB-E616FA88C0E4}"/>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0A896"/>
                </a:solidFill>
                <a:latin typeface="Calibri"/>
                <a:ea typeface="Calibri"/>
                <a:cs typeface="Calibri"/>
              </a:defRPr>
            </a:pPr>
            <a:r>
              <a:rPr sz="900" b="1" i="0">
                <a:solidFill>
                  <a:srgbClr val="00A896"/>
                </a:solidFill>
                <a:latin typeface="Calibri"/>
                <a:ea typeface="Calibri"/>
                <a:cs typeface="Calibri"/>
              </a:rPr>
              <a:t>PHASE II · REVIEW 2</a:t>
            </a:r>
          </a:p>
        </p:txBody>
      </p:sp>
      <p:sp>
        <p:nvSpPr>
          <p:cNvPr id="2" name="">
            <a:extLst xmlns:a="http://schemas.openxmlformats.org/drawingml/2006/main">
              <a:ext uri="{FF2B5EF4-FFF2-40B4-BE49-F238E27FC236}">
                <a16:creationId xmlns:a16="http://schemas.microsoft.com/office/drawing/2014/main" id="{DBF327C1-A153-4F50-ACF6-5A504AF71C4E}"/>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FFFFFF"/>
                </a:solidFill>
                <a:latin typeface="Cambria"/>
                <a:ea typeface="Cambria"/>
                <a:cs typeface="Cambria"/>
              </a:defRPr>
            </a:pPr>
            <a:r>
              <a:rPr sz="2325" b="1" i="0">
                <a:solidFill>
                  <a:srgbClr val="FFFFFF"/>
                </a:solidFill>
                <a:latin typeface="Cambria"/>
                <a:ea typeface="Cambria"/>
                <a:cs typeface="Cambria"/>
              </a:rPr>
              <a:t>Model Design &amp; Experimental Study</a:t>
            </a:r>
          </a:p>
        </p:txBody>
      </p:sp>
      <p:sp>
        <p:nvSpPr>
          <p:cNvPr id="3" name="">
            <a:extLst xmlns:a="http://schemas.openxmlformats.org/drawingml/2006/main">
              <a:ext uri="{FF2B5EF4-FFF2-40B4-BE49-F238E27FC236}">
                <a16:creationId xmlns:a16="http://schemas.microsoft.com/office/drawing/2014/main" id="{41549C7C-4431-4404-A62E-BEE7A83F7EDF}"/>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C7D8E5"/>
                </a:solidFill>
                <a:latin typeface="Calibri"/>
                <a:ea typeface="Calibri"/>
                <a:cs typeface="Calibri"/>
              </a:defRPr>
            </a:pPr>
            <a:r>
              <a:t>Completed implementation, experimental evaluation, and benchmark analysis</a:t>
            </a:r>
          </a:p>
        </p:txBody>
      </p:sp>
      <p:sp>
        <p:nvSpPr>
          <p:cNvPr id="4" name="">
            <a:extLst xmlns:a="http://schemas.openxmlformats.org/drawingml/2006/main">
              <a:ext uri="{FF2B5EF4-FFF2-40B4-BE49-F238E27FC236}">
                <a16:creationId xmlns:a16="http://schemas.microsoft.com/office/drawing/2014/main" id="{8A00AA8F-39D3-4CFE-8410-FF73CCE41D43}"/>
              </a:ext>
            </a:extLst>
          </p:cNvPr>
          <p:cNvSpPr>
            <a:spLocks xmlns:a="http://schemas.openxmlformats.org/drawingml/2006/main" noGrp="1"/>
          </p:cNvSpPr>
          <p:nvPr/>
        </p:nvSpPr>
        <p:spPr>
          <a:xfrm xmlns:a="http://schemas.openxmlformats.org/drawingml/2006/main">
            <a:off x="552450" y="223837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buNone/>
              <a:defRPr sz="1350" b="1" i="0">
                <a:solidFill>
                  <a:srgbClr val="00A896"/>
                </a:solidFill>
                <a:latin typeface="Calibri"/>
                <a:ea typeface="Calibri"/>
                <a:cs typeface="Calibri"/>
              </a:defRPr>
            </a:pPr>
            <a:r>
              <a:rPr sz="1350" b="1" i="0">
                <a:solidFill>
                  <a:srgbClr val="00A896"/>
                </a:solidFill>
                <a:latin typeface="Calibri"/>
                <a:ea typeface="Calibri"/>
                <a:cs typeface="Calibri"/>
              </a:rPr>
              <a:t>NASA-first evidence bundle</a:t>
            </a:r>
          </a:p>
        </p:txBody>
      </p:sp>
      <p:sp>
        <p:nvSpPr>
          <p:cNvPr id="5" name="">
            <a:extLst xmlns:a="http://schemas.openxmlformats.org/drawingml/2006/main">
              <a:ext uri="{FF2B5EF4-FFF2-40B4-BE49-F238E27FC236}">
                <a16:creationId xmlns:a16="http://schemas.microsoft.com/office/drawing/2014/main" id="{E5FD7B98-5E2B-43DE-919C-EA9E20152EDB}"/>
              </a:ext>
            </a:extLst>
          </p:cNvPr>
          <p:cNvSpPr>
            <a:spLocks xmlns:a="http://schemas.openxmlformats.org/drawingml/2006/main" noGrp="1"/>
          </p:cNvSpPr>
          <p:nvPr/>
        </p:nvSpPr>
        <p:spPr>
          <a:xfrm xmlns:a="http://schemas.openxmlformats.org/drawingml/2006/main">
            <a:off x="552450" y="25717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0" i="0">
                <a:solidFill>
                  <a:srgbClr val="FFFFFF"/>
                </a:solidFill>
                <a:latin typeface="Calibri"/>
                <a:ea typeface="Calibri"/>
                <a:cs typeface="Calibri"/>
              </a:defRPr>
            </a:pPr>
            <a:r>
              <a:rPr sz="1425" b="0" i="0">
                <a:solidFill>
                  <a:srgbClr val="FFFFFF"/>
                </a:solidFill>
                <a:latin typeface="Calibri"/>
                <a:ea typeface="Calibri"/>
                <a:cs typeface="Calibri"/>
              </a:rPr>
              <a:t>54 hyperparameter combinations · 3 random seeds · 18 ablation rows · 12 robustness rows</a:t>
            </a:r>
          </a:p>
        </p:txBody>
      </p:sp>
      <p:sp>
        <p:nvSpPr>
          <p:cNvPr id="6" name="">
            <a:extLst xmlns:a="http://schemas.openxmlformats.org/drawingml/2006/main">
              <a:ext uri="{FF2B5EF4-FFF2-40B4-BE49-F238E27FC236}">
                <a16:creationId xmlns:a16="http://schemas.microsoft.com/office/drawing/2014/main" id="{06C12D10-A59E-437D-8D02-D2DFA63631F5}"/>
              </a:ext>
            </a:extLst>
          </p:cNvPr>
          <p:cNvSpPr>
            <a:spLocks xmlns:a="http://schemas.openxmlformats.org/drawingml/2006/main" noGrp="1"/>
          </p:cNvSpPr>
          <p:nvPr/>
        </p:nvSpPr>
        <p:spPr>
          <a:xfrm xmlns:a="http://schemas.openxmlformats.org/drawingml/2006/main">
            <a:off x="552450" y="3381375"/>
            <a:ext cx="10382250" cy="28575"/>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30407D9D-E5CF-4EFC-B5FE-36E89336CF94}"/>
              </a:ext>
            </a:extLst>
          </p:cNvPr>
          <p:cNvSpPr>
            <a:spLocks xmlns:a="http://schemas.openxmlformats.org/drawingml/2006/main" noGrp="1"/>
          </p:cNvSpPr>
          <p:nvPr/>
        </p:nvSpPr>
        <p:spPr>
          <a:xfrm xmlns:a="http://schemas.openxmlformats.org/drawingml/2006/main">
            <a:off x="552450" y="3857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1" i="0">
                <a:solidFill>
                  <a:srgbClr val="9FC6E0"/>
                </a:solidFill>
                <a:latin typeface="Calibri"/>
                <a:ea typeface="Calibri"/>
                <a:cs typeface="Calibri"/>
              </a:defRPr>
            </a:pPr>
            <a:r>
              <a:t>Key Evaluation Focus</a:t>
            </a:r>
          </a:p>
        </p:txBody>
      </p:sp>
      <p:sp>
        <p:nvSpPr>
          <p:cNvPr id="8" name="">
            <a:extLst xmlns:a="http://schemas.openxmlformats.org/drawingml/2006/main">
              <a:ext uri="{FF2B5EF4-FFF2-40B4-BE49-F238E27FC236}">
                <a16:creationId xmlns:a16="http://schemas.microsoft.com/office/drawing/2014/main" id="{E97A007A-D360-49F9-979A-3964EE67B74F}"/>
              </a:ext>
            </a:extLst>
          </p:cNvPr>
          <p:cNvSpPr>
            <a:spLocks xmlns:a="http://schemas.openxmlformats.org/drawingml/2006/main" noGrp="1"/>
          </p:cNvSpPr>
          <p:nvPr/>
        </p:nvSpPr>
        <p:spPr>
          <a:xfrm xmlns:a="http://schemas.openxmlformats.org/drawingml/2006/main">
            <a:off x="552450" y="4171950"/>
            <a:ext cx="1009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i="0">
                <a:solidFill>
                  <a:srgbClr val="FFFFFF"/>
                </a:solidFill>
                <a:latin typeface="Calibri"/>
                <a:ea typeface="Calibri"/>
                <a:cs typeface="Calibri"/>
              </a:defRPr>
            </a:pPr>
            <a:r>
              <a:t>Model architecture · Multiple models · Hyperparameter tuning · Experimental analysis · Methodology &amp; Development Summary</a:t>
            </a:r>
          </a:p>
        </p:txBody>
      </p:sp>
      <p:sp>
        <p:nvSpPr>
          <p:cNvPr id="9" name="">
            <a:extLst xmlns:a="http://schemas.openxmlformats.org/drawingml/2006/main">
              <a:ext uri="{FF2B5EF4-FFF2-40B4-BE49-F238E27FC236}">
                <a16:creationId xmlns:a16="http://schemas.microsoft.com/office/drawing/2014/main" id="{10FDD1B4-6059-4123-9AF0-6F0FC2411E22}"/>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8FA9BE"/>
                </a:solidFill>
                <a:latin typeface="Calibri"/>
                <a:ea typeface="Calibri"/>
                <a:cs typeface="Calibri"/>
              </a:defRPr>
            </a:pPr>
            <a:r>
              <a:rPr sz="825" b="0" i="0">
                <a:solidFill>
                  <a:srgbClr val="8FA9BE"/>
                </a:solidFill>
                <a:latin typeface="Calibri"/>
                <a:ea typeface="Calibri"/>
                <a:cs typeface="Calibri"/>
              </a:rPr>
              <a:t>Adaptive PINN Battery Digital Twin</a:t>
            </a:r>
          </a:p>
        </p:txBody>
      </p:sp>
      <p:sp>
        <p:nvSpPr>
          <p:cNvPr id="10" name="">
            <a:extLst xmlns:a="http://schemas.openxmlformats.org/drawingml/2006/main">
              <a:ext uri="{FF2B5EF4-FFF2-40B4-BE49-F238E27FC236}">
                <a16:creationId xmlns:a16="http://schemas.microsoft.com/office/drawing/2014/main" id="{3BA0801D-CE7A-4951-9014-0DB0CE65EA7B}"/>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8FA9BE"/>
                </a:solidFill>
                <a:latin typeface="Calibri"/>
                <a:ea typeface="Calibri"/>
                <a:cs typeface="Calibri"/>
              </a:defRPr>
            </a:pPr>
            <a:r>
              <a:rPr sz="825" b="0" i="0">
                <a:solidFill>
                  <a:srgbClr val="8FA9BE"/>
                </a:solidFill>
                <a:latin typeface="Calibri"/>
                <a:ea typeface="Calibri"/>
                <a:cs typeface="Calibri"/>
              </a:rPr>
              <a:t>12 / 21</a:t>
            </a:r>
          </a:p>
        </p:txBody>
      </p:sp>
    </p:spTree>
    <p:extLst>
      <p:ext uri="{BB962C8B-B14F-4D97-AF65-F5344CB8AC3E}">
        <p14:creationId xmlns:p14="http://schemas.microsoft.com/office/powerpoint/2010/main" val="181326747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9E81366-5D5B-43B2-82CE-B3622B7F9813}"/>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28090"/>
                </a:solidFill>
                <a:latin typeface="Calibri"/>
                <a:ea typeface="Calibri"/>
                <a:cs typeface="Calibri"/>
              </a:defRPr>
            </a:pPr>
            <a:r>
              <a:rPr sz="900" b="1" i="0">
                <a:solidFill>
                  <a:srgbClr val="028090"/>
                </a:solidFill>
                <a:latin typeface="Calibri"/>
                <a:ea typeface="Calibri"/>
                <a:cs typeface="Calibri"/>
              </a:rPr>
              <a:t>PHASE II · DELIVERABLE</a:t>
            </a:r>
          </a:p>
        </p:txBody>
      </p:sp>
      <p:sp>
        <p:nvSpPr>
          <p:cNvPr id="2" name="">
            <a:extLst xmlns:a="http://schemas.openxmlformats.org/drawingml/2006/main">
              <a:ext uri="{FF2B5EF4-FFF2-40B4-BE49-F238E27FC236}">
                <a16:creationId xmlns:a16="http://schemas.microsoft.com/office/drawing/2014/main" id="{20EC3F83-36DE-45AF-9C19-48D813319974}"/>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0B2545"/>
                </a:solidFill>
                <a:latin typeface="Cambria"/>
                <a:ea typeface="Cambria"/>
                <a:cs typeface="Cambria"/>
              </a:defRPr>
            </a:pPr>
            <a:r>
              <a:rPr sz="2325" b="1" i="0">
                <a:solidFill>
                  <a:srgbClr val="0B2545"/>
                </a:solidFill>
                <a:latin typeface="Cambria"/>
                <a:ea typeface="Cambria"/>
                <a:cs typeface="Cambria"/>
              </a:rPr>
              <a:t>Phase II focus: DL model design and hyperparameter tuning</a:t>
            </a:r>
          </a:p>
        </p:txBody>
      </p:sp>
      <p:sp>
        <p:nvSpPr>
          <p:cNvPr id="3" name="">
            <a:extLst xmlns:a="http://schemas.openxmlformats.org/drawingml/2006/main">
              <a:ext uri="{FF2B5EF4-FFF2-40B4-BE49-F238E27FC236}">
                <a16:creationId xmlns:a16="http://schemas.microsoft.com/office/drawing/2014/main" id="{B23280A9-4366-4A0A-ADBA-5A24B8636747}"/>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5B6B79"/>
                </a:solidFill>
                <a:latin typeface="Calibri"/>
                <a:ea typeface="Calibri"/>
                <a:cs typeface="Calibri"/>
              </a:defRPr>
            </a:pPr>
            <a:r>
              <a:rPr sz="1125" b="0" i="0">
                <a:solidFill>
                  <a:srgbClr val="5B6B79"/>
                </a:solidFill>
                <a:latin typeface="Calibri"/>
                <a:ea typeface="Calibri"/>
                <a:cs typeface="Calibri"/>
              </a:rPr>
              <a:t>The required work is explicit: design the DL models, tune their hyperparameters, deploy multiple models, and compare results.</a:t>
            </a:r>
          </a:p>
        </p:txBody>
      </p:sp>
      <p:sp>
        <p:nvSpPr>
          <p:cNvPr id="4" name="">
            <a:extLst xmlns:a="http://schemas.openxmlformats.org/drawingml/2006/main">
              <a:ext uri="{FF2B5EF4-FFF2-40B4-BE49-F238E27FC236}">
                <a16:creationId xmlns:a16="http://schemas.microsoft.com/office/drawing/2014/main" id="{2AA80E88-89D9-4142-AE97-66E5358596AD}"/>
              </a:ext>
            </a:extLst>
          </p:cNvPr>
          <p:cNvSpPr>
            <a:spLocks xmlns:a="http://schemas.openxmlformats.org/drawingml/2006/main" noGrp="1"/>
          </p:cNvSpPr>
          <p:nvPr/>
        </p:nvSpPr>
        <p:spPr>
          <a:xfrm xmlns:a="http://schemas.openxmlformats.org/drawingml/2006/main">
            <a:off x="666750" y="2114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F20C1E0-EF21-47F8-ACFA-FFF5D971940E}"/>
              </a:ext>
            </a:extLst>
          </p:cNvPr>
          <p:cNvSpPr>
            <a:spLocks xmlns:a="http://schemas.openxmlformats.org/drawingml/2006/main" noGrp="1"/>
          </p:cNvSpPr>
          <p:nvPr/>
        </p:nvSpPr>
        <p:spPr>
          <a:xfrm xmlns:a="http://schemas.openxmlformats.org/drawingml/2006/main">
            <a:off x="733425" y="2133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i="0">
                <a:solidFill>
                  <a:srgbClr val="FFFFFF"/>
                </a:solidFill>
                <a:latin typeface="Calibri"/>
                <a:ea typeface="Calibri"/>
                <a:cs typeface="Calibri"/>
              </a:defRPr>
            </a:pPr>
            <a:r>
              <a:rPr sz="825" b="1" i="0">
                <a:solidFill>
                  <a:srgbClr val="FFFFFF"/>
                </a:solidFill>
                <a:latin typeface="Calibri"/>
                <a:ea typeface="Calibri"/>
                <a:cs typeface="Calibri"/>
              </a:rPr>
              <a:t>1</a:t>
            </a:r>
          </a:p>
        </p:txBody>
      </p:sp>
      <p:sp>
        <p:nvSpPr>
          <p:cNvPr id="6" name="">
            <a:extLst xmlns:a="http://schemas.openxmlformats.org/drawingml/2006/main">
              <a:ext uri="{FF2B5EF4-FFF2-40B4-BE49-F238E27FC236}">
                <a16:creationId xmlns:a16="http://schemas.microsoft.com/office/drawing/2014/main" id="{34D7D573-D3F3-4BEC-864F-00BB813A3AC5}"/>
              </a:ext>
            </a:extLst>
          </p:cNvPr>
          <p:cNvSpPr>
            <a:spLocks xmlns:a="http://schemas.openxmlformats.org/drawingml/2006/main" noGrp="1"/>
          </p:cNvSpPr>
          <p:nvPr/>
        </p:nvSpPr>
        <p:spPr>
          <a:xfrm xmlns:a="http://schemas.openxmlformats.org/drawingml/2006/main">
            <a:off x="1047750" y="2095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buNone/>
              <a:defRPr sz="1275" b="1" i="0">
                <a:solidFill>
                  <a:srgbClr val="0B2545"/>
                </a:solidFill>
                <a:latin typeface="Calibri"/>
                <a:ea typeface="Calibri"/>
                <a:cs typeface="Calibri"/>
              </a:defRPr>
            </a:pPr>
            <a:r>
              <a:rPr sz="1275" b="1" i="0">
                <a:solidFill>
                  <a:srgbClr val="0B2545"/>
                </a:solidFill>
                <a:latin typeface="Calibri"/>
                <a:ea typeface="Calibri"/>
                <a:cs typeface="Calibri"/>
              </a:rPr>
              <a:t>Data contract</a:t>
            </a:r>
          </a:p>
        </p:txBody>
      </p:sp>
      <p:sp>
        <p:nvSpPr>
          <p:cNvPr id="7" name="">
            <a:extLst xmlns:a="http://schemas.openxmlformats.org/drawingml/2006/main">
              <a:ext uri="{FF2B5EF4-FFF2-40B4-BE49-F238E27FC236}">
                <a16:creationId xmlns:a16="http://schemas.microsoft.com/office/drawing/2014/main" id="{EE460204-4DDA-40C1-930A-DE9A587F7C35}"/>
              </a:ext>
            </a:extLst>
          </p:cNvPr>
          <p:cNvSpPr>
            <a:spLocks xmlns:a="http://schemas.openxmlformats.org/drawingml/2006/main" noGrp="1"/>
          </p:cNvSpPr>
          <p:nvPr/>
        </p:nvSpPr>
        <p:spPr>
          <a:xfrm xmlns:a="http://schemas.openxmlformats.org/drawingml/2006/main">
            <a:off x="1047750" y="2362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i="0">
                <a:solidFill>
                  <a:srgbClr val="5B6B79"/>
                </a:solidFill>
                <a:latin typeface="Calibri"/>
                <a:ea typeface="Calibri"/>
                <a:cs typeface="Calibri"/>
              </a:defRPr>
            </a:pPr>
            <a:r>
              <a:rPr sz="1050" b="0" i="0">
                <a:solidFill>
                  <a:srgbClr val="5B6B79"/>
                </a:solidFill>
                <a:latin typeface="Calibri"/>
                <a:ea typeface="Calibri"/>
                <a:cs typeface="Calibri"/>
              </a:rPr>
              <a:t>NASA B0005, B0006, B0007, and B0018 are parsed into ordered discharge-cycle records with voltage, current, temperature, time-gap, and capacity.</a:t>
            </a:r>
          </a:p>
        </p:txBody>
      </p:sp>
      <p:sp>
        <p:nvSpPr>
          <p:cNvPr id="8" name="">
            <a:extLst xmlns:a="http://schemas.openxmlformats.org/drawingml/2006/main">
              <a:ext uri="{FF2B5EF4-FFF2-40B4-BE49-F238E27FC236}">
                <a16:creationId xmlns:a16="http://schemas.microsoft.com/office/drawing/2014/main" id="{4BD275EF-6469-4D04-9D96-9D91EEFA6920}"/>
              </a:ext>
            </a:extLst>
          </p:cNvPr>
          <p:cNvSpPr>
            <a:spLocks xmlns:a="http://schemas.openxmlformats.org/drawingml/2006/main" noGrp="1"/>
          </p:cNvSpPr>
          <p:nvPr/>
        </p:nvSpPr>
        <p:spPr>
          <a:xfrm xmlns:a="http://schemas.openxmlformats.org/drawingml/2006/main">
            <a:off x="666750" y="3257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6AEFCEF6-0997-4BAA-AB46-E9E13ED4AEC9}"/>
              </a:ext>
            </a:extLst>
          </p:cNvPr>
          <p:cNvSpPr>
            <a:spLocks xmlns:a="http://schemas.openxmlformats.org/drawingml/2006/main" noGrp="1"/>
          </p:cNvSpPr>
          <p:nvPr/>
        </p:nvSpPr>
        <p:spPr>
          <a:xfrm xmlns:a="http://schemas.openxmlformats.org/drawingml/2006/main">
            <a:off x="733425" y="3276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i="0">
                <a:solidFill>
                  <a:srgbClr val="FFFFFF"/>
                </a:solidFill>
                <a:latin typeface="Calibri"/>
                <a:ea typeface="Calibri"/>
                <a:cs typeface="Calibri"/>
              </a:defRPr>
            </a:pPr>
            <a:r>
              <a:rPr sz="825" b="1" i="0">
                <a:solidFill>
                  <a:srgbClr val="FFFFFF"/>
                </a:solidFill>
                <a:latin typeface="Calibri"/>
                <a:ea typeface="Calibri"/>
                <a:cs typeface="Calibri"/>
              </a:rPr>
              <a:t>2</a:t>
            </a:r>
          </a:p>
        </p:txBody>
      </p:sp>
      <p:sp>
        <p:nvSpPr>
          <p:cNvPr id="10" name="">
            <a:extLst xmlns:a="http://schemas.openxmlformats.org/drawingml/2006/main">
              <a:ext uri="{FF2B5EF4-FFF2-40B4-BE49-F238E27FC236}">
                <a16:creationId xmlns:a16="http://schemas.microsoft.com/office/drawing/2014/main" id="{CF2CBEF7-1EA7-4854-A228-1C0986A26AE5}"/>
              </a:ext>
            </a:extLst>
          </p:cNvPr>
          <p:cNvSpPr>
            <a:spLocks xmlns:a="http://schemas.openxmlformats.org/drawingml/2006/main" noGrp="1"/>
          </p:cNvSpPr>
          <p:nvPr/>
        </p:nvSpPr>
        <p:spPr>
          <a:xfrm xmlns:a="http://schemas.openxmlformats.org/drawingml/2006/main">
            <a:off x="1047750" y="3238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buNone/>
              <a:defRPr sz="1275" b="1" i="0">
                <a:solidFill>
                  <a:srgbClr val="0B2545"/>
                </a:solidFill>
                <a:latin typeface="Calibri"/>
                <a:ea typeface="Calibri"/>
                <a:cs typeface="Calibri"/>
              </a:defRPr>
            </a:pPr>
            <a:r>
              <a:rPr sz="1275" b="1" i="0">
                <a:solidFill>
                  <a:srgbClr val="0B2545"/>
                </a:solidFill>
                <a:latin typeface="Calibri"/>
                <a:ea typeface="Calibri"/>
                <a:cs typeface="Calibri"/>
              </a:rPr>
              <a:t>Model stack</a:t>
            </a:r>
          </a:p>
        </p:txBody>
      </p:sp>
      <p:sp>
        <p:nvSpPr>
          <p:cNvPr id="11" name="">
            <a:extLst xmlns:a="http://schemas.openxmlformats.org/drawingml/2006/main">
              <a:ext uri="{FF2B5EF4-FFF2-40B4-BE49-F238E27FC236}">
                <a16:creationId xmlns:a16="http://schemas.microsoft.com/office/drawing/2014/main" id="{3C3B0E83-F72B-40FF-99A1-1C60B154B43D}"/>
              </a:ext>
            </a:extLst>
          </p:cNvPr>
          <p:cNvSpPr>
            <a:spLocks xmlns:a="http://schemas.openxmlformats.org/drawingml/2006/main" noGrp="1"/>
          </p:cNvSpPr>
          <p:nvPr/>
        </p:nvSpPr>
        <p:spPr>
          <a:xfrm xmlns:a="http://schemas.openxmlformats.org/drawingml/2006/main">
            <a:off x="1047750" y="3505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i="0">
                <a:solidFill>
                  <a:srgbClr val="5B6B79"/>
                </a:solidFill>
                <a:latin typeface="Calibri"/>
                <a:ea typeface="Calibri"/>
                <a:cs typeface="Calibri"/>
              </a:defRPr>
            </a:pPr>
            <a:r>
              <a:rPr sz="1050" b="0" i="0">
                <a:solidFill>
                  <a:srgbClr val="5B6B79"/>
                </a:solidFill>
                <a:latin typeface="Calibri"/>
                <a:ea typeface="Calibri"/>
                <a:cs typeface="Calibri"/>
              </a:rPr>
              <a:t>DNN, GRU, Transformer-only, PINN, and adaptive Transformer-plus-physics models run under the same held-out-cell protocol.</a:t>
            </a:r>
          </a:p>
        </p:txBody>
      </p:sp>
      <p:sp>
        <p:nvSpPr>
          <p:cNvPr id="12" name="">
            <a:extLst xmlns:a="http://schemas.openxmlformats.org/drawingml/2006/main">
              <a:ext uri="{FF2B5EF4-FFF2-40B4-BE49-F238E27FC236}">
                <a16:creationId xmlns:a16="http://schemas.microsoft.com/office/drawing/2014/main" id="{51E73005-8B24-4436-8707-E2C8DA4D5B17}"/>
              </a:ext>
            </a:extLst>
          </p:cNvPr>
          <p:cNvSpPr>
            <a:spLocks xmlns:a="http://schemas.openxmlformats.org/drawingml/2006/main" noGrp="1"/>
          </p:cNvSpPr>
          <p:nvPr/>
        </p:nvSpPr>
        <p:spPr>
          <a:xfrm xmlns:a="http://schemas.openxmlformats.org/drawingml/2006/main">
            <a:off x="666750" y="4400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A665C9E3-D889-4838-8362-49400D6CDB89}"/>
              </a:ext>
            </a:extLst>
          </p:cNvPr>
          <p:cNvSpPr>
            <a:spLocks xmlns:a="http://schemas.openxmlformats.org/drawingml/2006/main" noGrp="1"/>
          </p:cNvSpPr>
          <p:nvPr/>
        </p:nvSpPr>
        <p:spPr>
          <a:xfrm xmlns:a="http://schemas.openxmlformats.org/drawingml/2006/main">
            <a:off x="733425" y="4419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i="0">
                <a:solidFill>
                  <a:srgbClr val="FFFFFF"/>
                </a:solidFill>
                <a:latin typeface="Calibri"/>
                <a:ea typeface="Calibri"/>
                <a:cs typeface="Calibri"/>
              </a:defRPr>
            </a:pPr>
            <a:r>
              <a:rPr sz="825" b="1" i="0">
                <a:solidFill>
                  <a:srgbClr val="FFFFFF"/>
                </a:solidFill>
                <a:latin typeface="Calibri"/>
                <a:ea typeface="Calibri"/>
                <a:cs typeface="Calibri"/>
              </a:rPr>
              <a:t>3</a:t>
            </a:r>
          </a:p>
        </p:txBody>
      </p:sp>
      <p:sp>
        <p:nvSpPr>
          <p:cNvPr id="14" name="">
            <a:extLst xmlns:a="http://schemas.openxmlformats.org/drawingml/2006/main">
              <a:ext uri="{FF2B5EF4-FFF2-40B4-BE49-F238E27FC236}">
                <a16:creationId xmlns:a16="http://schemas.microsoft.com/office/drawing/2014/main" id="{52AA96F4-DCC0-46C2-A1EB-6E591FA79E94}"/>
              </a:ext>
            </a:extLst>
          </p:cNvPr>
          <p:cNvSpPr>
            <a:spLocks xmlns:a="http://schemas.openxmlformats.org/drawingml/2006/main" noGrp="1"/>
          </p:cNvSpPr>
          <p:nvPr/>
        </p:nvSpPr>
        <p:spPr>
          <a:xfrm xmlns:a="http://schemas.openxmlformats.org/drawingml/2006/main">
            <a:off x="1047750" y="4381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buNone/>
              <a:defRPr sz="1275" b="1" i="0">
                <a:solidFill>
                  <a:srgbClr val="0B2545"/>
                </a:solidFill>
                <a:latin typeface="Calibri"/>
                <a:ea typeface="Calibri"/>
                <a:cs typeface="Calibri"/>
              </a:defRPr>
            </a:pPr>
            <a:r>
              <a:rPr sz="1275" b="1" i="0">
                <a:solidFill>
                  <a:srgbClr val="0B2545"/>
                </a:solidFill>
                <a:latin typeface="Calibri"/>
                <a:ea typeface="Calibri"/>
                <a:cs typeface="Calibri"/>
              </a:rPr>
              <a:t>Online learning</a:t>
            </a:r>
          </a:p>
        </p:txBody>
      </p:sp>
      <p:sp>
        <p:nvSpPr>
          <p:cNvPr id="15" name="">
            <a:extLst xmlns:a="http://schemas.openxmlformats.org/drawingml/2006/main">
              <a:ext uri="{FF2B5EF4-FFF2-40B4-BE49-F238E27FC236}">
                <a16:creationId xmlns:a16="http://schemas.microsoft.com/office/drawing/2014/main" id="{D88FA996-D57B-47A6-AEE6-E04295648B65}"/>
              </a:ext>
            </a:extLst>
          </p:cNvPr>
          <p:cNvSpPr>
            <a:spLocks xmlns:a="http://schemas.openxmlformats.org/drawingml/2006/main" noGrp="1"/>
          </p:cNvSpPr>
          <p:nvPr/>
        </p:nvSpPr>
        <p:spPr>
          <a:xfrm xmlns:a="http://schemas.openxmlformats.org/drawingml/2006/main">
            <a:off x="1047750" y="4648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i="0">
                <a:solidFill>
                  <a:srgbClr val="5B6B79"/>
                </a:solidFill>
                <a:latin typeface="Calibri"/>
                <a:ea typeface="Calibri"/>
                <a:cs typeface="Calibri"/>
              </a:defRPr>
            </a:pPr>
            <a:r>
              <a:rPr sz="1050" b="0" i="0">
                <a:solidFill>
                  <a:srgbClr val="5B6B79"/>
                </a:solidFill>
                <a:latin typeface="Calibri"/>
                <a:ea typeface="Calibri"/>
                <a:cs typeface="Calibri"/>
              </a:rPr>
              <a:t>A drift detector triggers low-cost replay-buffer updates as the held-out stream arrives in time order.</a:t>
            </a:r>
          </a:p>
        </p:txBody>
      </p:sp>
      <p:sp>
        <p:nvSpPr>
          <p:cNvPr id="16" name="">
            <a:extLst xmlns:a="http://schemas.openxmlformats.org/drawingml/2006/main">
              <a:ext uri="{FF2B5EF4-FFF2-40B4-BE49-F238E27FC236}">
                <a16:creationId xmlns:a16="http://schemas.microsoft.com/office/drawing/2014/main" id="{1E1398D5-2B64-44E4-A32E-C4DD3353CE0C}"/>
              </a:ext>
            </a:extLst>
          </p:cNvPr>
          <p:cNvSpPr>
            <a:spLocks xmlns:a="http://schemas.openxmlformats.org/drawingml/2006/main" noGrp="1"/>
          </p:cNvSpPr>
          <p:nvPr/>
        </p:nvSpPr>
        <p:spPr>
          <a:xfrm xmlns:a="http://schemas.openxmlformats.org/drawingml/2006/main">
            <a:off x="6334125" y="2114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331020F-106B-4D83-A0DB-54FBB0CAED72}"/>
              </a:ext>
            </a:extLst>
          </p:cNvPr>
          <p:cNvSpPr>
            <a:spLocks xmlns:a="http://schemas.openxmlformats.org/drawingml/2006/main" noGrp="1"/>
          </p:cNvSpPr>
          <p:nvPr/>
        </p:nvSpPr>
        <p:spPr>
          <a:xfrm xmlns:a="http://schemas.openxmlformats.org/drawingml/2006/main">
            <a:off x="6400800" y="2133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i="0">
                <a:solidFill>
                  <a:srgbClr val="FFFFFF"/>
                </a:solidFill>
                <a:latin typeface="Calibri"/>
                <a:ea typeface="Calibri"/>
                <a:cs typeface="Calibri"/>
              </a:defRPr>
            </a:pPr>
            <a:r>
              <a:rPr sz="825" b="1" i="0">
                <a:solidFill>
                  <a:srgbClr val="FFFFFF"/>
                </a:solidFill>
                <a:latin typeface="Calibri"/>
                <a:ea typeface="Calibri"/>
                <a:cs typeface="Calibri"/>
              </a:rPr>
              <a:t>4</a:t>
            </a:r>
          </a:p>
        </p:txBody>
      </p:sp>
      <p:sp>
        <p:nvSpPr>
          <p:cNvPr id="18" name="">
            <a:extLst xmlns:a="http://schemas.openxmlformats.org/drawingml/2006/main">
              <a:ext uri="{FF2B5EF4-FFF2-40B4-BE49-F238E27FC236}">
                <a16:creationId xmlns:a16="http://schemas.microsoft.com/office/drawing/2014/main" id="{CD74868F-C01C-425F-AFA6-102B09A3D367}"/>
              </a:ext>
            </a:extLst>
          </p:cNvPr>
          <p:cNvSpPr>
            <a:spLocks xmlns:a="http://schemas.openxmlformats.org/drawingml/2006/main" noGrp="1"/>
          </p:cNvSpPr>
          <p:nvPr/>
        </p:nvSpPr>
        <p:spPr>
          <a:xfrm xmlns:a="http://schemas.openxmlformats.org/drawingml/2006/main">
            <a:off x="6715125" y="2095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buNone/>
              <a:defRPr sz="1275" b="1" i="0">
                <a:solidFill>
                  <a:srgbClr val="0B2545"/>
                </a:solidFill>
                <a:latin typeface="Calibri"/>
                <a:ea typeface="Calibri"/>
                <a:cs typeface="Calibri"/>
              </a:defRPr>
            </a:pPr>
            <a:r>
              <a:t>Experimental Evidence</a:t>
            </a:r>
          </a:p>
        </p:txBody>
      </p:sp>
      <p:sp>
        <p:nvSpPr>
          <p:cNvPr id="19" name="">
            <a:extLst xmlns:a="http://schemas.openxmlformats.org/drawingml/2006/main">
              <a:ext uri="{FF2B5EF4-FFF2-40B4-BE49-F238E27FC236}">
                <a16:creationId xmlns:a16="http://schemas.microsoft.com/office/drawing/2014/main" id="{93C2A2B5-DD40-4004-805F-5D443F4AEB61}"/>
              </a:ext>
            </a:extLst>
          </p:cNvPr>
          <p:cNvSpPr>
            <a:spLocks xmlns:a="http://schemas.openxmlformats.org/drawingml/2006/main" noGrp="1"/>
          </p:cNvSpPr>
          <p:nvPr/>
        </p:nvSpPr>
        <p:spPr>
          <a:xfrm xmlns:a="http://schemas.openxmlformats.org/drawingml/2006/main">
            <a:off x="6715125" y="2362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i="0">
                <a:solidFill>
                  <a:srgbClr val="5B6B79"/>
                </a:solidFill>
                <a:latin typeface="Calibri"/>
                <a:ea typeface="Calibri"/>
                <a:cs typeface="Calibri"/>
              </a:defRPr>
            </a:pPr>
            <a:r>
              <a:rPr sz="1050" b="0" i="0">
                <a:solidFill>
                  <a:srgbClr val="5B6B79"/>
                </a:solidFill>
                <a:latin typeface="Calibri"/>
                <a:ea typeface="Calibri"/>
                <a:cs typeface="Calibri"/>
              </a:rPr>
              <a:t>The run exports final comparison tables, ablations, robustness results, physical diagnostics, figures, and a reflection script.</a:t>
            </a:r>
          </a:p>
        </p:txBody>
      </p:sp>
      <p:sp>
        <p:nvSpPr>
          <p:cNvPr id="20" name="">
            <a:extLst xmlns:a="http://schemas.openxmlformats.org/drawingml/2006/main">
              <a:ext uri="{FF2B5EF4-FFF2-40B4-BE49-F238E27FC236}">
                <a16:creationId xmlns:a16="http://schemas.microsoft.com/office/drawing/2014/main" id="{1F66ACD2-26D5-4CAC-AA5A-FDE0D2DF6A5E}"/>
              </a:ext>
            </a:extLst>
          </p:cNvPr>
          <p:cNvSpPr>
            <a:spLocks xmlns:a="http://schemas.openxmlformats.org/drawingml/2006/main" noGrp="1"/>
          </p:cNvSpPr>
          <p:nvPr/>
        </p:nvSpPr>
        <p:spPr>
          <a:xfrm xmlns:a="http://schemas.openxmlformats.org/drawingml/2006/main">
            <a:off x="6334125" y="3257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FE944805-70EA-45DC-AD66-8E077F5BE9D2}"/>
              </a:ext>
            </a:extLst>
          </p:cNvPr>
          <p:cNvSpPr>
            <a:spLocks xmlns:a="http://schemas.openxmlformats.org/drawingml/2006/main" noGrp="1"/>
          </p:cNvSpPr>
          <p:nvPr/>
        </p:nvSpPr>
        <p:spPr>
          <a:xfrm xmlns:a="http://schemas.openxmlformats.org/drawingml/2006/main">
            <a:off x="6400800" y="3276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i="0">
                <a:solidFill>
                  <a:srgbClr val="FFFFFF"/>
                </a:solidFill>
                <a:latin typeface="Calibri"/>
                <a:ea typeface="Calibri"/>
                <a:cs typeface="Calibri"/>
              </a:defRPr>
            </a:pPr>
            <a:r>
              <a:rPr sz="825" b="1" i="0">
                <a:solidFill>
                  <a:srgbClr val="FFFFFF"/>
                </a:solidFill>
                <a:latin typeface="Calibri"/>
                <a:ea typeface="Calibri"/>
                <a:cs typeface="Calibri"/>
              </a:rPr>
              <a:t>5</a:t>
            </a:r>
          </a:p>
        </p:txBody>
      </p:sp>
      <p:sp>
        <p:nvSpPr>
          <p:cNvPr id="22" name="">
            <a:extLst xmlns:a="http://schemas.openxmlformats.org/drawingml/2006/main">
              <a:ext uri="{FF2B5EF4-FFF2-40B4-BE49-F238E27FC236}">
                <a16:creationId xmlns:a16="http://schemas.microsoft.com/office/drawing/2014/main" id="{1C78315D-12E8-47D1-B7BB-3B79FE3F914D}"/>
              </a:ext>
            </a:extLst>
          </p:cNvPr>
          <p:cNvSpPr>
            <a:spLocks xmlns:a="http://schemas.openxmlformats.org/drawingml/2006/main" noGrp="1"/>
          </p:cNvSpPr>
          <p:nvPr/>
        </p:nvSpPr>
        <p:spPr>
          <a:xfrm xmlns:a="http://schemas.openxmlformats.org/drawingml/2006/main">
            <a:off x="6715125" y="3238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buNone/>
              <a:defRPr sz="1275" b="1" i="0">
                <a:solidFill>
                  <a:srgbClr val="0B2545"/>
                </a:solidFill>
                <a:latin typeface="Calibri"/>
                <a:ea typeface="Calibri"/>
                <a:cs typeface="Calibri"/>
              </a:defRPr>
            </a:pPr>
            <a:r>
              <a:t>Scope &amp; Boundary</a:t>
            </a:r>
          </a:p>
        </p:txBody>
      </p:sp>
      <p:sp>
        <p:nvSpPr>
          <p:cNvPr id="23" name="">
            <a:extLst xmlns:a="http://schemas.openxmlformats.org/drawingml/2006/main">
              <a:ext uri="{FF2B5EF4-FFF2-40B4-BE49-F238E27FC236}">
                <a16:creationId xmlns:a16="http://schemas.microsoft.com/office/drawing/2014/main" id="{756AFCE1-A5E9-46F0-8887-88C79F06441B}"/>
              </a:ext>
            </a:extLst>
          </p:cNvPr>
          <p:cNvSpPr>
            <a:spLocks xmlns:a="http://schemas.openxmlformats.org/drawingml/2006/main" noGrp="1"/>
          </p:cNvSpPr>
          <p:nvPr/>
        </p:nvSpPr>
        <p:spPr>
          <a:xfrm xmlns:a="http://schemas.openxmlformats.org/drawingml/2006/main">
            <a:off x="6715125" y="3505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i="0">
                <a:solidFill>
                  <a:srgbClr val="5B6B79"/>
                </a:solidFill>
                <a:latin typeface="Calibri"/>
                <a:ea typeface="Calibri"/>
                <a:cs typeface="Calibri"/>
              </a:defRPr>
            </a:pPr>
            <a:r>
              <a:rPr sz="1050" b="0" i="0">
                <a:solidFill>
                  <a:srgbClr val="5B6B79"/>
                </a:solidFill>
                <a:latin typeface="Calibri"/>
                <a:ea typeface="Calibri"/>
                <a:cs typeface="Calibri"/>
              </a:rPr>
              <a:t>SEI-PDE physics and broad multi-chemistry validation remain extensions because the NASA POC does not expose every required electrochemical variable.</a:t>
            </a:r>
          </a:p>
        </p:txBody>
      </p:sp>
      <p:sp>
        <p:nvSpPr>
          <p:cNvPr id="24" name="">
            <a:extLst xmlns:a="http://schemas.openxmlformats.org/drawingml/2006/main">
              <a:ext uri="{FF2B5EF4-FFF2-40B4-BE49-F238E27FC236}">
                <a16:creationId xmlns:a16="http://schemas.microsoft.com/office/drawing/2014/main" id="{F187827F-1A21-41C2-954E-F5C532552534}"/>
              </a:ext>
            </a:extLst>
          </p:cNvPr>
          <p:cNvSpPr>
            <a:spLocks xmlns:a="http://schemas.openxmlformats.org/drawingml/2006/main" noGrp="1"/>
          </p:cNvSpPr>
          <p:nvPr/>
        </p:nvSpPr>
        <p:spPr>
          <a:xfrm xmlns:a="http://schemas.openxmlformats.org/drawingml/2006/main">
            <a:off x="6334125" y="4400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E7DC9236-BDF1-4498-8A82-08620EB5A70E}"/>
              </a:ext>
            </a:extLst>
          </p:cNvPr>
          <p:cNvSpPr>
            <a:spLocks xmlns:a="http://schemas.openxmlformats.org/drawingml/2006/main" noGrp="1"/>
          </p:cNvSpPr>
          <p:nvPr/>
        </p:nvSpPr>
        <p:spPr>
          <a:xfrm xmlns:a="http://schemas.openxmlformats.org/drawingml/2006/main">
            <a:off x="6400800" y="4419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i="0">
                <a:solidFill>
                  <a:srgbClr val="FFFFFF"/>
                </a:solidFill>
                <a:latin typeface="Calibri"/>
                <a:ea typeface="Calibri"/>
                <a:cs typeface="Calibri"/>
              </a:defRPr>
            </a:pPr>
            <a:r>
              <a:rPr sz="825" b="1" i="0">
                <a:solidFill>
                  <a:srgbClr val="FFFFFF"/>
                </a:solidFill>
                <a:latin typeface="Calibri"/>
                <a:ea typeface="Calibri"/>
                <a:cs typeface="Calibri"/>
              </a:rPr>
              <a:t>6</a:t>
            </a:r>
          </a:p>
        </p:txBody>
      </p:sp>
      <p:sp>
        <p:nvSpPr>
          <p:cNvPr id="26" name="">
            <a:extLst xmlns:a="http://schemas.openxmlformats.org/drawingml/2006/main">
              <a:ext uri="{FF2B5EF4-FFF2-40B4-BE49-F238E27FC236}">
                <a16:creationId xmlns:a16="http://schemas.microsoft.com/office/drawing/2014/main" id="{2B28013C-4D2D-4F1A-8212-D97CDC8E1A5C}"/>
              </a:ext>
            </a:extLst>
          </p:cNvPr>
          <p:cNvSpPr>
            <a:spLocks xmlns:a="http://schemas.openxmlformats.org/drawingml/2006/main" noGrp="1"/>
          </p:cNvSpPr>
          <p:nvPr/>
        </p:nvSpPr>
        <p:spPr>
          <a:xfrm xmlns:a="http://schemas.openxmlformats.org/drawingml/2006/main">
            <a:off x="6715125" y="4381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buNone/>
              <a:defRPr sz="1275" b="1" i="0">
                <a:solidFill>
                  <a:srgbClr val="0B2545"/>
                </a:solidFill>
                <a:latin typeface="Calibri"/>
                <a:ea typeface="Calibri"/>
                <a:cs typeface="Calibri"/>
              </a:defRPr>
            </a:pPr>
            <a:r>
              <a:t>Experimental Rigor</a:t>
            </a:r>
          </a:p>
        </p:txBody>
      </p:sp>
      <p:sp>
        <p:nvSpPr>
          <p:cNvPr id="27" name="">
            <a:extLst xmlns:a="http://schemas.openxmlformats.org/drawingml/2006/main">
              <a:ext uri="{FF2B5EF4-FFF2-40B4-BE49-F238E27FC236}">
                <a16:creationId xmlns:a16="http://schemas.microsoft.com/office/drawing/2014/main" id="{25A52FA7-7FFF-4485-9953-F5962E1CAD45}"/>
              </a:ext>
            </a:extLst>
          </p:cNvPr>
          <p:cNvSpPr>
            <a:spLocks xmlns:a="http://schemas.openxmlformats.org/drawingml/2006/main" noGrp="1"/>
          </p:cNvSpPr>
          <p:nvPr/>
        </p:nvSpPr>
        <p:spPr>
          <a:xfrm xmlns:a="http://schemas.openxmlformats.org/drawingml/2006/main">
            <a:off x="6715125" y="4648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i="0">
                <a:solidFill>
                  <a:srgbClr val="5B6B79"/>
                </a:solidFill>
                <a:latin typeface="Calibri"/>
                <a:ea typeface="Calibri"/>
                <a:cs typeface="Calibri"/>
              </a:defRPr>
            </a:pPr>
            <a:r>
              <a:rPr sz="1050" b="0" i="0">
                <a:solidFill>
                  <a:srgbClr val="5B6B79"/>
                </a:solidFill>
                <a:latin typeface="Calibri"/>
                <a:ea typeface="Calibri"/>
                <a:cs typeface="Calibri"/>
              </a:rPr>
              <a:t>Reported paper metrics stay separate from new project metrics. The project claims only what the executed protocol measures.</a:t>
            </a:r>
          </a:p>
        </p:txBody>
      </p:sp>
      <p:sp>
        <p:nvSpPr>
          <p:cNvPr id="28" name="">
            <a:extLst xmlns:a="http://schemas.openxmlformats.org/drawingml/2006/main">
              <a:ext uri="{FF2B5EF4-FFF2-40B4-BE49-F238E27FC236}">
                <a16:creationId xmlns:a16="http://schemas.microsoft.com/office/drawing/2014/main" id="{54BAB9C9-1DB9-4FC2-B24A-69AB6EAE4E53}"/>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29" name="">
            <a:extLst xmlns:a="http://schemas.openxmlformats.org/drawingml/2006/main">
              <a:ext uri="{FF2B5EF4-FFF2-40B4-BE49-F238E27FC236}">
                <a16:creationId xmlns:a16="http://schemas.microsoft.com/office/drawing/2014/main" id="{729B7498-804A-4566-A2D7-17FE09129C9A}"/>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13 / 21</a:t>
            </a:r>
          </a:p>
        </p:txBody>
      </p:sp>
    </p:spTree>
    <p:extLst>
      <p:ext uri="{BB962C8B-B14F-4D97-AF65-F5344CB8AC3E}">
        <p14:creationId xmlns:p14="http://schemas.microsoft.com/office/powerpoint/2010/main" val="164927459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D501287-CD87-4A30-ADF3-45F5266150ED}"/>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28090"/>
                </a:solidFill>
                <a:latin typeface="Calibri"/>
                <a:ea typeface="Calibri"/>
                <a:cs typeface="Calibri"/>
              </a:defRPr>
            </a:pPr>
            <a:r>
              <a:rPr sz="900" b="1" i="0">
                <a:solidFill>
                  <a:srgbClr val="028090"/>
                </a:solidFill>
                <a:latin typeface="Calibri"/>
                <a:ea typeface="Calibri"/>
                <a:cs typeface="Calibri"/>
              </a:rPr>
              <a:t>PHASE II · DATASET</a:t>
            </a:r>
          </a:p>
        </p:txBody>
      </p:sp>
      <p:sp>
        <p:nvSpPr>
          <p:cNvPr id="2" name="">
            <a:extLst xmlns:a="http://schemas.openxmlformats.org/drawingml/2006/main">
              <a:ext uri="{FF2B5EF4-FFF2-40B4-BE49-F238E27FC236}">
                <a16:creationId xmlns:a16="http://schemas.microsoft.com/office/drawing/2014/main" id="{3AE1D7F1-2C4A-4711-A310-E57C3696F5B9}"/>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0B2545"/>
                </a:solidFill>
                <a:latin typeface="Cambria"/>
                <a:ea typeface="Cambria"/>
                <a:cs typeface="Cambria"/>
              </a:defRPr>
            </a:pPr>
            <a:r>
              <a:rPr sz="2325" b="1" i="0">
                <a:solidFill>
                  <a:srgbClr val="0B2545"/>
                </a:solidFill>
                <a:latin typeface="Cambria"/>
                <a:ea typeface="Cambria"/>
                <a:cs typeface="Cambria"/>
              </a:rPr>
              <a:t>NASA cells and a leakage-safe evaluation protocol</a:t>
            </a:r>
          </a:p>
        </p:txBody>
      </p:sp>
      <p:sp>
        <p:nvSpPr>
          <p:cNvPr id="3" name="">
            <a:extLst xmlns:a="http://schemas.openxmlformats.org/drawingml/2006/main">
              <a:ext uri="{FF2B5EF4-FFF2-40B4-BE49-F238E27FC236}">
                <a16:creationId xmlns:a16="http://schemas.microsoft.com/office/drawing/2014/main" id="{DF509F74-19FB-4ACF-850A-89DA8A27A751}"/>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5B6B79"/>
                </a:solidFill>
                <a:latin typeface="Calibri"/>
                <a:ea typeface="Calibri"/>
                <a:cs typeface="Calibri"/>
              </a:defRPr>
            </a:pPr>
            <a:r>
              <a:rPr sz="1125" b="0" i="0">
                <a:solidFill>
                  <a:srgbClr val="5B6B79"/>
                </a:solidFill>
                <a:latin typeface="Calibri"/>
                <a:ea typeface="Calibri"/>
                <a:cs typeface="Calibri"/>
              </a:rPr>
              <a:t>The official NASA PCoE repository provides the first committed dataset for this proof of concept.</a:t>
            </a:r>
          </a:p>
        </p:txBody>
      </p:sp>
      <p:graphicFrame>
        <p:nvGraphicFramePr>
          <p:cNvPr id="27" name=""/>
          <p:cNvGraphicFramePr/>
          <p:nvPr/>
        </p:nvGraphicFramePr>
        <p:xfrm>
          <a:off xmlns:a="http://schemas.openxmlformats.org/drawingml/2006/main" x="552450" y="1952625"/>
          <a:ext xmlns:a="http://schemas.openxmlformats.org/drawingml/2006/main" cx="11096625" cy="2571750"/>
        </p:xfrm>
        <a:graphic xmlns:a="http://schemas.openxmlformats.org/drawingml/2006/main">
          <a:graphicData uri="http://schemas.openxmlformats.org/drawingml/2006/table">
            <a:tbl>
              <a:tblPr firstRow="1" bandRow="1"/>
              <a:tblGrid>
                <a:gridCol w="1619250"/>
                <a:gridCol w="4095750"/>
                <a:gridCol w="5381625"/>
              </a:tblGrid>
              <a:tr h="428625">
                <a:tc>
                  <a:txBody>
                    <a:bodyPr>
                      <a:normAutofit/>
                    </a:bodyPr>
                    <a:lstStyle/>
                    <a:p>
                      <a:r>
                        <a:rPr sz="900" b="1">
                          <a:solidFill>
                            <a:srgbClr val="FFFFFF"/>
                          </a:solidFill>
                          <a:latin typeface="Calibri"/>
                          <a:ea typeface="Calibri"/>
                          <a:cs typeface="Calibri"/>
                        </a:rPr>
                        <a:t>Item</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Project choice</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Why it matters</a:t>
                      </a:r>
                    </a:p>
                  </a:txBody>
                  <a:tcPr marL="91440" marR="91440" marT="45720" marB="45720">
                    <a:solidFill>
                      <a:srgbClr val="13355E"/>
                    </a:solidFill>
                  </a:tcPr>
                </a:tc>
              </a:tr>
              <a:tr h="428625">
                <a:tc>
                  <a:txBody>
                    <a:bodyPr>
                      <a:normAutofit/>
                    </a:bodyPr>
                    <a:lstStyle/>
                    <a:p>
                      <a:r>
                        <a:rPr sz="900" b="1">
                          <a:solidFill>
                            <a:srgbClr val="0B2545"/>
                          </a:solidFill>
                          <a:latin typeface="Calibri"/>
                          <a:ea typeface="Calibri"/>
                          <a:cs typeface="Calibri"/>
                        </a:rPr>
                        <a:t>Cells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B0005 / B0006 / B0007 train · B0018 held out</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Battery-level separation tests transfer to a new cell.</a:t>
                      </a:r>
                    </a:p>
                  </a:txBody>
                  <a:tcPr marL="91440" marR="91440" marT="45720" marB="45720">
                    <a:solidFill>
                      <a:srgbClr val="FFFFFF"/>
                    </a:solidFill>
                  </a:tcPr>
                </a:tc>
              </a:tr>
              <a:tr h="428625">
                <a:tc>
                  <a:txBody>
                    <a:bodyPr>
                      <a:normAutofit/>
                    </a:bodyPr>
                    <a:lstStyle/>
                    <a:p>
                      <a:r>
                        <a:rPr sz="900" b="1">
                          <a:solidFill>
                            <a:srgbClr val="0B2545"/>
                          </a:solidFill>
                          <a:latin typeface="Calibri"/>
                          <a:ea typeface="Calibri"/>
                          <a:cs typeface="Calibri"/>
                        </a:rPr>
                        <a:t>Labels</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SOH = capacity / nominal capacity × 100 · EOL = 70% SOH</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RUL = EOL cycle − current cycle.</a:t>
                      </a:r>
                    </a:p>
                  </a:txBody>
                  <a:tcPr marL="91440" marR="91440" marT="45720" marB="45720">
                    <a:solidFill>
                      <a:srgbClr val="F4F8FA"/>
                    </a:solidFill>
                  </a:tcPr>
                </a:tc>
              </a:tr>
              <a:tr h="428625">
                <a:tc>
                  <a:txBody>
                    <a:bodyPr>
                      <a:normAutofit/>
                    </a:bodyPr>
                    <a:lstStyle/>
                    <a:p>
                      <a:r>
                        <a:rPr sz="900" b="1">
                          <a:solidFill>
                            <a:srgbClr val="0B2545"/>
                          </a:solidFill>
                          <a:latin typeface="Calibri"/>
                          <a:ea typeface="Calibri"/>
                          <a:cs typeface="Calibri"/>
                        </a:rPr>
                        <a:t>Inputs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Voltage · current · temperature · delta_t · cycle index</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Measured timing is retained with masks.</a:t>
                      </a:r>
                    </a:p>
                  </a:txBody>
                  <a:tcPr marL="91440" marR="91440" marT="45720" marB="45720">
                    <a:solidFill>
                      <a:srgbClr val="FFFFFF"/>
                    </a:solidFill>
                  </a:tcPr>
                </a:tc>
              </a:tr>
              <a:tr h="428625">
                <a:tc>
                  <a:txBody>
                    <a:bodyPr>
                      <a:normAutofit/>
                    </a:bodyPr>
                    <a:lstStyle/>
                    <a:p>
                      <a:r>
                        <a:rPr sz="900" b="1">
                          <a:solidFill>
                            <a:srgbClr val="0B2545"/>
                          </a:solidFill>
                          <a:latin typeface="Calibri"/>
                          <a:ea typeface="Calibri"/>
                          <a:cs typeface="Calibri"/>
                        </a:rPr>
                        <a:t>Protocol</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504 train windows · 132 test windows · 33 initial · 99 stream</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Later cycles arrive sequentially for adaptation.</a:t>
                      </a:r>
                    </a:p>
                  </a:txBody>
                  <a:tcPr marL="91440" marR="91440" marT="45720" marB="45720">
                    <a:solidFill>
                      <a:srgbClr val="F4F8FA"/>
                    </a:solidFill>
                  </a:tcPr>
                </a:tc>
              </a:tr>
              <a:tr h="428625">
                <a:tc>
                  <a:txBody>
                    <a:bodyPr>
                      <a:normAutofit/>
                    </a:bodyPr>
                    <a:lstStyle/>
                    <a:p>
                      <a:r>
                        <a:rPr sz="900" b="1">
                          <a:solidFill>
                            <a:srgbClr val="0B2545"/>
                          </a:solidFill>
                          <a:latin typeface="Calibri"/>
                          <a:ea typeface="Calibri"/>
                          <a:cs typeface="Calibri"/>
                        </a:rPr>
                        <a:t>Seeds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7 · 17 · 27</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Final tables report mean ± standard deviation.</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09F9DEE-BEA4-43F0-A0B6-D3F6B3455D6C}"/>
              </a:ext>
            </a:extLst>
          </p:cNvPr>
          <p:cNvSpPr>
            <a:spLocks xmlns:a="http://schemas.openxmlformats.org/drawingml/2006/main" noGrp="1"/>
          </p:cNvSpPr>
          <p:nvPr/>
        </p:nvSpPr>
        <p:spPr>
          <a:xfrm xmlns:a="http://schemas.openxmlformats.org/drawingml/2006/main">
            <a:off x="552450" y="4953000"/>
            <a:ext cx="190500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63CDFF5-3C46-41EE-9092-2E13EBAA7AF6}"/>
              </a:ext>
            </a:extLst>
          </p:cNvPr>
          <p:cNvSpPr>
            <a:spLocks xmlns:a="http://schemas.openxmlformats.org/drawingml/2006/main" noGrp="1"/>
          </p:cNvSpPr>
          <p:nvPr/>
        </p:nvSpPr>
        <p:spPr>
          <a:xfrm xmlns:a="http://schemas.openxmlformats.org/drawingml/2006/main">
            <a:off x="704850" y="506730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EOL RULE</a:t>
            </a:r>
          </a:p>
        </p:txBody>
      </p:sp>
      <p:sp>
        <p:nvSpPr>
          <p:cNvPr id="7" name="">
            <a:extLst xmlns:a="http://schemas.openxmlformats.org/drawingml/2006/main">
              <a:ext uri="{FF2B5EF4-FFF2-40B4-BE49-F238E27FC236}">
                <a16:creationId xmlns:a16="http://schemas.microsoft.com/office/drawing/2014/main" id="{4DE97B28-5FCA-4277-88E8-95AB1701471D}"/>
              </a:ext>
            </a:extLst>
          </p:cNvPr>
          <p:cNvSpPr>
            <a:spLocks xmlns:a="http://schemas.openxmlformats.org/drawingml/2006/main" noGrp="1"/>
          </p:cNvSpPr>
          <p:nvPr/>
        </p:nvSpPr>
        <p:spPr>
          <a:xfrm xmlns:a="http://schemas.openxmlformats.org/drawingml/2006/main">
            <a:off x="704850" y="52578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028090"/>
                </a:solidFill>
                <a:latin typeface="Cambria"/>
                <a:ea typeface="Cambria"/>
                <a:cs typeface="Cambria"/>
              </a:defRPr>
            </a:pPr>
            <a:r>
              <a:rPr sz="1650" b="1" i="0">
                <a:solidFill>
                  <a:srgbClr val="028090"/>
                </a:solidFill>
                <a:latin typeface="Cambria"/>
                <a:ea typeface="Cambria"/>
                <a:cs typeface="Cambria"/>
              </a:rPr>
              <a:t>70% SOH</a:t>
            </a:r>
          </a:p>
        </p:txBody>
      </p:sp>
      <p:sp>
        <p:nvSpPr>
          <p:cNvPr id="8" name="">
            <a:extLst xmlns:a="http://schemas.openxmlformats.org/drawingml/2006/main">
              <a:ext uri="{FF2B5EF4-FFF2-40B4-BE49-F238E27FC236}">
                <a16:creationId xmlns:a16="http://schemas.microsoft.com/office/drawing/2014/main" id="{B80F6030-86DC-45EA-A508-E850D8EF0312}"/>
              </a:ext>
            </a:extLst>
          </p:cNvPr>
          <p:cNvSpPr>
            <a:spLocks xmlns:a="http://schemas.openxmlformats.org/drawingml/2006/main" noGrp="1"/>
          </p:cNvSpPr>
          <p:nvPr/>
        </p:nvSpPr>
        <p:spPr>
          <a:xfrm xmlns:a="http://schemas.openxmlformats.org/drawingml/2006/main">
            <a:off x="2667000" y="4953000"/>
            <a:ext cx="190500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F8794BD-BDFD-4920-B62E-D7AA80D6ED87}"/>
              </a:ext>
            </a:extLst>
          </p:cNvPr>
          <p:cNvSpPr>
            <a:spLocks xmlns:a="http://schemas.openxmlformats.org/drawingml/2006/main" noGrp="1"/>
          </p:cNvSpPr>
          <p:nvPr/>
        </p:nvSpPr>
        <p:spPr>
          <a:xfrm xmlns:a="http://schemas.openxmlformats.org/drawingml/2006/main">
            <a:off x="2819400" y="506730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HELD-OUT CELL</a:t>
            </a:r>
          </a:p>
        </p:txBody>
      </p:sp>
      <p:sp>
        <p:nvSpPr>
          <p:cNvPr id="10" name="">
            <a:extLst xmlns:a="http://schemas.openxmlformats.org/drawingml/2006/main">
              <a:ext uri="{FF2B5EF4-FFF2-40B4-BE49-F238E27FC236}">
                <a16:creationId xmlns:a16="http://schemas.microsoft.com/office/drawing/2014/main" id="{EADD41DE-2C79-41DF-903B-4E24181C4DEC}"/>
              </a:ext>
            </a:extLst>
          </p:cNvPr>
          <p:cNvSpPr>
            <a:spLocks xmlns:a="http://schemas.openxmlformats.org/drawingml/2006/main" noGrp="1"/>
          </p:cNvSpPr>
          <p:nvPr/>
        </p:nvSpPr>
        <p:spPr>
          <a:xfrm xmlns:a="http://schemas.openxmlformats.org/drawingml/2006/main">
            <a:off x="2819400" y="52578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028090"/>
                </a:solidFill>
                <a:latin typeface="Cambria"/>
                <a:ea typeface="Cambria"/>
                <a:cs typeface="Cambria"/>
              </a:defRPr>
            </a:pPr>
            <a:r>
              <a:rPr sz="1650" b="1" i="0">
                <a:solidFill>
                  <a:srgbClr val="028090"/>
                </a:solidFill>
                <a:latin typeface="Cambria"/>
                <a:ea typeface="Cambria"/>
                <a:cs typeface="Cambria"/>
              </a:rPr>
              <a:t>B0018</a:t>
            </a:r>
          </a:p>
        </p:txBody>
      </p:sp>
      <p:sp>
        <p:nvSpPr>
          <p:cNvPr id="11" name="">
            <a:extLst xmlns:a="http://schemas.openxmlformats.org/drawingml/2006/main">
              <a:ext uri="{FF2B5EF4-FFF2-40B4-BE49-F238E27FC236}">
                <a16:creationId xmlns:a16="http://schemas.microsoft.com/office/drawing/2014/main" id="{61E84F5E-A6E6-4DA6-8ACA-14F47501AC93}"/>
              </a:ext>
            </a:extLst>
          </p:cNvPr>
          <p:cNvSpPr>
            <a:spLocks xmlns:a="http://schemas.openxmlformats.org/drawingml/2006/main" noGrp="1"/>
          </p:cNvSpPr>
          <p:nvPr/>
        </p:nvSpPr>
        <p:spPr>
          <a:xfrm xmlns:a="http://schemas.openxmlformats.org/drawingml/2006/main">
            <a:off x="4781550" y="4953000"/>
            <a:ext cx="190500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D8E27291-D8CA-491C-946F-51500F363030}"/>
              </a:ext>
            </a:extLst>
          </p:cNvPr>
          <p:cNvSpPr>
            <a:spLocks xmlns:a="http://schemas.openxmlformats.org/drawingml/2006/main" noGrp="1"/>
          </p:cNvSpPr>
          <p:nvPr/>
        </p:nvSpPr>
        <p:spPr>
          <a:xfrm xmlns:a="http://schemas.openxmlformats.org/drawingml/2006/main">
            <a:off x="4933950" y="506730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CYCLES PARSED</a:t>
            </a:r>
          </a:p>
        </p:txBody>
      </p:sp>
      <p:sp>
        <p:nvSpPr>
          <p:cNvPr id="13" name="">
            <a:extLst xmlns:a="http://schemas.openxmlformats.org/drawingml/2006/main">
              <a:ext uri="{FF2B5EF4-FFF2-40B4-BE49-F238E27FC236}">
                <a16:creationId xmlns:a16="http://schemas.microsoft.com/office/drawing/2014/main" id="{818B80B6-1F06-45B8-8B83-163A1A22916A}"/>
              </a:ext>
            </a:extLst>
          </p:cNvPr>
          <p:cNvSpPr>
            <a:spLocks xmlns:a="http://schemas.openxmlformats.org/drawingml/2006/main" noGrp="1"/>
          </p:cNvSpPr>
          <p:nvPr/>
        </p:nvSpPr>
        <p:spPr>
          <a:xfrm xmlns:a="http://schemas.openxmlformats.org/drawingml/2006/main">
            <a:off x="4933950" y="52578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028090"/>
                </a:solidFill>
                <a:latin typeface="Cambria"/>
                <a:ea typeface="Cambria"/>
                <a:cs typeface="Cambria"/>
              </a:defRPr>
            </a:pPr>
            <a:r>
              <a:rPr sz="1650" b="1" i="0">
                <a:solidFill>
                  <a:srgbClr val="028090"/>
                </a:solidFill>
                <a:latin typeface="Cambria"/>
                <a:ea typeface="Cambria"/>
                <a:cs typeface="Cambria"/>
              </a:rPr>
              <a:t>636 total</a:t>
            </a:r>
          </a:p>
        </p:txBody>
      </p:sp>
      <p:sp>
        <p:nvSpPr>
          <p:cNvPr id="14" name="">
            <a:extLst xmlns:a="http://schemas.openxmlformats.org/drawingml/2006/main">
              <a:ext uri="{FF2B5EF4-FFF2-40B4-BE49-F238E27FC236}">
                <a16:creationId xmlns:a16="http://schemas.microsoft.com/office/drawing/2014/main" id="{B82DB5F3-0EE4-4774-9C16-EE1180E73180}"/>
              </a:ext>
            </a:extLst>
          </p:cNvPr>
          <p:cNvSpPr>
            <a:spLocks xmlns:a="http://schemas.openxmlformats.org/drawingml/2006/main" noGrp="1"/>
          </p:cNvSpPr>
          <p:nvPr/>
        </p:nvSpPr>
        <p:spPr>
          <a:xfrm xmlns:a="http://schemas.openxmlformats.org/drawingml/2006/main">
            <a:off x="6896100" y="4953000"/>
            <a:ext cx="190500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BD5A0D0A-DF6B-4F05-839A-3D6F580DA9F9}"/>
              </a:ext>
            </a:extLst>
          </p:cNvPr>
          <p:cNvSpPr>
            <a:spLocks xmlns:a="http://schemas.openxmlformats.org/drawingml/2006/main" noGrp="1"/>
          </p:cNvSpPr>
          <p:nvPr/>
        </p:nvSpPr>
        <p:spPr>
          <a:xfrm xmlns:a="http://schemas.openxmlformats.org/drawingml/2006/main">
            <a:off x="7048500" y="506730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ORDER</a:t>
            </a:r>
          </a:p>
        </p:txBody>
      </p:sp>
      <p:sp>
        <p:nvSpPr>
          <p:cNvPr id="16" name="">
            <a:extLst xmlns:a="http://schemas.openxmlformats.org/drawingml/2006/main">
              <a:ext uri="{FF2B5EF4-FFF2-40B4-BE49-F238E27FC236}">
                <a16:creationId xmlns:a16="http://schemas.microsoft.com/office/drawing/2014/main" id="{17AB6E04-029A-4E7E-9000-2BC1D58B6994}"/>
              </a:ext>
            </a:extLst>
          </p:cNvPr>
          <p:cNvSpPr>
            <a:spLocks xmlns:a="http://schemas.openxmlformats.org/drawingml/2006/main" noGrp="1"/>
          </p:cNvSpPr>
          <p:nvPr/>
        </p:nvSpPr>
        <p:spPr>
          <a:xfrm xmlns:a="http://schemas.openxmlformats.org/drawingml/2006/main">
            <a:off x="7048500" y="52578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028090"/>
                </a:solidFill>
                <a:latin typeface="Cambria"/>
                <a:ea typeface="Cambria"/>
                <a:cs typeface="Cambria"/>
              </a:defRPr>
            </a:pPr>
            <a:r>
              <a:rPr sz="1650" b="1" i="0">
                <a:solidFill>
                  <a:srgbClr val="028090"/>
                </a:solidFill>
                <a:latin typeface="Cambria"/>
                <a:ea typeface="Cambria"/>
                <a:cs typeface="Cambria"/>
              </a:rPr>
              <a:t>Time-aware</a:t>
            </a:r>
          </a:p>
        </p:txBody>
      </p:sp>
      <p:sp>
        <p:nvSpPr>
          <p:cNvPr id="17" name="">
            <a:extLst xmlns:a="http://schemas.openxmlformats.org/drawingml/2006/main">
              <a:ext uri="{FF2B5EF4-FFF2-40B4-BE49-F238E27FC236}">
                <a16:creationId xmlns:a16="http://schemas.microsoft.com/office/drawing/2014/main" id="{EA7D3F9E-8E38-4EFF-921D-698BFED42B38}"/>
              </a:ext>
            </a:extLst>
          </p:cNvPr>
          <p:cNvSpPr>
            <a:spLocks xmlns:a="http://schemas.openxmlformats.org/drawingml/2006/main" noGrp="1"/>
          </p:cNvSpPr>
          <p:nvPr/>
        </p:nvSpPr>
        <p:spPr>
          <a:xfrm xmlns:a="http://schemas.openxmlformats.org/drawingml/2006/main">
            <a:off x="9010650" y="4953000"/>
            <a:ext cx="21907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40D7A154-058E-49F2-8C59-A49CF0B5FDA4}"/>
              </a:ext>
            </a:extLst>
          </p:cNvPr>
          <p:cNvSpPr>
            <a:spLocks xmlns:a="http://schemas.openxmlformats.org/drawingml/2006/main" noGrp="1"/>
          </p:cNvSpPr>
          <p:nvPr/>
        </p:nvSpPr>
        <p:spPr>
          <a:xfrm xmlns:a="http://schemas.openxmlformats.org/drawingml/2006/main">
            <a:off x="9163050" y="5067300"/>
            <a:ext cx="1885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METRIC UNIT</a:t>
            </a:r>
          </a:p>
        </p:txBody>
      </p:sp>
      <p:sp>
        <p:nvSpPr>
          <p:cNvPr id="19" name="">
            <a:extLst xmlns:a="http://schemas.openxmlformats.org/drawingml/2006/main">
              <a:ext uri="{FF2B5EF4-FFF2-40B4-BE49-F238E27FC236}">
                <a16:creationId xmlns:a16="http://schemas.microsoft.com/office/drawing/2014/main" id="{9E6C8DF5-D53F-48A1-86C8-5890ED955906}"/>
              </a:ext>
            </a:extLst>
          </p:cNvPr>
          <p:cNvSpPr>
            <a:spLocks xmlns:a="http://schemas.openxmlformats.org/drawingml/2006/main" noGrp="1"/>
          </p:cNvSpPr>
          <p:nvPr/>
        </p:nvSpPr>
        <p:spPr>
          <a:xfrm xmlns:a="http://schemas.openxmlformats.org/drawingml/2006/main">
            <a:off x="9163050" y="5257800"/>
            <a:ext cx="1885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028090"/>
                </a:solidFill>
                <a:latin typeface="Cambria"/>
                <a:ea typeface="Cambria"/>
                <a:cs typeface="Cambria"/>
              </a:defRPr>
            </a:pPr>
            <a:r>
              <a:rPr sz="1650" b="1" i="0">
                <a:solidFill>
                  <a:srgbClr val="028090"/>
                </a:solidFill>
                <a:latin typeface="Cambria"/>
                <a:ea typeface="Cambria"/>
                <a:cs typeface="Cambria"/>
              </a:rPr>
              <a:t>RUL in cycles</a:t>
            </a:r>
          </a:p>
        </p:txBody>
      </p:sp>
      <p:sp>
        <p:nvSpPr>
          <p:cNvPr id="20" name="">
            <a:extLst xmlns:a="http://schemas.openxmlformats.org/drawingml/2006/main">
              <a:ext uri="{FF2B5EF4-FFF2-40B4-BE49-F238E27FC236}">
                <a16:creationId xmlns:a16="http://schemas.microsoft.com/office/drawing/2014/main" id="{A70E9FA1-8C2E-433A-909C-D1C4884DCB6D}"/>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21" name="">
            <a:extLst xmlns:a="http://schemas.openxmlformats.org/drawingml/2006/main">
              <a:ext uri="{FF2B5EF4-FFF2-40B4-BE49-F238E27FC236}">
                <a16:creationId xmlns:a16="http://schemas.microsoft.com/office/drawing/2014/main" id="{E83660EF-0B5D-4164-A1F6-E3D71C266047}"/>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14 / 21</a:t>
            </a:r>
          </a:p>
        </p:txBody>
      </p:sp>
    </p:spTree>
    <p:extLst>
      <p:ext uri="{BB962C8B-B14F-4D97-AF65-F5344CB8AC3E}">
        <p14:creationId xmlns:p14="http://schemas.microsoft.com/office/powerpoint/2010/main" val="20061905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2A6879B5-7B61-450D-832E-41C70A90EBAD}"/>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28090"/>
                </a:solidFill>
                <a:latin typeface="Calibri"/>
                <a:ea typeface="Calibri"/>
                <a:cs typeface="Calibri"/>
              </a:defRPr>
            </a:pPr>
            <a:r>
              <a:rPr sz="900" b="1" i="0">
                <a:solidFill>
                  <a:srgbClr val="028090"/>
                </a:solidFill>
                <a:latin typeface="Calibri"/>
                <a:ea typeface="Calibri"/>
                <a:cs typeface="Calibri"/>
              </a:rPr>
              <a:t>PHASE II · ARCHITECTURE</a:t>
            </a:r>
          </a:p>
        </p:txBody>
      </p:sp>
      <p:sp>
        <p:nvSpPr>
          <p:cNvPr id="2" name="">
            <a:extLst xmlns:a="http://schemas.openxmlformats.org/drawingml/2006/main">
              <a:ext uri="{FF2B5EF4-FFF2-40B4-BE49-F238E27FC236}">
                <a16:creationId xmlns:a16="http://schemas.microsoft.com/office/drawing/2014/main" id="{D751719A-D262-42AE-8DB8-B7E8C30ABC34}"/>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0B2545"/>
                </a:solidFill>
                <a:latin typeface="Cambria"/>
                <a:ea typeface="Cambria"/>
                <a:cs typeface="Cambria"/>
              </a:defRPr>
            </a:pPr>
            <a:r>
              <a:rPr sz="2325" b="1" i="0">
                <a:solidFill>
                  <a:srgbClr val="0B2545"/>
                </a:solidFill>
                <a:latin typeface="Cambria"/>
                <a:ea typeface="Cambria"/>
                <a:cs typeface="Cambria"/>
              </a:rPr>
              <a:t>From measured cycle to adaptive digital-twin state</a:t>
            </a:r>
          </a:p>
        </p:txBody>
      </p:sp>
      <p:sp>
        <p:nvSpPr>
          <p:cNvPr id="3" name="">
            <a:extLst xmlns:a="http://schemas.openxmlformats.org/drawingml/2006/main">
              <a:ext uri="{FF2B5EF4-FFF2-40B4-BE49-F238E27FC236}">
                <a16:creationId xmlns:a16="http://schemas.microsoft.com/office/drawing/2014/main" id="{B4C2559D-3EE5-46B4-9BDA-F152D3B28F42}"/>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5B6B79"/>
                </a:solidFill>
                <a:latin typeface="Calibri"/>
                <a:ea typeface="Calibri"/>
                <a:cs typeface="Calibri"/>
              </a:defRPr>
            </a:pPr>
            <a:r>
              <a:rPr sz="1125" b="0" i="0">
                <a:solidFill>
                  <a:srgbClr val="5B6B79"/>
                </a:solidFill>
                <a:latin typeface="Calibri"/>
                <a:ea typeface="Calibri"/>
                <a:cs typeface="Calibri"/>
              </a:rPr>
              <a:t>The first-stage physics model uses relationships supported by the NASA measurements.</a:t>
            </a:r>
          </a:p>
        </p:txBody>
      </p:sp>
      <p:sp>
        <p:nvSpPr>
          <p:cNvPr id="4" name="">
            <a:extLst xmlns:a="http://schemas.openxmlformats.org/drawingml/2006/main">
              <a:ext uri="{FF2B5EF4-FFF2-40B4-BE49-F238E27FC236}">
                <a16:creationId xmlns:a16="http://schemas.microsoft.com/office/drawing/2014/main" id="{11C01F62-750C-4EA7-B360-96AEFD26C37C}"/>
              </a:ext>
            </a:extLst>
          </p:cNvPr>
          <p:cNvSpPr>
            <a:spLocks xmlns:a="http://schemas.openxmlformats.org/drawingml/2006/main" noGrp="1"/>
          </p:cNvSpPr>
          <p:nvPr/>
        </p:nvSpPr>
        <p:spPr>
          <a:xfrm xmlns:a="http://schemas.openxmlformats.org/drawingml/2006/main">
            <a:off x="552450" y="2143125"/>
            <a:ext cx="169545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7E3E9"/>
            </a:solid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29ECC5F-81AE-48BA-ADE4-F169D596FDB4}"/>
              </a:ext>
            </a:extLst>
          </p:cNvPr>
          <p:cNvSpPr>
            <a:spLocks xmlns:a="http://schemas.openxmlformats.org/drawingml/2006/main" noGrp="1"/>
          </p:cNvSpPr>
          <p:nvPr/>
        </p:nvSpPr>
        <p:spPr>
          <a:xfrm xmlns:a="http://schemas.openxmlformats.org/drawingml/2006/main">
            <a:off x="695325" y="2286000"/>
            <a:ext cx="266700" cy="266700"/>
          </a:xfrm>
          <a:prstGeom xmlns:a="http://schemas.openxmlformats.org/drawingml/2006/main" prst="roundRect">
            <a:avLst>
              <a:gd name="adj" fmla="val 28571"/>
            </a:avLst>
          </a:prstGeom>
          <a:solidFill xmlns:a="http://schemas.openxmlformats.org/drawingml/2006/main">
            <a:srgbClr val="028090"/>
          </a:solidFill>
          <a:ln xmlns:a="http://schemas.openxmlformats.org/drawingml/2006/main" w="9525">
            <a:solidFill>
              <a:srgbClr val="028090"/>
            </a:solid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D0059F9-32F1-4444-82A3-EC98E67B8ADE}"/>
              </a:ext>
            </a:extLst>
          </p:cNvPr>
          <p:cNvSpPr>
            <a:spLocks xmlns:a="http://schemas.openxmlformats.org/drawingml/2006/main" noGrp="1"/>
          </p:cNvSpPr>
          <p:nvPr/>
        </p:nvSpPr>
        <p:spPr>
          <a:xfrm xmlns:a="http://schemas.openxmlformats.org/drawingml/2006/main">
            <a:off x="7715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7" name="">
            <a:extLst xmlns:a="http://schemas.openxmlformats.org/drawingml/2006/main">
              <a:ext uri="{FF2B5EF4-FFF2-40B4-BE49-F238E27FC236}">
                <a16:creationId xmlns:a16="http://schemas.microsoft.com/office/drawing/2014/main" id="{EF49CE0C-831A-4449-93C4-F73376F60743}"/>
              </a:ext>
            </a:extLst>
          </p:cNvPr>
          <p:cNvSpPr>
            <a:spLocks xmlns:a="http://schemas.openxmlformats.org/drawingml/2006/main" noGrp="1"/>
          </p:cNvSpPr>
          <p:nvPr/>
        </p:nvSpPr>
        <p:spPr>
          <a:xfrm xmlns:a="http://schemas.openxmlformats.org/drawingml/2006/main">
            <a:off x="6953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i="0">
                <a:solidFill>
                  <a:srgbClr val="0B2545"/>
                </a:solidFill>
                <a:latin typeface="Calibri"/>
                <a:ea typeface="Calibri"/>
                <a:cs typeface="Calibri"/>
              </a:defRPr>
            </a:pPr>
            <a:r>
              <a:rPr sz="1125" b="1" i="0">
                <a:solidFill>
                  <a:srgbClr val="0B2545"/>
                </a:solidFill>
                <a:latin typeface="Calibri"/>
                <a:ea typeface="Calibri"/>
                <a:cs typeface="Calibri"/>
              </a:rPr>
              <a:t>NASA records</a:t>
            </a:r>
          </a:p>
        </p:txBody>
      </p:sp>
      <p:sp>
        <p:nvSpPr>
          <p:cNvPr id="8" name="">
            <a:extLst xmlns:a="http://schemas.openxmlformats.org/drawingml/2006/main">
              <a:ext uri="{FF2B5EF4-FFF2-40B4-BE49-F238E27FC236}">
                <a16:creationId xmlns:a16="http://schemas.microsoft.com/office/drawing/2014/main" id="{116339A2-D50F-4780-94DB-9E81F022DD48}"/>
              </a:ext>
            </a:extLst>
          </p:cNvPr>
          <p:cNvSpPr>
            <a:spLocks xmlns:a="http://schemas.openxmlformats.org/drawingml/2006/main" noGrp="1"/>
          </p:cNvSpPr>
          <p:nvPr/>
        </p:nvSpPr>
        <p:spPr>
          <a:xfrm xmlns:a="http://schemas.openxmlformats.org/drawingml/2006/main">
            <a:off x="6953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Cycle-level voltage, current, temperature, time, capacity</a:t>
            </a:r>
          </a:p>
        </p:txBody>
      </p:sp>
      <p:sp>
        <p:nvSpPr>
          <p:cNvPr id="9" name="">
            <a:extLst xmlns:a="http://schemas.openxmlformats.org/drawingml/2006/main">
              <a:ext uri="{FF2B5EF4-FFF2-40B4-BE49-F238E27FC236}">
                <a16:creationId xmlns:a16="http://schemas.microsoft.com/office/drawing/2014/main" id="{0FA13BB4-54B7-4905-8C7D-94ED316B4706}"/>
              </a:ext>
            </a:extLst>
          </p:cNvPr>
          <p:cNvSpPr>
            <a:spLocks xmlns:a="http://schemas.openxmlformats.org/drawingml/2006/main" noGrp="1"/>
          </p:cNvSpPr>
          <p:nvPr/>
        </p:nvSpPr>
        <p:spPr>
          <a:xfrm xmlns:a="http://schemas.openxmlformats.org/drawingml/2006/main">
            <a:off x="2286000" y="2933700"/>
            <a:ext cx="95250" cy="38100"/>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71E651AD-5CCC-4D5B-AF41-1170170CC0D6}"/>
              </a:ext>
            </a:extLst>
          </p:cNvPr>
          <p:cNvSpPr>
            <a:spLocks xmlns:a="http://schemas.openxmlformats.org/drawingml/2006/main" noGrp="1"/>
          </p:cNvSpPr>
          <p:nvPr/>
        </p:nvSpPr>
        <p:spPr>
          <a:xfrm xmlns:a="http://schemas.openxmlformats.org/drawingml/2006/main">
            <a:off x="2419350" y="2143125"/>
            <a:ext cx="169545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7E3E9"/>
            </a:solidFill>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4E6043FE-D483-4523-84A7-4E76DCFBBE89}"/>
              </a:ext>
            </a:extLst>
          </p:cNvPr>
          <p:cNvSpPr>
            <a:spLocks xmlns:a="http://schemas.openxmlformats.org/drawingml/2006/main" noGrp="1"/>
          </p:cNvSpPr>
          <p:nvPr/>
        </p:nvSpPr>
        <p:spPr>
          <a:xfrm xmlns:a="http://schemas.openxmlformats.org/drawingml/2006/main">
            <a:off x="2562225" y="2286000"/>
            <a:ext cx="266700" cy="266700"/>
          </a:xfrm>
          <a:prstGeom xmlns:a="http://schemas.openxmlformats.org/drawingml/2006/main" prst="roundRect">
            <a:avLst>
              <a:gd name="adj" fmla="val 28571"/>
            </a:avLst>
          </a:prstGeom>
          <a:solidFill xmlns:a="http://schemas.openxmlformats.org/drawingml/2006/main">
            <a:srgbClr val="028090"/>
          </a:solidFill>
          <a:ln xmlns:a="http://schemas.openxmlformats.org/drawingml/2006/main" w="9525">
            <a:solidFill>
              <a:srgbClr val="028090"/>
            </a:solidFill>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018E691F-F7E8-416B-955B-813FF48D07A9}"/>
              </a:ext>
            </a:extLst>
          </p:cNvPr>
          <p:cNvSpPr>
            <a:spLocks xmlns:a="http://schemas.openxmlformats.org/drawingml/2006/main" noGrp="1"/>
          </p:cNvSpPr>
          <p:nvPr/>
        </p:nvSpPr>
        <p:spPr>
          <a:xfrm xmlns:a="http://schemas.openxmlformats.org/drawingml/2006/main">
            <a:off x="26384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13" name="">
            <a:extLst xmlns:a="http://schemas.openxmlformats.org/drawingml/2006/main">
              <a:ext uri="{FF2B5EF4-FFF2-40B4-BE49-F238E27FC236}">
                <a16:creationId xmlns:a16="http://schemas.microsoft.com/office/drawing/2014/main" id="{473526F4-0328-4D24-94A1-F151C38C049B}"/>
              </a:ext>
            </a:extLst>
          </p:cNvPr>
          <p:cNvSpPr>
            <a:spLocks xmlns:a="http://schemas.openxmlformats.org/drawingml/2006/main" noGrp="1"/>
          </p:cNvSpPr>
          <p:nvPr/>
        </p:nvSpPr>
        <p:spPr>
          <a:xfrm xmlns:a="http://schemas.openxmlformats.org/drawingml/2006/main">
            <a:off x="25622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i="0">
                <a:solidFill>
                  <a:srgbClr val="0B2545"/>
                </a:solidFill>
                <a:latin typeface="Calibri"/>
                <a:ea typeface="Calibri"/>
                <a:cs typeface="Calibri"/>
              </a:defRPr>
            </a:pPr>
            <a:r>
              <a:rPr sz="1125" b="1" i="0">
                <a:solidFill>
                  <a:srgbClr val="0B2545"/>
                </a:solidFill>
                <a:latin typeface="Calibri"/>
                <a:ea typeface="Calibri"/>
                <a:cs typeface="Calibri"/>
              </a:rPr>
              <a:t>Masked encoder</a:t>
            </a:r>
          </a:p>
        </p:txBody>
      </p:sp>
      <p:sp>
        <p:nvSpPr>
          <p:cNvPr id="14" name="">
            <a:extLst xmlns:a="http://schemas.openxmlformats.org/drawingml/2006/main">
              <a:ext uri="{FF2B5EF4-FFF2-40B4-BE49-F238E27FC236}">
                <a16:creationId xmlns:a16="http://schemas.microsoft.com/office/drawing/2014/main" id="{B499F632-1EE2-4CD9-9F5F-2F90DE4D1160}"/>
              </a:ext>
            </a:extLst>
          </p:cNvPr>
          <p:cNvSpPr>
            <a:spLocks xmlns:a="http://schemas.openxmlformats.org/drawingml/2006/main" noGrp="1"/>
          </p:cNvSpPr>
          <p:nvPr/>
        </p:nvSpPr>
        <p:spPr>
          <a:xfrm xmlns:a="http://schemas.openxmlformats.org/drawingml/2006/main">
            <a:off x="25622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Measured points + delta_t, no blind interpolation</a:t>
            </a:r>
          </a:p>
        </p:txBody>
      </p:sp>
      <p:sp>
        <p:nvSpPr>
          <p:cNvPr id="15" name="">
            <a:extLst xmlns:a="http://schemas.openxmlformats.org/drawingml/2006/main">
              <a:ext uri="{FF2B5EF4-FFF2-40B4-BE49-F238E27FC236}">
                <a16:creationId xmlns:a16="http://schemas.microsoft.com/office/drawing/2014/main" id="{CCDCE86B-F9B8-4C09-A9B9-EFC40F4DDF8A}"/>
              </a:ext>
            </a:extLst>
          </p:cNvPr>
          <p:cNvSpPr>
            <a:spLocks xmlns:a="http://schemas.openxmlformats.org/drawingml/2006/main" noGrp="1"/>
          </p:cNvSpPr>
          <p:nvPr/>
        </p:nvSpPr>
        <p:spPr>
          <a:xfrm xmlns:a="http://schemas.openxmlformats.org/drawingml/2006/main">
            <a:off x="4152900" y="2933700"/>
            <a:ext cx="95250" cy="38100"/>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1089240C-8C4C-4613-B4FC-26F8FBC20F08}"/>
              </a:ext>
            </a:extLst>
          </p:cNvPr>
          <p:cNvSpPr>
            <a:spLocks xmlns:a="http://schemas.openxmlformats.org/drawingml/2006/main" noGrp="1"/>
          </p:cNvSpPr>
          <p:nvPr/>
        </p:nvSpPr>
        <p:spPr>
          <a:xfrm xmlns:a="http://schemas.openxmlformats.org/drawingml/2006/main">
            <a:off x="4286250" y="2143125"/>
            <a:ext cx="169545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7E3E9"/>
            </a:solidFill>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54CF7D1D-4CD9-47CB-9C06-7BFD7BFA16FE}"/>
              </a:ext>
            </a:extLst>
          </p:cNvPr>
          <p:cNvSpPr>
            <a:spLocks xmlns:a="http://schemas.openxmlformats.org/drawingml/2006/main" noGrp="1"/>
          </p:cNvSpPr>
          <p:nvPr/>
        </p:nvSpPr>
        <p:spPr>
          <a:xfrm xmlns:a="http://schemas.openxmlformats.org/drawingml/2006/main">
            <a:off x="4429125" y="2286000"/>
            <a:ext cx="266700" cy="266700"/>
          </a:xfrm>
          <a:prstGeom xmlns:a="http://schemas.openxmlformats.org/drawingml/2006/main" prst="roundRect">
            <a:avLst>
              <a:gd name="adj" fmla="val 28571"/>
            </a:avLst>
          </a:prstGeom>
          <a:solidFill xmlns:a="http://schemas.openxmlformats.org/drawingml/2006/main">
            <a:srgbClr val="028090"/>
          </a:solidFill>
          <a:ln xmlns:a="http://schemas.openxmlformats.org/drawingml/2006/main" w="9525">
            <a:solidFill>
              <a:srgbClr val="028090"/>
            </a:solidFill>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0A34F650-6D9C-45C5-B4AF-8046E55DA210}"/>
              </a:ext>
            </a:extLst>
          </p:cNvPr>
          <p:cNvSpPr>
            <a:spLocks xmlns:a="http://schemas.openxmlformats.org/drawingml/2006/main" noGrp="1"/>
          </p:cNvSpPr>
          <p:nvPr/>
        </p:nvSpPr>
        <p:spPr>
          <a:xfrm xmlns:a="http://schemas.openxmlformats.org/drawingml/2006/main">
            <a:off x="45053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19" name="">
            <a:extLst xmlns:a="http://schemas.openxmlformats.org/drawingml/2006/main">
              <a:ext uri="{FF2B5EF4-FFF2-40B4-BE49-F238E27FC236}">
                <a16:creationId xmlns:a16="http://schemas.microsoft.com/office/drawing/2014/main" id="{AC43CB28-CA28-4AD8-B48A-CFA6604D9BCF}"/>
              </a:ext>
            </a:extLst>
          </p:cNvPr>
          <p:cNvSpPr>
            <a:spLocks xmlns:a="http://schemas.openxmlformats.org/drawingml/2006/main" noGrp="1"/>
          </p:cNvSpPr>
          <p:nvPr/>
        </p:nvSpPr>
        <p:spPr>
          <a:xfrm xmlns:a="http://schemas.openxmlformats.org/drawingml/2006/main">
            <a:off x="44291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i="0">
                <a:solidFill>
                  <a:srgbClr val="0B2545"/>
                </a:solidFill>
                <a:latin typeface="Calibri"/>
                <a:ea typeface="Calibri"/>
                <a:cs typeface="Calibri"/>
              </a:defRPr>
            </a:pPr>
            <a:r>
              <a:rPr sz="1125" b="1" i="0">
                <a:solidFill>
                  <a:srgbClr val="0B2545"/>
                </a:solidFill>
                <a:latin typeface="Calibri"/>
                <a:ea typeface="Calibri"/>
                <a:cs typeface="Calibri"/>
              </a:rPr>
              <a:t>Temporal model</a:t>
            </a:r>
          </a:p>
        </p:txBody>
      </p:sp>
      <p:sp>
        <p:nvSpPr>
          <p:cNvPr id="20" name="">
            <a:extLst xmlns:a="http://schemas.openxmlformats.org/drawingml/2006/main">
              <a:ext uri="{FF2B5EF4-FFF2-40B4-BE49-F238E27FC236}">
                <a16:creationId xmlns:a16="http://schemas.microsoft.com/office/drawing/2014/main" id="{227C8468-FE9E-4C4F-B6B6-99C66D816F65}"/>
              </a:ext>
            </a:extLst>
          </p:cNvPr>
          <p:cNvSpPr>
            <a:spLocks xmlns:a="http://schemas.openxmlformats.org/drawingml/2006/main" noGrp="1"/>
          </p:cNvSpPr>
          <p:nvPr/>
        </p:nvSpPr>
        <p:spPr>
          <a:xfrm xmlns:a="http://schemas.openxmlformats.org/drawingml/2006/main">
            <a:off x="44291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History across cycles with Transformer context</a:t>
            </a:r>
          </a:p>
        </p:txBody>
      </p:sp>
      <p:sp>
        <p:nvSpPr>
          <p:cNvPr id="21" name="">
            <a:extLst xmlns:a="http://schemas.openxmlformats.org/drawingml/2006/main">
              <a:ext uri="{FF2B5EF4-FFF2-40B4-BE49-F238E27FC236}">
                <a16:creationId xmlns:a16="http://schemas.microsoft.com/office/drawing/2014/main" id="{EECE67C2-1820-4F40-94AF-A8C875155D07}"/>
              </a:ext>
            </a:extLst>
          </p:cNvPr>
          <p:cNvSpPr>
            <a:spLocks xmlns:a="http://schemas.openxmlformats.org/drawingml/2006/main" noGrp="1"/>
          </p:cNvSpPr>
          <p:nvPr/>
        </p:nvSpPr>
        <p:spPr>
          <a:xfrm xmlns:a="http://schemas.openxmlformats.org/drawingml/2006/main">
            <a:off x="6019800" y="2933700"/>
            <a:ext cx="95250" cy="38100"/>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0F4A988D-2247-4FE1-B769-6AA19CA966F6}"/>
              </a:ext>
            </a:extLst>
          </p:cNvPr>
          <p:cNvSpPr>
            <a:spLocks xmlns:a="http://schemas.openxmlformats.org/drawingml/2006/main" noGrp="1"/>
          </p:cNvSpPr>
          <p:nvPr/>
        </p:nvSpPr>
        <p:spPr>
          <a:xfrm xmlns:a="http://schemas.openxmlformats.org/drawingml/2006/main">
            <a:off x="6153150" y="2143125"/>
            <a:ext cx="169545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7E3E9"/>
            </a:solidFill>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9EE6FCE7-7CBE-410B-979E-AD15662AF2A5}"/>
              </a:ext>
            </a:extLst>
          </p:cNvPr>
          <p:cNvSpPr>
            <a:spLocks xmlns:a="http://schemas.openxmlformats.org/drawingml/2006/main" noGrp="1"/>
          </p:cNvSpPr>
          <p:nvPr/>
        </p:nvSpPr>
        <p:spPr>
          <a:xfrm xmlns:a="http://schemas.openxmlformats.org/drawingml/2006/main">
            <a:off x="6296025" y="2286000"/>
            <a:ext cx="266700" cy="266700"/>
          </a:xfrm>
          <a:prstGeom xmlns:a="http://schemas.openxmlformats.org/drawingml/2006/main" prst="roundRect">
            <a:avLst>
              <a:gd name="adj" fmla="val 28571"/>
            </a:avLst>
          </a:prstGeom>
          <a:solidFill xmlns:a="http://schemas.openxmlformats.org/drawingml/2006/main">
            <a:srgbClr val="028090"/>
          </a:solidFill>
          <a:ln xmlns:a="http://schemas.openxmlformats.org/drawingml/2006/main" w="9525">
            <a:solidFill>
              <a:srgbClr val="028090"/>
            </a:solidFill>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B19E935A-846D-495B-9647-28CBAE17BF02}"/>
              </a:ext>
            </a:extLst>
          </p:cNvPr>
          <p:cNvSpPr>
            <a:spLocks xmlns:a="http://schemas.openxmlformats.org/drawingml/2006/main" noGrp="1"/>
          </p:cNvSpPr>
          <p:nvPr/>
        </p:nvSpPr>
        <p:spPr>
          <a:xfrm xmlns:a="http://schemas.openxmlformats.org/drawingml/2006/main">
            <a:off x="63722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25" name="">
            <a:extLst xmlns:a="http://schemas.openxmlformats.org/drawingml/2006/main">
              <a:ext uri="{FF2B5EF4-FFF2-40B4-BE49-F238E27FC236}">
                <a16:creationId xmlns:a16="http://schemas.microsoft.com/office/drawing/2014/main" id="{F8A4525B-3478-4A05-985F-248007737FB9}"/>
              </a:ext>
            </a:extLst>
          </p:cNvPr>
          <p:cNvSpPr>
            <a:spLocks xmlns:a="http://schemas.openxmlformats.org/drawingml/2006/main" noGrp="1"/>
          </p:cNvSpPr>
          <p:nvPr/>
        </p:nvSpPr>
        <p:spPr>
          <a:xfrm xmlns:a="http://schemas.openxmlformats.org/drawingml/2006/main">
            <a:off x="62960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i="0">
                <a:solidFill>
                  <a:srgbClr val="0B2545"/>
                </a:solidFill>
                <a:latin typeface="Calibri"/>
                <a:ea typeface="Calibri"/>
                <a:cs typeface="Calibri"/>
              </a:defRPr>
            </a:pPr>
            <a:r>
              <a:rPr sz="1125" b="1" i="0">
                <a:solidFill>
                  <a:srgbClr val="0B2545"/>
                </a:solidFill>
                <a:latin typeface="Calibri"/>
                <a:ea typeface="Calibri"/>
                <a:cs typeface="Calibri"/>
              </a:rPr>
              <a:t>SOH / RUL heads</a:t>
            </a:r>
          </a:p>
        </p:txBody>
      </p:sp>
      <p:sp>
        <p:nvSpPr>
          <p:cNvPr id="26" name="">
            <a:extLst xmlns:a="http://schemas.openxmlformats.org/drawingml/2006/main">
              <a:ext uri="{FF2B5EF4-FFF2-40B4-BE49-F238E27FC236}">
                <a16:creationId xmlns:a16="http://schemas.microsoft.com/office/drawing/2014/main" id="{AF3FEFD0-151C-4921-B9F8-66F7ACA96C99}"/>
              </a:ext>
            </a:extLst>
          </p:cNvPr>
          <p:cNvSpPr>
            <a:spLocks xmlns:a="http://schemas.openxmlformats.org/drawingml/2006/main" noGrp="1"/>
          </p:cNvSpPr>
          <p:nvPr/>
        </p:nvSpPr>
        <p:spPr>
          <a:xfrm xmlns:a="http://schemas.openxmlformats.org/drawingml/2006/main">
            <a:off x="62960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Bounded SOH 0–100 and non-negative RUL</a:t>
            </a:r>
          </a:p>
        </p:txBody>
      </p:sp>
      <p:sp>
        <p:nvSpPr>
          <p:cNvPr id="27" name="">
            <a:extLst xmlns:a="http://schemas.openxmlformats.org/drawingml/2006/main">
              <a:ext uri="{FF2B5EF4-FFF2-40B4-BE49-F238E27FC236}">
                <a16:creationId xmlns:a16="http://schemas.microsoft.com/office/drawing/2014/main" id="{0A9F046F-364B-4350-A3D5-D28EF378A618}"/>
              </a:ext>
            </a:extLst>
          </p:cNvPr>
          <p:cNvSpPr>
            <a:spLocks xmlns:a="http://schemas.openxmlformats.org/drawingml/2006/main" noGrp="1"/>
          </p:cNvSpPr>
          <p:nvPr/>
        </p:nvSpPr>
        <p:spPr>
          <a:xfrm xmlns:a="http://schemas.openxmlformats.org/drawingml/2006/main">
            <a:off x="7886700" y="2933700"/>
            <a:ext cx="95250" cy="38100"/>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F413ED4B-CBA6-406E-9566-B4C1FAA03BAA}"/>
              </a:ext>
            </a:extLst>
          </p:cNvPr>
          <p:cNvSpPr>
            <a:spLocks xmlns:a="http://schemas.openxmlformats.org/drawingml/2006/main" noGrp="1"/>
          </p:cNvSpPr>
          <p:nvPr/>
        </p:nvSpPr>
        <p:spPr>
          <a:xfrm xmlns:a="http://schemas.openxmlformats.org/drawingml/2006/main">
            <a:off x="8020050" y="2143125"/>
            <a:ext cx="169545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7E3E9"/>
            </a:solidFill>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60E8A5F8-8803-4CBD-9123-2F72C0E992D0}"/>
              </a:ext>
            </a:extLst>
          </p:cNvPr>
          <p:cNvSpPr>
            <a:spLocks xmlns:a="http://schemas.openxmlformats.org/drawingml/2006/main" noGrp="1"/>
          </p:cNvSpPr>
          <p:nvPr/>
        </p:nvSpPr>
        <p:spPr>
          <a:xfrm xmlns:a="http://schemas.openxmlformats.org/drawingml/2006/main">
            <a:off x="8162925" y="2286000"/>
            <a:ext cx="266700" cy="266700"/>
          </a:xfrm>
          <a:prstGeom xmlns:a="http://schemas.openxmlformats.org/drawingml/2006/main" prst="roundRect">
            <a:avLst>
              <a:gd name="adj" fmla="val 28571"/>
            </a:avLst>
          </a:prstGeom>
          <a:solidFill xmlns:a="http://schemas.openxmlformats.org/drawingml/2006/main">
            <a:srgbClr val="028090"/>
          </a:solidFill>
          <a:ln xmlns:a="http://schemas.openxmlformats.org/drawingml/2006/main" w="9525">
            <a:solidFill>
              <a:srgbClr val="028090"/>
            </a:solidFill>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883F7947-CC45-48AA-B390-6BC692DF4F25}"/>
              </a:ext>
            </a:extLst>
          </p:cNvPr>
          <p:cNvSpPr>
            <a:spLocks xmlns:a="http://schemas.openxmlformats.org/drawingml/2006/main" noGrp="1"/>
          </p:cNvSpPr>
          <p:nvPr/>
        </p:nvSpPr>
        <p:spPr>
          <a:xfrm xmlns:a="http://schemas.openxmlformats.org/drawingml/2006/main">
            <a:off x="82391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31" name="">
            <a:extLst xmlns:a="http://schemas.openxmlformats.org/drawingml/2006/main">
              <a:ext uri="{FF2B5EF4-FFF2-40B4-BE49-F238E27FC236}">
                <a16:creationId xmlns:a16="http://schemas.microsoft.com/office/drawing/2014/main" id="{ECBA05DD-83C6-4AC4-8051-1E0AD4843C9C}"/>
              </a:ext>
            </a:extLst>
          </p:cNvPr>
          <p:cNvSpPr>
            <a:spLocks xmlns:a="http://schemas.openxmlformats.org/drawingml/2006/main" noGrp="1"/>
          </p:cNvSpPr>
          <p:nvPr/>
        </p:nvSpPr>
        <p:spPr>
          <a:xfrm xmlns:a="http://schemas.openxmlformats.org/drawingml/2006/main">
            <a:off x="81629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i="0">
                <a:solidFill>
                  <a:srgbClr val="0B2545"/>
                </a:solidFill>
                <a:latin typeface="Calibri"/>
                <a:ea typeface="Calibri"/>
                <a:cs typeface="Calibri"/>
              </a:defRPr>
            </a:pPr>
            <a:r>
              <a:rPr sz="1125" b="1" i="0">
                <a:solidFill>
                  <a:srgbClr val="0B2545"/>
                </a:solidFill>
                <a:latin typeface="Calibri"/>
                <a:ea typeface="Calibri"/>
                <a:cs typeface="Calibri"/>
              </a:rPr>
              <a:t>Physics losses</a:t>
            </a:r>
          </a:p>
        </p:txBody>
      </p:sp>
      <p:sp>
        <p:nvSpPr>
          <p:cNvPr id="32" name="">
            <a:extLst xmlns:a="http://schemas.openxmlformats.org/drawingml/2006/main">
              <a:ext uri="{FF2B5EF4-FFF2-40B4-BE49-F238E27FC236}">
                <a16:creationId xmlns:a16="http://schemas.microsoft.com/office/drawing/2014/main" id="{52D0242B-BE88-43AE-A699-2CEE759F5701}"/>
              </a:ext>
            </a:extLst>
          </p:cNvPr>
          <p:cNvSpPr>
            <a:spLocks xmlns:a="http://schemas.openxmlformats.org/drawingml/2006/main" noGrp="1"/>
          </p:cNvSpPr>
          <p:nvPr/>
        </p:nvSpPr>
        <p:spPr>
          <a:xfrm xmlns:a="http://schemas.openxmlformats.org/drawingml/2006/main">
            <a:off x="81629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Soft degradation, RUL order, capacity-curve residual</a:t>
            </a:r>
          </a:p>
        </p:txBody>
      </p:sp>
      <p:sp>
        <p:nvSpPr>
          <p:cNvPr id="33" name="">
            <a:extLst xmlns:a="http://schemas.openxmlformats.org/drawingml/2006/main">
              <a:ext uri="{FF2B5EF4-FFF2-40B4-BE49-F238E27FC236}">
                <a16:creationId xmlns:a16="http://schemas.microsoft.com/office/drawing/2014/main" id="{A0379C4E-0B28-48C1-966E-9D10A6E82909}"/>
              </a:ext>
            </a:extLst>
          </p:cNvPr>
          <p:cNvSpPr>
            <a:spLocks xmlns:a="http://schemas.openxmlformats.org/drawingml/2006/main" noGrp="1"/>
          </p:cNvSpPr>
          <p:nvPr/>
        </p:nvSpPr>
        <p:spPr>
          <a:xfrm xmlns:a="http://schemas.openxmlformats.org/drawingml/2006/main">
            <a:off x="9753600" y="2933700"/>
            <a:ext cx="95250" cy="38100"/>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8A4A56E8-62F1-43F2-A9F3-AD41FC78AB72}"/>
              </a:ext>
            </a:extLst>
          </p:cNvPr>
          <p:cNvSpPr>
            <a:spLocks xmlns:a="http://schemas.openxmlformats.org/drawingml/2006/main" noGrp="1"/>
          </p:cNvSpPr>
          <p:nvPr/>
        </p:nvSpPr>
        <p:spPr>
          <a:xfrm xmlns:a="http://schemas.openxmlformats.org/drawingml/2006/main">
            <a:off x="9886950" y="2143125"/>
            <a:ext cx="1695450" cy="1619250"/>
          </a:xfrm>
          <a:prstGeom xmlns:a="http://schemas.openxmlformats.org/drawingml/2006/main" prst="roundRect">
            <a:avLst>
              <a:gd name="adj" fmla="val 4706"/>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3E4B0840-AF52-46F3-8835-8EA9C840B9FD}"/>
              </a:ext>
            </a:extLst>
          </p:cNvPr>
          <p:cNvSpPr>
            <a:spLocks xmlns:a="http://schemas.openxmlformats.org/drawingml/2006/main" noGrp="1"/>
          </p:cNvSpPr>
          <p:nvPr/>
        </p:nvSpPr>
        <p:spPr>
          <a:xfrm xmlns:a="http://schemas.openxmlformats.org/drawingml/2006/main">
            <a:off x="10029825" y="2286000"/>
            <a:ext cx="266700" cy="266700"/>
          </a:xfrm>
          <a:prstGeom xmlns:a="http://schemas.openxmlformats.org/drawingml/2006/main" prst="roundRect">
            <a:avLst>
              <a:gd name="adj" fmla="val 28571"/>
            </a:avLst>
          </a:prstGeom>
          <a:solidFill xmlns:a="http://schemas.openxmlformats.org/drawingml/2006/main">
            <a:srgbClr val="00A896"/>
          </a:solidFill>
          <a:ln xmlns:a="http://schemas.openxmlformats.org/drawingml/2006/main" w="9525">
            <a:solidFill>
              <a:srgbClr val="00A896"/>
            </a:solidFill>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F25788C1-52B7-4DF0-A24F-AB3785E7D814}"/>
              </a:ext>
            </a:extLst>
          </p:cNvPr>
          <p:cNvSpPr>
            <a:spLocks xmlns:a="http://schemas.openxmlformats.org/drawingml/2006/main" noGrp="1"/>
          </p:cNvSpPr>
          <p:nvPr/>
        </p:nvSpPr>
        <p:spPr>
          <a:xfrm xmlns:a="http://schemas.openxmlformats.org/drawingml/2006/main">
            <a:off x="101060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37" name="">
            <a:extLst xmlns:a="http://schemas.openxmlformats.org/drawingml/2006/main">
              <a:ext uri="{FF2B5EF4-FFF2-40B4-BE49-F238E27FC236}">
                <a16:creationId xmlns:a16="http://schemas.microsoft.com/office/drawing/2014/main" id="{770B1E16-9E33-4835-87B2-D59D05994A34}"/>
              </a:ext>
            </a:extLst>
          </p:cNvPr>
          <p:cNvSpPr>
            <a:spLocks xmlns:a="http://schemas.openxmlformats.org/drawingml/2006/main" noGrp="1"/>
          </p:cNvSpPr>
          <p:nvPr/>
        </p:nvSpPr>
        <p:spPr>
          <a:xfrm xmlns:a="http://schemas.openxmlformats.org/drawingml/2006/main">
            <a:off x="100298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i="0">
                <a:solidFill>
                  <a:srgbClr val="FFFFFF"/>
                </a:solidFill>
                <a:latin typeface="Calibri"/>
                <a:ea typeface="Calibri"/>
                <a:cs typeface="Calibri"/>
              </a:defRPr>
            </a:pPr>
            <a:r>
              <a:rPr sz="1125" b="1" i="0">
                <a:solidFill>
                  <a:srgbClr val="FFFFFF"/>
                </a:solidFill>
                <a:latin typeface="Calibri"/>
                <a:ea typeface="Calibri"/>
                <a:cs typeface="Calibri"/>
              </a:rPr>
              <a:t>Replay adaptation</a:t>
            </a:r>
          </a:p>
        </p:txBody>
      </p:sp>
      <p:sp>
        <p:nvSpPr>
          <p:cNvPr id="38" name="">
            <a:extLst xmlns:a="http://schemas.openxmlformats.org/drawingml/2006/main">
              <a:ext uri="{FF2B5EF4-FFF2-40B4-BE49-F238E27FC236}">
                <a16:creationId xmlns:a16="http://schemas.microsoft.com/office/drawing/2014/main" id="{9CA3A519-7FE0-4E0E-8F4A-3AA30AF69805}"/>
              </a:ext>
            </a:extLst>
          </p:cNvPr>
          <p:cNvSpPr>
            <a:spLocks xmlns:a="http://schemas.openxmlformats.org/drawingml/2006/main" noGrp="1"/>
          </p:cNvSpPr>
          <p:nvPr/>
        </p:nvSpPr>
        <p:spPr>
          <a:xfrm xmlns:a="http://schemas.openxmlformats.org/drawingml/2006/main">
            <a:off x="100298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825" b="0" i="0">
                <a:solidFill>
                  <a:srgbClr val="C7D8E5"/>
                </a:solidFill>
                <a:latin typeface="Calibri"/>
                <a:ea typeface="Calibri"/>
                <a:cs typeface="Calibri"/>
              </a:defRPr>
            </a:pPr>
            <a:r>
              <a:rPr sz="825" b="0" i="0">
                <a:solidFill>
                  <a:srgbClr val="C7D8E5"/>
                </a:solidFill>
                <a:latin typeface="Calibri"/>
                <a:ea typeface="Calibri"/>
                <a:cs typeface="Calibri"/>
              </a:rPr>
              <a:t>Drift trigger, recent + representative history</a:t>
            </a:r>
          </a:p>
        </p:txBody>
      </p:sp>
      <p:sp>
        <p:nvSpPr>
          <p:cNvPr id="39" name="">
            <a:extLst xmlns:a="http://schemas.openxmlformats.org/drawingml/2006/main">
              <a:ext uri="{FF2B5EF4-FFF2-40B4-BE49-F238E27FC236}">
                <a16:creationId xmlns:a16="http://schemas.microsoft.com/office/drawing/2014/main" id="{93166019-09F3-42CC-B466-F44D92C91BA8}"/>
              </a:ext>
            </a:extLst>
          </p:cNvPr>
          <p:cNvSpPr>
            <a:spLocks xmlns:a="http://schemas.openxmlformats.org/drawingml/2006/main" noGrp="1"/>
          </p:cNvSpPr>
          <p:nvPr/>
        </p:nvSpPr>
        <p:spPr>
          <a:xfrm xmlns:a="http://schemas.openxmlformats.org/drawingml/2006/main">
            <a:off x="552450" y="4333875"/>
            <a:ext cx="11096625" cy="1066800"/>
          </a:xfrm>
          <a:prstGeom xmlns:a="http://schemas.openxmlformats.org/drawingml/2006/main" prst="roundRect">
            <a:avLst>
              <a:gd name="adj" fmla="val 7143"/>
            </a:avLst>
          </a:prstGeom>
          <a:solidFill xmlns:a="http://schemas.openxmlformats.org/drawingml/2006/main">
            <a:srgbClr val="0B2545"/>
          </a:solidFill>
          <a:ln xmlns:a="http://schemas.openxmlformats.org/drawingml/2006/main" w="9525">
            <a:solidFill>
              <a:srgbClr val="0B2545"/>
            </a:solidFill>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1DB970F3-C996-40AC-808A-1D1806B0466F}"/>
              </a:ext>
            </a:extLst>
          </p:cNvPr>
          <p:cNvSpPr>
            <a:spLocks xmlns:a="http://schemas.openxmlformats.org/drawingml/2006/main" noGrp="1"/>
          </p:cNvSpPr>
          <p:nvPr/>
        </p:nvSpPr>
        <p:spPr>
          <a:xfrm xmlns:a="http://schemas.openxmlformats.org/drawingml/2006/main">
            <a:off x="800100" y="4552950"/>
            <a:ext cx="200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i="0">
                <a:solidFill>
                  <a:srgbClr val="00A896"/>
                </a:solidFill>
                <a:latin typeface="Calibri"/>
                <a:ea typeface="Calibri"/>
                <a:cs typeface="Calibri"/>
              </a:defRPr>
            </a:pPr>
            <a:r>
              <a:rPr sz="1125" b="1" i="0">
                <a:solidFill>
                  <a:srgbClr val="00A896"/>
                </a:solidFill>
                <a:latin typeface="Calibri"/>
                <a:ea typeface="Calibri"/>
                <a:cs typeface="Calibri"/>
              </a:rPr>
              <a:t>Training objective</a:t>
            </a:r>
          </a:p>
        </p:txBody>
      </p:sp>
      <p:sp>
        <p:nvSpPr>
          <p:cNvPr id="41" name="">
            <a:extLst xmlns:a="http://schemas.openxmlformats.org/drawingml/2006/main">
              <a:ext uri="{FF2B5EF4-FFF2-40B4-BE49-F238E27FC236}">
                <a16:creationId xmlns:a16="http://schemas.microsoft.com/office/drawing/2014/main" id="{ACC40B75-8412-487F-A3F5-EBE0DD337780}"/>
              </a:ext>
            </a:extLst>
          </p:cNvPr>
          <p:cNvSpPr>
            <a:spLocks xmlns:a="http://schemas.openxmlformats.org/drawingml/2006/main" noGrp="1"/>
          </p:cNvSpPr>
          <p:nvPr/>
        </p:nvSpPr>
        <p:spPr>
          <a:xfrm xmlns:a="http://schemas.openxmlformats.org/drawingml/2006/main">
            <a:off x="2857500" y="44958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i="0">
                <a:solidFill>
                  <a:srgbClr val="FFFFFF"/>
                </a:solidFill>
                <a:latin typeface="Cambria"/>
                <a:ea typeface="Cambria"/>
                <a:cs typeface="Cambria"/>
              </a:defRPr>
            </a:pPr>
            <a:r>
              <a:rPr sz="1800" b="1" i="0">
                <a:solidFill>
                  <a:srgbClr val="FFFFFF"/>
                </a:solidFill>
                <a:latin typeface="Cambria"/>
                <a:ea typeface="Cambria"/>
                <a:cs typeface="Cambria"/>
              </a:rPr>
              <a:t>L_total = L_data + λ_phys L_phys + λ_cons L_cons</a:t>
            </a:r>
          </a:p>
        </p:txBody>
      </p:sp>
      <p:sp>
        <p:nvSpPr>
          <p:cNvPr id="42" name="">
            <a:extLst xmlns:a="http://schemas.openxmlformats.org/drawingml/2006/main">
              <a:ext uri="{FF2B5EF4-FFF2-40B4-BE49-F238E27FC236}">
                <a16:creationId xmlns:a16="http://schemas.microsoft.com/office/drawing/2014/main" id="{6AAE3F77-31F8-4C13-BC15-F662036FDC89}"/>
              </a:ext>
            </a:extLst>
          </p:cNvPr>
          <p:cNvSpPr>
            <a:spLocks xmlns:a="http://schemas.openxmlformats.org/drawingml/2006/main" noGrp="1"/>
          </p:cNvSpPr>
          <p:nvPr/>
        </p:nvSpPr>
        <p:spPr>
          <a:xfrm xmlns:a="http://schemas.openxmlformats.org/drawingml/2006/main">
            <a:off x="800100" y="49720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buNone/>
              <a:defRPr sz="1050" b="0" i="0">
                <a:solidFill>
                  <a:srgbClr val="C7D8E5"/>
                </a:solidFill>
                <a:latin typeface="Calibri"/>
                <a:ea typeface="Calibri"/>
                <a:cs typeface="Calibri"/>
              </a:defRPr>
            </a:pPr>
            <a:r>
              <a:rPr sz="1050" b="0" i="0">
                <a:solidFill>
                  <a:srgbClr val="C7D8E5"/>
                </a:solidFill>
                <a:latin typeface="Calibri"/>
                <a:ea typeface="Calibri"/>
                <a:cs typeface="Calibri"/>
              </a:rPr>
              <a:t>The SEI-growth PDE formulation remains a Stage 2 extension until every variable and parameter is available and verified.</a:t>
            </a:r>
          </a:p>
        </p:txBody>
      </p:sp>
      <p:sp>
        <p:nvSpPr>
          <p:cNvPr id="43" name="">
            <a:extLst xmlns:a="http://schemas.openxmlformats.org/drawingml/2006/main">
              <a:ext uri="{FF2B5EF4-FFF2-40B4-BE49-F238E27FC236}">
                <a16:creationId xmlns:a16="http://schemas.microsoft.com/office/drawing/2014/main" id="{A97FBA87-2569-421E-8BF8-2F3D99DF2D64}"/>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44" name="">
            <a:extLst xmlns:a="http://schemas.openxmlformats.org/drawingml/2006/main">
              <a:ext uri="{FF2B5EF4-FFF2-40B4-BE49-F238E27FC236}">
                <a16:creationId xmlns:a16="http://schemas.microsoft.com/office/drawing/2014/main" id="{90F1C755-419A-4C42-8CDB-27AD49C6C238}"/>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15 / 21</a:t>
            </a:r>
          </a:p>
        </p:txBody>
      </p:sp>
    </p:spTree>
    <p:extLst>
      <p:ext uri="{BB962C8B-B14F-4D97-AF65-F5344CB8AC3E}">
        <p14:creationId xmlns:p14="http://schemas.microsoft.com/office/powerpoint/2010/main" val="1953884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ED563A6-A264-4CB8-A15A-011B5B2AD1CE}"/>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28090"/>
                </a:solidFill>
                <a:latin typeface="Calibri"/>
                <a:ea typeface="Calibri"/>
                <a:cs typeface="Calibri"/>
              </a:defRPr>
            </a:pPr>
            <a:r>
              <a:rPr sz="900" b="1" i="0">
                <a:solidFill>
                  <a:srgbClr val="028090"/>
                </a:solidFill>
                <a:latin typeface="Calibri"/>
                <a:ea typeface="Calibri"/>
                <a:cs typeface="Calibri"/>
              </a:rPr>
              <a:t>PHASE II · TUNING</a:t>
            </a:r>
          </a:p>
        </p:txBody>
      </p:sp>
      <p:sp>
        <p:nvSpPr>
          <p:cNvPr id="2" name="">
            <a:extLst xmlns:a="http://schemas.openxmlformats.org/drawingml/2006/main">
              <a:ext uri="{FF2B5EF4-FFF2-40B4-BE49-F238E27FC236}">
                <a16:creationId xmlns:a16="http://schemas.microsoft.com/office/drawing/2014/main" id="{8210808E-CFA5-44B3-9790-41063EE7B4DD}"/>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0B2545"/>
                </a:solidFill>
                <a:latin typeface="Cambria"/>
                <a:ea typeface="Cambria"/>
                <a:cs typeface="Cambria"/>
              </a:defRPr>
            </a:pPr>
            <a:r>
              <a:rPr sz="2325" b="1" i="0">
                <a:solidFill>
                  <a:srgbClr val="0B2545"/>
                </a:solidFill>
                <a:latin typeface="Cambria"/>
                <a:ea typeface="Cambria"/>
                <a:cs typeface="Cambria"/>
              </a:rPr>
              <a:t>The selected configuration came from the complete grid</a:t>
            </a:r>
          </a:p>
        </p:txBody>
      </p:sp>
      <p:sp>
        <p:nvSpPr>
          <p:cNvPr id="3" name="">
            <a:extLst xmlns:a="http://schemas.openxmlformats.org/drawingml/2006/main">
              <a:ext uri="{FF2B5EF4-FFF2-40B4-BE49-F238E27FC236}">
                <a16:creationId xmlns:a16="http://schemas.microsoft.com/office/drawing/2014/main" id="{F67584CF-9D49-4093-AADF-774AACB5C130}"/>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5B6B79"/>
                </a:solidFill>
                <a:latin typeface="Calibri"/>
                <a:ea typeface="Calibri"/>
                <a:cs typeface="Calibri"/>
              </a:defRPr>
            </a:pPr>
            <a:r>
              <a:rPr sz="1125" b="0" i="0">
                <a:solidFill>
                  <a:srgbClr val="5B6B79"/>
                </a:solidFill>
                <a:latin typeface="Calibri"/>
                <a:ea typeface="Calibri"/>
                <a:cs typeface="Calibri"/>
              </a:rPr>
              <a:t>Every requested combination ran across seeds 7, 17, and 27 before the final evidence pass.</a:t>
            </a:r>
          </a:p>
        </p:txBody>
      </p:sp>
      <p:graphicFrame>
        <p:nvGraphicFramePr>
          <p:cNvPr id="28" name=""/>
          <p:cNvGraphicFramePr/>
          <p:nvPr/>
        </p:nvGraphicFramePr>
        <p:xfrm>
          <a:off xmlns:a="http://schemas.openxmlformats.org/drawingml/2006/main" x="552450" y="2000250"/>
          <a:ext xmlns:a="http://schemas.openxmlformats.org/drawingml/2006/main" cx="4953000" cy="2667000"/>
        </p:xfrm>
        <a:graphic xmlns:a="http://schemas.openxmlformats.org/drawingml/2006/main">
          <a:graphicData uri="http://schemas.openxmlformats.org/drawingml/2006/table">
            <a:tbl>
              <a:tblPr firstRow="1" bandRow="1"/>
              <a:tblGrid>
                <a:gridCol w="2095500"/>
                <a:gridCol w="2857500"/>
              </a:tblGrid>
              <a:tr h="444500">
                <a:tc>
                  <a:txBody>
                    <a:bodyPr>
                      <a:normAutofit/>
                    </a:bodyPr>
                    <a:lstStyle/>
                    <a:p>
                      <a:r>
                        <a:rPr sz="975" b="1">
                          <a:solidFill>
                            <a:srgbClr val="FFFFFF"/>
                          </a:solidFill>
                          <a:latin typeface="Calibri"/>
                          <a:ea typeface="Calibri"/>
                          <a:cs typeface="Calibri"/>
                        </a:rPr>
                        <a:t>Grid dimension</a:t>
                      </a:r>
                    </a:p>
                  </a:txBody>
                  <a:tcPr marL="91440" marR="91440" marT="45720" marB="45720">
                    <a:solidFill>
                      <a:srgbClr val="13355E"/>
                    </a:solidFill>
                  </a:tcPr>
                </a:tc>
                <a:tc>
                  <a:txBody>
                    <a:bodyPr>
                      <a:normAutofit/>
                    </a:bodyPr>
                    <a:lstStyle/>
                    <a:p>
                      <a:r>
                        <a:rPr sz="975" b="1">
                          <a:solidFill>
                            <a:srgbClr val="FFFFFF"/>
                          </a:solidFill>
                          <a:latin typeface="Calibri"/>
                          <a:ea typeface="Calibri"/>
                          <a:cs typeface="Calibri"/>
                        </a:rPr>
                        <a:t>Values tested</a:t>
                      </a:r>
                    </a:p>
                  </a:txBody>
                  <a:tcPr marL="91440" marR="91440" marT="45720" marB="45720">
                    <a:solidFill>
                      <a:srgbClr val="13355E"/>
                    </a:solidFill>
                  </a:tcPr>
                </a:tc>
              </a:tr>
              <a:tr h="444500">
                <a:tc>
                  <a:txBody>
                    <a:bodyPr>
                      <a:normAutofit/>
                    </a:bodyPr>
                    <a:lstStyle/>
                    <a:p>
                      <a:r>
                        <a:rPr sz="975" b="1">
                          <a:solidFill>
                            <a:srgbClr val="0B2545"/>
                          </a:solidFill>
                          <a:latin typeface="Calibri"/>
                          <a:ea typeface="Calibri"/>
                          <a:cs typeface="Calibri"/>
                        </a:rPr>
                        <a:t>Hidden size</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64 · 128</a:t>
                      </a:r>
                    </a:p>
                  </a:txBody>
                  <a:tcPr marL="91440" marR="91440" marT="45720" marB="45720">
                    <a:solidFill>
                      <a:srgbClr val="FFFFFF"/>
                    </a:solidFill>
                  </a:tcPr>
                </a:tc>
              </a:tr>
              <a:tr h="444500">
                <a:tc>
                  <a:txBody>
                    <a:bodyPr>
                      <a:normAutofit/>
                    </a:bodyPr>
                    <a:lstStyle/>
                    <a:p>
                      <a:r>
                        <a:rPr sz="975" b="1">
                          <a:solidFill>
                            <a:srgbClr val="0B2545"/>
                          </a:solidFill>
                          <a:latin typeface="Calibri"/>
                          <a:ea typeface="Calibri"/>
                          <a:cs typeface="Calibri"/>
                        </a:rPr>
                        <a:t>Learning rate</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0.0001 · 0.0005 · 0.001</a:t>
                      </a:r>
                    </a:p>
                  </a:txBody>
                  <a:tcPr marL="91440" marR="91440" marT="45720" marB="45720">
                    <a:solidFill>
                      <a:srgbClr val="F4F8FA"/>
                    </a:solidFill>
                  </a:tcPr>
                </a:tc>
              </a:tr>
              <a:tr h="444500">
                <a:tc>
                  <a:txBody>
                    <a:bodyPr>
                      <a:normAutofit/>
                    </a:bodyPr>
                    <a:lstStyle/>
                    <a:p>
                      <a:r>
                        <a:rPr sz="975" b="1">
                          <a:solidFill>
                            <a:srgbClr val="0B2545"/>
                          </a:solidFill>
                          <a:latin typeface="Calibri"/>
                          <a:ea typeface="Calibri"/>
                          <a:cs typeface="Calibri"/>
                        </a:rPr>
                        <a:t>Physics weight</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0.1 · 1 · 10</a:t>
                      </a:r>
                    </a:p>
                  </a:txBody>
                  <a:tcPr marL="91440" marR="91440" marT="45720" marB="45720">
                    <a:solidFill>
                      <a:srgbClr val="FFFFFF"/>
                    </a:solidFill>
                  </a:tcPr>
                </a:tc>
              </a:tr>
              <a:tr h="444500">
                <a:tc>
                  <a:txBody>
                    <a:bodyPr>
                      <a:normAutofit/>
                    </a:bodyPr>
                    <a:lstStyle/>
                    <a:p>
                      <a:r>
                        <a:rPr sz="975" b="1">
                          <a:solidFill>
                            <a:srgbClr val="0B2545"/>
                          </a:solidFill>
                          <a:latin typeface="Calibri"/>
                          <a:ea typeface="Calibri"/>
                          <a:cs typeface="Calibri"/>
                        </a:rPr>
                        <a:t>Replay size</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128 · 512 · 2048</a:t>
                      </a:r>
                    </a:p>
                  </a:txBody>
                  <a:tcPr marL="91440" marR="91440" marT="45720" marB="45720">
                    <a:solidFill>
                      <a:srgbClr val="F4F8FA"/>
                    </a:solidFill>
                  </a:tcPr>
                </a:tc>
              </a:tr>
              <a:tr h="444500">
                <a:tc>
                  <a:txBody>
                    <a:bodyPr>
                      <a:normAutofit/>
                    </a:bodyPr>
                    <a:lstStyle/>
                    <a:p>
                      <a:r>
                        <a:rPr sz="975" b="1">
                          <a:solidFill>
                            <a:srgbClr val="0B2545"/>
                          </a:solidFill>
                          <a:latin typeface="Calibri"/>
                          <a:ea typeface="Calibri"/>
                          <a:cs typeface="Calibri"/>
                        </a:rPr>
                        <a:t>Total combinations</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54 × 3 seeds = 162 runs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2A9255E-6C61-436E-AD7B-081E4FF61050}"/>
              </a:ext>
            </a:extLst>
          </p:cNvPr>
          <p:cNvSpPr>
            <a:spLocks xmlns:a="http://schemas.openxmlformats.org/drawingml/2006/main" noGrp="1"/>
          </p:cNvSpPr>
          <p:nvPr/>
        </p:nvSpPr>
        <p:spPr>
          <a:xfrm xmlns:a="http://schemas.openxmlformats.org/drawingml/2006/main">
            <a:off x="6191250" y="2000250"/>
            <a:ext cx="5457825" cy="2667000"/>
          </a:xfrm>
          <a:prstGeom xmlns:a="http://schemas.openxmlformats.org/drawingml/2006/main" prst="roundRect">
            <a:avLst>
              <a:gd name="adj" fmla="val 2857"/>
            </a:avLst>
          </a:prstGeom>
          <a:solidFill xmlns:a="http://schemas.openxmlformats.org/drawingml/2006/main">
            <a:srgbClr val="0B2545"/>
          </a:solidFill>
          <a:ln xmlns:a="http://schemas.openxmlformats.org/drawingml/2006/main" w="9525">
            <a:solidFill>
              <a:srgbClr val="0B2545"/>
            </a:solid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308C6FB6-7041-4282-8634-988A39D9007D}"/>
              </a:ext>
            </a:extLst>
          </p:cNvPr>
          <p:cNvSpPr>
            <a:spLocks xmlns:a="http://schemas.openxmlformats.org/drawingml/2006/main" noGrp="1"/>
          </p:cNvSpPr>
          <p:nvPr/>
        </p:nvSpPr>
        <p:spPr>
          <a:xfrm xmlns:a="http://schemas.openxmlformats.org/drawingml/2006/main">
            <a:off x="6496050" y="22383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i="0">
                <a:solidFill>
                  <a:srgbClr val="00A896"/>
                </a:solidFill>
                <a:latin typeface="Calibri"/>
                <a:ea typeface="Calibri"/>
                <a:cs typeface="Calibri"/>
              </a:defRPr>
            </a:pPr>
            <a:r>
              <a:rPr sz="1125" b="1" i="0">
                <a:solidFill>
                  <a:srgbClr val="00A896"/>
                </a:solidFill>
                <a:latin typeface="Calibri"/>
                <a:ea typeface="Calibri"/>
                <a:cs typeface="Calibri"/>
              </a:rPr>
              <a:t>Selected configuration</a:t>
            </a:r>
          </a:p>
        </p:txBody>
      </p:sp>
      <p:sp>
        <p:nvSpPr>
          <p:cNvPr id="7" name="">
            <a:extLst xmlns:a="http://schemas.openxmlformats.org/drawingml/2006/main">
              <a:ext uri="{FF2B5EF4-FFF2-40B4-BE49-F238E27FC236}">
                <a16:creationId xmlns:a16="http://schemas.microsoft.com/office/drawing/2014/main" id="{84342E6B-7512-4787-A3E1-A5A5F2EE1579}"/>
              </a:ext>
            </a:extLst>
          </p:cNvPr>
          <p:cNvSpPr>
            <a:spLocks xmlns:a="http://schemas.openxmlformats.org/drawingml/2006/main" noGrp="1"/>
          </p:cNvSpPr>
          <p:nvPr/>
        </p:nvSpPr>
        <p:spPr>
          <a:xfrm xmlns:a="http://schemas.openxmlformats.org/drawingml/2006/main">
            <a:off x="6496050" y="2667000"/>
            <a:ext cx="4572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00" b="1" i="0">
                <a:solidFill>
                  <a:srgbClr val="FFFFFF"/>
                </a:solidFill>
                <a:latin typeface="Cambria"/>
                <a:ea typeface="Cambria"/>
                <a:cs typeface="Cambria"/>
              </a:defRPr>
            </a:pPr>
            <a:r>
              <a:rPr sz="1800" b="1" i="0">
                <a:solidFill>
                  <a:srgbClr val="FFFFFF"/>
                </a:solidFill>
                <a:latin typeface="Cambria"/>
                <a:ea typeface="Cambria"/>
                <a:cs typeface="Cambria"/>
              </a:rPr>
              <a:t>Hidden size  64</a:t>
            </a:r>
          </a:p>
          <a:p xmlns:a="http://schemas.openxmlformats.org/drawingml/2006/main">
            <a:pPr>
              <a:buNone/>
              <a:defRPr sz="1800" b="1" i="0">
                <a:solidFill>
                  <a:srgbClr val="FFFFFF"/>
                </a:solidFill>
                <a:latin typeface="Cambria"/>
                <a:ea typeface="Cambria"/>
                <a:cs typeface="Cambria"/>
              </a:defRPr>
            </a:pPr>
            <a:r>
              <a:rPr sz="1800" b="1" i="0">
                <a:solidFill>
                  <a:srgbClr val="FFFFFF"/>
                </a:solidFill>
                <a:latin typeface="Cambria"/>
                <a:ea typeface="Cambria"/>
                <a:cs typeface="Cambria"/>
              </a:rPr>
              <a:t>Learning rate  0.001</a:t>
            </a:r>
          </a:p>
          <a:p xmlns:a="http://schemas.openxmlformats.org/drawingml/2006/main">
            <a:pPr>
              <a:buNone/>
              <a:defRPr sz="1800" b="1" i="0">
                <a:solidFill>
                  <a:srgbClr val="FFFFFF"/>
                </a:solidFill>
                <a:latin typeface="Cambria"/>
                <a:ea typeface="Cambria"/>
                <a:cs typeface="Cambria"/>
              </a:defRPr>
            </a:pPr>
            <a:r>
              <a:rPr sz="1800" b="1" i="0">
                <a:solidFill>
                  <a:srgbClr val="FFFFFF"/>
                </a:solidFill>
                <a:latin typeface="Cambria"/>
                <a:ea typeface="Cambria"/>
                <a:cs typeface="Cambria"/>
              </a:rPr>
              <a:t>Physics weight  0.1</a:t>
            </a:r>
          </a:p>
          <a:p xmlns:a="http://schemas.openxmlformats.org/drawingml/2006/main">
            <a:pPr>
              <a:buNone/>
              <a:defRPr sz="1800" b="1" i="0">
                <a:solidFill>
                  <a:srgbClr val="FFFFFF"/>
                </a:solidFill>
                <a:latin typeface="Cambria"/>
                <a:ea typeface="Cambria"/>
                <a:cs typeface="Cambria"/>
              </a:defRPr>
            </a:pPr>
            <a:r>
              <a:rPr sz="1800" b="1" i="0">
                <a:solidFill>
                  <a:srgbClr val="FFFFFF"/>
                </a:solidFill>
                <a:latin typeface="Cambria"/>
                <a:ea typeface="Cambria"/>
                <a:cs typeface="Cambria"/>
              </a:rPr>
              <a:t>Replay size  128</a:t>
            </a:r>
          </a:p>
        </p:txBody>
      </p:sp>
      <p:sp>
        <p:nvSpPr>
          <p:cNvPr id="8" name="">
            <a:extLst xmlns:a="http://schemas.openxmlformats.org/drawingml/2006/main">
              <a:ext uri="{FF2B5EF4-FFF2-40B4-BE49-F238E27FC236}">
                <a16:creationId xmlns:a16="http://schemas.microsoft.com/office/drawing/2014/main" id="{4B11D301-A5CB-4507-B67C-E9A4B7A4A950}"/>
              </a:ext>
            </a:extLst>
          </p:cNvPr>
          <p:cNvSpPr>
            <a:spLocks xmlns:a="http://schemas.openxmlformats.org/drawingml/2006/main" noGrp="1"/>
          </p:cNvSpPr>
          <p:nvPr/>
        </p:nvSpPr>
        <p:spPr>
          <a:xfrm xmlns:a="http://schemas.openxmlformats.org/drawingml/2006/main">
            <a:off x="6496050" y="419100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996"/>
          </a:bodyPr>
          <a:lstStyle xmlns:a="http://schemas.openxmlformats.org/drawingml/2006/main"/>
          <a:p xmlns:a="http://schemas.openxmlformats.org/drawingml/2006/main">
            <a:pPr>
              <a:buNone/>
              <a:defRPr sz="1050" b="0" i="0">
                <a:solidFill>
                  <a:srgbClr val="C7D8E5"/>
                </a:solidFill>
                <a:latin typeface="Calibri"/>
                <a:ea typeface="Calibri"/>
                <a:cs typeface="Calibri"/>
              </a:defRPr>
            </a:pPr>
            <a:r>
              <a:rPr sz="1050" b="0" i="0">
                <a:solidFill>
                  <a:srgbClr val="C7D8E5"/>
                </a:solidFill>
                <a:latin typeface="Calibri"/>
                <a:ea typeface="Calibri"/>
                <a:cs typeface="Calibri"/>
              </a:rPr>
              <a:t>The final evidence runner then used the selected configuration on the full default cycle-window representation.</a:t>
            </a:r>
          </a:p>
        </p:txBody>
      </p:sp>
      <p:sp>
        <p:nvSpPr>
          <p:cNvPr id="9" name="">
            <a:extLst xmlns:a="http://schemas.openxmlformats.org/drawingml/2006/main">
              <a:ext uri="{FF2B5EF4-FFF2-40B4-BE49-F238E27FC236}">
                <a16:creationId xmlns:a16="http://schemas.microsoft.com/office/drawing/2014/main" id="{C339CB8E-FF4E-4D2B-B550-02840473765C}"/>
              </a:ext>
            </a:extLst>
          </p:cNvPr>
          <p:cNvSpPr>
            <a:spLocks xmlns:a="http://schemas.openxmlformats.org/drawingml/2006/main" noGrp="1"/>
          </p:cNvSpPr>
          <p:nvPr/>
        </p:nvSpPr>
        <p:spPr>
          <a:xfrm xmlns:a="http://schemas.openxmlformats.org/drawingml/2006/main">
            <a:off x="552450" y="5143500"/>
            <a:ext cx="23812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B269FE8-A0D8-4A2A-89D2-0CE1DB1E891D}"/>
              </a:ext>
            </a:extLst>
          </p:cNvPr>
          <p:cNvSpPr>
            <a:spLocks xmlns:a="http://schemas.openxmlformats.org/drawingml/2006/main" noGrp="1"/>
          </p:cNvSpPr>
          <p:nvPr/>
        </p:nvSpPr>
        <p:spPr>
          <a:xfrm xmlns:a="http://schemas.openxmlformats.org/drawingml/2006/main">
            <a:off x="704850" y="5257800"/>
            <a:ext cx="2076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GRID STATUS</a:t>
            </a:r>
          </a:p>
        </p:txBody>
      </p:sp>
      <p:sp>
        <p:nvSpPr>
          <p:cNvPr id="11" name="">
            <a:extLst xmlns:a="http://schemas.openxmlformats.org/drawingml/2006/main">
              <a:ext uri="{FF2B5EF4-FFF2-40B4-BE49-F238E27FC236}">
                <a16:creationId xmlns:a16="http://schemas.microsoft.com/office/drawing/2014/main" id="{C07809B0-81E5-4694-9C92-1035D8105CCE}"/>
              </a:ext>
            </a:extLst>
          </p:cNvPr>
          <p:cNvSpPr>
            <a:spLocks xmlns:a="http://schemas.openxmlformats.org/drawingml/2006/main" noGrp="1"/>
          </p:cNvSpPr>
          <p:nvPr/>
        </p:nvSpPr>
        <p:spPr>
          <a:xfrm xmlns:a="http://schemas.openxmlformats.org/drawingml/2006/main">
            <a:off x="704850" y="5448300"/>
            <a:ext cx="2076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147D64"/>
                </a:solidFill>
                <a:latin typeface="Cambria"/>
                <a:ea typeface="Cambria"/>
                <a:cs typeface="Cambria"/>
              </a:defRPr>
            </a:pPr>
            <a:r>
              <a:rPr sz="1650" b="1" i="0">
                <a:solidFill>
                  <a:srgbClr val="147D64"/>
                </a:solidFill>
                <a:latin typeface="Cambria"/>
                <a:ea typeface="Cambria"/>
                <a:cs typeface="Cambria"/>
              </a:rPr>
              <a:t>54 / 54 complete</a:t>
            </a:r>
          </a:p>
        </p:txBody>
      </p:sp>
      <p:sp>
        <p:nvSpPr>
          <p:cNvPr id="12" name="">
            <a:extLst xmlns:a="http://schemas.openxmlformats.org/drawingml/2006/main">
              <a:ext uri="{FF2B5EF4-FFF2-40B4-BE49-F238E27FC236}">
                <a16:creationId xmlns:a16="http://schemas.microsoft.com/office/drawing/2014/main" id="{83699D06-5DFA-4F9D-A9BB-558A9A5695BF}"/>
              </a:ext>
            </a:extLst>
          </p:cNvPr>
          <p:cNvSpPr>
            <a:spLocks xmlns:a="http://schemas.openxmlformats.org/drawingml/2006/main" noGrp="1"/>
          </p:cNvSpPr>
          <p:nvPr/>
        </p:nvSpPr>
        <p:spPr>
          <a:xfrm xmlns:a="http://schemas.openxmlformats.org/drawingml/2006/main">
            <a:off x="3143250" y="5143500"/>
            <a:ext cx="21907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5C0A1656-1B2B-4C71-BF14-A3C958A71665}"/>
              </a:ext>
            </a:extLst>
          </p:cNvPr>
          <p:cNvSpPr>
            <a:spLocks xmlns:a="http://schemas.openxmlformats.org/drawingml/2006/main" noGrp="1"/>
          </p:cNvSpPr>
          <p:nvPr/>
        </p:nvSpPr>
        <p:spPr>
          <a:xfrm xmlns:a="http://schemas.openxmlformats.org/drawingml/2006/main">
            <a:off x="3295650" y="5257800"/>
            <a:ext cx="1885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MODEL COUNT</a:t>
            </a:r>
          </a:p>
        </p:txBody>
      </p:sp>
      <p:sp>
        <p:nvSpPr>
          <p:cNvPr id="14" name="">
            <a:extLst xmlns:a="http://schemas.openxmlformats.org/drawingml/2006/main">
              <a:ext uri="{FF2B5EF4-FFF2-40B4-BE49-F238E27FC236}">
                <a16:creationId xmlns:a16="http://schemas.microsoft.com/office/drawing/2014/main" id="{9E4E2D8B-7C81-4731-97B2-BD05DAFAD5AE}"/>
              </a:ext>
            </a:extLst>
          </p:cNvPr>
          <p:cNvSpPr>
            <a:spLocks xmlns:a="http://schemas.openxmlformats.org/drawingml/2006/main" noGrp="1"/>
          </p:cNvSpPr>
          <p:nvPr/>
        </p:nvSpPr>
        <p:spPr>
          <a:xfrm xmlns:a="http://schemas.openxmlformats.org/drawingml/2006/main">
            <a:off x="3295650" y="5448300"/>
            <a:ext cx="1885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028090"/>
                </a:solidFill>
                <a:latin typeface="Cambria"/>
                <a:ea typeface="Cambria"/>
                <a:cs typeface="Cambria"/>
              </a:defRPr>
            </a:pPr>
            <a:r>
              <a:rPr sz="1650" b="1" i="0">
                <a:solidFill>
                  <a:srgbClr val="028090"/>
                </a:solidFill>
                <a:latin typeface="Cambria"/>
                <a:ea typeface="Cambria"/>
                <a:cs typeface="Cambria"/>
              </a:rPr>
              <a:t>5 comparisons</a:t>
            </a:r>
          </a:p>
        </p:txBody>
      </p:sp>
      <p:sp>
        <p:nvSpPr>
          <p:cNvPr id="15" name="">
            <a:extLst xmlns:a="http://schemas.openxmlformats.org/drawingml/2006/main">
              <a:ext uri="{FF2B5EF4-FFF2-40B4-BE49-F238E27FC236}">
                <a16:creationId xmlns:a16="http://schemas.microsoft.com/office/drawing/2014/main" id="{9954A2C7-19B6-4370-8457-D1D091C9C607}"/>
              </a:ext>
            </a:extLst>
          </p:cNvPr>
          <p:cNvSpPr>
            <a:spLocks xmlns:a="http://schemas.openxmlformats.org/drawingml/2006/main" noGrp="1"/>
          </p:cNvSpPr>
          <p:nvPr/>
        </p:nvSpPr>
        <p:spPr>
          <a:xfrm xmlns:a="http://schemas.openxmlformats.org/drawingml/2006/main">
            <a:off x="5524500" y="5143500"/>
            <a:ext cx="21907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7EF25432-1E02-44A0-ABF6-2458D0288F9C}"/>
              </a:ext>
            </a:extLst>
          </p:cNvPr>
          <p:cNvSpPr>
            <a:spLocks xmlns:a="http://schemas.openxmlformats.org/drawingml/2006/main" noGrp="1"/>
          </p:cNvSpPr>
          <p:nvPr/>
        </p:nvSpPr>
        <p:spPr>
          <a:xfrm xmlns:a="http://schemas.openxmlformats.org/drawingml/2006/main">
            <a:off x="5676900" y="5257800"/>
            <a:ext cx="1885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EVIDENCE MODE</a:t>
            </a:r>
          </a:p>
        </p:txBody>
      </p:sp>
      <p:sp>
        <p:nvSpPr>
          <p:cNvPr id="17" name="">
            <a:extLst xmlns:a="http://schemas.openxmlformats.org/drawingml/2006/main">
              <a:ext uri="{FF2B5EF4-FFF2-40B4-BE49-F238E27FC236}">
                <a16:creationId xmlns:a16="http://schemas.microsoft.com/office/drawing/2014/main" id="{20BACCAA-A39A-4A72-8EEF-C4175D0D9D84}"/>
              </a:ext>
            </a:extLst>
          </p:cNvPr>
          <p:cNvSpPr>
            <a:spLocks xmlns:a="http://schemas.openxmlformats.org/drawingml/2006/main" noGrp="1"/>
          </p:cNvSpPr>
          <p:nvPr/>
        </p:nvSpPr>
        <p:spPr>
          <a:xfrm xmlns:a="http://schemas.openxmlformats.org/drawingml/2006/main">
            <a:off x="5676900" y="5448300"/>
            <a:ext cx="1885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028090"/>
                </a:solidFill>
                <a:latin typeface="Cambria"/>
                <a:ea typeface="Cambria"/>
                <a:cs typeface="Cambria"/>
              </a:defRPr>
            </a:pPr>
            <a:r>
              <a:rPr sz="1650" b="1" i="0">
                <a:solidFill>
                  <a:srgbClr val="028090"/>
                </a:solidFill>
                <a:latin typeface="Cambria"/>
                <a:ea typeface="Cambria"/>
                <a:cs typeface="Cambria"/>
              </a:rPr>
              <a:t>Held-out cell</a:t>
            </a:r>
          </a:p>
        </p:txBody>
      </p:sp>
      <p:sp>
        <p:nvSpPr>
          <p:cNvPr id="18" name="">
            <a:extLst xmlns:a="http://schemas.openxmlformats.org/drawingml/2006/main">
              <a:ext uri="{FF2B5EF4-FFF2-40B4-BE49-F238E27FC236}">
                <a16:creationId xmlns:a16="http://schemas.microsoft.com/office/drawing/2014/main" id="{26869356-447C-40D0-B8DB-1A2103A7C32F}"/>
              </a:ext>
            </a:extLst>
          </p:cNvPr>
          <p:cNvSpPr>
            <a:spLocks xmlns:a="http://schemas.openxmlformats.org/drawingml/2006/main" noGrp="1"/>
          </p:cNvSpPr>
          <p:nvPr/>
        </p:nvSpPr>
        <p:spPr>
          <a:xfrm xmlns:a="http://schemas.openxmlformats.org/drawingml/2006/main">
            <a:off x="7905750" y="5143500"/>
            <a:ext cx="247650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BF2BBD3F-68A4-4B03-B2F3-8DE82D8CC7C1}"/>
              </a:ext>
            </a:extLst>
          </p:cNvPr>
          <p:cNvSpPr>
            <a:spLocks xmlns:a="http://schemas.openxmlformats.org/drawingml/2006/main" noGrp="1"/>
          </p:cNvSpPr>
          <p:nvPr/>
        </p:nvSpPr>
        <p:spPr>
          <a:xfrm xmlns:a="http://schemas.openxmlformats.org/drawingml/2006/main">
            <a:off x="8058150" y="5257800"/>
            <a:ext cx="2171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OUTPUT</a:t>
            </a:r>
          </a:p>
        </p:txBody>
      </p:sp>
      <p:sp>
        <p:nvSpPr>
          <p:cNvPr id="20" name="">
            <a:extLst xmlns:a="http://schemas.openxmlformats.org/drawingml/2006/main">
              <a:ext uri="{FF2B5EF4-FFF2-40B4-BE49-F238E27FC236}">
                <a16:creationId xmlns:a16="http://schemas.microsoft.com/office/drawing/2014/main" id="{8E3BA764-1E69-47AF-BACF-863C98D54C18}"/>
              </a:ext>
            </a:extLst>
          </p:cNvPr>
          <p:cNvSpPr>
            <a:spLocks xmlns:a="http://schemas.openxmlformats.org/drawingml/2006/main" noGrp="1"/>
          </p:cNvSpPr>
          <p:nvPr/>
        </p:nvSpPr>
        <p:spPr>
          <a:xfrm xmlns:a="http://schemas.openxmlformats.org/drawingml/2006/main">
            <a:off x="8058150" y="5448300"/>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028090"/>
                </a:solidFill>
                <a:latin typeface="Cambria"/>
                <a:ea typeface="Cambria"/>
                <a:cs typeface="Cambria"/>
              </a:defRPr>
            </a:pPr>
            <a:r>
              <a:rPr sz="1650" b="1" i="0">
                <a:solidFill>
                  <a:srgbClr val="028090"/>
                </a:solidFill>
                <a:latin typeface="Cambria"/>
                <a:ea typeface="Cambria"/>
                <a:cs typeface="Cambria"/>
              </a:rPr>
              <a:t>JSON + CSV + PNG</a:t>
            </a:r>
          </a:p>
        </p:txBody>
      </p:sp>
      <p:sp>
        <p:nvSpPr>
          <p:cNvPr id="21" name="">
            <a:extLst xmlns:a="http://schemas.openxmlformats.org/drawingml/2006/main">
              <a:ext uri="{FF2B5EF4-FFF2-40B4-BE49-F238E27FC236}">
                <a16:creationId xmlns:a16="http://schemas.microsoft.com/office/drawing/2014/main" id="{2F45EF16-F098-464E-A7DA-D92F175E2C9F}"/>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22" name="">
            <a:extLst xmlns:a="http://schemas.openxmlformats.org/drawingml/2006/main">
              <a:ext uri="{FF2B5EF4-FFF2-40B4-BE49-F238E27FC236}">
                <a16:creationId xmlns:a16="http://schemas.microsoft.com/office/drawing/2014/main" id="{742178D4-248A-496D-88C4-6923D4743138}"/>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16 / 21</a:t>
            </a:r>
          </a:p>
        </p:txBody>
      </p:sp>
    </p:spTree>
    <p:extLst>
      <p:ext uri="{BB962C8B-B14F-4D97-AF65-F5344CB8AC3E}">
        <p14:creationId xmlns:p14="http://schemas.microsoft.com/office/powerpoint/2010/main" val="2290801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2341A7F-E86D-4212-9954-4116273EEF58}"/>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28090"/>
                </a:solidFill>
                <a:latin typeface="Calibri"/>
                <a:ea typeface="Calibri"/>
                <a:cs typeface="Calibri"/>
              </a:defRPr>
            </a:pPr>
            <a:r>
              <a:rPr sz="900" b="1" i="0">
                <a:solidFill>
                  <a:srgbClr val="028090"/>
                </a:solidFill>
                <a:latin typeface="Calibri"/>
                <a:ea typeface="Calibri"/>
                <a:cs typeface="Calibri"/>
              </a:rPr>
              <a:t>PHASE II · MODEL COMPARISON</a:t>
            </a:r>
          </a:p>
        </p:txBody>
      </p:sp>
      <p:sp>
        <p:nvSpPr>
          <p:cNvPr id="2" name="">
            <a:extLst xmlns:a="http://schemas.openxmlformats.org/drawingml/2006/main">
              <a:ext uri="{FF2B5EF4-FFF2-40B4-BE49-F238E27FC236}">
                <a16:creationId xmlns:a16="http://schemas.microsoft.com/office/drawing/2014/main" id="{E0C70FCA-9DAD-4C5E-AF66-73C936025233}"/>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0B2545"/>
                </a:solidFill>
                <a:latin typeface="Cambria"/>
                <a:ea typeface="Cambria"/>
                <a:cs typeface="Cambria"/>
              </a:defRPr>
            </a:pPr>
            <a:r>
              <a:rPr sz="2325" b="1" i="0">
                <a:solidFill>
                  <a:srgbClr val="0B2545"/>
                </a:solidFill>
                <a:latin typeface="Cambria"/>
                <a:ea typeface="Cambria"/>
                <a:cs typeface="Cambria"/>
              </a:rPr>
              <a:t>The standalone PINN led frozen SOH accuracy</a:t>
            </a:r>
          </a:p>
        </p:txBody>
      </p:sp>
      <p:sp>
        <p:nvSpPr>
          <p:cNvPr id="3" name="">
            <a:extLst xmlns:a="http://schemas.openxmlformats.org/drawingml/2006/main">
              <a:ext uri="{FF2B5EF4-FFF2-40B4-BE49-F238E27FC236}">
                <a16:creationId xmlns:a16="http://schemas.microsoft.com/office/drawing/2014/main" id="{E38CC936-080B-4535-910A-FCF5CEC227A9}"/>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5B6B79"/>
                </a:solidFill>
                <a:latin typeface="Calibri"/>
                <a:ea typeface="Calibri"/>
                <a:cs typeface="Calibri"/>
              </a:defRPr>
            </a:pPr>
            <a:r>
              <a:rPr sz="1125" b="0" i="0">
                <a:solidFill>
                  <a:srgbClr val="5B6B79"/>
                </a:solidFill>
                <a:latin typeface="Calibri"/>
                <a:ea typeface="Calibri"/>
                <a:cs typeface="Calibri"/>
              </a:rPr>
              <a:t>All model rows use the same B0018 held-out evaluation protocol and four training epochs.</a:t>
            </a:r>
          </a:p>
        </p:txBody>
      </p:sp>
      <p:graphicFrame>
        <p:nvGraphicFramePr>
          <p:cNvPr id="18" name=""/>
          <p:cNvGraphicFramePr/>
          <p:nvPr/>
        </p:nvGraphicFramePr>
        <p:xfrm>
          <a:off xmlns:a="http://schemas.openxmlformats.org/drawingml/2006/main" x="552450" y="1952625"/>
          <a:ext xmlns:a="http://schemas.openxmlformats.org/drawingml/2006/main" cx="11096625" cy="2714625"/>
        </p:xfrm>
        <a:graphic xmlns:a="http://schemas.openxmlformats.org/drawingml/2006/main">
          <a:graphicData uri="http://schemas.openxmlformats.org/drawingml/2006/table">
            <a:tbl>
              <a:tblPr firstRow="1" bandRow="1"/>
              <a:tblGrid>
                <a:gridCol w="3429000"/>
                <a:gridCol w="2476500"/>
                <a:gridCol w="2857500"/>
                <a:gridCol w="2333625"/>
              </a:tblGrid>
              <a:tr h="452438">
                <a:tc>
                  <a:txBody>
                    <a:bodyPr>
                      <a:normAutofit/>
                    </a:bodyPr>
                    <a:lstStyle/>
                    <a:p>
                      <a:r>
                        <a:rPr sz="1050" b="1">
                          <a:solidFill>
                            <a:srgbClr val="FFFFFF"/>
                          </a:solidFill>
                          <a:latin typeface="Calibri"/>
                          <a:ea typeface="Calibri"/>
                          <a:cs typeface="Calibri"/>
                        </a:rPr>
                        <a:t>Model</a:t>
                      </a:r>
                    </a:p>
                  </a:txBody>
                  <a:tcPr marL="91440" marR="91440" marT="45720" marB="45720">
                    <a:solidFill>
                      <a:srgbClr val="13355E"/>
                    </a:solidFill>
                  </a:tcPr>
                </a:tc>
                <a:tc>
                  <a:txBody>
                    <a:bodyPr>
                      <a:normAutofit/>
                    </a:bodyPr>
                    <a:lstStyle/>
                    <a:p>
                      <a:r>
                        <a:rPr sz="1050" b="1">
                          <a:solidFill>
                            <a:srgbClr val="FFFFFF"/>
                          </a:solidFill>
                          <a:latin typeface="Calibri"/>
                          <a:ea typeface="Calibri"/>
                          <a:cs typeface="Calibri"/>
                        </a:rPr>
                        <a:t>SOH MAE</a:t>
                      </a:r>
                    </a:p>
                  </a:txBody>
                  <a:tcPr marL="91440" marR="91440" marT="45720" marB="45720">
                    <a:solidFill>
                      <a:srgbClr val="13355E"/>
                    </a:solidFill>
                  </a:tcPr>
                </a:tc>
                <a:tc>
                  <a:txBody>
                    <a:bodyPr>
                      <a:normAutofit/>
                    </a:bodyPr>
                    <a:lstStyle/>
                    <a:p>
                      <a:r>
                        <a:rPr sz="1050" b="1">
                          <a:solidFill>
                            <a:srgbClr val="FFFFFF"/>
                          </a:solidFill>
                          <a:latin typeface="Calibri"/>
                          <a:ea typeface="Calibri"/>
                          <a:cs typeface="Calibri"/>
                        </a:rPr>
                        <a:t>RUL MAE (cycles)</a:t>
                      </a:r>
                    </a:p>
                  </a:txBody>
                  <a:tcPr marL="91440" marR="91440" marT="45720" marB="45720">
                    <a:solidFill>
                      <a:srgbClr val="13355E"/>
                    </a:solidFill>
                  </a:tcPr>
                </a:tc>
                <a:tc>
                  <a:txBody>
                    <a:bodyPr>
                      <a:normAutofit/>
                    </a:bodyPr>
                    <a:lstStyle/>
                    <a:p>
                      <a:r>
                        <a:rPr sz="1050" b="1">
                          <a:solidFill>
                            <a:srgbClr val="FFFFFF"/>
                          </a:solidFill>
                          <a:latin typeface="Calibri"/>
                          <a:ea typeface="Calibri"/>
                          <a:cs typeface="Calibri"/>
                        </a:rPr>
                        <a:t>SOH R²</a:t>
                      </a:r>
                    </a:p>
                  </a:txBody>
                  <a:tcPr marL="91440" marR="91440" marT="45720" marB="45720">
                    <a:solidFill>
                      <a:srgbClr val="13355E"/>
                    </a:solidFill>
                  </a:tcPr>
                </a:tc>
              </a:tr>
              <a:tr h="452438">
                <a:tc>
                  <a:txBody>
                    <a:bodyPr>
                      <a:normAutofit/>
                    </a:bodyPr>
                    <a:lstStyle/>
                    <a:p>
                      <a:r>
                        <a:rPr sz="1050" b="1">
                          <a:solidFill>
                            <a:srgbClr val="0B2545"/>
                          </a:solidFill>
                          <a:latin typeface="Calibri"/>
                          <a:ea typeface="Calibri"/>
                          <a:cs typeface="Calibri"/>
                        </a:rPr>
                        <a:t>DNN</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11.05 ± 0.25</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37.04 ± 6.18</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-6.43</a:t>
                      </a:r>
                    </a:p>
                  </a:txBody>
                  <a:tcPr marL="91440" marR="91440" marT="45720" marB="45720">
                    <a:solidFill>
                      <a:srgbClr val="FFFFFF"/>
                    </a:solidFill>
                  </a:tcPr>
                </a:tc>
              </a:tr>
              <a:tr h="452438">
                <a:tc>
                  <a:txBody>
                    <a:bodyPr>
                      <a:normAutofit/>
                    </a:bodyPr>
                    <a:lstStyle/>
                    <a:p>
                      <a:r>
                        <a:rPr sz="1050" b="1">
                          <a:solidFill>
                            <a:srgbClr val="0B2545"/>
                          </a:solidFill>
                          <a:latin typeface="Calibri"/>
                          <a:ea typeface="Calibri"/>
                          <a:cs typeface="Calibri"/>
                        </a:rPr>
                        <a:t>GRU</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10.52 ± 1.03</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36.39 ± 4.95</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-1.87</a:t>
                      </a:r>
                    </a:p>
                  </a:txBody>
                  <a:tcPr marL="91440" marR="91440" marT="45720" marB="45720">
                    <a:solidFill>
                      <a:srgbClr val="F4F8FA"/>
                    </a:solidFill>
                  </a:tcPr>
                </a:tc>
              </a:tr>
              <a:tr h="452438">
                <a:tc>
                  <a:txBody>
                    <a:bodyPr>
                      <a:normAutofit/>
                    </a:bodyPr>
                    <a:lstStyle/>
                    <a:p>
                      <a:r>
                        <a:rPr sz="1050" b="1">
                          <a:solidFill>
                            <a:srgbClr val="0B2545"/>
                          </a:solidFill>
                          <a:latin typeface="Calibri"/>
                          <a:ea typeface="Calibri"/>
                          <a:cs typeface="Calibri"/>
                        </a:rPr>
                        <a:t>Transformer-only</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11.50 ± 0.56</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43.98 ± 9.94</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-6.57</a:t>
                      </a:r>
                    </a:p>
                  </a:txBody>
                  <a:tcPr marL="91440" marR="91440" marT="45720" marB="45720">
                    <a:solidFill>
                      <a:srgbClr val="FFFFFF"/>
                    </a:solidFill>
                  </a:tcPr>
                </a:tc>
              </a:tr>
              <a:tr h="452438">
                <a:tc>
                  <a:txBody>
                    <a:bodyPr>
                      <a:normAutofit/>
                    </a:bodyPr>
                    <a:lstStyle/>
                    <a:p>
                      <a:r>
                        <a:rPr sz="1050" b="1">
                          <a:solidFill>
                            <a:srgbClr val="0B2545"/>
                          </a:solidFill>
                          <a:latin typeface="Calibri"/>
                          <a:ea typeface="Calibri"/>
                          <a:cs typeface="Calibri"/>
                        </a:rPr>
                        <a:t>PINN without adaptation</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7.76 ± 1.42</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38.15 ± 4.59</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-3.86</a:t>
                      </a:r>
                    </a:p>
                  </a:txBody>
                  <a:tcPr marL="91440" marR="91440" marT="45720" marB="45720">
                    <a:solidFill>
                      <a:srgbClr val="F4F8FA"/>
                    </a:solidFill>
                  </a:tcPr>
                </a:tc>
              </a:tr>
              <a:tr h="452438">
                <a:tc>
                  <a:txBody>
                    <a:bodyPr>
                      <a:normAutofit/>
                    </a:bodyPr>
                    <a:lstStyle/>
                    <a:p>
                      <a:r>
                        <a:rPr sz="1050" b="1">
                          <a:solidFill>
                            <a:srgbClr val="0B2545"/>
                          </a:solidFill>
                          <a:latin typeface="Calibri"/>
                          <a:ea typeface="Calibri"/>
                          <a:cs typeface="Calibri"/>
                        </a:rPr>
                        <a:t>Adaptive twin</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10.05 ± 1.46</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38.36 ± 3.39</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-4.48</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D2C012A-F22A-4B97-9EF3-E3BA7A6CCDE3}"/>
              </a:ext>
            </a:extLst>
          </p:cNvPr>
          <p:cNvSpPr>
            <a:spLocks xmlns:a="http://schemas.openxmlformats.org/drawingml/2006/main" noGrp="1"/>
          </p:cNvSpPr>
          <p:nvPr/>
        </p:nvSpPr>
        <p:spPr>
          <a:xfrm xmlns:a="http://schemas.openxmlformats.org/drawingml/2006/main">
            <a:off x="552450" y="5000625"/>
            <a:ext cx="5334000" cy="762000"/>
          </a:xfrm>
          <a:prstGeom xmlns:a="http://schemas.openxmlformats.org/drawingml/2006/main" prst="roundRect">
            <a:avLst>
              <a:gd name="adj" fmla="val 10000"/>
            </a:avLst>
          </a:prstGeom>
          <a:solidFill xmlns:a="http://schemas.openxmlformats.org/drawingml/2006/main">
            <a:srgbClr val="0B2545"/>
          </a:solidFill>
          <a:ln xmlns:a="http://schemas.openxmlformats.org/drawingml/2006/main" w="9525">
            <a:solidFill>
              <a:srgbClr val="0B2545"/>
            </a:solid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C24DDB2-B3CF-45F0-A11B-C4E2351778D0}"/>
              </a:ext>
            </a:extLst>
          </p:cNvPr>
          <p:cNvSpPr>
            <a:spLocks xmlns:a="http://schemas.openxmlformats.org/drawingml/2006/main" noGrp="1"/>
          </p:cNvSpPr>
          <p:nvPr/>
        </p:nvSpPr>
        <p:spPr>
          <a:xfrm xmlns:a="http://schemas.openxmlformats.org/drawingml/2006/main">
            <a:off x="781050" y="5191125"/>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buNone/>
              <a:defRPr sz="1050" b="1" i="0">
                <a:solidFill>
                  <a:srgbClr val="00A896"/>
                </a:solidFill>
                <a:latin typeface="Calibri"/>
                <a:ea typeface="Calibri"/>
                <a:cs typeface="Calibri"/>
              </a:defRPr>
            </a:pPr>
            <a:r>
              <a:rPr sz="1050" b="1" i="0">
                <a:solidFill>
                  <a:srgbClr val="00A896"/>
                </a:solidFill>
                <a:latin typeface="Calibri"/>
                <a:ea typeface="Calibri"/>
                <a:cs typeface="Calibri"/>
              </a:rPr>
              <a:t>Adaptive twin</a:t>
            </a:r>
          </a:p>
        </p:txBody>
      </p:sp>
      <p:sp>
        <p:nvSpPr>
          <p:cNvPr id="7" name="">
            <a:extLst xmlns:a="http://schemas.openxmlformats.org/drawingml/2006/main">
              <a:ext uri="{FF2B5EF4-FFF2-40B4-BE49-F238E27FC236}">
                <a16:creationId xmlns:a16="http://schemas.microsoft.com/office/drawing/2014/main" id="{D5304D59-FF9F-4144-82EA-717F33132CA0}"/>
              </a:ext>
            </a:extLst>
          </p:cNvPr>
          <p:cNvSpPr>
            <a:spLocks xmlns:a="http://schemas.openxmlformats.org/drawingml/2006/main" noGrp="1"/>
          </p:cNvSpPr>
          <p:nvPr/>
        </p:nvSpPr>
        <p:spPr>
          <a:xfrm xmlns:a="http://schemas.openxmlformats.org/drawingml/2006/main">
            <a:off x="781050" y="54292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0784"/>
          </a:bodyPr>
          <a:lstStyle xmlns:a="http://schemas.openxmlformats.org/drawingml/2006/main"/>
          <a:p xmlns:a="http://schemas.openxmlformats.org/drawingml/2006/main">
            <a:pPr>
              <a:buNone/>
              <a:defRPr sz="1275" b="1" i="0">
                <a:solidFill>
                  <a:srgbClr val="FFFFFF"/>
                </a:solidFill>
                <a:latin typeface="Calibri"/>
                <a:ea typeface="Calibri"/>
                <a:cs typeface="Calibri"/>
              </a:defRPr>
            </a:pPr>
            <a:r>
              <a:rPr sz="1275" b="1" i="0">
                <a:solidFill>
                  <a:srgbClr val="FFFFFF"/>
                </a:solidFill>
                <a:latin typeface="Calibri"/>
                <a:ea typeface="Calibri"/>
                <a:cs typeface="Calibri"/>
              </a:rPr>
              <a:t>10.05 ± 1.46 SOH MAE  ·  38.36 ± 3.39 RUL MAE</a:t>
            </a:r>
          </a:p>
        </p:txBody>
      </p:sp>
      <p:sp>
        <p:nvSpPr>
          <p:cNvPr id="8" name="">
            <a:extLst xmlns:a="http://schemas.openxmlformats.org/drawingml/2006/main">
              <a:ext uri="{FF2B5EF4-FFF2-40B4-BE49-F238E27FC236}">
                <a16:creationId xmlns:a16="http://schemas.microsoft.com/office/drawing/2014/main" id="{D6DE2202-071A-470B-8605-C2A4B1E7193D}"/>
              </a:ext>
            </a:extLst>
          </p:cNvPr>
          <p:cNvSpPr>
            <a:spLocks xmlns:a="http://schemas.openxmlformats.org/drawingml/2006/main" noGrp="1"/>
          </p:cNvSpPr>
          <p:nvPr/>
        </p:nvSpPr>
        <p:spPr>
          <a:xfrm xmlns:a="http://schemas.openxmlformats.org/drawingml/2006/main">
            <a:off x="6191250" y="5000625"/>
            <a:ext cx="5457825" cy="762000"/>
          </a:xfrm>
          <a:prstGeom xmlns:a="http://schemas.openxmlformats.org/drawingml/2006/main" prst="roundRect">
            <a:avLst>
              <a:gd name="adj" fmla="val 10000"/>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965883BA-8D82-4655-964C-BA91A6122983}"/>
              </a:ext>
            </a:extLst>
          </p:cNvPr>
          <p:cNvSpPr>
            <a:spLocks xmlns:a="http://schemas.openxmlformats.org/drawingml/2006/main" noGrp="1"/>
          </p:cNvSpPr>
          <p:nvPr/>
        </p:nvSpPr>
        <p:spPr>
          <a:xfrm xmlns:a="http://schemas.openxmlformats.org/drawingml/2006/main">
            <a:off x="6429375" y="5191125"/>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buNone/>
              <a:defRPr sz="1050" b="1" i="0">
                <a:solidFill>
                  <a:srgbClr val="028090"/>
                </a:solidFill>
                <a:latin typeface="Calibri"/>
                <a:ea typeface="Calibri"/>
                <a:cs typeface="Calibri"/>
              </a:defRPr>
            </a:pPr>
            <a:r>
              <a:rPr sz="1050" b="1" i="0">
                <a:solidFill>
                  <a:srgbClr val="028090"/>
                </a:solidFill>
                <a:latin typeface="Calibri"/>
                <a:ea typeface="Calibri"/>
                <a:cs typeface="Calibri"/>
              </a:rPr>
              <a:t>Best frozen SOH row</a:t>
            </a:r>
          </a:p>
        </p:txBody>
      </p:sp>
      <p:sp>
        <p:nvSpPr>
          <p:cNvPr id="10" name="">
            <a:extLst xmlns:a="http://schemas.openxmlformats.org/drawingml/2006/main">
              <a:ext uri="{FF2B5EF4-FFF2-40B4-BE49-F238E27FC236}">
                <a16:creationId xmlns:a16="http://schemas.microsoft.com/office/drawing/2014/main" id="{FFEA019F-4375-4657-810F-8BE827F65703}"/>
              </a:ext>
            </a:extLst>
          </p:cNvPr>
          <p:cNvSpPr>
            <a:spLocks xmlns:a="http://schemas.openxmlformats.org/drawingml/2006/main" noGrp="1"/>
          </p:cNvSpPr>
          <p:nvPr/>
        </p:nvSpPr>
        <p:spPr>
          <a:xfrm xmlns:a="http://schemas.openxmlformats.org/drawingml/2006/main">
            <a:off x="6429375" y="542925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0784"/>
          </a:bodyPr>
          <a:lstStyle xmlns:a="http://schemas.openxmlformats.org/drawingml/2006/main"/>
          <a:p xmlns:a="http://schemas.openxmlformats.org/drawingml/2006/main">
            <a:pPr>
              <a:buNone/>
              <a:defRPr sz="1275" b="1" i="0">
                <a:solidFill>
                  <a:srgbClr val="0B2545"/>
                </a:solidFill>
                <a:latin typeface="Calibri"/>
                <a:ea typeface="Calibri"/>
                <a:cs typeface="Calibri"/>
              </a:defRPr>
            </a:pPr>
            <a:r>
              <a:rPr sz="1275" b="1" i="0">
                <a:solidFill>
                  <a:srgbClr val="0B2545"/>
                </a:solidFill>
                <a:latin typeface="Calibri"/>
                <a:ea typeface="Calibri"/>
                <a:cs typeface="Calibri"/>
              </a:rPr>
              <a:t>PINN: 7.76 ± 1.42 SOH MAE</a:t>
            </a:r>
          </a:p>
        </p:txBody>
      </p:sp>
      <p:sp>
        <p:nvSpPr>
          <p:cNvPr id="11" name="">
            <a:extLst xmlns:a="http://schemas.openxmlformats.org/drawingml/2006/main">
              <a:ext uri="{FF2B5EF4-FFF2-40B4-BE49-F238E27FC236}">
                <a16:creationId xmlns:a16="http://schemas.microsoft.com/office/drawing/2014/main" id="{6EA24A7B-1643-4898-9115-A20BD9C68724}"/>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12" name="">
            <a:extLst xmlns:a="http://schemas.openxmlformats.org/drawingml/2006/main">
              <a:ext uri="{FF2B5EF4-FFF2-40B4-BE49-F238E27FC236}">
                <a16:creationId xmlns:a16="http://schemas.microsoft.com/office/drawing/2014/main" id="{396F293B-C6C3-4CB1-896F-A1A864828C84}"/>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17 / 21</a:t>
            </a:r>
          </a:p>
        </p:txBody>
      </p:sp>
    </p:spTree>
    <p:extLst>
      <p:ext uri="{BB962C8B-B14F-4D97-AF65-F5344CB8AC3E}">
        <p14:creationId xmlns:p14="http://schemas.microsoft.com/office/powerpoint/2010/main" val="9240612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C5BDA6D-7C40-4241-B5C9-54D6F7F0FF7C}"/>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28090"/>
                </a:solidFill>
                <a:latin typeface="Calibri"/>
                <a:ea typeface="Calibri"/>
                <a:cs typeface="Calibri"/>
              </a:defRPr>
            </a:pPr>
            <a:r>
              <a:rPr sz="900" b="1" i="0">
                <a:solidFill>
                  <a:srgbClr val="028090"/>
                </a:solidFill>
                <a:latin typeface="Calibri"/>
                <a:ea typeface="Calibri"/>
                <a:cs typeface="Calibri"/>
              </a:rPr>
              <a:t>PHASE II · ABLATIONS</a:t>
            </a:r>
          </a:p>
        </p:txBody>
      </p:sp>
      <p:sp>
        <p:nvSpPr>
          <p:cNvPr id="2" name="">
            <a:extLst xmlns:a="http://schemas.openxmlformats.org/drawingml/2006/main">
              <a:ext uri="{FF2B5EF4-FFF2-40B4-BE49-F238E27FC236}">
                <a16:creationId xmlns:a16="http://schemas.microsoft.com/office/drawing/2014/main" id="{04FB5BD6-928E-4FE8-A9A5-D75D2A39EFCF}"/>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0B2545"/>
                </a:solidFill>
                <a:latin typeface="Cambria"/>
                <a:ea typeface="Cambria"/>
                <a:cs typeface="Cambria"/>
              </a:defRPr>
            </a:pPr>
            <a:r>
              <a:rPr sz="2325" b="1" i="0">
                <a:solidFill>
                  <a:srgbClr val="0B2545"/>
                </a:solidFill>
                <a:latin typeface="Cambria"/>
                <a:ea typeface="Cambria"/>
                <a:cs typeface="Cambria"/>
              </a:rPr>
              <a:t>Replay adaptation delivered the low-cost online update</a:t>
            </a:r>
          </a:p>
        </p:txBody>
      </p:sp>
      <p:sp>
        <p:nvSpPr>
          <p:cNvPr id="3" name="">
            <a:extLst xmlns:a="http://schemas.openxmlformats.org/drawingml/2006/main">
              <a:ext uri="{FF2B5EF4-FFF2-40B4-BE49-F238E27FC236}">
                <a16:creationId xmlns:a16="http://schemas.microsoft.com/office/drawing/2014/main" id="{F48A6C4A-2C1E-45B4-A21D-EB187E4B1EDD}"/>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5B6B79"/>
                </a:solidFill>
                <a:latin typeface="Calibri"/>
                <a:ea typeface="Calibri"/>
                <a:cs typeface="Calibri"/>
              </a:defRPr>
            </a:pPr>
            <a:r>
              <a:rPr sz="1125" b="0" i="0">
                <a:solidFill>
                  <a:srgbClr val="5B6B79"/>
                </a:solidFill>
                <a:latin typeface="Calibri"/>
                <a:ea typeface="Calibri"/>
                <a:cs typeface="Calibri"/>
              </a:rPr>
              <a:t>The ablation table shows which components mattered in the ordered B0018 stream.</a:t>
            </a:r>
          </a:p>
        </p:txBody>
      </p:sp>
      <p:graphicFrame>
        <p:nvGraphicFramePr>
          <p:cNvPr id="24" name=""/>
          <p:cNvGraphicFramePr/>
          <p:nvPr/>
        </p:nvGraphicFramePr>
        <p:xfrm>
          <a:off xmlns:a="http://schemas.openxmlformats.org/drawingml/2006/main" x="552450" y="1905000"/>
          <a:ext xmlns:a="http://schemas.openxmlformats.org/drawingml/2006/main" cx="11096625" cy="2952750"/>
        </p:xfrm>
        <a:graphic xmlns:a="http://schemas.openxmlformats.org/drawingml/2006/main">
          <a:graphicData uri="http://schemas.openxmlformats.org/drawingml/2006/table">
            <a:tbl>
              <a:tblPr firstRow="1" bandRow="1"/>
              <a:tblGrid>
                <a:gridCol w="3048000"/>
                <a:gridCol w="2095500"/>
                <a:gridCol w="2095500"/>
                <a:gridCol w="1714500"/>
                <a:gridCol w="2143125"/>
              </a:tblGrid>
              <a:tr h="421821">
                <a:tc>
                  <a:txBody>
                    <a:bodyPr>
                      <a:normAutofit/>
                    </a:bodyPr>
                    <a:lstStyle/>
                    <a:p>
                      <a:r>
                        <a:rPr sz="975" b="1">
                          <a:solidFill>
                            <a:srgbClr val="FFFFFF"/>
                          </a:solidFill>
                          <a:latin typeface="Calibri"/>
                          <a:ea typeface="Calibri"/>
                          <a:cs typeface="Calibri"/>
                        </a:rPr>
                        <a:t>Variant</a:t>
                      </a:r>
                    </a:p>
                  </a:txBody>
                  <a:tcPr marL="91440" marR="91440" marT="45720" marB="45720">
                    <a:solidFill>
                      <a:srgbClr val="13355E"/>
                    </a:solidFill>
                  </a:tcPr>
                </a:tc>
                <a:tc>
                  <a:txBody>
                    <a:bodyPr>
                      <a:normAutofit/>
                    </a:bodyPr>
                    <a:lstStyle/>
                    <a:p>
                      <a:r>
                        <a:rPr sz="975" b="1">
                          <a:solidFill>
                            <a:srgbClr val="FFFFFF"/>
                          </a:solidFill>
                          <a:latin typeface="Calibri"/>
                          <a:ea typeface="Calibri"/>
                          <a:cs typeface="Calibri"/>
                        </a:rPr>
                        <a:t>Post-shift SOH MAE</a:t>
                      </a:r>
                    </a:p>
                  </a:txBody>
                  <a:tcPr marL="91440" marR="91440" marT="45720" marB="45720">
                    <a:solidFill>
                      <a:srgbClr val="13355E"/>
                    </a:solidFill>
                  </a:tcPr>
                </a:tc>
                <a:tc>
                  <a:txBody>
                    <a:bodyPr>
                      <a:normAutofit/>
                    </a:bodyPr>
                    <a:lstStyle/>
                    <a:p>
                      <a:r>
                        <a:rPr sz="975" b="1">
                          <a:solidFill>
                            <a:srgbClr val="FFFFFF"/>
                          </a:solidFill>
                          <a:latin typeface="Calibri"/>
                          <a:ea typeface="Calibri"/>
                          <a:cs typeface="Calibri"/>
                        </a:rPr>
                        <a:t>Improvement</a:t>
                      </a:r>
                    </a:p>
                  </a:txBody>
                  <a:tcPr marL="91440" marR="91440" marT="45720" marB="45720">
                    <a:solidFill>
                      <a:srgbClr val="13355E"/>
                    </a:solidFill>
                  </a:tcPr>
                </a:tc>
                <a:tc>
                  <a:txBody>
                    <a:bodyPr>
                      <a:normAutofit/>
                    </a:bodyPr>
                    <a:lstStyle/>
                    <a:p>
                      <a:r>
                        <a:rPr sz="975" b="1">
                          <a:solidFill>
                            <a:srgbClr val="FFFFFF"/>
                          </a:solidFill>
                          <a:latin typeface="Calibri"/>
                          <a:ea typeface="Calibri"/>
                          <a:cs typeface="Calibri"/>
                        </a:rPr>
                        <a:t>Work</a:t>
                      </a:r>
                    </a:p>
                  </a:txBody>
                  <a:tcPr marL="91440" marR="91440" marT="45720" marB="45720">
                    <a:solidFill>
                      <a:srgbClr val="13355E"/>
                    </a:solidFill>
                  </a:tcPr>
                </a:tc>
                <a:tc>
                  <a:txBody>
                    <a:bodyPr>
                      <a:normAutofit/>
                    </a:bodyPr>
                    <a:lstStyle/>
                    <a:p>
                      <a:r>
                        <a:rPr sz="975" b="1">
                          <a:solidFill>
                            <a:srgbClr val="FFFFFF"/>
                          </a:solidFill>
                          <a:latin typeface="Calibri"/>
                          <a:ea typeface="Calibri"/>
                          <a:cs typeface="Calibri"/>
                        </a:rPr>
                        <a:t>Events</a:t>
                      </a:r>
                    </a:p>
                  </a:txBody>
                  <a:tcPr marL="91440" marR="91440" marT="45720" marB="45720">
                    <a:solidFill>
                      <a:srgbClr val="13355E"/>
                    </a:solidFill>
                  </a:tcPr>
                </a:tc>
              </a:tr>
              <a:tr h="421821">
                <a:tc>
                  <a:txBody>
                    <a:bodyPr>
                      <a:normAutofit/>
                    </a:bodyPr>
                    <a:lstStyle/>
                    <a:p>
                      <a:r>
                        <a:rPr sz="975" b="1">
                          <a:solidFill>
                            <a:srgbClr val="0B2545"/>
                          </a:solidFill>
                          <a:latin typeface="Calibri"/>
                          <a:ea typeface="Calibri"/>
                          <a:cs typeface="Calibri"/>
                        </a:rPr>
                        <a:t>Proposed adaptive</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1.74</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80.63%</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8.75%</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7</a:t>
                      </a:r>
                    </a:p>
                  </a:txBody>
                  <a:tcPr marL="91440" marR="91440" marT="45720" marB="45720">
                    <a:solidFill>
                      <a:srgbClr val="FFFFFF"/>
                    </a:solidFill>
                  </a:tcPr>
                </a:tc>
              </a:tr>
              <a:tr h="421821">
                <a:tc>
                  <a:txBody>
                    <a:bodyPr>
                      <a:normAutofit/>
                    </a:bodyPr>
                    <a:lstStyle/>
                    <a:p>
                      <a:r>
                        <a:rPr sz="975" b="1">
                          <a:solidFill>
                            <a:srgbClr val="0B2545"/>
                          </a:solidFill>
                          <a:latin typeface="Calibri"/>
                          <a:ea typeface="Calibri"/>
                          <a:cs typeface="Calibri"/>
                        </a:rPr>
                        <a:t>No physics</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1.23</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86.98%</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8.75%</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7</a:t>
                      </a:r>
                    </a:p>
                  </a:txBody>
                  <a:tcPr marL="91440" marR="91440" marT="45720" marB="45720">
                    <a:solidFill>
                      <a:srgbClr val="F4F8FA"/>
                    </a:solidFill>
                  </a:tcPr>
                </a:tc>
              </a:tr>
              <a:tr h="421821">
                <a:tc>
                  <a:txBody>
                    <a:bodyPr>
                      <a:normAutofit/>
                    </a:bodyPr>
                    <a:lstStyle/>
                    <a:p>
                      <a:r>
                        <a:rPr sz="975" b="1">
                          <a:solidFill>
                            <a:srgbClr val="0B2545"/>
                          </a:solidFill>
                          <a:latin typeface="Calibri"/>
                          <a:ea typeface="Calibri"/>
                          <a:cs typeface="Calibri"/>
                        </a:rPr>
                        <a:t>No Transformer</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4.09</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50.39%</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8.75%</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7</a:t>
                      </a:r>
                    </a:p>
                  </a:txBody>
                  <a:tcPr marL="91440" marR="91440" marT="45720" marB="45720">
                    <a:solidFill>
                      <a:srgbClr val="FFFFFF"/>
                    </a:solidFill>
                  </a:tcPr>
                </a:tc>
              </a:tr>
              <a:tr h="421821">
                <a:tc>
                  <a:txBody>
                    <a:bodyPr>
                      <a:normAutofit/>
                    </a:bodyPr>
                    <a:lstStyle/>
                    <a:p>
                      <a:r>
                        <a:rPr sz="975" b="1">
                          <a:solidFill>
                            <a:srgbClr val="0B2545"/>
                          </a:solidFill>
                          <a:latin typeface="Calibri"/>
                          <a:ea typeface="Calibri"/>
                          <a:cs typeface="Calibri"/>
                        </a:rPr>
                        <a:t>No replay</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3.97</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53.23%</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8.75%</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7</a:t>
                      </a:r>
                    </a:p>
                  </a:txBody>
                  <a:tcPr marL="91440" marR="91440" marT="45720" marB="45720">
                    <a:solidFill>
                      <a:srgbClr val="F4F8FA"/>
                    </a:solidFill>
                  </a:tcPr>
                </a:tc>
              </a:tr>
              <a:tr h="421821">
                <a:tc>
                  <a:txBody>
                    <a:bodyPr>
                      <a:normAutofit/>
                    </a:bodyPr>
                    <a:lstStyle/>
                    <a:p>
                      <a:r>
                        <a:rPr sz="975" b="1">
                          <a:solidFill>
                            <a:srgbClr val="0B2545"/>
                          </a:solidFill>
                          <a:latin typeface="Calibri"/>
                          <a:ea typeface="Calibri"/>
                          <a:cs typeface="Calibri"/>
                        </a:rPr>
                        <a:t>No drift detection</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1.59</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81.91%</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15.00%</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12</a:t>
                      </a:r>
                    </a:p>
                  </a:txBody>
                  <a:tcPr marL="91440" marR="91440" marT="45720" marB="45720">
                    <a:solidFill>
                      <a:srgbClr val="FFFFFF"/>
                    </a:solidFill>
                  </a:tcPr>
                </a:tc>
              </a:tr>
              <a:tr h="421821">
                <a:tc>
                  <a:txBody>
                    <a:bodyPr>
                      <a:normAutofit/>
                    </a:bodyPr>
                    <a:lstStyle/>
                    <a:p>
                      <a:r>
                        <a:rPr sz="975" b="1">
                          <a:solidFill>
                            <a:srgbClr val="0B2545"/>
                          </a:solidFill>
                          <a:latin typeface="Calibri"/>
                          <a:ea typeface="Calibri"/>
                          <a:cs typeface="Calibri"/>
                        </a:rPr>
                        <a:t>Full retraining</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1.58</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Reference</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100.00%</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a:t>
                      </a:r>
                    </a:p>
                  </a:txBody>
                  <a:tcPr marL="91440" marR="91440" marT="45720" marB="45720">
                    <a:solidFill>
                      <a:srgbClr val="F4F8FA"/>
                    </a:solidFill>
                  </a:tcPr>
                </a:tc>
              </a:tr>
            </a:tbl>
          </a:graphicData>
        </a:graphic>
      </p:graphicFrame>
      <p:sp>
        <p:nvSpPr>
          <p:cNvPr id="5" name="">
            <a:extLst xmlns:a="http://schemas.openxmlformats.org/drawingml/2006/main">
              <a:ext uri="{FF2B5EF4-FFF2-40B4-BE49-F238E27FC236}">
                <a16:creationId xmlns:a16="http://schemas.microsoft.com/office/drawing/2014/main" id="{E26CE98B-12E1-488C-BAA9-3FFA9E2EA7F7}"/>
              </a:ext>
            </a:extLst>
          </p:cNvPr>
          <p:cNvSpPr>
            <a:spLocks xmlns:a="http://schemas.openxmlformats.org/drawingml/2006/main" noGrp="1"/>
          </p:cNvSpPr>
          <p:nvPr/>
        </p:nvSpPr>
        <p:spPr>
          <a:xfrm xmlns:a="http://schemas.openxmlformats.org/drawingml/2006/main">
            <a:off x="552450" y="5191125"/>
            <a:ext cx="2524125"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370C91AC-B096-4D7D-8A3C-52F300E3462C}"/>
              </a:ext>
            </a:extLst>
          </p:cNvPr>
          <p:cNvSpPr>
            <a:spLocks xmlns:a="http://schemas.openxmlformats.org/drawingml/2006/main" noGrp="1"/>
          </p:cNvSpPr>
          <p:nvPr/>
        </p:nvSpPr>
        <p:spPr>
          <a:xfrm xmlns:a="http://schemas.openxmlformats.org/drawingml/2006/main">
            <a:off x="704850" y="5305425"/>
            <a:ext cx="22193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TARGET 1</a:t>
            </a:r>
          </a:p>
        </p:txBody>
      </p:sp>
      <p:sp>
        <p:nvSpPr>
          <p:cNvPr id="7" name="">
            <a:extLst xmlns:a="http://schemas.openxmlformats.org/drawingml/2006/main">
              <a:ext uri="{FF2B5EF4-FFF2-40B4-BE49-F238E27FC236}">
                <a16:creationId xmlns:a16="http://schemas.microsoft.com/office/drawing/2014/main" id="{623F75D0-065D-4257-96D1-E3D01B6B61B5}"/>
              </a:ext>
            </a:extLst>
          </p:cNvPr>
          <p:cNvSpPr>
            <a:spLocks xmlns:a="http://schemas.openxmlformats.org/drawingml/2006/main" noGrp="1"/>
          </p:cNvSpPr>
          <p:nvPr/>
        </p:nvSpPr>
        <p:spPr>
          <a:xfrm xmlns:a="http://schemas.openxmlformats.org/drawingml/2006/main">
            <a:off x="704850" y="5495925"/>
            <a:ext cx="2219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147D64"/>
                </a:solidFill>
                <a:latin typeface="Cambria"/>
                <a:ea typeface="Cambria"/>
                <a:cs typeface="Cambria"/>
              </a:defRPr>
            </a:pPr>
            <a:r>
              <a:rPr sz="1650" b="1" i="0">
                <a:solidFill>
                  <a:srgbClr val="147D64"/>
                </a:solidFill>
                <a:latin typeface="Cambria"/>
                <a:ea typeface="Cambria"/>
                <a:cs typeface="Cambria"/>
              </a:rPr>
              <a:t>80.63% improvement</a:t>
            </a:r>
          </a:p>
        </p:txBody>
      </p:sp>
      <p:sp>
        <p:nvSpPr>
          <p:cNvPr id="8" name="">
            <a:extLst xmlns:a="http://schemas.openxmlformats.org/drawingml/2006/main">
              <a:ext uri="{FF2B5EF4-FFF2-40B4-BE49-F238E27FC236}">
                <a16:creationId xmlns:a16="http://schemas.microsoft.com/office/drawing/2014/main" id="{30037063-3135-437D-8729-FF3BB0F1E70E}"/>
              </a:ext>
            </a:extLst>
          </p:cNvPr>
          <p:cNvSpPr>
            <a:spLocks xmlns:a="http://schemas.openxmlformats.org/drawingml/2006/main" noGrp="1"/>
          </p:cNvSpPr>
          <p:nvPr/>
        </p:nvSpPr>
        <p:spPr>
          <a:xfrm xmlns:a="http://schemas.openxmlformats.org/drawingml/2006/main">
            <a:off x="3238500" y="5191125"/>
            <a:ext cx="21907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4BEF53D5-7B3C-4E79-B12C-FCF3BCE8C3A0}"/>
              </a:ext>
            </a:extLst>
          </p:cNvPr>
          <p:cNvSpPr>
            <a:spLocks xmlns:a="http://schemas.openxmlformats.org/drawingml/2006/main" noGrp="1"/>
          </p:cNvSpPr>
          <p:nvPr/>
        </p:nvSpPr>
        <p:spPr>
          <a:xfrm xmlns:a="http://schemas.openxmlformats.org/drawingml/2006/main">
            <a:off x="3390900" y="5305425"/>
            <a:ext cx="1885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TARGET 2</a:t>
            </a:r>
          </a:p>
        </p:txBody>
      </p:sp>
      <p:sp>
        <p:nvSpPr>
          <p:cNvPr id="10" name="">
            <a:extLst xmlns:a="http://schemas.openxmlformats.org/drawingml/2006/main">
              <a:ext uri="{FF2B5EF4-FFF2-40B4-BE49-F238E27FC236}">
                <a16:creationId xmlns:a16="http://schemas.microsoft.com/office/drawing/2014/main" id="{600C07B1-1D1D-45DB-B4E4-43DD300E64D1}"/>
              </a:ext>
            </a:extLst>
          </p:cNvPr>
          <p:cNvSpPr>
            <a:spLocks xmlns:a="http://schemas.openxmlformats.org/drawingml/2006/main" noGrp="1"/>
          </p:cNvSpPr>
          <p:nvPr/>
        </p:nvSpPr>
        <p:spPr>
          <a:xfrm xmlns:a="http://schemas.openxmlformats.org/drawingml/2006/main">
            <a:off x="3390900" y="5495925"/>
            <a:ext cx="1885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147D64"/>
                </a:solidFill>
                <a:latin typeface="Cambria"/>
                <a:ea typeface="Cambria"/>
                <a:cs typeface="Cambria"/>
              </a:defRPr>
            </a:pPr>
            <a:r>
              <a:rPr sz="1650" b="1" i="0">
                <a:solidFill>
                  <a:srgbClr val="147D64"/>
                </a:solidFill>
                <a:latin typeface="Cambria"/>
                <a:ea typeface="Cambria"/>
                <a:cs typeface="Cambria"/>
              </a:rPr>
              <a:t>8.75% work</a:t>
            </a:r>
          </a:p>
        </p:txBody>
      </p:sp>
      <p:sp>
        <p:nvSpPr>
          <p:cNvPr id="11" name="">
            <a:extLst xmlns:a="http://schemas.openxmlformats.org/drawingml/2006/main">
              <a:ext uri="{FF2B5EF4-FFF2-40B4-BE49-F238E27FC236}">
                <a16:creationId xmlns:a16="http://schemas.microsoft.com/office/drawing/2014/main" id="{54A52B35-4F74-477C-B6D6-261FA8E35679}"/>
              </a:ext>
            </a:extLst>
          </p:cNvPr>
          <p:cNvSpPr>
            <a:spLocks xmlns:a="http://schemas.openxmlformats.org/drawingml/2006/main" noGrp="1"/>
          </p:cNvSpPr>
          <p:nvPr/>
        </p:nvSpPr>
        <p:spPr>
          <a:xfrm xmlns:a="http://schemas.openxmlformats.org/drawingml/2006/main">
            <a:off x="5619750" y="5191125"/>
            <a:ext cx="2524125"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A93F5B34-5309-4D48-A2F6-F9CEF3CC4025}"/>
              </a:ext>
            </a:extLst>
          </p:cNvPr>
          <p:cNvSpPr>
            <a:spLocks xmlns:a="http://schemas.openxmlformats.org/drawingml/2006/main" noGrp="1"/>
          </p:cNvSpPr>
          <p:nvPr/>
        </p:nvSpPr>
        <p:spPr>
          <a:xfrm xmlns:a="http://schemas.openxmlformats.org/drawingml/2006/main">
            <a:off x="5772150" y="5305425"/>
            <a:ext cx="22193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TARGET 3</a:t>
            </a:r>
          </a:p>
        </p:txBody>
      </p:sp>
      <p:sp>
        <p:nvSpPr>
          <p:cNvPr id="13" name="">
            <a:extLst xmlns:a="http://schemas.openxmlformats.org/drawingml/2006/main">
              <a:ext uri="{FF2B5EF4-FFF2-40B4-BE49-F238E27FC236}">
                <a16:creationId xmlns:a16="http://schemas.microsoft.com/office/drawing/2014/main" id="{451BB841-237D-49B4-8704-4E88D6E0CFEB}"/>
              </a:ext>
            </a:extLst>
          </p:cNvPr>
          <p:cNvSpPr>
            <a:spLocks xmlns:a="http://schemas.openxmlformats.org/drawingml/2006/main" noGrp="1"/>
          </p:cNvSpPr>
          <p:nvPr/>
        </p:nvSpPr>
        <p:spPr>
          <a:xfrm xmlns:a="http://schemas.openxmlformats.org/drawingml/2006/main">
            <a:off x="5772150" y="5495925"/>
            <a:ext cx="2219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147D64"/>
                </a:solidFill>
                <a:latin typeface="Cambria"/>
                <a:ea typeface="Cambria"/>
                <a:cs typeface="Cambria"/>
              </a:defRPr>
            </a:pPr>
            <a:r>
              <a:rPr sz="1650" b="1" i="0">
                <a:solidFill>
                  <a:srgbClr val="147D64"/>
                </a:solidFill>
                <a:latin typeface="Cambria"/>
                <a:ea typeface="Cambria"/>
                <a:cs typeface="Cambria"/>
              </a:rPr>
              <a:t>−10.20% forgetting</a:t>
            </a:r>
          </a:p>
        </p:txBody>
      </p:sp>
      <p:sp>
        <p:nvSpPr>
          <p:cNvPr id="14" name="">
            <a:extLst xmlns:a="http://schemas.openxmlformats.org/drawingml/2006/main">
              <a:ext uri="{FF2B5EF4-FFF2-40B4-BE49-F238E27FC236}">
                <a16:creationId xmlns:a16="http://schemas.microsoft.com/office/drawing/2014/main" id="{62AE4F98-D2D7-4A20-A4D1-A74B083EFAE2}"/>
              </a:ext>
            </a:extLst>
          </p:cNvPr>
          <p:cNvSpPr>
            <a:spLocks xmlns:a="http://schemas.openxmlformats.org/drawingml/2006/main" noGrp="1"/>
          </p:cNvSpPr>
          <p:nvPr/>
        </p:nvSpPr>
        <p:spPr>
          <a:xfrm xmlns:a="http://schemas.openxmlformats.org/drawingml/2006/main">
            <a:off x="8334375" y="5191125"/>
            <a:ext cx="23812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B218F065-F79E-40EA-B9E1-E7FED5F361A8}"/>
              </a:ext>
            </a:extLst>
          </p:cNvPr>
          <p:cNvSpPr>
            <a:spLocks xmlns:a="http://schemas.openxmlformats.org/drawingml/2006/main" noGrp="1"/>
          </p:cNvSpPr>
          <p:nvPr/>
        </p:nvSpPr>
        <p:spPr>
          <a:xfrm xmlns:a="http://schemas.openxmlformats.org/drawingml/2006/main">
            <a:off x="8486775" y="5305425"/>
            <a:ext cx="2076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DETECTOR</a:t>
            </a:r>
          </a:p>
        </p:txBody>
      </p:sp>
      <p:sp>
        <p:nvSpPr>
          <p:cNvPr id="16" name="">
            <a:extLst xmlns:a="http://schemas.openxmlformats.org/drawingml/2006/main">
              <a:ext uri="{FF2B5EF4-FFF2-40B4-BE49-F238E27FC236}">
                <a16:creationId xmlns:a16="http://schemas.microsoft.com/office/drawing/2014/main" id="{59DCB3F4-CC40-4945-BBB8-36E64916976C}"/>
              </a:ext>
            </a:extLst>
          </p:cNvPr>
          <p:cNvSpPr>
            <a:spLocks xmlns:a="http://schemas.openxmlformats.org/drawingml/2006/main" noGrp="1"/>
          </p:cNvSpPr>
          <p:nvPr/>
        </p:nvSpPr>
        <p:spPr>
          <a:xfrm xmlns:a="http://schemas.openxmlformats.org/drawingml/2006/main">
            <a:off x="8486775" y="5495925"/>
            <a:ext cx="2076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147D64"/>
                </a:solidFill>
                <a:latin typeface="Cambria"/>
                <a:ea typeface="Cambria"/>
                <a:cs typeface="Cambria"/>
              </a:defRPr>
            </a:pPr>
            <a:r>
              <a:rPr sz="1650" b="1" i="0">
                <a:solidFill>
                  <a:srgbClr val="147D64"/>
                </a:solidFill>
                <a:latin typeface="Cambria"/>
                <a:ea typeface="Cambria"/>
                <a:cs typeface="Cambria"/>
              </a:rPr>
              <a:t>7 updates / seed</a:t>
            </a:r>
          </a:p>
        </p:txBody>
      </p:sp>
      <p:sp>
        <p:nvSpPr>
          <p:cNvPr id="17" name="">
            <a:extLst xmlns:a="http://schemas.openxmlformats.org/drawingml/2006/main">
              <a:ext uri="{FF2B5EF4-FFF2-40B4-BE49-F238E27FC236}">
                <a16:creationId xmlns:a16="http://schemas.microsoft.com/office/drawing/2014/main" id="{EEAD24EA-ACE3-4B25-9285-E3609B950249}"/>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18" name="">
            <a:extLst xmlns:a="http://schemas.openxmlformats.org/drawingml/2006/main">
              <a:ext uri="{FF2B5EF4-FFF2-40B4-BE49-F238E27FC236}">
                <a16:creationId xmlns:a16="http://schemas.microsoft.com/office/drawing/2014/main" id="{B511ABBB-EAA9-4710-943E-123DC7D1EC68}"/>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18 / 21</a:t>
            </a:r>
          </a:p>
        </p:txBody>
      </p:sp>
    </p:spTree>
    <p:extLst>
      <p:ext uri="{BB962C8B-B14F-4D97-AF65-F5344CB8AC3E}">
        <p14:creationId xmlns:p14="http://schemas.microsoft.com/office/powerpoint/2010/main" val="73177120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EE3B64-91D3-4BC4-9BB7-97E8E17F12A0}"/>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28090"/>
                </a:solidFill>
                <a:latin typeface="Calibri"/>
                <a:ea typeface="Calibri"/>
                <a:cs typeface="Calibri"/>
              </a:defRPr>
            </a:pPr>
            <a:r>
              <a:rPr sz="900" b="1" i="0">
                <a:solidFill>
                  <a:srgbClr val="028090"/>
                </a:solidFill>
                <a:latin typeface="Calibri"/>
                <a:ea typeface="Calibri"/>
                <a:cs typeface="Calibri"/>
              </a:rPr>
              <a:t>PHASE II · ROBUSTNESS</a:t>
            </a:r>
          </a:p>
        </p:txBody>
      </p:sp>
      <p:sp>
        <p:nvSpPr>
          <p:cNvPr id="2" name="">
            <a:extLst xmlns:a="http://schemas.openxmlformats.org/drawingml/2006/main">
              <a:ext uri="{FF2B5EF4-FFF2-40B4-BE49-F238E27FC236}">
                <a16:creationId xmlns:a16="http://schemas.microsoft.com/office/drawing/2014/main" id="{492388A7-261F-4B25-906C-87DD89B50CA3}"/>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0B2545"/>
                </a:solidFill>
                <a:latin typeface="Cambria"/>
                <a:ea typeface="Cambria"/>
                <a:cs typeface="Cambria"/>
              </a:defRPr>
            </a:pPr>
            <a:r>
              <a:rPr sz="2325" b="1" i="0">
                <a:solidFill>
                  <a:srgbClr val="0B2545"/>
                </a:solidFill>
                <a:latin typeface="Cambria"/>
                <a:ea typeface="Cambria"/>
                <a:cs typeface="Cambria"/>
              </a:rPr>
              <a:t>The adaptive state remained useful under sensor corruption</a:t>
            </a:r>
          </a:p>
        </p:txBody>
      </p:sp>
      <p:sp>
        <p:nvSpPr>
          <p:cNvPr id="3" name="">
            <a:extLst xmlns:a="http://schemas.openxmlformats.org/drawingml/2006/main">
              <a:ext uri="{FF2B5EF4-FFF2-40B4-BE49-F238E27FC236}">
                <a16:creationId xmlns:a16="http://schemas.microsoft.com/office/drawing/2014/main" id="{0BE2B915-7E8E-418D-AC3B-141D6B351C84}"/>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5B6B79"/>
                </a:solidFill>
                <a:latin typeface="Calibri"/>
                <a:ea typeface="Calibri"/>
                <a:cs typeface="Calibri"/>
              </a:defRPr>
            </a:pPr>
            <a:r>
              <a:rPr sz="1125" b="0" i="0">
                <a:solidFill>
                  <a:srgbClr val="5B6B79"/>
                </a:solidFill>
                <a:latin typeface="Calibri"/>
                <a:ea typeface="Calibri"/>
                <a:cs typeface="Calibri"/>
              </a:rPr>
              <a:t>Robustness scenarios use the same trained proposal and corrupt the ordered stream before adaptation.</a:t>
            </a:r>
          </a:p>
        </p:txBody>
      </p:sp>
      <p:graphicFrame>
        <p:nvGraphicFramePr>
          <p:cNvPr id="17" name=""/>
          <p:cNvGraphicFramePr/>
          <p:nvPr/>
        </p:nvGraphicFramePr>
        <p:xfrm>
          <a:off xmlns:a="http://schemas.openxmlformats.org/drawingml/2006/main" x="552450" y="1857375"/>
          <a:ext xmlns:a="http://schemas.openxmlformats.org/drawingml/2006/main" cx="6191250" cy="2381250"/>
        </p:xfrm>
        <a:graphic xmlns:a="http://schemas.openxmlformats.org/drawingml/2006/main">
          <a:graphicData uri="http://schemas.openxmlformats.org/drawingml/2006/table">
            <a:tbl>
              <a:tblPr firstRow="1" bandRow="1"/>
              <a:tblGrid>
                <a:gridCol w="2571750"/>
                <a:gridCol w="1333500"/>
                <a:gridCol w="1428750"/>
                <a:gridCol w="857250"/>
              </a:tblGrid>
              <a:tr h="476250">
                <a:tc>
                  <a:txBody>
                    <a:bodyPr>
                      <a:normAutofit/>
                    </a:bodyPr>
                    <a:lstStyle/>
                    <a:p>
                      <a:r>
                        <a:rPr sz="900" b="1">
                          <a:solidFill>
                            <a:srgbClr val="FFFFFF"/>
                          </a:solidFill>
                          <a:latin typeface="Calibri"/>
                          <a:ea typeface="Calibri"/>
                          <a:cs typeface="Calibri"/>
                        </a:rPr>
                        <a:t>Scenario</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Frozen SOH MAE</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Adaptive SOH MAE</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Updates</a:t>
                      </a:r>
                    </a:p>
                  </a:txBody>
                  <a:tcPr marL="91440" marR="91440" marT="45720" marB="45720">
                    <a:solidFill>
                      <a:srgbClr val="13355E"/>
                    </a:solidFill>
                  </a:tcPr>
                </a:tc>
              </a:tr>
              <a:tr h="476250">
                <a:tc>
                  <a:txBody>
                    <a:bodyPr>
                      <a:normAutofit/>
                    </a:bodyPr>
                    <a:lstStyle/>
                    <a:p>
                      <a:r>
                        <a:rPr sz="900" b="1">
                          <a:solidFill>
                            <a:srgbClr val="0B2545"/>
                          </a:solidFill>
                          <a:latin typeface="Calibri"/>
                          <a:ea typeface="Calibri"/>
                          <a:cs typeface="Calibri"/>
                        </a:rPr>
                        <a:t>Clean ordered stream</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8.81</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1.73</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7</a:t>
                      </a:r>
                    </a:p>
                  </a:txBody>
                  <a:tcPr marL="91440" marR="91440" marT="45720" marB="45720">
                    <a:solidFill>
                      <a:srgbClr val="FFFFFF"/>
                    </a:solidFill>
                  </a:tcPr>
                </a:tc>
              </a:tr>
              <a:tr h="476250">
                <a:tc>
                  <a:txBody>
                    <a:bodyPr>
                      <a:normAutofit/>
                    </a:bodyPr>
                    <a:lstStyle/>
                    <a:p>
                      <a:r>
                        <a:rPr sz="900" b="1">
                          <a:solidFill>
                            <a:srgbClr val="0B2545"/>
                          </a:solidFill>
                          <a:latin typeface="Calibri"/>
                          <a:ea typeface="Calibri"/>
                          <a:cs typeface="Calibri"/>
                        </a:rPr>
                        <a:t>Voltage/current/temp noise</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9.02</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1.52</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7</a:t>
                      </a:r>
                    </a:p>
                  </a:txBody>
                  <a:tcPr marL="91440" marR="91440" marT="45720" marB="45720">
                    <a:solidFill>
                      <a:srgbClr val="F4F8FA"/>
                    </a:solidFill>
                  </a:tcPr>
                </a:tc>
              </a:tr>
              <a:tr h="476250">
                <a:tc>
                  <a:txBody>
                    <a:bodyPr>
                      <a:normAutofit/>
                    </a:bodyPr>
                    <a:lstStyle/>
                    <a:p>
                      <a:r>
                        <a:rPr sz="900" b="1">
                          <a:solidFill>
                            <a:srgbClr val="0B2545"/>
                          </a:solidFill>
                          <a:latin typeface="Calibri"/>
                          <a:ea typeface="Calibri"/>
                          <a:cs typeface="Calibri"/>
                        </a:rPr>
                        <a:t>10% missing samples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8.78</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1.51</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7</a:t>
                      </a:r>
                    </a:p>
                  </a:txBody>
                  <a:tcPr marL="91440" marR="91440" marT="45720" marB="45720">
                    <a:solidFill>
                      <a:srgbClr val="FFFFFF"/>
                    </a:solidFill>
                  </a:tcPr>
                </a:tc>
              </a:tr>
              <a:tr h="476250">
                <a:tc>
                  <a:txBody>
                    <a:bodyPr>
                      <a:normAutofit/>
                    </a:bodyPr>
                    <a:lstStyle/>
                    <a:p>
                      <a:r>
                        <a:rPr sz="900" b="1">
                          <a:solidFill>
                            <a:srgbClr val="0B2545"/>
                          </a:solidFill>
                          <a:latin typeface="Calibri"/>
                          <a:ea typeface="Calibri"/>
                          <a:cs typeface="Calibri"/>
                        </a:rPr>
                        <a:t>Sensor drift</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8.88</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1.69</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7</a:t>
                      </a:r>
                    </a:p>
                  </a:txBody>
                  <a:tcPr marL="91440" marR="91440" marT="45720" marB="45720">
                    <a:solidFill>
                      <a:srgbClr val="F4F8FA"/>
                    </a:solidFill>
                  </a:tcPr>
                </a:tc>
              </a:tr>
            </a:tbl>
          </a:graphicData>
        </a:graphic>
      </p:graphicFrame>
      <p:graphicFrame>
        <p:nvGraphicFramePr>
          <p:cNvPr id="18" name=""/>
          <p:cNvGraphicFramePr/>
          <p:nvPr/>
        </p:nvGraphicFramePr>
        <p:xfrm>
          <a:off xmlns:a="http://schemas.openxmlformats.org/drawingml/2006/main" x="7143750" y="1857375"/>
          <a:ext xmlns:a="http://schemas.openxmlformats.org/drawingml/2006/main" cx="4505325" cy="2381250"/>
        </p:xfrm>
        <a:graphic xmlns:a="http://schemas.openxmlformats.org/drawingml/2006/main">
          <a:graphicData uri="http://schemas.openxmlformats.org/drawingml/2006/table">
            <a:tbl>
              <a:tblPr firstRow="1" bandRow="1"/>
              <a:tblGrid>
                <a:gridCol w="2857500"/>
                <a:gridCol w="1647825"/>
              </a:tblGrid>
              <a:tr h="396875">
                <a:tc>
                  <a:txBody>
                    <a:bodyPr>
                      <a:normAutofit/>
                    </a:bodyPr>
                    <a:lstStyle/>
                    <a:p>
                      <a:r>
                        <a:rPr sz="900" b="1">
                          <a:solidFill>
                            <a:srgbClr val="FFFFFF"/>
                          </a:solidFill>
                          <a:latin typeface="Calibri"/>
                          <a:ea typeface="Calibri"/>
                          <a:cs typeface="Calibri"/>
                        </a:rPr>
                        <a:t>Diagnostic</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Mean ± SD</a:t>
                      </a:r>
                    </a:p>
                  </a:txBody>
                  <a:tcPr marL="91440" marR="91440" marT="45720" marB="45720">
                    <a:solidFill>
                      <a:srgbClr val="13355E"/>
                    </a:solidFill>
                  </a:tcPr>
                </a:tc>
              </a:tr>
              <a:tr h="396875">
                <a:tc>
                  <a:txBody>
                    <a:bodyPr>
                      <a:normAutofit/>
                    </a:bodyPr>
                    <a:lstStyle/>
                    <a:p>
                      <a:r>
                        <a:rPr sz="900" b="1">
                          <a:solidFill>
                            <a:srgbClr val="0B2545"/>
                          </a:solidFill>
                          <a:latin typeface="Calibri"/>
                          <a:ea typeface="Calibri"/>
                          <a:cs typeface="Calibri"/>
                        </a:rPr>
                        <a:t>SOH bounds violations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0.00%</a:t>
                      </a:r>
                    </a:p>
                  </a:txBody>
                  <a:tcPr marL="91440" marR="91440" marT="45720" marB="45720">
                    <a:solidFill>
                      <a:srgbClr val="FFFFFF"/>
                    </a:solidFill>
                  </a:tcPr>
                </a:tc>
              </a:tr>
              <a:tr h="396875">
                <a:tc>
                  <a:txBody>
                    <a:bodyPr>
                      <a:normAutofit/>
                    </a:bodyPr>
                    <a:lstStyle/>
                    <a:p>
                      <a:r>
                        <a:rPr sz="900" b="1">
                          <a:solidFill>
                            <a:srgbClr val="0B2545"/>
                          </a:solidFill>
                          <a:latin typeface="Calibri"/>
                          <a:ea typeface="Calibri"/>
                          <a:cs typeface="Calibri"/>
                        </a:rPr>
                        <a:t>Negative RUL</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0.00%</a:t>
                      </a:r>
                    </a:p>
                  </a:txBody>
                  <a:tcPr marL="91440" marR="91440" marT="45720" marB="45720">
                    <a:solidFill>
                      <a:srgbClr val="F4F8FA"/>
                    </a:solidFill>
                  </a:tcPr>
                </a:tc>
              </a:tr>
              <a:tr h="396875">
                <a:tc>
                  <a:txBody>
                    <a:bodyPr>
                      <a:normAutofit/>
                    </a:bodyPr>
                    <a:lstStyle/>
                    <a:p>
                      <a:r>
                        <a:rPr sz="900" b="1">
                          <a:solidFill>
                            <a:srgbClr val="0B2545"/>
                          </a:solidFill>
                          <a:latin typeface="Calibri"/>
                          <a:ea typeface="Calibri"/>
                          <a:cs typeface="Calibri"/>
                        </a:rPr>
                        <a:t>SOH degradation violation</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21.43%</a:t>
                      </a:r>
                    </a:p>
                  </a:txBody>
                  <a:tcPr marL="91440" marR="91440" marT="45720" marB="45720">
                    <a:solidFill>
                      <a:srgbClr val="FFFFFF"/>
                    </a:solidFill>
                  </a:tcPr>
                </a:tc>
              </a:tr>
              <a:tr h="396875">
                <a:tc>
                  <a:txBody>
                    <a:bodyPr>
                      <a:normAutofit/>
                    </a:bodyPr>
                    <a:lstStyle/>
                    <a:p>
                      <a:r>
                        <a:rPr sz="900" b="1">
                          <a:solidFill>
                            <a:srgbClr val="0B2545"/>
                          </a:solidFill>
                          <a:latin typeface="Calibri"/>
                          <a:ea typeface="Calibri"/>
                          <a:cs typeface="Calibri"/>
                        </a:rPr>
                        <a:t>SOH/RUL consistency violation</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30.95%</a:t>
                      </a:r>
                    </a:p>
                  </a:txBody>
                  <a:tcPr marL="91440" marR="91440" marT="45720" marB="45720">
                    <a:solidFill>
                      <a:srgbClr val="F4F8FA"/>
                    </a:solidFill>
                  </a:tcPr>
                </a:tc>
              </a:tr>
              <a:tr h="396875">
                <a:tc>
                  <a:txBody>
                    <a:bodyPr>
                      <a:normAutofit/>
                    </a:bodyPr>
                    <a:lstStyle/>
                    <a:p>
                      <a:r>
                        <a:rPr sz="900" b="1">
                          <a:solidFill>
                            <a:srgbClr val="0B2545"/>
                          </a:solidFill>
                          <a:latin typeface="Calibri"/>
                          <a:ea typeface="Calibri"/>
                          <a:cs typeface="Calibri"/>
                        </a:rPr>
                        <a:t>Capacity-curve residual</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0.00573</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071865C-DD6D-4D47-B916-5338656DA816}"/>
              </a:ext>
            </a:extLst>
          </p:cNvPr>
          <p:cNvSpPr>
            <a:spLocks xmlns:a="http://schemas.openxmlformats.org/drawingml/2006/main" noGrp="1"/>
          </p:cNvSpPr>
          <p:nvPr/>
        </p:nvSpPr>
        <p:spPr>
          <a:xfrm xmlns:a="http://schemas.openxmlformats.org/drawingml/2006/main">
            <a:off x="552450" y="4667250"/>
            <a:ext cx="11096625" cy="838200"/>
          </a:xfrm>
          <a:prstGeom xmlns:a="http://schemas.openxmlformats.org/drawingml/2006/main" prst="roundRect">
            <a:avLst>
              <a:gd name="adj" fmla="val 9091"/>
            </a:avLst>
          </a:prstGeom>
          <a:solidFill xmlns:a="http://schemas.openxmlformats.org/drawingml/2006/main">
            <a:srgbClr val="0B2545"/>
          </a:solidFill>
          <a:ln xmlns:a="http://schemas.openxmlformats.org/drawingml/2006/main" w="9525">
            <a:solidFill>
              <a:srgbClr val="0B2545"/>
            </a:solid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6CC726AC-7804-4681-85D3-9EA21F0DB485}"/>
              </a:ext>
            </a:extLst>
          </p:cNvPr>
          <p:cNvSpPr>
            <a:spLocks xmlns:a="http://schemas.openxmlformats.org/drawingml/2006/main" noGrp="1"/>
          </p:cNvSpPr>
          <p:nvPr/>
        </p:nvSpPr>
        <p:spPr>
          <a:xfrm xmlns:a="http://schemas.openxmlformats.org/drawingml/2006/main">
            <a:off x="781050" y="4867275"/>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buNone/>
              <a:defRPr sz="1050" b="1" i="0">
                <a:solidFill>
                  <a:srgbClr val="00A896"/>
                </a:solidFill>
                <a:latin typeface="Calibri"/>
                <a:ea typeface="Calibri"/>
                <a:cs typeface="Calibri"/>
              </a:defRPr>
            </a:pPr>
            <a:r>
              <a:rPr sz="1050" b="1" i="0">
                <a:solidFill>
                  <a:srgbClr val="00A896"/>
                </a:solidFill>
                <a:latin typeface="Calibri"/>
                <a:ea typeface="Calibri"/>
                <a:cs typeface="Calibri"/>
              </a:rPr>
              <a:t>Interpretation</a:t>
            </a:r>
          </a:p>
        </p:txBody>
      </p:sp>
      <p:sp>
        <p:nvSpPr>
          <p:cNvPr id="8" name="">
            <a:extLst xmlns:a="http://schemas.openxmlformats.org/drawingml/2006/main">
              <a:ext uri="{FF2B5EF4-FFF2-40B4-BE49-F238E27FC236}">
                <a16:creationId xmlns:a16="http://schemas.microsoft.com/office/drawing/2014/main" id="{3B7A6FF1-A5F1-45F4-8FB5-A0A18F8037C9}"/>
              </a:ext>
            </a:extLst>
          </p:cNvPr>
          <p:cNvSpPr>
            <a:spLocks xmlns:a="http://schemas.openxmlformats.org/drawingml/2006/main" noGrp="1"/>
          </p:cNvSpPr>
          <p:nvPr/>
        </p:nvSpPr>
        <p:spPr>
          <a:xfrm xmlns:a="http://schemas.openxmlformats.org/drawingml/2006/main">
            <a:off x="781050" y="5105400"/>
            <a:ext cx="1026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590"/>
          </a:bodyPr>
          <a:lstStyle xmlns:a="http://schemas.openxmlformats.org/drawingml/2006/main"/>
          <a:p xmlns:a="http://schemas.openxmlformats.org/drawingml/2006/main">
            <a:pPr>
              <a:buNone/>
              <a:defRPr sz="1125" b="0" i="0">
                <a:solidFill>
                  <a:srgbClr val="FFFFFF"/>
                </a:solidFill>
                <a:latin typeface="Calibri"/>
                <a:ea typeface="Calibri"/>
                <a:cs typeface="Calibri"/>
              </a:defRPr>
            </a:pPr>
            <a:r>
              <a:rPr sz="1125" b="0" i="0">
                <a:solidFill>
                  <a:srgbClr val="FFFFFF"/>
                </a:solidFill>
                <a:latin typeface="Calibri"/>
                <a:ea typeface="Calibri"/>
                <a:cs typeface="Calibri"/>
              </a:rPr>
              <a:t>Hard bounds stayed at zero. Soft monotonic diagnostics stayed nonzero, so the result supports a measured proof of concept with calibration limits rather than perfect electrochemical validity.</a:t>
            </a:r>
          </a:p>
        </p:txBody>
      </p:sp>
      <p:sp>
        <p:nvSpPr>
          <p:cNvPr id="9" name="">
            <a:extLst xmlns:a="http://schemas.openxmlformats.org/drawingml/2006/main">
              <a:ext uri="{FF2B5EF4-FFF2-40B4-BE49-F238E27FC236}">
                <a16:creationId xmlns:a16="http://schemas.microsoft.com/office/drawing/2014/main" id="{756D40FF-C029-44F1-9EA5-D3FD7F6ABAC9}"/>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10" name="">
            <a:extLst xmlns:a="http://schemas.openxmlformats.org/drawingml/2006/main">
              <a:ext uri="{FF2B5EF4-FFF2-40B4-BE49-F238E27FC236}">
                <a16:creationId xmlns:a16="http://schemas.microsoft.com/office/drawing/2014/main" id="{4D981CCF-B7E1-4E02-A9FC-C3A662C7A66A}"/>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19 / 21</a:t>
            </a:r>
          </a:p>
        </p:txBody>
      </p:sp>
    </p:spTree>
    <p:extLst>
      <p:ext uri="{BB962C8B-B14F-4D97-AF65-F5344CB8AC3E}">
        <p14:creationId xmlns:p14="http://schemas.microsoft.com/office/powerpoint/2010/main" val="103047069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025036D-00B8-4C5E-8D9A-B3B708581FF9}"/>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28090"/>
                </a:solidFill>
                <a:latin typeface="Calibri"/>
                <a:ea typeface="Calibri"/>
                <a:cs typeface="Calibri"/>
              </a:defRPr>
            </a:pPr>
            <a:r>
              <a:rPr sz="900" b="1" i="0">
                <a:solidFill>
                  <a:srgbClr val="028090"/>
                </a:solidFill>
                <a:latin typeface="Calibri"/>
                <a:ea typeface="Calibri"/>
                <a:cs typeface="Calibri"/>
              </a:rPr>
              <a:t>PHASE II · FACULTY EVIDENCE</a:t>
            </a:r>
          </a:p>
        </p:txBody>
      </p:sp>
      <p:sp>
        <p:nvSpPr>
          <p:cNvPr id="2" name="">
            <a:extLst xmlns:a="http://schemas.openxmlformats.org/drawingml/2006/main">
              <a:ext uri="{FF2B5EF4-FFF2-40B4-BE49-F238E27FC236}">
                <a16:creationId xmlns:a16="http://schemas.microsoft.com/office/drawing/2014/main" id="{2A6DD9CE-1AC1-49EC-8D96-7FE0DC7C91FE}"/>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0B2545"/>
                </a:solidFill>
                <a:latin typeface="Cambria"/>
                <a:ea typeface="Cambria"/>
                <a:cs typeface="Cambria"/>
              </a:defRPr>
            </a:pPr>
            <a:r>
              <a:rPr sz="2325" b="1" i="0">
                <a:solidFill>
                  <a:srgbClr val="0B2545"/>
                </a:solidFill>
                <a:latin typeface="Cambria"/>
                <a:ea typeface="Cambria"/>
                <a:cs typeface="Cambria"/>
              </a:rPr>
              <a:t>Proof of experiment mapped to the course rubric</a:t>
            </a:r>
          </a:p>
        </p:txBody>
      </p:sp>
      <p:sp>
        <p:nvSpPr>
          <p:cNvPr id="3" name="">
            <a:extLst xmlns:a="http://schemas.openxmlformats.org/drawingml/2006/main">
              <a:ext uri="{FF2B5EF4-FFF2-40B4-BE49-F238E27FC236}">
                <a16:creationId xmlns:a16="http://schemas.microsoft.com/office/drawing/2014/main" id="{799E1953-C3B5-4385-919E-6E60D76D9742}"/>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5B6B79"/>
                </a:solidFill>
                <a:latin typeface="Calibri"/>
                <a:ea typeface="Calibri"/>
                <a:cs typeface="Calibri"/>
              </a:defRPr>
            </a:pPr>
            <a:r>
              <a:rPr sz="1125" b="0" i="0">
                <a:solidFill>
                  <a:srgbClr val="5B6B79"/>
                </a:solidFill>
                <a:latin typeface="Calibri"/>
                <a:ea typeface="Calibri"/>
                <a:cs typeface="Calibri"/>
              </a:rPr>
              <a:t>The deck now points to concrete artifacts a reviewer can inspect.</a:t>
            </a:r>
          </a:p>
        </p:txBody>
      </p:sp>
      <p:graphicFrame>
        <p:nvGraphicFramePr>
          <p:cNvPr id="15" name=""/>
          <p:cNvGraphicFramePr/>
          <p:nvPr/>
        </p:nvGraphicFramePr>
        <p:xfrm>
          <a:off xmlns:a="http://schemas.openxmlformats.org/drawingml/2006/main" x="552450" y="1905000"/>
          <a:ext xmlns:a="http://schemas.openxmlformats.org/drawingml/2006/main" cx="11096625" cy="2857500"/>
        </p:xfrm>
        <a:graphic xmlns:a="http://schemas.openxmlformats.org/drawingml/2006/main">
          <a:graphicData uri="http://schemas.openxmlformats.org/drawingml/2006/table">
            <a:tbl>
              <a:tblPr firstRow="1" bandRow="1"/>
              <a:tblGrid>
                <a:gridCol w="2381250"/>
                <a:gridCol w="5191125"/>
                <a:gridCol w="3524250"/>
              </a:tblGrid>
              <a:tr h="476250">
                <a:tc>
                  <a:txBody>
                    <a:bodyPr>
                      <a:normAutofit/>
                    </a:bodyPr>
                    <a:lstStyle/>
                    <a:p>
                      <a:r>
                        <a:rPr sz="900" b="1">
                          <a:solidFill>
                            <a:srgbClr val="FFFFFF"/>
                          </a:solidFill>
                          <a:latin typeface="Calibri"/>
                          <a:ea typeface="Calibri"/>
                          <a:cs typeface="Calibri"/>
                        </a:rPr>
                        <a:t>Rubric criterion</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What to show</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Artifact</a:t>
                      </a:r>
                    </a:p>
                  </a:txBody>
                  <a:tcPr marL="91440" marR="91440" marT="45720" marB="45720">
                    <a:solidFill>
                      <a:srgbClr val="13355E"/>
                    </a:solidFill>
                  </a:tcPr>
                </a:tc>
              </a:tr>
              <a:tr h="476250">
                <a:tc>
                  <a:txBody>
                    <a:bodyPr>
                      <a:normAutofit/>
                    </a:bodyPr>
                    <a:lstStyle/>
                    <a:p>
                      <a:r>
                        <a:rPr sz="900" b="1">
                          <a:solidFill>
                            <a:srgbClr val="0B2545"/>
                          </a:solidFill>
                          <a:latin typeface="Calibri"/>
                          <a:ea typeface="Calibri"/>
                          <a:cs typeface="Calibri"/>
                        </a:rPr>
                        <a:t>Model architecture design</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Data → masked encoder → temporal model → physics losses → heads → replay update</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HTML report · Section 05</a:t>
                      </a:r>
                    </a:p>
                  </a:txBody>
                  <a:tcPr marL="91440" marR="91440" marT="45720" marB="45720">
                    <a:solidFill>
                      <a:srgbClr val="FFFFFF"/>
                    </a:solidFill>
                  </a:tcPr>
                </a:tc>
              </a:tr>
              <a:tr h="476250">
                <a:tc>
                  <a:txBody>
                    <a:bodyPr>
                      <a:normAutofit/>
                    </a:bodyPr>
                    <a:lstStyle/>
                    <a:p>
                      <a:r>
                        <a:rPr sz="900" b="1">
                          <a:solidFill>
                            <a:srgbClr val="0B2545"/>
                          </a:solidFill>
                          <a:latin typeface="Calibri"/>
                          <a:ea typeface="Calibri"/>
                          <a:cs typeface="Calibri"/>
                        </a:rPr>
                        <a:t>Multiple models</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DNN, GRU, Transformer-only, PINN, adaptive twin</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final_summary.csv</a:t>
                      </a:r>
                    </a:p>
                  </a:txBody>
                  <a:tcPr marL="91440" marR="91440" marT="45720" marB="45720">
                    <a:solidFill>
                      <a:srgbClr val="F4F8FA"/>
                    </a:solidFill>
                  </a:tcPr>
                </a:tc>
              </a:tr>
              <a:tr h="476250">
                <a:tc>
                  <a:txBody>
                    <a:bodyPr>
                      <a:normAutofit/>
                    </a:bodyPr>
                    <a:lstStyle/>
                    <a:p>
                      <a:r>
                        <a:rPr sz="900" b="1">
                          <a:solidFill>
                            <a:srgbClr val="0B2545"/>
                          </a:solidFill>
                          <a:latin typeface="Calibri"/>
                          <a:ea typeface="Calibri"/>
                          <a:cs typeface="Calibri"/>
                        </a:rPr>
                        <a:t>Hyperparameter tuning</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54 combinations across three seeds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tuning/grid.json</a:t>
                      </a:r>
                    </a:p>
                  </a:txBody>
                  <a:tcPr marL="91440" marR="91440" marT="45720" marB="45720">
                    <a:solidFill>
                      <a:srgbClr val="FFFFFF"/>
                    </a:solidFill>
                  </a:tcPr>
                </a:tc>
              </a:tr>
              <a:tr h="476250">
                <a:tc>
                  <a:txBody>
                    <a:bodyPr>
                      <a:normAutofit/>
                    </a:bodyPr>
                    <a:lstStyle/>
                    <a:p>
                      <a:r>
                        <a:rPr sz="900" b="1">
                          <a:solidFill>
                            <a:srgbClr val="0B2545"/>
                          </a:solidFill>
                          <a:latin typeface="Calibri"/>
                          <a:ea typeface="Calibri"/>
                          <a:cs typeface="Calibri"/>
                        </a:rPr>
                        <a:t>Experimental analysis</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Ablations, robustness, physical checks, acceptance table</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evidence_results.json + PNG figures</a:t>
                      </a:r>
                    </a:p>
                  </a:txBody>
                  <a:tcPr marL="91440" marR="91440" marT="45720" marB="45720">
                    <a:solidFill>
                      <a:srgbClr val="F4F8FA"/>
                    </a:solidFill>
                  </a:tcPr>
                </a:tc>
              </a:tr>
              <a:tr h="476250">
                <a:tc>
                  <a:txBody>
                    <a:bodyPr>
                      <a:normAutofit/>
                    </a:bodyPr>
                    <a:lstStyle/>
                    <a:p>
                      <a:r>
                        <a:rPr sz="900" b="1">
                          <a:solidFill>
                            <a:srgbClr val="0B2545"/>
                          </a:solidFill>
                          <a:latin typeface="Calibri"/>
                          <a:ea typeface="Calibri"/>
                          <a:cs typeface="Calibri"/>
                        </a:rPr>
                        <a:t>Presentation and reflection</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6-minute walkthrough and AI pair-programming reflection</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video_reflection_script.md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7BC91A4-1CC5-4EE0-B8D2-E572C3EC53AD}"/>
              </a:ext>
            </a:extLst>
          </p:cNvPr>
          <p:cNvSpPr>
            <a:spLocks xmlns:a="http://schemas.openxmlformats.org/drawingml/2006/main" noGrp="1"/>
          </p:cNvSpPr>
          <p:nvPr/>
        </p:nvSpPr>
        <p:spPr>
          <a:xfrm xmlns:a="http://schemas.openxmlformats.org/drawingml/2006/main">
            <a:off x="552450" y="5095875"/>
            <a:ext cx="11096625" cy="609600"/>
          </a:xfrm>
          <a:prstGeom xmlns:a="http://schemas.openxmlformats.org/drawingml/2006/main" prst="roundRect">
            <a:avLst>
              <a:gd name="adj" fmla="val 12500"/>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9B0267A-B9A1-4F47-BDDB-2DA874B0B2D8}"/>
              </a:ext>
            </a:extLst>
          </p:cNvPr>
          <p:cNvSpPr>
            <a:spLocks xmlns:a="http://schemas.openxmlformats.org/drawingml/2006/main" noGrp="1"/>
          </p:cNvSpPr>
          <p:nvPr/>
        </p:nvSpPr>
        <p:spPr>
          <a:xfrm xmlns:a="http://schemas.openxmlformats.org/drawingml/2006/main">
            <a:off x="781050" y="52387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buNone/>
              <a:defRPr sz="1050" b="1" i="0">
                <a:solidFill>
                  <a:srgbClr val="028090"/>
                </a:solidFill>
                <a:latin typeface="Calibri"/>
                <a:ea typeface="Calibri"/>
                <a:cs typeface="Calibri"/>
              </a:defRPr>
            </a:pPr>
            <a:r>
              <a:rPr sz="1050" b="1" i="0">
                <a:solidFill>
                  <a:srgbClr val="028090"/>
                </a:solidFill>
                <a:latin typeface="Calibri"/>
                <a:ea typeface="Calibri"/>
                <a:cs typeface="Calibri"/>
              </a:rPr>
              <a:t>Recording checklist</a:t>
            </a:r>
          </a:p>
        </p:txBody>
      </p:sp>
      <p:sp>
        <p:nvSpPr>
          <p:cNvPr id="7" name="">
            <a:extLst xmlns:a="http://schemas.openxmlformats.org/drawingml/2006/main">
              <a:ext uri="{FF2B5EF4-FFF2-40B4-BE49-F238E27FC236}">
                <a16:creationId xmlns:a16="http://schemas.microsoft.com/office/drawing/2014/main" id="{3DF88C7E-92B6-4F84-BE6F-1FF94066200B}"/>
              </a:ext>
            </a:extLst>
          </p:cNvPr>
          <p:cNvSpPr>
            <a:spLocks xmlns:a="http://schemas.openxmlformats.org/drawingml/2006/main" noGrp="1"/>
          </p:cNvSpPr>
          <p:nvPr/>
        </p:nvSpPr>
        <p:spPr>
          <a:xfrm xmlns:a="http://schemas.openxmlformats.org/drawingml/2006/main">
            <a:off x="2647950" y="5238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0B2545"/>
                </a:solidFill>
                <a:latin typeface="Calibri"/>
                <a:ea typeface="Calibri"/>
                <a:cs typeface="Calibri"/>
              </a:defRPr>
            </a:pPr>
            <a:r>
              <a:rPr sz="1050" b="0" i="0">
                <a:solidFill>
                  <a:srgbClr val="0B2545"/>
                </a:solidFill>
                <a:latin typeface="Calibri"/>
                <a:ea typeface="Calibri"/>
                <a:cs typeface="Calibri"/>
              </a:rPr>
              <a:t>Show the design diagram · show all five models · open the 54-combination grid · show one ablation and one robustness figure · read PASS status exactly</a:t>
            </a:r>
          </a:p>
        </p:txBody>
      </p:sp>
      <p:sp>
        <p:nvSpPr>
          <p:cNvPr id="8" name="">
            <a:extLst xmlns:a="http://schemas.openxmlformats.org/drawingml/2006/main">
              <a:ext uri="{FF2B5EF4-FFF2-40B4-BE49-F238E27FC236}">
                <a16:creationId xmlns:a16="http://schemas.microsoft.com/office/drawing/2014/main" id="{A4652012-1AC9-4030-9D0F-82C73AC6AD27}"/>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9" name="">
            <a:extLst xmlns:a="http://schemas.openxmlformats.org/drawingml/2006/main">
              <a:ext uri="{FF2B5EF4-FFF2-40B4-BE49-F238E27FC236}">
                <a16:creationId xmlns:a16="http://schemas.microsoft.com/office/drawing/2014/main" id="{E856C7C7-69B8-4327-96DB-8429EADBBCDF}"/>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20 / 21</a:t>
            </a:r>
          </a:p>
        </p:txBody>
      </p:sp>
    </p:spTree>
    <p:extLst>
      <p:ext uri="{BB962C8B-B14F-4D97-AF65-F5344CB8AC3E}">
        <p14:creationId xmlns:p14="http://schemas.microsoft.com/office/powerpoint/2010/main" val="1841506293"/>
      </p:ext>
    </p:extLst>
  </p:cSld>
</p:sld>
</file>

<file path=ppt/slides/slide21.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5F51518-A64D-49A9-95CF-58FE0B86D39F}"/>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0A896"/>
                </a:solidFill>
                <a:latin typeface="Calibri"/>
                <a:ea typeface="Calibri"/>
                <a:cs typeface="Calibri"/>
              </a:defRPr>
            </a:pPr>
            <a:r>
              <a:rPr sz="900" b="1" i="0">
                <a:solidFill>
                  <a:srgbClr val="00A896"/>
                </a:solidFill>
                <a:latin typeface="Calibri"/>
                <a:ea typeface="Calibri"/>
                <a:cs typeface="Calibri"/>
              </a:rPr>
              <a:t>PHASE II · FINAL STATUS</a:t>
            </a:r>
          </a:p>
        </p:txBody>
      </p:sp>
      <p:sp>
        <p:nvSpPr>
          <p:cNvPr id="2" name="">
            <a:extLst xmlns:a="http://schemas.openxmlformats.org/drawingml/2006/main">
              <a:ext uri="{FF2B5EF4-FFF2-40B4-BE49-F238E27FC236}">
                <a16:creationId xmlns:a16="http://schemas.microsoft.com/office/drawing/2014/main" id="{8E7EBE38-21B8-4E89-AC36-0350E3E31FCF}"/>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FFFFFF"/>
                </a:solidFill>
                <a:latin typeface="Cambria"/>
                <a:ea typeface="Cambria"/>
                <a:cs typeface="Cambria"/>
              </a:defRPr>
            </a:pPr>
            <a:r>
              <a:rPr sz="2325" b="1" i="0">
                <a:solidFill>
                  <a:srgbClr val="FFFFFF"/>
                </a:solidFill>
                <a:latin typeface="Cambria"/>
                <a:ea typeface="Cambria"/>
                <a:cs typeface="Cambria"/>
              </a:rPr>
              <a:t>A tested adaptive POC with a clear next experiment</a:t>
            </a:r>
          </a:p>
        </p:txBody>
      </p:sp>
      <p:sp>
        <p:nvSpPr>
          <p:cNvPr id="3" name="">
            <a:extLst xmlns:a="http://schemas.openxmlformats.org/drawingml/2006/main">
              <a:ext uri="{FF2B5EF4-FFF2-40B4-BE49-F238E27FC236}">
                <a16:creationId xmlns:a16="http://schemas.microsoft.com/office/drawing/2014/main" id="{8F01537C-7D62-4B66-8CDD-076BBDFD78AA}"/>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C7D8E5"/>
                </a:solidFill>
                <a:latin typeface="Calibri"/>
                <a:ea typeface="Calibri"/>
                <a:cs typeface="Calibri"/>
              </a:defRPr>
            </a:pPr>
            <a:r>
              <a:rPr sz="1125" b="0" i="0">
                <a:solidFill>
                  <a:srgbClr val="C7D8E5"/>
                </a:solidFill>
                <a:latin typeface="Calibri"/>
                <a:ea typeface="Calibri"/>
                <a:cs typeface="Calibri"/>
              </a:rPr>
              <a:t>The strongest evidence is the low-cost online update. The main limitation is the small four-cell dataset.</a:t>
            </a:r>
          </a:p>
        </p:txBody>
      </p:sp>
      <p:sp>
        <p:nvSpPr>
          <p:cNvPr id="4" name="">
            <a:extLst xmlns:a="http://schemas.openxmlformats.org/drawingml/2006/main">
              <a:ext uri="{FF2B5EF4-FFF2-40B4-BE49-F238E27FC236}">
                <a16:creationId xmlns:a16="http://schemas.microsoft.com/office/drawing/2014/main" id="{0CDD1EB7-319B-4AF5-8B12-8C6FF81F1258}"/>
              </a:ext>
            </a:extLst>
          </p:cNvPr>
          <p:cNvSpPr>
            <a:spLocks xmlns:a="http://schemas.openxmlformats.org/drawingml/2006/main" noGrp="1"/>
          </p:cNvSpPr>
          <p:nvPr/>
        </p:nvSpPr>
        <p:spPr>
          <a:xfrm xmlns:a="http://schemas.openxmlformats.org/drawingml/2006/main">
            <a:off x="552450" y="2047875"/>
            <a:ext cx="4953000" cy="2381250"/>
          </a:xfrm>
          <a:prstGeom xmlns:a="http://schemas.openxmlformats.org/drawingml/2006/main" prst="roundRect">
            <a:avLst>
              <a:gd name="adj" fmla="val 3200"/>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B2C37B1-E1ED-4C12-B3F7-6DA0EFCA80F8}"/>
              </a:ext>
            </a:extLst>
          </p:cNvPr>
          <p:cNvSpPr>
            <a:spLocks xmlns:a="http://schemas.openxmlformats.org/drawingml/2006/main" noGrp="1"/>
          </p:cNvSpPr>
          <p:nvPr/>
        </p:nvSpPr>
        <p:spPr>
          <a:xfrm xmlns:a="http://schemas.openxmlformats.org/drawingml/2006/main">
            <a:off x="838200" y="230505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4583"/>
          </a:bodyPr>
          <a:lstStyle xmlns:a="http://schemas.openxmlformats.org/drawingml/2006/main"/>
          <a:p xmlns:a="http://schemas.openxmlformats.org/drawingml/2006/main">
            <a:pPr>
              <a:buNone/>
              <a:defRPr sz="1200" b="1" i="0">
                <a:solidFill>
                  <a:srgbClr val="00A896"/>
                </a:solidFill>
                <a:latin typeface="Calibri"/>
                <a:ea typeface="Calibri"/>
                <a:cs typeface="Calibri"/>
              </a:defRPr>
            </a:pPr>
            <a:r>
              <a:rPr sz="1200" b="1" i="0">
                <a:solidFill>
                  <a:srgbClr val="00A896"/>
                </a:solidFill>
                <a:latin typeface="Calibri"/>
                <a:ea typeface="Calibri"/>
                <a:cs typeface="Calibri"/>
              </a:rPr>
              <a:t>What the run supports</a:t>
            </a:r>
          </a:p>
        </p:txBody>
      </p:sp>
      <p:sp>
        <p:nvSpPr>
          <p:cNvPr id="6" name="">
            <a:extLst xmlns:a="http://schemas.openxmlformats.org/drawingml/2006/main">
              <a:ext uri="{FF2B5EF4-FFF2-40B4-BE49-F238E27FC236}">
                <a16:creationId xmlns:a16="http://schemas.microsoft.com/office/drawing/2014/main" id="{22ADE592-AD0F-43E5-ACA6-B43BCD21161B}"/>
              </a:ext>
            </a:extLst>
          </p:cNvPr>
          <p:cNvSpPr>
            <a:spLocks xmlns:a="http://schemas.openxmlformats.org/drawingml/2006/main" noGrp="1"/>
          </p:cNvSpPr>
          <p:nvPr/>
        </p:nvSpPr>
        <p:spPr>
          <a:xfrm xmlns:a="http://schemas.openxmlformats.org/drawingml/2006/main">
            <a:off x="838200" y="27622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C2F9981-417C-4255-9047-02B962B0A635}"/>
              </a:ext>
            </a:extLst>
          </p:cNvPr>
          <p:cNvSpPr>
            <a:spLocks xmlns:a="http://schemas.openxmlformats.org/drawingml/2006/main" noGrp="1"/>
          </p:cNvSpPr>
          <p:nvPr/>
        </p:nvSpPr>
        <p:spPr>
          <a:xfrm xmlns:a="http://schemas.openxmlformats.org/drawingml/2006/main">
            <a:off x="904875" y="27813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i="0">
                <a:solidFill>
                  <a:srgbClr val="FFFFFF"/>
                </a:solidFill>
                <a:latin typeface="Calibri"/>
                <a:ea typeface="Calibri"/>
                <a:cs typeface="Calibri"/>
              </a:defRPr>
            </a:pPr>
            <a:r>
              <a:rPr sz="825" b="1" i="0">
                <a:solidFill>
                  <a:srgbClr val="FFFFFF"/>
                </a:solidFill>
                <a:latin typeface="Calibri"/>
                <a:ea typeface="Calibri"/>
                <a:cs typeface="Calibri"/>
              </a:rPr>
              <a:t>1</a:t>
            </a:r>
          </a:p>
        </p:txBody>
      </p:sp>
      <p:sp>
        <p:nvSpPr>
          <p:cNvPr id="8" name="">
            <a:extLst xmlns:a="http://schemas.openxmlformats.org/drawingml/2006/main">
              <a:ext uri="{FF2B5EF4-FFF2-40B4-BE49-F238E27FC236}">
                <a16:creationId xmlns:a16="http://schemas.microsoft.com/office/drawing/2014/main" id="{FE335CA5-01D4-4C89-B864-B5263DF3B3C6}"/>
              </a:ext>
            </a:extLst>
          </p:cNvPr>
          <p:cNvSpPr>
            <a:spLocks xmlns:a="http://schemas.openxmlformats.org/drawingml/2006/main" noGrp="1"/>
          </p:cNvSpPr>
          <p:nvPr/>
        </p:nvSpPr>
        <p:spPr>
          <a:xfrm xmlns:a="http://schemas.openxmlformats.org/drawingml/2006/main">
            <a:off x="1219200" y="274320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buNone/>
              <a:defRPr sz="1275" b="1" i="0">
                <a:solidFill>
                  <a:srgbClr val="FFFFFF"/>
                </a:solidFill>
                <a:latin typeface="Calibri"/>
                <a:ea typeface="Calibri"/>
                <a:cs typeface="Calibri"/>
              </a:defRPr>
            </a:pPr>
            <a:r>
              <a:rPr sz="1275" b="1" i="0">
                <a:solidFill>
                  <a:srgbClr val="FFFFFF"/>
                </a:solidFill>
                <a:latin typeface="Calibri"/>
                <a:ea typeface="Calibri"/>
                <a:cs typeface="Calibri"/>
              </a:rPr>
              <a:t>Adaptation benefit</a:t>
            </a:r>
          </a:p>
        </p:txBody>
      </p:sp>
      <p:sp>
        <p:nvSpPr>
          <p:cNvPr id="9" name="">
            <a:extLst xmlns:a="http://schemas.openxmlformats.org/drawingml/2006/main">
              <a:ext uri="{FF2B5EF4-FFF2-40B4-BE49-F238E27FC236}">
                <a16:creationId xmlns:a16="http://schemas.microsoft.com/office/drawing/2014/main" id="{D4CAD99E-DCF1-417D-A98A-5455A351AA47}"/>
              </a:ext>
            </a:extLst>
          </p:cNvPr>
          <p:cNvSpPr>
            <a:spLocks xmlns:a="http://schemas.openxmlformats.org/drawingml/2006/main" noGrp="1"/>
          </p:cNvSpPr>
          <p:nvPr/>
        </p:nvSpPr>
        <p:spPr>
          <a:xfrm xmlns:a="http://schemas.openxmlformats.org/drawingml/2006/main">
            <a:off x="1219200" y="30099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i="0">
                <a:solidFill>
                  <a:srgbClr val="C7D8E5"/>
                </a:solidFill>
                <a:latin typeface="Calibri"/>
                <a:ea typeface="Calibri"/>
                <a:cs typeface="Calibri"/>
              </a:defRPr>
            </a:pPr>
            <a:r>
              <a:rPr sz="1050" b="0" i="0">
                <a:solidFill>
                  <a:srgbClr val="C7D8E5"/>
                </a:solidFill>
                <a:latin typeface="Calibri"/>
                <a:ea typeface="Calibri"/>
                <a:cs typeface="Calibri"/>
              </a:rPr>
              <a:t>80.63% lower post-shift SOH MAE than frozen.</a:t>
            </a:r>
          </a:p>
        </p:txBody>
      </p:sp>
      <p:sp>
        <p:nvSpPr>
          <p:cNvPr id="10" name="">
            <a:extLst xmlns:a="http://schemas.openxmlformats.org/drawingml/2006/main">
              <a:ext uri="{FF2B5EF4-FFF2-40B4-BE49-F238E27FC236}">
                <a16:creationId xmlns:a16="http://schemas.microsoft.com/office/drawing/2014/main" id="{FCBC1DB7-3244-4D6E-A417-3637D81F25DA}"/>
              </a:ext>
            </a:extLst>
          </p:cNvPr>
          <p:cNvSpPr>
            <a:spLocks xmlns:a="http://schemas.openxmlformats.org/drawingml/2006/main" noGrp="1"/>
          </p:cNvSpPr>
          <p:nvPr/>
        </p:nvSpPr>
        <p:spPr>
          <a:xfrm xmlns:a="http://schemas.openxmlformats.org/drawingml/2006/main">
            <a:off x="838200" y="35242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FF3B180-6298-4034-AA40-424781828C36}"/>
              </a:ext>
            </a:extLst>
          </p:cNvPr>
          <p:cNvSpPr>
            <a:spLocks xmlns:a="http://schemas.openxmlformats.org/drawingml/2006/main" noGrp="1"/>
          </p:cNvSpPr>
          <p:nvPr/>
        </p:nvSpPr>
        <p:spPr>
          <a:xfrm xmlns:a="http://schemas.openxmlformats.org/drawingml/2006/main">
            <a:off x="904875" y="35433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i="0">
                <a:solidFill>
                  <a:srgbClr val="FFFFFF"/>
                </a:solidFill>
                <a:latin typeface="Calibri"/>
                <a:ea typeface="Calibri"/>
                <a:cs typeface="Calibri"/>
              </a:defRPr>
            </a:pPr>
            <a:r>
              <a:rPr sz="825" b="1" i="0">
                <a:solidFill>
                  <a:srgbClr val="FFFFFF"/>
                </a:solidFill>
                <a:latin typeface="Calibri"/>
                <a:ea typeface="Calibri"/>
                <a:cs typeface="Calibri"/>
              </a:rPr>
              <a:t>2</a:t>
            </a:r>
          </a:p>
        </p:txBody>
      </p:sp>
      <p:sp>
        <p:nvSpPr>
          <p:cNvPr id="12" name="">
            <a:extLst xmlns:a="http://schemas.openxmlformats.org/drawingml/2006/main">
              <a:ext uri="{FF2B5EF4-FFF2-40B4-BE49-F238E27FC236}">
                <a16:creationId xmlns:a16="http://schemas.microsoft.com/office/drawing/2014/main" id="{C9CF75C2-B682-492B-A8BB-2313429CDD44}"/>
              </a:ext>
            </a:extLst>
          </p:cNvPr>
          <p:cNvSpPr>
            <a:spLocks xmlns:a="http://schemas.openxmlformats.org/drawingml/2006/main" noGrp="1"/>
          </p:cNvSpPr>
          <p:nvPr/>
        </p:nvSpPr>
        <p:spPr>
          <a:xfrm xmlns:a="http://schemas.openxmlformats.org/drawingml/2006/main">
            <a:off x="1219200" y="350520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buNone/>
              <a:defRPr sz="1275" b="1" i="0">
                <a:solidFill>
                  <a:srgbClr val="FFFFFF"/>
                </a:solidFill>
                <a:latin typeface="Calibri"/>
                <a:ea typeface="Calibri"/>
                <a:cs typeface="Calibri"/>
              </a:defRPr>
            </a:pPr>
            <a:r>
              <a:rPr sz="1275" b="1" i="0">
                <a:solidFill>
                  <a:srgbClr val="FFFFFF"/>
                </a:solidFill>
                <a:latin typeface="Calibri"/>
                <a:ea typeface="Calibri"/>
                <a:cs typeface="Calibri"/>
              </a:rPr>
              <a:t>Low update cost</a:t>
            </a:r>
          </a:p>
        </p:txBody>
      </p:sp>
      <p:sp>
        <p:nvSpPr>
          <p:cNvPr id="13" name="">
            <a:extLst xmlns:a="http://schemas.openxmlformats.org/drawingml/2006/main">
              <a:ext uri="{FF2B5EF4-FFF2-40B4-BE49-F238E27FC236}">
                <a16:creationId xmlns:a16="http://schemas.microsoft.com/office/drawing/2014/main" id="{EADF9D94-000D-4D15-8564-7E3D63732DB3}"/>
              </a:ext>
            </a:extLst>
          </p:cNvPr>
          <p:cNvSpPr>
            <a:spLocks xmlns:a="http://schemas.openxmlformats.org/drawingml/2006/main" noGrp="1"/>
          </p:cNvSpPr>
          <p:nvPr/>
        </p:nvSpPr>
        <p:spPr>
          <a:xfrm xmlns:a="http://schemas.openxmlformats.org/drawingml/2006/main">
            <a:off x="1219200" y="37719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i="0">
                <a:solidFill>
                  <a:srgbClr val="C7D8E5"/>
                </a:solidFill>
                <a:latin typeface="Calibri"/>
                <a:ea typeface="Calibri"/>
                <a:cs typeface="Calibri"/>
              </a:defRPr>
            </a:pPr>
            <a:r>
              <a:rPr sz="1050" b="0" i="0">
                <a:solidFill>
                  <a:srgbClr val="C7D8E5"/>
                </a:solidFill>
                <a:latin typeface="Calibri"/>
                <a:ea typeface="Calibri"/>
                <a:cs typeface="Calibri"/>
              </a:rPr>
              <a:t>8.75% of full-retraining work.</a:t>
            </a:r>
          </a:p>
        </p:txBody>
      </p:sp>
      <p:sp>
        <p:nvSpPr>
          <p:cNvPr id="14" name="">
            <a:extLst xmlns:a="http://schemas.openxmlformats.org/drawingml/2006/main">
              <a:ext uri="{FF2B5EF4-FFF2-40B4-BE49-F238E27FC236}">
                <a16:creationId xmlns:a16="http://schemas.microsoft.com/office/drawing/2014/main" id="{19F5F1B0-E601-4BCF-9A22-C979BF2B72AE}"/>
              </a:ext>
            </a:extLst>
          </p:cNvPr>
          <p:cNvSpPr>
            <a:spLocks xmlns:a="http://schemas.openxmlformats.org/drawingml/2006/main" noGrp="1"/>
          </p:cNvSpPr>
          <p:nvPr/>
        </p:nvSpPr>
        <p:spPr>
          <a:xfrm xmlns:a="http://schemas.openxmlformats.org/drawingml/2006/main">
            <a:off x="6048375" y="2047875"/>
            <a:ext cx="560070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FFFFFF"/>
            </a:solidFill>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F4E0BA49-27CD-4D89-9497-810073F75CEC}"/>
              </a:ext>
            </a:extLst>
          </p:cNvPr>
          <p:cNvSpPr>
            <a:spLocks xmlns:a="http://schemas.openxmlformats.org/drawingml/2006/main" noGrp="1"/>
          </p:cNvSpPr>
          <p:nvPr/>
        </p:nvSpPr>
        <p:spPr>
          <a:xfrm xmlns:a="http://schemas.openxmlformats.org/drawingml/2006/main">
            <a:off x="6334125" y="2305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4583"/>
          </a:bodyPr>
          <a:lstStyle xmlns:a="http://schemas.openxmlformats.org/drawingml/2006/main"/>
          <a:p xmlns:a="http://schemas.openxmlformats.org/drawingml/2006/main">
            <a:pPr>
              <a:buNone/>
              <a:defRPr sz="1200" b="1" i="0">
                <a:solidFill>
                  <a:srgbClr val="028090"/>
                </a:solidFill>
                <a:latin typeface="Calibri"/>
                <a:ea typeface="Calibri"/>
                <a:cs typeface="Calibri"/>
              </a:defRPr>
            </a:pPr>
            <a:r>
              <a:rPr sz="1200" b="1" i="0">
                <a:solidFill>
                  <a:srgbClr val="028090"/>
                </a:solidFill>
                <a:latin typeface="Calibri"/>
                <a:ea typeface="Calibri"/>
                <a:cs typeface="Calibri"/>
              </a:rPr>
              <a:t>What the run does not prove</a:t>
            </a:r>
          </a:p>
        </p:txBody>
      </p:sp>
      <p:sp>
        <p:nvSpPr>
          <p:cNvPr id="16" name="">
            <a:extLst xmlns:a="http://schemas.openxmlformats.org/drawingml/2006/main">
              <a:ext uri="{FF2B5EF4-FFF2-40B4-BE49-F238E27FC236}">
                <a16:creationId xmlns:a16="http://schemas.microsoft.com/office/drawing/2014/main" id="{74C481A6-5582-400E-AFF6-624E64729A7F}"/>
              </a:ext>
            </a:extLst>
          </p:cNvPr>
          <p:cNvSpPr>
            <a:spLocks xmlns:a="http://schemas.openxmlformats.org/drawingml/2006/main" noGrp="1"/>
          </p:cNvSpPr>
          <p:nvPr/>
        </p:nvSpPr>
        <p:spPr>
          <a:xfrm xmlns:a="http://schemas.openxmlformats.org/drawingml/2006/main">
            <a:off x="6334125" y="278130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i="0">
                <a:solidFill>
                  <a:srgbClr val="0B2545"/>
                </a:solidFill>
                <a:latin typeface="Calibri"/>
                <a:ea typeface="Calibri"/>
                <a:cs typeface="Calibri"/>
              </a:defRPr>
            </a:pPr>
            <a:r>
              <a:rPr sz="1275" b="0" i="0">
                <a:solidFill>
                  <a:srgbClr val="0B2545"/>
                </a:solidFill>
                <a:latin typeface="Calibri"/>
                <a:ea typeface="Calibri"/>
                <a:cs typeface="Calibri"/>
              </a:rPr>
              <a:t>• Universal chemistry or temperature generalization</a:t>
            </a:r>
          </a:p>
          <a:p xmlns:a="http://schemas.openxmlformats.org/drawingml/2006/main">
            <a:pPr>
              <a:buNone/>
              <a:defRPr sz="1275" b="0" i="0">
                <a:solidFill>
                  <a:srgbClr val="0B2545"/>
                </a:solidFill>
                <a:latin typeface="Calibri"/>
                <a:ea typeface="Calibri"/>
                <a:cs typeface="Calibri"/>
              </a:defRPr>
            </a:pPr>
            <a:r>
              <a:rPr sz="1275" b="0" i="0">
                <a:solidFill>
                  <a:srgbClr val="0B2545"/>
                </a:solidFill>
                <a:latin typeface="Calibri"/>
                <a:ea typeface="Calibri"/>
                <a:cs typeface="Calibri"/>
              </a:rPr>
              <a:t>• Perfect monotonic degradation behavior</a:t>
            </a:r>
          </a:p>
          <a:p xmlns:a="http://schemas.openxmlformats.org/drawingml/2006/main">
            <a:pPr>
              <a:buNone/>
              <a:defRPr sz="1275" b="0" i="0">
                <a:solidFill>
                  <a:srgbClr val="0B2545"/>
                </a:solidFill>
                <a:latin typeface="Calibri"/>
                <a:ea typeface="Calibri"/>
                <a:cs typeface="Calibri"/>
              </a:defRPr>
            </a:pPr>
            <a:r>
              <a:rPr sz="1275" b="0" i="0">
                <a:solidFill>
                  <a:srgbClr val="0B2545"/>
                </a:solidFill>
                <a:latin typeface="Calibri"/>
                <a:ea typeface="Calibri"/>
                <a:cs typeface="Calibri"/>
              </a:rPr>
              <a:t>• SEI-PDE validity without additional variables</a:t>
            </a:r>
          </a:p>
          <a:p xmlns:a="http://schemas.openxmlformats.org/drawingml/2006/main">
            <a:pPr>
              <a:buNone/>
              <a:defRPr sz="1275" b="0" i="0">
                <a:solidFill>
                  <a:srgbClr val="0B2545"/>
                </a:solidFill>
                <a:latin typeface="Calibri"/>
                <a:ea typeface="Calibri"/>
                <a:cs typeface="Calibri"/>
              </a:defRPr>
            </a:pPr>
            <a:r>
              <a:rPr sz="1275" b="0" i="0">
                <a:solidFill>
                  <a:srgbClr val="0B2545"/>
                </a:solidFill>
                <a:latin typeface="Calibri"/>
                <a:ea typeface="Calibri"/>
                <a:cs typeface="Calibri"/>
              </a:rPr>
              <a:t>• A direct numerical ranking against the four papers</a:t>
            </a:r>
          </a:p>
        </p:txBody>
      </p:sp>
      <p:sp>
        <p:nvSpPr>
          <p:cNvPr id="17" name="">
            <a:extLst xmlns:a="http://schemas.openxmlformats.org/drawingml/2006/main">
              <a:ext uri="{FF2B5EF4-FFF2-40B4-BE49-F238E27FC236}">
                <a16:creationId xmlns:a16="http://schemas.microsoft.com/office/drawing/2014/main" id="{B10FC483-6A65-4248-B27B-C27E98A149DD}"/>
              </a:ext>
            </a:extLst>
          </p:cNvPr>
          <p:cNvSpPr>
            <a:spLocks xmlns:a="http://schemas.openxmlformats.org/drawingml/2006/main" noGrp="1"/>
          </p:cNvSpPr>
          <p:nvPr/>
        </p:nvSpPr>
        <p:spPr>
          <a:xfrm xmlns:a="http://schemas.openxmlformats.org/drawingml/2006/main">
            <a:off x="552450" y="4953000"/>
            <a:ext cx="11096625" cy="685800"/>
          </a:xfrm>
          <a:prstGeom xmlns:a="http://schemas.openxmlformats.org/drawingml/2006/main" prst="roundRect">
            <a:avLst>
              <a:gd name="adj" fmla="val 11111"/>
            </a:avLst>
          </a:prstGeom>
          <a:solidFill xmlns:a="http://schemas.openxmlformats.org/drawingml/2006/main">
            <a:srgbClr val="1B4A73"/>
          </a:solidFill>
          <a:ln xmlns:a="http://schemas.openxmlformats.org/drawingml/2006/main" w="9525">
            <a:solidFill>
              <a:srgbClr val="1B4A73"/>
            </a:solidFill>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D87B0389-778E-4C6F-9CC5-89323D00921B}"/>
              </a:ext>
            </a:extLst>
          </p:cNvPr>
          <p:cNvSpPr>
            <a:spLocks xmlns:a="http://schemas.openxmlformats.org/drawingml/2006/main" noGrp="1"/>
          </p:cNvSpPr>
          <p:nvPr/>
        </p:nvSpPr>
        <p:spPr>
          <a:xfrm xmlns:a="http://schemas.openxmlformats.org/drawingml/2006/main">
            <a:off x="800100" y="5143500"/>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905"/>
          </a:bodyPr>
          <a:lstStyle xmlns:a="http://schemas.openxmlformats.org/drawingml/2006/main"/>
          <a:p xmlns:a="http://schemas.openxmlformats.org/drawingml/2006/main">
            <a:pPr>
              <a:buNone/>
              <a:defRPr sz="1050" b="1" i="0">
                <a:solidFill>
                  <a:srgbClr val="00A896"/>
                </a:solidFill>
                <a:latin typeface="Calibri"/>
                <a:ea typeface="Calibri"/>
                <a:cs typeface="Calibri"/>
              </a:defRPr>
            </a:pPr>
            <a:r>
              <a:rPr sz="1050" b="1" i="0">
                <a:solidFill>
                  <a:srgbClr val="00A896"/>
                </a:solidFill>
                <a:latin typeface="Calibri"/>
                <a:ea typeface="Calibri"/>
                <a:cs typeface="Calibri"/>
              </a:rPr>
              <a:t>Next experiment</a:t>
            </a:r>
          </a:p>
        </p:txBody>
      </p:sp>
      <p:sp>
        <p:nvSpPr>
          <p:cNvPr id="19" name="">
            <a:extLst xmlns:a="http://schemas.openxmlformats.org/drawingml/2006/main">
              <a:ext uri="{FF2B5EF4-FFF2-40B4-BE49-F238E27FC236}">
                <a16:creationId xmlns:a16="http://schemas.microsoft.com/office/drawing/2014/main" id="{C4E392F5-0C42-498C-B953-DFD858CF5C6A}"/>
              </a:ext>
            </a:extLst>
          </p:cNvPr>
          <p:cNvSpPr>
            <a:spLocks xmlns:a="http://schemas.openxmlformats.org/drawingml/2006/main" noGrp="1"/>
          </p:cNvSpPr>
          <p:nvPr/>
        </p:nvSpPr>
        <p:spPr>
          <a:xfrm xmlns:a="http://schemas.openxmlformats.org/drawingml/2006/main">
            <a:off x="2476500" y="51435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4583"/>
          </a:bodyPr>
          <a:lstStyle xmlns:a="http://schemas.openxmlformats.org/drawingml/2006/main"/>
          <a:p xmlns:a="http://schemas.openxmlformats.org/drawingml/2006/main">
            <a:pPr>
              <a:buNone/>
              <a:defRPr sz="1200" b="0" i="0">
                <a:solidFill>
                  <a:srgbClr val="FFFFFF"/>
                </a:solidFill>
                <a:latin typeface="Calibri"/>
                <a:ea typeface="Calibri"/>
                <a:cs typeface="Calibri"/>
              </a:defRPr>
            </a:pPr>
            <a:r>
              <a:rPr sz="1200" b="0" i="0">
                <a:solidFill>
                  <a:srgbClr val="FFFFFF"/>
                </a:solidFill>
                <a:latin typeface="Calibri"/>
                <a:ea typeface="Calibri"/>
                <a:cs typeface="Calibri"/>
              </a:rPr>
              <a:t>Calibrate physics weights, add longer training, and repeat leave-one-cell-out validation before making a broader scientific claim.</a:t>
            </a:r>
          </a:p>
        </p:txBody>
      </p:sp>
      <p:sp>
        <p:nvSpPr>
          <p:cNvPr id="20" name="">
            <a:extLst xmlns:a="http://schemas.openxmlformats.org/drawingml/2006/main">
              <a:ext uri="{FF2B5EF4-FFF2-40B4-BE49-F238E27FC236}">
                <a16:creationId xmlns:a16="http://schemas.microsoft.com/office/drawing/2014/main" id="{3372A326-ECBB-41A8-A778-1C1B28B4AD78}"/>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8FA9BE"/>
                </a:solidFill>
                <a:latin typeface="Calibri"/>
                <a:ea typeface="Calibri"/>
                <a:cs typeface="Calibri"/>
              </a:defRPr>
            </a:pPr>
            <a:r>
              <a:rPr sz="825" b="0" i="0">
                <a:solidFill>
                  <a:srgbClr val="8FA9BE"/>
                </a:solidFill>
                <a:latin typeface="Calibri"/>
                <a:ea typeface="Calibri"/>
                <a:cs typeface="Calibri"/>
              </a:rPr>
              <a:t>Adaptive PINN Battery Digital Twin</a:t>
            </a:r>
          </a:p>
        </p:txBody>
      </p:sp>
      <p:sp>
        <p:nvSpPr>
          <p:cNvPr id="21" name="">
            <a:extLst xmlns:a="http://schemas.openxmlformats.org/drawingml/2006/main">
              <a:ext uri="{FF2B5EF4-FFF2-40B4-BE49-F238E27FC236}">
                <a16:creationId xmlns:a16="http://schemas.microsoft.com/office/drawing/2014/main" id="{6046B50C-A087-4CEF-AA35-F9C9D5D16DDE}"/>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8FA9BE"/>
                </a:solidFill>
                <a:latin typeface="Calibri"/>
                <a:ea typeface="Calibri"/>
                <a:cs typeface="Calibri"/>
              </a:defRPr>
            </a:pPr>
            <a:r>
              <a:rPr sz="825" b="0" i="0">
                <a:solidFill>
                  <a:srgbClr val="8FA9BE"/>
                </a:solidFill>
                <a:latin typeface="Calibri"/>
                <a:ea typeface="Calibri"/>
                <a:cs typeface="Calibri"/>
              </a:rPr>
              <a:t>21 / 21</a:t>
            </a:r>
          </a:p>
        </p:txBody>
      </p:sp>
    </p:spTree>
    <p:extLst>
      <p:ext uri="{BB962C8B-B14F-4D97-AF65-F5344CB8AC3E}">
        <p14:creationId xmlns:p14="http://schemas.microsoft.com/office/powerpoint/2010/main" val="1647512164"/>
      </p:ext>
    </p:extLst>
  </p:cSld>
</p:sld>
</file>

<file path=ppt/slides/slide22.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A8EDE33-A3BD-477F-AA0A-CA0D075A2386}"/>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0A896"/>
                </a:solidFill>
                <a:latin typeface="Calibri"/>
                <a:ea typeface="Calibri"/>
                <a:cs typeface="Calibri"/>
              </a:defRPr>
            </a:pPr>
            <a:r>
              <a:rPr sz="900" b="1" i="0">
                <a:solidFill>
                  <a:srgbClr val="00A896"/>
                </a:solidFill>
                <a:latin typeface="Calibri"/>
                <a:ea typeface="Calibri"/>
                <a:cs typeface="Calibri"/>
              </a:rPr>
              <a:t>PHASE II · PRESENTATION</a:t>
            </a:r>
          </a:p>
        </p:txBody>
      </p:sp>
      <p:sp>
        <p:nvSpPr>
          <p:cNvPr id="2" name="">
            <a:extLst xmlns:a="http://schemas.openxmlformats.org/drawingml/2006/main">
              <a:ext uri="{FF2B5EF4-FFF2-40B4-BE49-F238E27FC236}">
                <a16:creationId xmlns:a16="http://schemas.microsoft.com/office/drawing/2014/main" id="{ADD0A306-7632-4E16-83C1-6B7E83B50824}"/>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550" b="1" i="0">
                <a:solidFill>
                  <a:srgbClr val="FFFFFF"/>
                </a:solidFill>
                <a:latin typeface="Cambria"/>
                <a:ea typeface="Cambria"/>
                <a:cs typeface="Cambria"/>
              </a:defRPr>
            </a:pPr>
            <a:r>
              <a:rPr sz="2550" b="1" i="0">
                <a:solidFill>
                  <a:srgbClr val="FFFFFF"/>
                </a:solidFill>
                <a:latin typeface="Cambria"/>
                <a:ea typeface="Cambria"/>
                <a:cs typeface="Cambria"/>
              </a:rPr>
              <a:t>Video demonstration</a:t>
            </a:r>
          </a:p>
        </p:txBody>
      </p:sp>
      <p:sp>
        <p:nvSpPr>
          <p:cNvPr id="3" name="">
            <a:extLst xmlns:a="http://schemas.openxmlformats.org/drawingml/2006/main">
              <a:ext uri="{FF2B5EF4-FFF2-40B4-BE49-F238E27FC236}">
                <a16:creationId xmlns:a16="http://schemas.microsoft.com/office/drawing/2014/main" id="{F649FAB7-718C-489D-ADE7-02B49C92923E}"/>
              </a:ext>
            </a:extLst>
          </p:cNvPr>
          <p:cNvSpPr>
            <a:spLocks xmlns:a="http://schemas.openxmlformats.org/drawingml/2006/main" noGrp="1"/>
          </p:cNvSpPr>
          <p:nvPr/>
        </p:nvSpPr>
        <p:spPr>
          <a:xfrm xmlns:a="http://schemas.openxmlformats.org/drawingml/2006/main">
            <a:off x="552450" y="13144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i="0">
                <a:solidFill>
                  <a:srgbClr val="C7D8E5"/>
                </a:solidFill>
                <a:latin typeface="Calibri"/>
                <a:ea typeface="Calibri"/>
                <a:cs typeface="Calibri"/>
              </a:defRPr>
            </a:pPr>
            <a:r>
              <a:rPr sz="1275" b="0" i="0">
                <a:solidFill>
                  <a:srgbClr val="C7D8E5"/>
                </a:solidFill>
                <a:latin typeface="Calibri"/>
                <a:ea typeface="Calibri"/>
                <a:cs typeface="Calibri"/>
              </a:rPr>
              <a:t>Empty submission slide for the Moodle, Stream, or Drive video link</a:t>
            </a:r>
          </a:p>
        </p:txBody>
      </p:sp>
      <p:sp>
        <p:nvSpPr>
          <p:cNvPr id="4" name="">
            <a:extLst xmlns:a="http://schemas.openxmlformats.org/drawingml/2006/main">
              <a:ext uri="{FF2B5EF4-FFF2-40B4-BE49-F238E27FC236}">
                <a16:creationId xmlns:a16="http://schemas.microsoft.com/office/drawing/2014/main" id="{4DCDB6AE-5B79-40BD-81C5-C61A20E3AED8}"/>
              </a:ext>
            </a:extLst>
          </p:cNvPr>
          <p:cNvSpPr>
            <a:spLocks xmlns:a="http://schemas.openxmlformats.org/drawingml/2006/main" noGrp="1"/>
          </p:cNvSpPr>
          <p:nvPr/>
        </p:nvSpPr>
        <p:spPr>
          <a:xfrm xmlns:a="http://schemas.openxmlformats.org/drawingml/2006/main">
            <a:off x="1428750" y="2476500"/>
            <a:ext cx="9334500" cy="1571625"/>
          </a:xfrm>
          <a:prstGeom xmlns:a="http://schemas.openxmlformats.org/drawingml/2006/main" prst="roundRect">
            <a:avLst>
              <a:gd name="adj" fmla="val 4848"/>
            </a:avLst>
          </a:prstGeom>
          <a:solidFill xmlns:a="http://schemas.openxmlformats.org/drawingml/2006/main">
            <a:srgbClr val="1B4A73"/>
          </a:solidFill>
          <a:ln xmlns:a="http://schemas.openxmlformats.org/drawingml/2006/main" w="9525">
            <a:solidFill>
              <a:srgbClr val="00A896"/>
            </a:solid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A6A01FD-6434-4DEB-A530-0D854DF3A0F6}"/>
              </a:ext>
            </a:extLst>
          </p:cNvPr>
          <p:cNvSpPr>
            <a:spLocks xmlns:a="http://schemas.openxmlformats.org/drawingml/2006/main" noGrp="1"/>
          </p:cNvSpPr>
          <p:nvPr/>
        </p:nvSpPr>
        <p:spPr>
          <a:xfrm xmlns:a="http://schemas.openxmlformats.org/drawingml/2006/main">
            <a:off x="1905000" y="2800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i="0">
                <a:solidFill>
                  <a:srgbClr val="00A896"/>
                </a:solidFill>
                <a:latin typeface="Calibri"/>
                <a:ea typeface="Calibri"/>
                <a:cs typeface="Calibri"/>
              </a:defRPr>
            </a:pPr>
            <a:r>
              <a:rPr sz="1050" b="1" i="0">
                <a:solidFill>
                  <a:srgbClr val="00A896"/>
                </a:solidFill>
                <a:latin typeface="Calibri"/>
                <a:ea typeface="Calibri"/>
                <a:cs typeface="Calibri"/>
              </a:rPr>
              <a:t>VIDEO LINK</a:t>
            </a:r>
          </a:p>
        </p:txBody>
      </p:sp>
      <p:sp>
        <p:nvSpPr>
          <p:cNvPr id="6" name="">
            <a:extLst xmlns:a="http://schemas.openxmlformats.org/drawingml/2006/main">
              <a:ext uri="{FF2B5EF4-FFF2-40B4-BE49-F238E27FC236}">
                <a16:creationId xmlns:a16="http://schemas.microsoft.com/office/drawing/2014/main" id="{1E6D88A2-5FA6-4746-90CF-62808EE9E616}"/>
              </a:ext>
            </a:extLst>
          </p:cNvPr>
          <p:cNvSpPr>
            <a:spLocks xmlns:a="http://schemas.openxmlformats.org/drawingml/2006/main" noGrp="1"/>
          </p:cNvSpPr>
          <p:nvPr/>
        </p:nvSpPr>
        <p:spPr>
          <a:xfrm xmlns:a="http://schemas.openxmlformats.org/drawingml/2006/main">
            <a:off x="1905000" y="3190875"/>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buNone/>
              <a:defRPr sz="2250" b="1" i="0">
                <a:solidFill>
                  <a:srgbClr val="FFFFFF"/>
                </a:solidFill>
                <a:latin typeface="Cambria"/>
                <a:ea typeface="Cambria"/>
                <a:cs typeface="Cambria"/>
              </a:defRPr>
            </a:pPr>
            <a:r>
              <a:rPr sz="2250" b="1" i="0">
                <a:solidFill>
                  <a:srgbClr val="FFFFFF"/>
                </a:solidFill>
                <a:latin typeface="Cambria"/>
                <a:ea typeface="Cambria"/>
                <a:cs typeface="Cambria"/>
              </a:rPr>
              <a:t>PASTE VIDEO URL HERE</a:t>
            </a:r>
          </a:p>
        </p:txBody>
      </p:sp>
      <p:sp>
        <p:nvSpPr>
          <p:cNvPr id="7" name="">
            <a:extLst xmlns:a="http://schemas.openxmlformats.org/drawingml/2006/main">
              <a:ext uri="{FF2B5EF4-FFF2-40B4-BE49-F238E27FC236}">
                <a16:creationId xmlns:a16="http://schemas.microsoft.com/office/drawing/2014/main" id="{B718E508-CE49-4570-8C34-2552331B94B7}"/>
              </a:ext>
            </a:extLst>
          </p:cNvPr>
          <p:cNvSpPr>
            <a:spLocks xmlns:a="http://schemas.openxmlformats.org/drawingml/2006/main" noGrp="1"/>
          </p:cNvSpPr>
          <p:nvPr/>
        </p:nvSpPr>
        <p:spPr>
          <a:xfrm xmlns:a="http://schemas.openxmlformats.org/drawingml/2006/main">
            <a:off x="1905000" y="45720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i="0">
                <a:solidFill>
                  <a:srgbClr val="C7D8E5"/>
                </a:solidFill>
                <a:latin typeface="Calibri"/>
                <a:ea typeface="Calibri"/>
                <a:cs typeface="Calibri"/>
              </a:defRPr>
            </a:pPr>
            <a:r>
              <a:rPr sz="1200" b="0" i="0">
                <a:solidFill>
                  <a:srgbClr val="C7D8E5"/>
                </a:solidFill>
                <a:latin typeface="Calibri"/>
                <a:ea typeface="Calibri"/>
                <a:cs typeface="Calibri"/>
              </a:rPr>
              <a:t>Replace this placeholder with the actual uploaded video URL before submitting.</a:t>
            </a:r>
          </a:p>
        </p:txBody>
      </p:sp>
      <p:sp>
        <p:nvSpPr>
          <p:cNvPr id="8" name="">
            <a:extLst xmlns:a="http://schemas.openxmlformats.org/drawingml/2006/main">
              <a:ext uri="{FF2B5EF4-FFF2-40B4-BE49-F238E27FC236}">
                <a16:creationId xmlns:a16="http://schemas.microsoft.com/office/drawing/2014/main" id="{EC163B78-0E13-474A-ADA1-AB804BD2A640}"/>
              </a:ext>
            </a:extLst>
          </p:cNvPr>
          <p:cNvSpPr>
            <a:spLocks xmlns:a="http://schemas.openxmlformats.org/drawingml/2006/main" noGrp="1"/>
          </p:cNvSpPr>
          <p:nvPr/>
        </p:nvSpPr>
        <p:spPr>
          <a:xfrm xmlns:a="http://schemas.openxmlformats.org/drawingml/2006/main">
            <a:off x="1905000" y="4953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buNone/>
              <a:defRPr sz="975" b="0" i="1">
                <a:solidFill>
                  <a:srgbClr val="9FC6E0"/>
                </a:solidFill>
                <a:latin typeface="Calibri"/>
                <a:ea typeface="Calibri"/>
                <a:cs typeface="Calibri"/>
              </a:defRPr>
            </a:pPr>
            <a:r>
              <a:rPr sz="975" b="0" i="1">
                <a:solidFill>
                  <a:srgbClr val="9FC6E0"/>
                </a:solidFill>
                <a:latin typeface="Calibri"/>
                <a:ea typeface="Calibri"/>
                <a:cs typeface="Calibri"/>
              </a:rPr>
              <a:t>No external video URL was present in the supplied files, so this slide intentionally keeps the link field open.</a:t>
            </a:r>
          </a:p>
        </p:txBody>
      </p:sp>
      <p:sp>
        <p:nvSpPr>
          <p:cNvPr id="9" name="">
            <a:extLst xmlns:a="http://schemas.openxmlformats.org/drawingml/2006/main">
              <a:ext uri="{FF2B5EF4-FFF2-40B4-BE49-F238E27FC236}">
                <a16:creationId xmlns:a16="http://schemas.microsoft.com/office/drawing/2014/main" id="{31306C19-819E-4894-8682-8988F4AE2040}"/>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8FA9BE"/>
                </a:solidFill>
                <a:latin typeface="Calibri"/>
                <a:ea typeface="Calibri"/>
                <a:cs typeface="Calibri"/>
              </a:defRPr>
            </a:pPr>
            <a:r>
              <a:rPr sz="825" b="0" i="0">
                <a:solidFill>
                  <a:srgbClr val="8FA9BE"/>
                </a:solidFill>
                <a:latin typeface="Calibri"/>
                <a:ea typeface="Calibri"/>
                <a:cs typeface="Calibri"/>
              </a:rPr>
              <a:t>Adaptive PINN Battery Digital Twin</a:t>
            </a:r>
          </a:p>
        </p:txBody>
      </p:sp>
      <p:sp>
        <p:nvSpPr>
          <p:cNvPr id="10" name="">
            <a:extLst xmlns:a="http://schemas.openxmlformats.org/drawingml/2006/main">
              <a:ext uri="{FF2B5EF4-FFF2-40B4-BE49-F238E27FC236}">
                <a16:creationId xmlns:a16="http://schemas.microsoft.com/office/drawing/2014/main" id="{A83768F6-D888-4C56-AA24-27DBB1160BF8}"/>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8FA9BE"/>
                </a:solidFill>
                <a:latin typeface="Calibri"/>
                <a:ea typeface="Calibri"/>
                <a:cs typeface="Calibri"/>
              </a:defRPr>
            </a:pPr>
            <a:r>
              <a:rPr sz="825" b="0" i="0">
                <a:solidFill>
                  <a:srgbClr val="8FA9BE"/>
                </a:solidFill>
                <a:latin typeface="Calibri"/>
                <a:ea typeface="Calibri"/>
                <a:cs typeface="Calibri"/>
              </a:rPr>
              <a:t>22 / 22</a:t>
            </a:r>
          </a:p>
        </p:txBody>
      </p:sp>
    </p:spTree>
    <p:extLst>
      <p:ext uri="{BB962C8B-B14F-4D97-AF65-F5344CB8AC3E}">
        <p14:creationId xmlns:p14="http://schemas.microsoft.com/office/powerpoint/2010/main" val="1667047394"/>
      </p:ext>
    </p:extLst>
  </p:cSld>
</p:sld>
</file>

<file path=ppt/slides/slide23.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71856EC-C14E-4C19-82A7-0A0010D85CA5}"/>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0A896"/>
                </a:solidFill>
                <a:latin typeface="Calibri"/>
                <a:ea typeface="Calibri"/>
                <a:cs typeface="Calibri"/>
              </a:defRPr>
            </a:pPr>
            <a:r>
              <a:rPr sz="900" b="1" i="0">
                <a:solidFill>
                  <a:srgbClr val="00A896"/>
                </a:solidFill>
                <a:latin typeface="Calibri"/>
                <a:ea typeface="Calibri"/>
                <a:cs typeface="Calibri"/>
              </a:rPr>
              <a:t>PHASE II · FORMULA AUDIT</a:t>
            </a:r>
          </a:p>
        </p:txBody>
      </p:sp>
      <p:sp>
        <p:nvSpPr>
          <p:cNvPr id="2" name="">
            <a:extLst xmlns:a="http://schemas.openxmlformats.org/drawingml/2006/main">
              <a:ext uri="{FF2B5EF4-FFF2-40B4-BE49-F238E27FC236}">
                <a16:creationId xmlns:a16="http://schemas.microsoft.com/office/drawing/2014/main" id="{F2859D15-D329-4753-AB02-C81DB451D90F}"/>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FFFFFF"/>
                </a:solidFill>
                <a:latin typeface="Cambria"/>
                <a:ea typeface="Cambria"/>
                <a:cs typeface="Cambria"/>
              </a:defRPr>
            </a:pPr>
            <a:r>
              <a:rPr sz="2325" b="1" i="0">
                <a:solidFill>
                  <a:srgbClr val="FFFFFF"/>
                </a:solidFill>
                <a:latin typeface="Cambria"/>
                <a:ea typeface="Cambria"/>
                <a:cs typeface="Cambria"/>
              </a:rPr>
              <a:t>Equations used in our NASA prototype</a:t>
            </a:r>
          </a:p>
        </p:txBody>
      </p:sp>
      <p:sp>
        <p:nvSpPr>
          <p:cNvPr id="3" name="">
            <a:extLst xmlns:a="http://schemas.openxmlformats.org/drawingml/2006/main">
              <a:ext uri="{FF2B5EF4-FFF2-40B4-BE49-F238E27FC236}">
                <a16:creationId xmlns:a16="http://schemas.microsoft.com/office/drawing/2014/main" id="{F2C66391-E3FA-407C-9075-42BD7D1D1F1D}"/>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C7D8E5"/>
                </a:solidFill>
                <a:latin typeface="Calibri"/>
                <a:ea typeface="Calibri"/>
                <a:cs typeface="Calibri"/>
              </a:defRPr>
            </a:pPr>
            <a:r>
              <a:rPr sz="1125" b="0" i="0">
                <a:solidFill>
                  <a:srgbClr val="C7D8E5"/>
                </a:solidFill>
                <a:latin typeface="Calibri"/>
                <a:ea typeface="Calibri"/>
                <a:cs typeface="Calibri"/>
              </a:rPr>
              <a:t>These are the target definitions and input contract that are active in the first reproducible implementation.</a:t>
            </a:r>
          </a:p>
        </p:txBody>
      </p:sp>
      <p:sp>
        <p:nvSpPr>
          <p:cNvPr id="4" name="">
            <a:extLst xmlns:a="http://schemas.openxmlformats.org/drawingml/2006/main">
              <a:ext uri="{FF2B5EF4-FFF2-40B4-BE49-F238E27FC236}">
                <a16:creationId xmlns:a16="http://schemas.microsoft.com/office/drawing/2014/main" id="{5FE26417-1177-4369-BA74-31BD91CA5562}"/>
              </a:ext>
            </a:extLst>
          </p:cNvPr>
          <p:cNvSpPr>
            <a:spLocks xmlns:a="http://schemas.openxmlformats.org/drawingml/2006/main" noGrp="1"/>
          </p:cNvSpPr>
          <p:nvPr/>
        </p:nvSpPr>
        <p:spPr>
          <a:xfrm xmlns:a="http://schemas.openxmlformats.org/drawingml/2006/main">
            <a:off x="552450" y="2000250"/>
            <a:ext cx="5238750" cy="1428750"/>
          </a:xfrm>
          <a:prstGeom xmlns:a="http://schemas.openxmlformats.org/drawingml/2006/main" prst="roundRect">
            <a:avLst>
              <a:gd name="adj" fmla="val 5333"/>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E5A7BAF-BE34-4538-B87A-AF39E97096BE}"/>
              </a:ext>
            </a:extLst>
          </p:cNvPr>
          <p:cNvSpPr>
            <a:spLocks xmlns:a="http://schemas.openxmlformats.org/drawingml/2006/main" noGrp="1"/>
          </p:cNvSpPr>
          <p:nvPr/>
        </p:nvSpPr>
        <p:spPr>
          <a:xfrm xmlns:a="http://schemas.openxmlformats.org/drawingml/2006/main">
            <a:off x="723900" y="2124075"/>
            <a:ext cx="4895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0A896"/>
                </a:solidFill>
                <a:latin typeface="Calibri"/>
                <a:ea typeface="Calibri"/>
                <a:cs typeface="Calibri"/>
              </a:defRPr>
            </a:pPr>
            <a:r>
              <a:rPr sz="750" b="1" i="0">
                <a:solidFill>
                  <a:srgbClr val="00A896"/>
                </a:solidFill>
                <a:latin typeface="Calibri"/>
                <a:ea typeface="Calibri"/>
                <a:cs typeface="Calibri"/>
              </a:rPr>
              <a:t>STATE OF HEALTH</a:t>
            </a:r>
          </a:p>
        </p:txBody>
      </p:sp>
      <p:sp>
        <p:nvSpPr>
          <p:cNvPr id="6" name="">
            <a:extLst xmlns:a="http://schemas.openxmlformats.org/drawingml/2006/main">
              <a:ext uri="{FF2B5EF4-FFF2-40B4-BE49-F238E27FC236}">
                <a16:creationId xmlns:a16="http://schemas.microsoft.com/office/drawing/2014/main" id="{00AB2E68-5AED-4B64-AD35-1D1AD93A952F}"/>
              </a:ext>
            </a:extLst>
          </p:cNvPr>
          <p:cNvSpPr>
            <a:spLocks xmlns:a="http://schemas.openxmlformats.org/drawingml/2006/main" noGrp="1"/>
          </p:cNvSpPr>
          <p:nvPr/>
        </p:nvSpPr>
        <p:spPr>
          <a:xfrm xmlns:a="http://schemas.openxmlformats.org/drawingml/2006/main">
            <a:off x="723900" y="2371725"/>
            <a:ext cx="4895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i="0">
                <a:solidFill>
                  <a:srgbClr val="FFFFFF"/>
                </a:solidFill>
                <a:latin typeface="Cambria"/>
                <a:ea typeface="Cambria"/>
                <a:cs typeface="Cambria"/>
              </a:defRPr>
            </a:pPr>
            <a:r>
              <a:rPr sz="1875" b="1" i="0">
                <a:solidFill>
                  <a:srgbClr val="FFFFFF"/>
                </a:solidFill>
                <a:latin typeface="Cambria"/>
                <a:ea typeface="Cambria"/>
                <a:cs typeface="Cambria"/>
              </a:rPr>
              <a:t>SOHₖ = 100 × Cₖ / C_nom</a:t>
            </a:r>
          </a:p>
        </p:txBody>
      </p:sp>
      <p:sp>
        <p:nvSpPr>
          <p:cNvPr id="7" name="">
            <a:extLst xmlns:a="http://schemas.openxmlformats.org/drawingml/2006/main">
              <a:ext uri="{FF2B5EF4-FFF2-40B4-BE49-F238E27FC236}">
                <a16:creationId xmlns:a16="http://schemas.microsoft.com/office/drawing/2014/main" id="{93EA2E51-93E3-44C7-AC77-902AFF29B964}"/>
              </a:ext>
            </a:extLst>
          </p:cNvPr>
          <p:cNvSpPr>
            <a:spLocks xmlns:a="http://schemas.openxmlformats.org/drawingml/2006/main" noGrp="1"/>
          </p:cNvSpPr>
          <p:nvPr/>
        </p:nvSpPr>
        <p:spPr>
          <a:xfrm xmlns:a="http://schemas.openxmlformats.org/drawingml/2006/main">
            <a:off x="723900" y="2819400"/>
            <a:ext cx="489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0">
                <a:solidFill>
                  <a:srgbClr val="C7D8E5"/>
                </a:solidFill>
                <a:latin typeface="Calibri"/>
                <a:ea typeface="Calibri"/>
                <a:cs typeface="Calibri"/>
              </a:defRPr>
            </a:pPr>
            <a:r>
              <a:rPr sz="900" b="0" i="0">
                <a:solidFill>
                  <a:srgbClr val="C7D8E5"/>
                </a:solidFill>
                <a:latin typeface="Calibri"/>
                <a:ea typeface="Calibri"/>
                <a:cs typeface="Calibri"/>
              </a:rPr>
              <a:t>Measured discharge capacity Cₖ becomes the supervised health label. Capacity is not fed as a future deployment input.</a:t>
            </a:r>
          </a:p>
        </p:txBody>
      </p:sp>
      <p:sp>
        <p:nvSpPr>
          <p:cNvPr id="8" name="">
            <a:extLst xmlns:a="http://schemas.openxmlformats.org/drawingml/2006/main">
              <a:ext uri="{FF2B5EF4-FFF2-40B4-BE49-F238E27FC236}">
                <a16:creationId xmlns:a16="http://schemas.microsoft.com/office/drawing/2014/main" id="{8A568EE7-F563-40FC-8B51-C65A6D4B1C58}"/>
              </a:ext>
            </a:extLst>
          </p:cNvPr>
          <p:cNvSpPr>
            <a:spLocks xmlns:a="http://schemas.openxmlformats.org/drawingml/2006/main" noGrp="1"/>
          </p:cNvSpPr>
          <p:nvPr/>
        </p:nvSpPr>
        <p:spPr>
          <a:xfrm xmlns:a="http://schemas.openxmlformats.org/drawingml/2006/main">
            <a:off x="6076950" y="2000250"/>
            <a:ext cx="5572125" cy="1428750"/>
          </a:xfrm>
          <a:prstGeom xmlns:a="http://schemas.openxmlformats.org/drawingml/2006/main" prst="roundRect">
            <a:avLst>
              <a:gd name="adj" fmla="val 5333"/>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88E95A55-273F-484A-8125-F215E37F1E10}"/>
              </a:ext>
            </a:extLst>
          </p:cNvPr>
          <p:cNvSpPr>
            <a:spLocks xmlns:a="http://schemas.openxmlformats.org/drawingml/2006/main" noGrp="1"/>
          </p:cNvSpPr>
          <p:nvPr/>
        </p:nvSpPr>
        <p:spPr>
          <a:xfrm xmlns:a="http://schemas.openxmlformats.org/drawingml/2006/main">
            <a:off x="6248400" y="2124075"/>
            <a:ext cx="52292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0A896"/>
                </a:solidFill>
                <a:latin typeface="Calibri"/>
                <a:ea typeface="Calibri"/>
                <a:cs typeface="Calibri"/>
              </a:defRPr>
            </a:pPr>
            <a:r>
              <a:rPr sz="750" b="1" i="0">
                <a:solidFill>
                  <a:srgbClr val="00A896"/>
                </a:solidFill>
                <a:latin typeface="Calibri"/>
                <a:ea typeface="Calibri"/>
                <a:cs typeface="Calibri"/>
              </a:rPr>
              <a:t>REMAINING USEFUL LIFE</a:t>
            </a:r>
          </a:p>
        </p:txBody>
      </p:sp>
      <p:sp>
        <p:nvSpPr>
          <p:cNvPr id="10" name="">
            <a:extLst xmlns:a="http://schemas.openxmlformats.org/drawingml/2006/main">
              <a:ext uri="{FF2B5EF4-FFF2-40B4-BE49-F238E27FC236}">
                <a16:creationId xmlns:a16="http://schemas.microsoft.com/office/drawing/2014/main" id="{85DA304D-F826-42A7-8656-570F6137304E}"/>
              </a:ext>
            </a:extLst>
          </p:cNvPr>
          <p:cNvSpPr>
            <a:spLocks xmlns:a="http://schemas.openxmlformats.org/drawingml/2006/main" noGrp="1"/>
          </p:cNvSpPr>
          <p:nvPr/>
        </p:nvSpPr>
        <p:spPr>
          <a:xfrm xmlns:a="http://schemas.openxmlformats.org/drawingml/2006/main">
            <a:off x="6248400" y="2371725"/>
            <a:ext cx="5229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i="0">
                <a:solidFill>
                  <a:srgbClr val="FFFFFF"/>
                </a:solidFill>
                <a:latin typeface="Cambria"/>
                <a:ea typeface="Cambria"/>
                <a:cs typeface="Cambria"/>
              </a:defRPr>
            </a:pPr>
            <a:r>
              <a:rPr sz="1875" b="1" i="0">
                <a:solidFill>
                  <a:srgbClr val="FFFFFF"/>
                </a:solidFill>
                <a:latin typeface="Cambria"/>
                <a:ea typeface="Cambria"/>
                <a:cs typeface="Cambria"/>
              </a:rPr>
              <a:t>RULₖ = k_EOL − k</a:t>
            </a:r>
          </a:p>
        </p:txBody>
      </p:sp>
      <p:sp>
        <p:nvSpPr>
          <p:cNvPr id="11" name="">
            <a:extLst xmlns:a="http://schemas.openxmlformats.org/drawingml/2006/main">
              <a:ext uri="{FF2B5EF4-FFF2-40B4-BE49-F238E27FC236}">
                <a16:creationId xmlns:a16="http://schemas.microsoft.com/office/drawing/2014/main" id="{69F68FD2-37D2-4203-B09A-FC734B025940}"/>
              </a:ext>
            </a:extLst>
          </p:cNvPr>
          <p:cNvSpPr>
            <a:spLocks xmlns:a="http://schemas.openxmlformats.org/drawingml/2006/main" noGrp="1"/>
          </p:cNvSpPr>
          <p:nvPr/>
        </p:nvSpPr>
        <p:spPr>
          <a:xfrm xmlns:a="http://schemas.openxmlformats.org/drawingml/2006/main">
            <a:off x="6248400" y="2819400"/>
            <a:ext cx="5229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0">
                <a:solidFill>
                  <a:srgbClr val="C7D8E5"/>
                </a:solidFill>
                <a:latin typeface="Calibri"/>
                <a:ea typeface="Calibri"/>
                <a:cs typeface="Calibri"/>
              </a:defRPr>
            </a:pPr>
            <a:r>
              <a:rPr sz="900" b="0" i="0">
                <a:solidFill>
                  <a:srgbClr val="C7D8E5"/>
                </a:solidFill>
                <a:latin typeface="Calibri"/>
                <a:ea typeface="Calibri"/>
                <a:cs typeface="Calibri"/>
              </a:rPr>
              <a:t>RUL is measured in discharge cycles remaining from the current cycle k.</a:t>
            </a:r>
          </a:p>
        </p:txBody>
      </p:sp>
      <p:sp>
        <p:nvSpPr>
          <p:cNvPr id="12" name="">
            <a:extLst xmlns:a="http://schemas.openxmlformats.org/drawingml/2006/main">
              <a:ext uri="{FF2B5EF4-FFF2-40B4-BE49-F238E27FC236}">
                <a16:creationId xmlns:a16="http://schemas.microsoft.com/office/drawing/2014/main" id="{A1FA7DEB-F417-4FD1-809A-DBD7E4CDC61C}"/>
              </a:ext>
            </a:extLst>
          </p:cNvPr>
          <p:cNvSpPr>
            <a:spLocks xmlns:a="http://schemas.openxmlformats.org/drawingml/2006/main" noGrp="1"/>
          </p:cNvSpPr>
          <p:nvPr/>
        </p:nvSpPr>
        <p:spPr>
          <a:xfrm xmlns:a="http://schemas.openxmlformats.org/drawingml/2006/main">
            <a:off x="552450" y="3714750"/>
            <a:ext cx="5238750" cy="1428750"/>
          </a:xfrm>
          <a:prstGeom xmlns:a="http://schemas.openxmlformats.org/drawingml/2006/main" prst="roundRect">
            <a:avLst>
              <a:gd name="adj" fmla="val 5333"/>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CFEF3FBA-0EA7-4FD3-8B07-F9E1D90E52E6}"/>
              </a:ext>
            </a:extLst>
          </p:cNvPr>
          <p:cNvSpPr>
            <a:spLocks xmlns:a="http://schemas.openxmlformats.org/drawingml/2006/main" noGrp="1"/>
          </p:cNvSpPr>
          <p:nvPr/>
        </p:nvSpPr>
        <p:spPr>
          <a:xfrm xmlns:a="http://schemas.openxmlformats.org/drawingml/2006/main">
            <a:off x="723900" y="3838575"/>
            <a:ext cx="4895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0A896"/>
                </a:solidFill>
                <a:latin typeface="Calibri"/>
                <a:ea typeface="Calibri"/>
                <a:cs typeface="Calibri"/>
              </a:defRPr>
            </a:pPr>
            <a:r>
              <a:rPr sz="750" b="1" i="0">
                <a:solidFill>
                  <a:srgbClr val="00A896"/>
                </a:solidFill>
                <a:latin typeface="Calibri"/>
                <a:ea typeface="Calibri"/>
                <a:cs typeface="Calibri"/>
              </a:rPr>
              <a:t>END OF LIFE</a:t>
            </a:r>
          </a:p>
        </p:txBody>
      </p:sp>
      <p:sp>
        <p:nvSpPr>
          <p:cNvPr id="14" name="">
            <a:extLst xmlns:a="http://schemas.openxmlformats.org/drawingml/2006/main">
              <a:ext uri="{FF2B5EF4-FFF2-40B4-BE49-F238E27FC236}">
                <a16:creationId xmlns:a16="http://schemas.microsoft.com/office/drawing/2014/main" id="{365FE645-F316-4598-B49C-BF44BD27B92A}"/>
              </a:ext>
            </a:extLst>
          </p:cNvPr>
          <p:cNvSpPr>
            <a:spLocks xmlns:a="http://schemas.openxmlformats.org/drawingml/2006/main" noGrp="1"/>
          </p:cNvSpPr>
          <p:nvPr/>
        </p:nvSpPr>
        <p:spPr>
          <a:xfrm xmlns:a="http://schemas.openxmlformats.org/drawingml/2006/main">
            <a:off x="723900" y="4086225"/>
            <a:ext cx="4895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i="0">
                <a:solidFill>
                  <a:srgbClr val="FFFFFF"/>
                </a:solidFill>
                <a:latin typeface="Cambria"/>
                <a:ea typeface="Cambria"/>
                <a:cs typeface="Cambria"/>
              </a:defRPr>
            </a:pPr>
            <a:r>
              <a:rPr sz="1575" b="1" i="0">
                <a:solidFill>
                  <a:srgbClr val="FFFFFF"/>
                </a:solidFill>
                <a:latin typeface="Cambria"/>
                <a:ea typeface="Cambria"/>
                <a:cs typeface="Cambria"/>
              </a:rPr>
              <a:t>k_EOL = min{k : SOHₖ ≤ 70%}</a:t>
            </a:r>
          </a:p>
        </p:txBody>
      </p:sp>
      <p:sp>
        <p:nvSpPr>
          <p:cNvPr id="15" name="">
            <a:extLst xmlns:a="http://schemas.openxmlformats.org/drawingml/2006/main">
              <a:ext uri="{FF2B5EF4-FFF2-40B4-BE49-F238E27FC236}">
                <a16:creationId xmlns:a16="http://schemas.microsoft.com/office/drawing/2014/main" id="{76469F80-91D4-4C70-B8AA-7EA7114993BB}"/>
              </a:ext>
            </a:extLst>
          </p:cNvPr>
          <p:cNvSpPr>
            <a:spLocks xmlns:a="http://schemas.openxmlformats.org/drawingml/2006/main" noGrp="1"/>
          </p:cNvSpPr>
          <p:nvPr/>
        </p:nvSpPr>
        <p:spPr>
          <a:xfrm xmlns:a="http://schemas.openxmlformats.org/drawingml/2006/main">
            <a:off x="723900" y="4533900"/>
            <a:ext cx="489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0">
                <a:solidFill>
                  <a:srgbClr val="C7D8E5"/>
                </a:solidFill>
                <a:latin typeface="Calibri"/>
                <a:ea typeface="Calibri"/>
                <a:cs typeface="Calibri"/>
              </a:defRPr>
            </a:pPr>
            <a:r>
              <a:rPr sz="900" b="0" i="0">
                <a:solidFill>
                  <a:srgbClr val="C7D8E5"/>
                </a:solidFill>
                <a:latin typeface="Calibri"/>
                <a:ea typeface="Calibri"/>
                <a:cs typeface="Calibri"/>
              </a:rPr>
              <a:t>Primary project threshold. Every RUL result is interpreted against this declared EOL rule.</a:t>
            </a:r>
          </a:p>
        </p:txBody>
      </p:sp>
      <p:sp>
        <p:nvSpPr>
          <p:cNvPr id="16" name="">
            <a:extLst xmlns:a="http://schemas.openxmlformats.org/drawingml/2006/main">
              <a:ext uri="{FF2B5EF4-FFF2-40B4-BE49-F238E27FC236}">
                <a16:creationId xmlns:a16="http://schemas.microsoft.com/office/drawing/2014/main" id="{8402BAAA-D605-420C-934C-0CD336A22C68}"/>
              </a:ext>
            </a:extLst>
          </p:cNvPr>
          <p:cNvSpPr>
            <a:spLocks xmlns:a="http://schemas.openxmlformats.org/drawingml/2006/main" noGrp="1"/>
          </p:cNvSpPr>
          <p:nvPr/>
        </p:nvSpPr>
        <p:spPr>
          <a:xfrm xmlns:a="http://schemas.openxmlformats.org/drawingml/2006/main">
            <a:off x="6076950" y="3714750"/>
            <a:ext cx="5572125" cy="1428750"/>
          </a:xfrm>
          <a:prstGeom xmlns:a="http://schemas.openxmlformats.org/drawingml/2006/main" prst="roundRect">
            <a:avLst>
              <a:gd name="adj" fmla="val 5333"/>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C91CCCC4-E69F-427F-BC41-56F1DB0953E3}"/>
              </a:ext>
            </a:extLst>
          </p:cNvPr>
          <p:cNvSpPr>
            <a:spLocks xmlns:a="http://schemas.openxmlformats.org/drawingml/2006/main" noGrp="1"/>
          </p:cNvSpPr>
          <p:nvPr/>
        </p:nvSpPr>
        <p:spPr>
          <a:xfrm xmlns:a="http://schemas.openxmlformats.org/drawingml/2006/main">
            <a:off x="6248400" y="3838575"/>
            <a:ext cx="52292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0A896"/>
                </a:solidFill>
                <a:latin typeface="Calibri"/>
                <a:ea typeface="Calibri"/>
                <a:cs typeface="Calibri"/>
              </a:defRPr>
            </a:pPr>
            <a:r>
              <a:rPr sz="750" b="1" i="0">
                <a:solidFill>
                  <a:srgbClr val="00A896"/>
                </a:solidFill>
                <a:latin typeface="Calibri"/>
                <a:ea typeface="Calibri"/>
                <a:cs typeface="Calibri"/>
              </a:rPr>
              <a:t>DEPLOYED INPUT VECTOR</a:t>
            </a:r>
          </a:p>
        </p:txBody>
      </p:sp>
      <p:sp>
        <p:nvSpPr>
          <p:cNvPr id="18" name="">
            <a:extLst xmlns:a="http://schemas.openxmlformats.org/drawingml/2006/main">
              <a:ext uri="{FF2B5EF4-FFF2-40B4-BE49-F238E27FC236}">
                <a16:creationId xmlns:a16="http://schemas.microsoft.com/office/drawing/2014/main" id="{87E53725-21E3-43F0-8631-B14434C2BAD1}"/>
              </a:ext>
            </a:extLst>
          </p:cNvPr>
          <p:cNvSpPr>
            <a:spLocks xmlns:a="http://schemas.openxmlformats.org/drawingml/2006/main" noGrp="1"/>
          </p:cNvSpPr>
          <p:nvPr/>
        </p:nvSpPr>
        <p:spPr>
          <a:xfrm xmlns:a="http://schemas.openxmlformats.org/drawingml/2006/main">
            <a:off x="6248400" y="4086225"/>
            <a:ext cx="5229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Cambria"/>
                <a:ea typeface="Cambria"/>
                <a:cs typeface="Cambria"/>
              </a:defRPr>
            </a:pPr>
            <a:r>
              <a:rPr sz="1650" b="1" i="0">
                <a:solidFill>
                  <a:srgbClr val="FFFFFF"/>
                </a:solidFill>
                <a:latin typeface="Cambria"/>
                <a:ea typeface="Cambria"/>
                <a:cs typeface="Cambria"/>
              </a:rPr>
              <a:t>xₖ = [V, I, T, Δt, k]</a:t>
            </a:r>
          </a:p>
        </p:txBody>
      </p:sp>
      <p:sp>
        <p:nvSpPr>
          <p:cNvPr id="19" name="">
            <a:extLst xmlns:a="http://schemas.openxmlformats.org/drawingml/2006/main">
              <a:ext uri="{FF2B5EF4-FFF2-40B4-BE49-F238E27FC236}">
                <a16:creationId xmlns:a16="http://schemas.microsoft.com/office/drawing/2014/main" id="{01DA9AE9-AB01-48AD-89D4-43175019E2FD}"/>
              </a:ext>
            </a:extLst>
          </p:cNvPr>
          <p:cNvSpPr>
            <a:spLocks xmlns:a="http://schemas.openxmlformats.org/drawingml/2006/main" noGrp="1"/>
          </p:cNvSpPr>
          <p:nvPr/>
        </p:nvSpPr>
        <p:spPr>
          <a:xfrm xmlns:a="http://schemas.openxmlformats.org/drawingml/2006/main">
            <a:off x="6248400" y="4533900"/>
            <a:ext cx="5229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0">
                <a:solidFill>
                  <a:srgbClr val="C7D8E5"/>
                </a:solidFill>
                <a:latin typeface="Calibri"/>
                <a:ea typeface="Calibri"/>
                <a:cs typeface="Calibri"/>
              </a:defRPr>
            </a:pPr>
            <a:r>
              <a:rPr sz="900" b="0" i="0">
                <a:solidFill>
                  <a:srgbClr val="C7D8E5"/>
                </a:solidFill>
                <a:latin typeface="Calibri"/>
                <a:ea typeface="Calibri"/>
                <a:cs typeface="Calibri"/>
              </a:rPr>
              <a:t>Voltage, current, temperature, measured time-gap, and cycle index. Irregular timing is preserved with Δt and masks.</a:t>
            </a:r>
          </a:p>
        </p:txBody>
      </p:sp>
      <p:sp>
        <p:nvSpPr>
          <p:cNvPr id="20" name="">
            <a:extLst xmlns:a="http://schemas.openxmlformats.org/drawingml/2006/main">
              <a:ext uri="{FF2B5EF4-FFF2-40B4-BE49-F238E27FC236}">
                <a16:creationId xmlns:a16="http://schemas.microsoft.com/office/drawing/2014/main" id="{89BCEC9C-46AC-4D2F-BA8E-69C0457AD65C}"/>
              </a:ext>
            </a:extLst>
          </p:cNvPr>
          <p:cNvSpPr>
            <a:spLocks xmlns:a="http://schemas.openxmlformats.org/drawingml/2006/main" noGrp="1"/>
          </p:cNvSpPr>
          <p:nvPr/>
        </p:nvSpPr>
        <p:spPr>
          <a:xfrm xmlns:a="http://schemas.openxmlformats.org/drawingml/2006/main">
            <a:off x="552450" y="5734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0A896"/>
                </a:solidFill>
                <a:latin typeface="Calibri"/>
                <a:ea typeface="Calibri"/>
                <a:cs typeface="Calibri"/>
              </a:defRPr>
            </a:pPr>
            <a:r>
              <a:rPr sz="1200" b="1" i="0">
                <a:solidFill>
                  <a:srgbClr val="00A896"/>
                </a:solidFill>
                <a:latin typeface="Calibri"/>
                <a:ea typeface="Calibri"/>
                <a:cs typeface="Calibri"/>
              </a:rPr>
              <a:t>Status: implemented and evaluated on NASA B0005/B0006/B0007 → B0018</a:t>
            </a:r>
          </a:p>
        </p:txBody>
      </p:sp>
      <p:sp>
        <p:nvSpPr>
          <p:cNvPr id="21" name="">
            <a:extLst xmlns:a="http://schemas.openxmlformats.org/drawingml/2006/main">
              <a:ext uri="{FF2B5EF4-FFF2-40B4-BE49-F238E27FC236}">
                <a16:creationId xmlns:a16="http://schemas.microsoft.com/office/drawing/2014/main" id="{AEB71D2B-0FDB-4E2C-8635-F167E6782EAE}"/>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8FA9BE"/>
                </a:solidFill>
                <a:latin typeface="Calibri"/>
                <a:ea typeface="Calibri"/>
                <a:cs typeface="Calibri"/>
              </a:defRPr>
            </a:pPr>
            <a:r>
              <a:rPr sz="825" b="0" i="0">
                <a:solidFill>
                  <a:srgbClr val="8FA9BE"/>
                </a:solidFill>
                <a:latin typeface="Calibri"/>
                <a:ea typeface="Calibri"/>
                <a:cs typeface="Calibri"/>
              </a:rPr>
              <a:t>Adaptive PINN Battery Digital Twin</a:t>
            </a:r>
          </a:p>
        </p:txBody>
      </p:sp>
      <p:sp>
        <p:nvSpPr>
          <p:cNvPr id="22" name="">
            <a:extLst xmlns:a="http://schemas.openxmlformats.org/drawingml/2006/main">
              <a:ext uri="{FF2B5EF4-FFF2-40B4-BE49-F238E27FC236}">
                <a16:creationId xmlns:a16="http://schemas.microsoft.com/office/drawing/2014/main" id="{1941F526-B672-4831-9FE8-73EB0C98D5D9}"/>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8FA9BE"/>
                </a:solidFill>
                <a:latin typeface="Calibri"/>
                <a:ea typeface="Calibri"/>
                <a:cs typeface="Calibri"/>
              </a:defRPr>
            </a:pPr>
            <a:r>
              <a:rPr sz="825" b="0" i="0">
                <a:solidFill>
                  <a:srgbClr val="8FA9BE"/>
                </a:solidFill>
                <a:latin typeface="Calibri"/>
                <a:ea typeface="Calibri"/>
                <a:cs typeface="Calibri"/>
              </a:rPr>
              <a:t>23 / 31</a:t>
            </a:r>
          </a:p>
        </p:txBody>
      </p:sp>
    </p:spTree>
    <p:extLst>
      <p:ext uri="{BB962C8B-B14F-4D97-AF65-F5344CB8AC3E}">
        <p14:creationId xmlns:p14="http://schemas.microsoft.com/office/powerpoint/2010/main" val="55589488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D8C6523-F453-4946-BA98-CD0BAEB2D28D}"/>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28090"/>
                </a:solidFill>
                <a:latin typeface="Calibri"/>
                <a:ea typeface="Calibri"/>
                <a:cs typeface="Calibri"/>
              </a:defRPr>
            </a:pPr>
            <a:r>
              <a:rPr sz="900" b="1" i="0">
                <a:solidFill>
                  <a:srgbClr val="028090"/>
                </a:solidFill>
                <a:latin typeface="Calibri"/>
                <a:ea typeface="Calibri"/>
                <a:cs typeface="Calibri"/>
              </a:rPr>
              <a:t>PHASE II · FORMULA AUDIT</a:t>
            </a:r>
          </a:p>
        </p:txBody>
      </p:sp>
      <p:sp>
        <p:nvSpPr>
          <p:cNvPr id="2" name="">
            <a:extLst xmlns:a="http://schemas.openxmlformats.org/drawingml/2006/main">
              <a:ext uri="{FF2B5EF4-FFF2-40B4-BE49-F238E27FC236}">
                <a16:creationId xmlns:a16="http://schemas.microsoft.com/office/drawing/2014/main" id="{783AAD9B-9C0E-4E87-AAE9-A1343C80FFE2}"/>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B2545"/>
                </a:solidFill>
                <a:latin typeface="Cambria"/>
                <a:ea typeface="Cambria"/>
                <a:cs typeface="Cambria"/>
              </a:defRPr>
            </a:pPr>
            <a:r>
              <a:rPr sz="2325" b="1" i="0">
                <a:solidFill>
                  <a:srgbClr val="0B2545"/>
                </a:solidFill>
                <a:latin typeface="Cambria"/>
                <a:ea typeface="Cambria"/>
                <a:cs typeface="Cambria"/>
              </a:rPr>
              <a:t>The active training objective and physical diagnostics</a:t>
            </a:r>
          </a:p>
        </p:txBody>
      </p:sp>
      <p:sp>
        <p:nvSpPr>
          <p:cNvPr id="3" name="">
            <a:extLst xmlns:a="http://schemas.openxmlformats.org/drawingml/2006/main">
              <a:ext uri="{FF2B5EF4-FFF2-40B4-BE49-F238E27FC236}">
                <a16:creationId xmlns:a16="http://schemas.microsoft.com/office/drawing/2014/main" id="{3F56404C-2AC2-4491-8135-02005412BD17}"/>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5B6B79"/>
                </a:solidFill>
                <a:latin typeface="Calibri"/>
                <a:ea typeface="Calibri"/>
                <a:cs typeface="Calibri"/>
              </a:defRPr>
            </a:pPr>
            <a:r>
              <a:rPr sz="1125" b="0" i="0">
                <a:solidFill>
                  <a:srgbClr val="5B6B79"/>
                </a:solidFill>
                <a:latin typeface="Calibri"/>
                <a:ea typeface="Calibri"/>
                <a:cs typeface="Calibri"/>
              </a:rPr>
              <a:t>The first-stage POC uses capacity/degradation consistency that the NASA records can support; it does not claim an SEI-PDE residual.</a:t>
            </a:r>
          </a:p>
        </p:txBody>
      </p:sp>
      <p:sp>
        <p:nvSpPr>
          <p:cNvPr id="4" name="">
            <a:extLst xmlns:a="http://schemas.openxmlformats.org/drawingml/2006/main">
              <a:ext uri="{FF2B5EF4-FFF2-40B4-BE49-F238E27FC236}">
                <a16:creationId xmlns:a16="http://schemas.microsoft.com/office/drawing/2014/main" id="{7BC5ADC7-4ACA-473A-A8D8-7165422C0581}"/>
              </a:ext>
            </a:extLst>
          </p:cNvPr>
          <p:cNvSpPr>
            <a:spLocks xmlns:a="http://schemas.openxmlformats.org/drawingml/2006/main" noGrp="1"/>
          </p:cNvSpPr>
          <p:nvPr/>
        </p:nvSpPr>
        <p:spPr>
          <a:xfrm xmlns:a="http://schemas.openxmlformats.org/drawingml/2006/main">
            <a:off x="552450" y="1905000"/>
            <a:ext cx="11096625" cy="838200"/>
          </a:xfrm>
          <a:prstGeom xmlns:a="http://schemas.openxmlformats.org/drawingml/2006/main" prst="roundRect">
            <a:avLst>
              <a:gd name="adj" fmla="val 9091"/>
            </a:avLst>
          </a:prstGeom>
          <a:solidFill xmlns:a="http://schemas.openxmlformats.org/drawingml/2006/main">
            <a:srgbClr val="0B2545"/>
          </a:solidFill>
          <a:ln xmlns:a="http://schemas.openxmlformats.org/drawingml/2006/main" w="9525">
            <a:solidFill>
              <a:srgbClr val="0B2545"/>
            </a:solid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7D038F2-C525-4501-A129-3F8440EF5B26}"/>
              </a:ext>
            </a:extLst>
          </p:cNvPr>
          <p:cNvSpPr>
            <a:spLocks xmlns:a="http://schemas.openxmlformats.org/drawingml/2006/main" noGrp="1"/>
          </p:cNvSpPr>
          <p:nvPr/>
        </p:nvSpPr>
        <p:spPr>
          <a:xfrm xmlns:a="http://schemas.openxmlformats.org/drawingml/2006/main">
            <a:off x="857250" y="210502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i="0">
                <a:solidFill>
                  <a:srgbClr val="FFFFFF"/>
                </a:solidFill>
                <a:latin typeface="Cambria"/>
                <a:ea typeface="Cambria"/>
                <a:cs typeface="Cambria"/>
              </a:defRPr>
            </a:pPr>
            <a:r>
              <a:rPr sz="2025" b="1" i="0">
                <a:solidFill>
                  <a:srgbClr val="FFFFFF"/>
                </a:solidFill>
                <a:latin typeface="Cambria"/>
                <a:ea typeface="Cambria"/>
                <a:cs typeface="Cambria"/>
              </a:rPr>
              <a:t>L_total = L_data + λ_phys L_phys + λ_cons L_cons</a:t>
            </a:r>
          </a:p>
        </p:txBody>
      </p:sp>
      <p:sp>
        <p:nvSpPr>
          <p:cNvPr id="6" name="">
            <a:extLst xmlns:a="http://schemas.openxmlformats.org/drawingml/2006/main">
              <a:ext uri="{FF2B5EF4-FFF2-40B4-BE49-F238E27FC236}">
                <a16:creationId xmlns:a16="http://schemas.microsoft.com/office/drawing/2014/main" id="{C0F2393C-A1ED-40D7-BFA3-A0252B183015}"/>
              </a:ext>
            </a:extLst>
          </p:cNvPr>
          <p:cNvSpPr>
            <a:spLocks xmlns:a="http://schemas.openxmlformats.org/drawingml/2006/main" noGrp="1"/>
          </p:cNvSpPr>
          <p:nvPr/>
        </p:nvSpPr>
        <p:spPr>
          <a:xfrm xmlns:a="http://schemas.openxmlformats.org/drawingml/2006/main">
            <a:off x="857250" y="24765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846"/>
          </a:bodyPr>
          <a:lstStyle xmlns:a="http://schemas.openxmlformats.org/drawingml/2006/main"/>
          <a:p xmlns:a="http://schemas.openxmlformats.org/drawingml/2006/main">
            <a:pPr>
              <a:defRPr sz="975" b="0" i="0">
                <a:solidFill>
                  <a:srgbClr val="C7D8E5"/>
                </a:solidFill>
                <a:latin typeface="Calibri"/>
                <a:ea typeface="Calibri"/>
                <a:cs typeface="Calibri"/>
              </a:defRPr>
            </a:pPr>
            <a:r>
              <a:rPr sz="975" b="0" i="0">
                <a:solidFill>
                  <a:srgbClr val="C7D8E5"/>
                </a:solidFill>
                <a:latin typeface="Calibri"/>
                <a:ea typeface="Calibri"/>
                <a:cs typeface="Calibri"/>
              </a:rPr>
              <a:t>selected: λ_phys = 0.1 · λ_cons = 1 · RUL scale = 250 cycles</a:t>
            </a:r>
          </a:p>
        </p:txBody>
      </p:sp>
      <p:sp>
        <p:nvSpPr>
          <p:cNvPr id="7" name="">
            <a:extLst xmlns:a="http://schemas.openxmlformats.org/drawingml/2006/main">
              <a:ext uri="{FF2B5EF4-FFF2-40B4-BE49-F238E27FC236}">
                <a16:creationId xmlns:a16="http://schemas.microsoft.com/office/drawing/2014/main" id="{2DA31670-6472-4246-972B-2CB7F8045BDD}"/>
              </a:ext>
            </a:extLst>
          </p:cNvPr>
          <p:cNvSpPr>
            <a:spLocks xmlns:a="http://schemas.openxmlformats.org/drawingml/2006/main" noGrp="1"/>
          </p:cNvSpPr>
          <p:nvPr/>
        </p:nvSpPr>
        <p:spPr>
          <a:xfrm xmlns:a="http://schemas.openxmlformats.org/drawingml/2006/main">
            <a:off x="552450" y="3048000"/>
            <a:ext cx="5238750" cy="1143000"/>
          </a:xfrm>
          <a:prstGeom xmlns:a="http://schemas.openxmlformats.org/drawingml/2006/main" prst="roundRect">
            <a:avLst>
              <a:gd name="adj" fmla="val 6667"/>
            </a:avLst>
          </a:prstGeom>
          <a:solidFill xmlns:a="http://schemas.openxmlformats.org/drawingml/2006/main">
            <a:srgbClr val="F4F8FA"/>
          </a:solidFill>
          <a:ln xmlns:a="http://schemas.openxmlformats.org/drawingml/2006/main" w="9525">
            <a:solidFill>
              <a:srgbClr val="D7E3E9"/>
            </a:solid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84CDF691-163C-4CB4-8D62-2230FBAA12EC}"/>
              </a:ext>
            </a:extLst>
          </p:cNvPr>
          <p:cNvSpPr>
            <a:spLocks xmlns:a="http://schemas.openxmlformats.org/drawingml/2006/main" noGrp="1"/>
          </p:cNvSpPr>
          <p:nvPr/>
        </p:nvSpPr>
        <p:spPr>
          <a:xfrm xmlns:a="http://schemas.openxmlformats.org/drawingml/2006/main">
            <a:off x="723900" y="3171825"/>
            <a:ext cx="4895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DATA LOSS</a:t>
            </a:r>
          </a:p>
        </p:txBody>
      </p:sp>
      <p:sp>
        <p:nvSpPr>
          <p:cNvPr id="9" name="">
            <a:extLst xmlns:a="http://schemas.openxmlformats.org/drawingml/2006/main">
              <a:ext uri="{FF2B5EF4-FFF2-40B4-BE49-F238E27FC236}">
                <a16:creationId xmlns:a16="http://schemas.microsoft.com/office/drawing/2014/main" id="{FE8DE0AD-811F-492F-9574-E1D030E50187}"/>
              </a:ext>
            </a:extLst>
          </p:cNvPr>
          <p:cNvSpPr>
            <a:spLocks xmlns:a="http://schemas.openxmlformats.org/drawingml/2006/main" noGrp="1"/>
          </p:cNvSpPr>
          <p:nvPr/>
        </p:nvSpPr>
        <p:spPr>
          <a:xfrm xmlns:a="http://schemas.openxmlformats.org/drawingml/2006/main">
            <a:off x="723900" y="3419475"/>
            <a:ext cx="4895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0B2545"/>
                </a:solidFill>
                <a:latin typeface="Cambria"/>
                <a:ea typeface="Cambria"/>
                <a:cs typeface="Cambria"/>
              </a:defRPr>
            </a:pPr>
            <a:r>
              <a:rPr sz="1350" b="1" i="0">
                <a:solidFill>
                  <a:srgbClr val="0B2545"/>
                </a:solidFill>
                <a:latin typeface="Cambria"/>
                <a:ea typeface="Cambria"/>
                <a:cs typeface="Cambria"/>
              </a:rPr>
              <a:t>L_data = mean|ŝoh−soh| + mean|r̂ul−rul|/250</a:t>
            </a:r>
          </a:p>
        </p:txBody>
      </p:sp>
      <p:sp>
        <p:nvSpPr>
          <p:cNvPr id="10" name="">
            <a:extLst xmlns:a="http://schemas.openxmlformats.org/drawingml/2006/main">
              <a:ext uri="{FF2B5EF4-FFF2-40B4-BE49-F238E27FC236}">
                <a16:creationId xmlns:a16="http://schemas.microsoft.com/office/drawing/2014/main" id="{F55B9AA2-17EE-41B3-9543-29A7B523A960}"/>
              </a:ext>
            </a:extLst>
          </p:cNvPr>
          <p:cNvSpPr>
            <a:spLocks xmlns:a="http://schemas.openxmlformats.org/drawingml/2006/main" noGrp="1"/>
          </p:cNvSpPr>
          <p:nvPr/>
        </p:nvSpPr>
        <p:spPr>
          <a:xfrm xmlns:a="http://schemas.openxmlformats.org/drawingml/2006/main">
            <a:off x="723900" y="3829050"/>
            <a:ext cx="4895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0">
                <a:solidFill>
                  <a:srgbClr val="5B6B79"/>
                </a:solidFill>
                <a:latin typeface="Calibri"/>
                <a:ea typeface="Calibri"/>
                <a:cs typeface="Calibri"/>
              </a:defRPr>
            </a:pPr>
            <a:r>
              <a:rPr sz="900" b="0" i="0">
                <a:solidFill>
                  <a:srgbClr val="5B6B79"/>
                </a:solidFill>
                <a:latin typeface="Calibri"/>
                <a:ea typeface="Calibri"/>
                <a:cs typeface="Calibri"/>
              </a:rPr>
              <a:t>Joint SOH and RUL regression with valid-cycle masks.</a:t>
            </a:r>
          </a:p>
        </p:txBody>
      </p:sp>
      <p:sp>
        <p:nvSpPr>
          <p:cNvPr id="11" name="">
            <a:extLst xmlns:a="http://schemas.openxmlformats.org/drawingml/2006/main">
              <a:ext uri="{FF2B5EF4-FFF2-40B4-BE49-F238E27FC236}">
                <a16:creationId xmlns:a16="http://schemas.microsoft.com/office/drawing/2014/main" id="{58AEAA51-08CC-4005-BA00-0AABAD34CD07}"/>
              </a:ext>
            </a:extLst>
          </p:cNvPr>
          <p:cNvSpPr>
            <a:spLocks xmlns:a="http://schemas.openxmlformats.org/drawingml/2006/main" noGrp="1"/>
          </p:cNvSpPr>
          <p:nvPr/>
        </p:nvSpPr>
        <p:spPr>
          <a:xfrm xmlns:a="http://schemas.openxmlformats.org/drawingml/2006/main">
            <a:off x="6076950" y="3048000"/>
            <a:ext cx="5572125" cy="1143000"/>
          </a:xfrm>
          <a:prstGeom xmlns:a="http://schemas.openxmlformats.org/drawingml/2006/main" prst="roundRect">
            <a:avLst>
              <a:gd name="adj" fmla="val 6667"/>
            </a:avLst>
          </a:prstGeom>
          <a:solidFill xmlns:a="http://schemas.openxmlformats.org/drawingml/2006/main">
            <a:srgbClr val="F4F8FA"/>
          </a:solidFill>
          <a:ln xmlns:a="http://schemas.openxmlformats.org/drawingml/2006/main" w="9525">
            <a:solidFill>
              <a:srgbClr val="D7E3E9"/>
            </a:solidFill>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4D1DAC3-9B9E-472A-BA64-BEB99289856C}"/>
              </a:ext>
            </a:extLst>
          </p:cNvPr>
          <p:cNvSpPr>
            <a:spLocks xmlns:a="http://schemas.openxmlformats.org/drawingml/2006/main" noGrp="1"/>
          </p:cNvSpPr>
          <p:nvPr/>
        </p:nvSpPr>
        <p:spPr>
          <a:xfrm xmlns:a="http://schemas.openxmlformats.org/drawingml/2006/main">
            <a:off x="6248400" y="3171825"/>
            <a:ext cx="52292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SOFT PHYSICS LOSS</a:t>
            </a:r>
          </a:p>
        </p:txBody>
      </p:sp>
      <p:sp>
        <p:nvSpPr>
          <p:cNvPr id="13" name="">
            <a:extLst xmlns:a="http://schemas.openxmlformats.org/drawingml/2006/main">
              <a:ext uri="{FF2B5EF4-FFF2-40B4-BE49-F238E27FC236}">
                <a16:creationId xmlns:a16="http://schemas.microsoft.com/office/drawing/2014/main" id="{DCBCE924-8817-44C1-9373-F91FC5F73DA9}"/>
              </a:ext>
            </a:extLst>
          </p:cNvPr>
          <p:cNvSpPr>
            <a:spLocks xmlns:a="http://schemas.openxmlformats.org/drawingml/2006/main" noGrp="1"/>
          </p:cNvSpPr>
          <p:nvPr/>
        </p:nvSpPr>
        <p:spPr>
          <a:xfrm xmlns:a="http://schemas.openxmlformats.org/drawingml/2006/main">
            <a:off x="6248400" y="3419475"/>
            <a:ext cx="5229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i="0">
                <a:solidFill>
                  <a:srgbClr val="0B2545"/>
                </a:solidFill>
                <a:latin typeface="Cambria"/>
                <a:ea typeface="Cambria"/>
                <a:cs typeface="Cambria"/>
              </a:defRPr>
            </a:pPr>
            <a:r>
              <a:rPr sz="1275" b="1" i="0">
                <a:solidFill>
                  <a:srgbClr val="0B2545"/>
                </a:solidFill>
                <a:latin typeface="Cambria"/>
                <a:ea typeface="Cambria"/>
                <a:cs typeface="Cambria"/>
              </a:rPr>
              <a:t>L_phys = mean ReLU(Δŝoh) + mean ReLU(Δr̂ul)</a:t>
            </a:r>
          </a:p>
        </p:txBody>
      </p:sp>
      <p:sp>
        <p:nvSpPr>
          <p:cNvPr id="14" name="">
            <a:extLst xmlns:a="http://schemas.openxmlformats.org/drawingml/2006/main">
              <a:ext uri="{FF2B5EF4-FFF2-40B4-BE49-F238E27FC236}">
                <a16:creationId xmlns:a16="http://schemas.microsoft.com/office/drawing/2014/main" id="{69CB6AF1-725C-4304-8D9C-AAB3D28D8248}"/>
              </a:ext>
            </a:extLst>
          </p:cNvPr>
          <p:cNvSpPr>
            <a:spLocks xmlns:a="http://schemas.openxmlformats.org/drawingml/2006/main" noGrp="1"/>
          </p:cNvSpPr>
          <p:nvPr/>
        </p:nvSpPr>
        <p:spPr>
          <a:xfrm xmlns:a="http://schemas.openxmlformats.org/drawingml/2006/main">
            <a:off x="6248400" y="3829050"/>
            <a:ext cx="5229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062"/>
          </a:bodyPr>
          <a:lstStyle xmlns:a="http://schemas.openxmlformats.org/drawingml/2006/main"/>
          <a:p xmlns:a="http://schemas.openxmlformats.org/drawingml/2006/main">
            <a:pPr>
              <a:defRPr sz="900" b="0" i="0">
                <a:solidFill>
                  <a:srgbClr val="5B6B79"/>
                </a:solidFill>
                <a:latin typeface="Calibri"/>
                <a:ea typeface="Calibri"/>
                <a:cs typeface="Calibri"/>
              </a:defRPr>
            </a:pPr>
            <a:r>
              <a:rPr sz="900" b="0" i="0">
                <a:solidFill>
                  <a:srgbClr val="5B6B79"/>
                </a:solidFill>
                <a:latin typeface="Calibri"/>
                <a:ea typeface="Calibri"/>
                <a:cs typeface="Calibri"/>
              </a:rPr>
              <a:t>Penalizes predicted SOH or RUL increases across ordered cycles; soft because real cells can show local regeneration.</a:t>
            </a:r>
          </a:p>
        </p:txBody>
      </p:sp>
      <p:sp>
        <p:nvSpPr>
          <p:cNvPr id="15" name="">
            <a:extLst xmlns:a="http://schemas.openxmlformats.org/drawingml/2006/main">
              <a:ext uri="{FF2B5EF4-FFF2-40B4-BE49-F238E27FC236}">
                <a16:creationId xmlns:a16="http://schemas.microsoft.com/office/drawing/2014/main" id="{8C8A7C0C-781B-4AF2-9A2E-A833B267EFCC}"/>
              </a:ext>
            </a:extLst>
          </p:cNvPr>
          <p:cNvSpPr>
            <a:spLocks xmlns:a="http://schemas.openxmlformats.org/drawingml/2006/main" noGrp="1"/>
          </p:cNvSpPr>
          <p:nvPr/>
        </p:nvSpPr>
        <p:spPr>
          <a:xfrm xmlns:a="http://schemas.openxmlformats.org/drawingml/2006/main">
            <a:off x="552450" y="4400550"/>
            <a:ext cx="5238750" cy="1143000"/>
          </a:xfrm>
          <a:prstGeom xmlns:a="http://schemas.openxmlformats.org/drawingml/2006/main" prst="roundRect">
            <a:avLst>
              <a:gd name="adj" fmla="val 6667"/>
            </a:avLst>
          </a:prstGeom>
          <a:solidFill xmlns:a="http://schemas.openxmlformats.org/drawingml/2006/main">
            <a:srgbClr val="F4F8FA"/>
          </a:solidFill>
          <a:ln xmlns:a="http://schemas.openxmlformats.org/drawingml/2006/main" w="9525">
            <a:solidFill>
              <a:srgbClr val="D7E3E9"/>
            </a:solidFill>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4DAD6B9E-2485-462C-9B98-8BCF15DD083E}"/>
              </a:ext>
            </a:extLst>
          </p:cNvPr>
          <p:cNvSpPr>
            <a:spLocks xmlns:a="http://schemas.openxmlformats.org/drawingml/2006/main" noGrp="1"/>
          </p:cNvSpPr>
          <p:nvPr/>
        </p:nvSpPr>
        <p:spPr>
          <a:xfrm xmlns:a="http://schemas.openxmlformats.org/drawingml/2006/main">
            <a:off x="723900" y="4524375"/>
            <a:ext cx="4895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CURVE CONSISTENCY</a:t>
            </a:r>
          </a:p>
        </p:txBody>
      </p:sp>
      <p:sp>
        <p:nvSpPr>
          <p:cNvPr id="17" name="">
            <a:extLst xmlns:a="http://schemas.openxmlformats.org/drawingml/2006/main">
              <a:ext uri="{FF2B5EF4-FFF2-40B4-BE49-F238E27FC236}">
                <a16:creationId xmlns:a16="http://schemas.microsoft.com/office/drawing/2014/main" id="{EF6DD274-3B2C-4AA4-8E67-BD62758F2494}"/>
              </a:ext>
            </a:extLst>
          </p:cNvPr>
          <p:cNvSpPr>
            <a:spLocks xmlns:a="http://schemas.openxmlformats.org/drawingml/2006/main" noGrp="1"/>
          </p:cNvSpPr>
          <p:nvPr/>
        </p:nvSpPr>
        <p:spPr>
          <a:xfrm xmlns:a="http://schemas.openxmlformats.org/drawingml/2006/main">
            <a:off x="723900" y="4772025"/>
            <a:ext cx="4895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0B2545"/>
                </a:solidFill>
                <a:latin typeface="Cambria"/>
                <a:ea typeface="Cambria"/>
                <a:cs typeface="Cambria"/>
              </a:defRPr>
            </a:pPr>
            <a:r>
              <a:rPr sz="1425" b="1" i="0">
                <a:solidFill>
                  <a:srgbClr val="0B2545"/>
                </a:solidFill>
                <a:latin typeface="Cambria"/>
                <a:ea typeface="Cambria"/>
                <a:cs typeface="Cambria"/>
              </a:rPr>
              <a:t>L_cons = mean|Δŝoh−Δsoh| / 100</a:t>
            </a:r>
          </a:p>
        </p:txBody>
      </p:sp>
      <p:sp>
        <p:nvSpPr>
          <p:cNvPr id="18" name="">
            <a:extLst xmlns:a="http://schemas.openxmlformats.org/drawingml/2006/main">
              <a:ext uri="{FF2B5EF4-FFF2-40B4-BE49-F238E27FC236}">
                <a16:creationId xmlns:a16="http://schemas.microsoft.com/office/drawing/2014/main" id="{275A7F2F-EE63-45D1-A1A7-AECF7C208D2B}"/>
              </a:ext>
            </a:extLst>
          </p:cNvPr>
          <p:cNvSpPr>
            <a:spLocks xmlns:a="http://schemas.openxmlformats.org/drawingml/2006/main" noGrp="1"/>
          </p:cNvSpPr>
          <p:nvPr/>
        </p:nvSpPr>
        <p:spPr>
          <a:xfrm xmlns:a="http://schemas.openxmlformats.org/drawingml/2006/main">
            <a:off x="723900" y="5181600"/>
            <a:ext cx="4895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0">
                <a:solidFill>
                  <a:srgbClr val="5B6B79"/>
                </a:solidFill>
                <a:latin typeface="Calibri"/>
                <a:ea typeface="Calibri"/>
                <a:cs typeface="Calibri"/>
              </a:defRPr>
            </a:pPr>
            <a:r>
              <a:rPr sz="900" b="0" i="0">
                <a:solidFill>
                  <a:srgbClr val="5B6B79"/>
                </a:solidFill>
                <a:latin typeface="Calibri"/>
                <a:ea typeface="Calibri"/>
                <a:cs typeface="Calibri"/>
              </a:rPr>
              <a:t>Capacity-curve shape residual between predicted and measured SOH changes.</a:t>
            </a:r>
          </a:p>
        </p:txBody>
      </p:sp>
      <p:sp>
        <p:nvSpPr>
          <p:cNvPr id="19" name="">
            <a:extLst xmlns:a="http://schemas.openxmlformats.org/drawingml/2006/main">
              <a:ext uri="{FF2B5EF4-FFF2-40B4-BE49-F238E27FC236}">
                <a16:creationId xmlns:a16="http://schemas.microsoft.com/office/drawing/2014/main" id="{69F772E6-C94E-4E8C-809C-9ADCFC06972F}"/>
              </a:ext>
            </a:extLst>
          </p:cNvPr>
          <p:cNvSpPr>
            <a:spLocks xmlns:a="http://schemas.openxmlformats.org/drawingml/2006/main" noGrp="1"/>
          </p:cNvSpPr>
          <p:nvPr/>
        </p:nvSpPr>
        <p:spPr>
          <a:xfrm xmlns:a="http://schemas.openxmlformats.org/drawingml/2006/main">
            <a:off x="6076950" y="4400550"/>
            <a:ext cx="5572125" cy="1143000"/>
          </a:xfrm>
          <a:prstGeom xmlns:a="http://schemas.openxmlformats.org/drawingml/2006/main" prst="roundRect">
            <a:avLst>
              <a:gd name="adj" fmla="val 6667"/>
            </a:avLst>
          </a:prstGeom>
          <a:solidFill xmlns:a="http://schemas.openxmlformats.org/drawingml/2006/main">
            <a:srgbClr val="F4F8FA"/>
          </a:solidFill>
          <a:ln xmlns:a="http://schemas.openxmlformats.org/drawingml/2006/main" w="9525">
            <a:solidFill>
              <a:srgbClr val="D7E3E9"/>
            </a:solidFill>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E00313DD-81AC-4777-A425-1D59CDD8059F}"/>
              </a:ext>
            </a:extLst>
          </p:cNvPr>
          <p:cNvSpPr>
            <a:spLocks xmlns:a="http://schemas.openxmlformats.org/drawingml/2006/main" noGrp="1"/>
          </p:cNvSpPr>
          <p:nvPr/>
        </p:nvSpPr>
        <p:spPr>
          <a:xfrm xmlns:a="http://schemas.openxmlformats.org/drawingml/2006/main">
            <a:off x="6248400" y="4524375"/>
            <a:ext cx="52292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BOUNDED HEADS</a:t>
            </a:r>
          </a:p>
        </p:txBody>
      </p:sp>
      <p:sp>
        <p:nvSpPr>
          <p:cNvPr id="21" name="">
            <a:extLst xmlns:a="http://schemas.openxmlformats.org/drawingml/2006/main">
              <a:ext uri="{FF2B5EF4-FFF2-40B4-BE49-F238E27FC236}">
                <a16:creationId xmlns:a16="http://schemas.microsoft.com/office/drawing/2014/main" id="{DDE3CECC-D6BE-410A-815C-53803A17717F}"/>
              </a:ext>
            </a:extLst>
          </p:cNvPr>
          <p:cNvSpPr>
            <a:spLocks xmlns:a="http://schemas.openxmlformats.org/drawingml/2006/main" noGrp="1"/>
          </p:cNvSpPr>
          <p:nvPr/>
        </p:nvSpPr>
        <p:spPr>
          <a:xfrm xmlns:a="http://schemas.openxmlformats.org/drawingml/2006/main">
            <a:off x="6248400" y="4772025"/>
            <a:ext cx="5229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0B2545"/>
                </a:solidFill>
                <a:latin typeface="Cambria"/>
                <a:ea typeface="Cambria"/>
                <a:cs typeface="Cambria"/>
              </a:defRPr>
            </a:pPr>
            <a:r>
              <a:rPr sz="1425" b="1" i="0">
                <a:solidFill>
                  <a:srgbClr val="0B2545"/>
                </a:solidFill>
                <a:latin typeface="Cambria"/>
                <a:ea typeface="Cambria"/>
                <a:cs typeface="Cambria"/>
              </a:rPr>
              <a:t>ŝoh = 100·σ(z₁),  r̂ul = 250·σ(z₂)</a:t>
            </a:r>
          </a:p>
        </p:txBody>
      </p:sp>
      <p:sp>
        <p:nvSpPr>
          <p:cNvPr id="22" name="">
            <a:extLst xmlns:a="http://schemas.openxmlformats.org/drawingml/2006/main">
              <a:ext uri="{FF2B5EF4-FFF2-40B4-BE49-F238E27FC236}">
                <a16:creationId xmlns:a16="http://schemas.microsoft.com/office/drawing/2014/main" id="{9E497E30-8BD3-4E4A-83A5-FF734C3304BE}"/>
              </a:ext>
            </a:extLst>
          </p:cNvPr>
          <p:cNvSpPr>
            <a:spLocks xmlns:a="http://schemas.openxmlformats.org/drawingml/2006/main" noGrp="1"/>
          </p:cNvSpPr>
          <p:nvPr/>
        </p:nvSpPr>
        <p:spPr>
          <a:xfrm xmlns:a="http://schemas.openxmlformats.org/drawingml/2006/main">
            <a:off x="6248400" y="5181600"/>
            <a:ext cx="5229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187"/>
          </a:bodyPr>
          <a:lstStyle xmlns:a="http://schemas.openxmlformats.org/drawingml/2006/main"/>
          <a:p xmlns:a="http://schemas.openxmlformats.org/drawingml/2006/main">
            <a:pPr>
              <a:defRPr sz="900" b="0" i="0">
                <a:solidFill>
                  <a:srgbClr val="5B6B79"/>
                </a:solidFill>
                <a:latin typeface="Calibri"/>
                <a:ea typeface="Calibri"/>
                <a:cs typeface="Calibri"/>
              </a:defRPr>
            </a:pPr>
            <a:r>
              <a:rPr sz="900" b="0" i="0">
                <a:solidFill>
                  <a:srgbClr val="5B6B79"/>
                </a:solidFill>
                <a:latin typeface="Calibri"/>
                <a:ea typeface="Calibri"/>
                <a:cs typeface="Calibri"/>
              </a:rPr>
              <a:t>Output contract: SOH ∈ [0,100] and RUL ∈ [0,250]. The nonnegative-consistency term is an explicit zero-valued future hook.</a:t>
            </a:r>
          </a:p>
        </p:txBody>
      </p:sp>
      <p:sp>
        <p:nvSpPr>
          <p:cNvPr id="23" name="">
            <a:extLst xmlns:a="http://schemas.openxmlformats.org/drawingml/2006/main">
              <a:ext uri="{FF2B5EF4-FFF2-40B4-BE49-F238E27FC236}">
                <a16:creationId xmlns:a16="http://schemas.microsoft.com/office/drawing/2014/main" id="{A0148B20-B048-42DA-81DC-75102B7117F9}"/>
              </a:ext>
            </a:extLst>
          </p:cNvPr>
          <p:cNvSpPr>
            <a:spLocks xmlns:a="http://schemas.openxmlformats.org/drawingml/2006/main" noGrp="1"/>
          </p:cNvSpPr>
          <p:nvPr/>
        </p:nvSpPr>
        <p:spPr>
          <a:xfrm xmlns:a="http://schemas.openxmlformats.org/drawingml/2006/main">
            <a:off x="552450" y="5857875"/>
            <a:ext cx="1109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75" b="0" i="1">
                <a:solidFill>
                  <a:srgbClr val="5B6B79"/>
                </a:solidFill>
                <a:latin typeface="Calibri"/>
                <a:ea typeface="Calibri"/>
                <a:cs typeface="Calibri"/>
              </a:defRPr>
            </a:pPr>
            <a:r>
              <a:rPr sz="975" b="0" i="1">
                <a:solidFill>
                  <a:srgbClr val="5B6B79"/>
                </a:solidFill>
                <a:latin typeface="Calibri"/>
                <a:ea typeface="Calibri"/>
                <a:cs typeface="Calibri"/>
              </a:rPr>
              <a:t>Diagnostics reported: SOH bounds violation · negative RUL rate · degradation violation rate · SOH/RUL consistency violation · capacity-curve residual</a:t>
            </a:r>
          </a:p>
        </p:txBody>
      </p:sp>
      <p:sp>
        <p:nvSpPr>
          <p:cNvPr id="24" name="">
            <a:extLst xmlns:a="http://schemas.openxmlformats.org/drawingml/2006/main">
              <a:ext uri="{FF2B5EF4-FFF2-40B4-BE49-F238E27FC236}">
                <a16:creationId xmlns:a16="http://schemas.microsoft.com/office/drawing/2014/main" id="{3B63B5EA-23D0-4D6C-90A2-5A5A53761B0D}"/>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25" name="">
            <a:extLst xmlns:a="http://schemas.openxmlformats.org/drawingml/2006/main">
              <a:ext uri="{FF2B5EF4-FFF2-40B4-BE49-F238E27FC236}">
                <a16:creationId xmlns:a16="http://schemas.microsoft.com/office/drawing/2014/main" id="{50D7C368-5D25-4578-8C5D-8C34C9089419}"/>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24 / 31</a:t>
            </a:r>
          </a:p>
        </p:txBody>
      </p:sp>
    </p:spTree>
    <p:extLst>
      <p:ext uri="{BB962C8B-B14F-4D97-AF65-F5344CB8AC3E}">
        <p14:creationId xmlns:p14="http://schemas.microsoft.com/office/powerpoint/2010/main" val="2133636287"/>
      </p:ext>
    </p:extLst>
  </p:cSld>
</p:sld>
</file>

<file path=ppt/slides/slide25.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8C44AFE-D8DF-45D0-B110-F8940252FE4D}"/>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0A896"/>
                </a:solidFill>
                <a:latin typeface="Calibri"/>
                <a:ea typeface="Calibri"/>
                <a:cs typeface="Calibri"/>
              </a:defRPr>
            </a:pPr>
            <a:r>
              <a:t>BASE PAPER · EQUATIONS (1–5)</a:t>
            </a:r>
          </a:p>
        </p:txBody>
      </p:sp>
      <p:sp>
        <p:nvSpPr>
          <p:cNvPr id="2" name="">
            <a:extLst xmlns:a="http://schemas.openxmlformats.org/drawingml/2006/main">
              <a:ext uri="{FF2B5EF4-FFF2-40B4-BE49-F238E27FC236}">
                <a16:creationId xmlns:a16="http://schemas.microsoft.com/office/drawing/2014/main" id="{14DF756E-B860-4721-86C2-41D2398B9521}"/>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FFFFFF"/>
                </a:solidFill>
                <a:latin typeface="Cambria"/>
                <a:ea typeface="Cambria"/>
                <a:cs typeface="Cambria"/>
              </a:defRPr>
            </a:pPr>
            <a:r>
              <a:rPr sz="2325" b="1" i="0">
                <a:solidFill>
                  <a:srgbClr val="FFFFFF"/>
                </a:solidFill>
                <a:latin typeface="Cambria"/>
                <a:ea typeface="Cambria"/>
                <a:cs typeface="Cambria"/>
              </a:rPr>
              <a:t>Base paper: general PINN formulation</a:t>
            </a:r>
          </a:p>
        </p:txBody>
      </p:sp>
      <p:sp>
        <p:nvSpPr>
          <p:cNvPr id="3" name="">
            <a:extLst xmlns:a="http://schemas.openxmlformats.org/drawingml/2006/main">
              <a:ext uri="{FF2B5EF4-FFF2-40B4-BE49-F238E27FC236}">
                <a16:creationId xmlns:a16="http://schemas.microsoft.com/office/drawing/2014/main" id="{DC3D42ED-7CAA-4EFF-B860-25D5ACC1CE06}"/>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C7D8E5"/>
                </a:solidFill>
                <a:latin typeface="Calibri"/>
                <a:ea typeface="Calibri"/>
                <a:cs typeface="Calibri"/>
              </a:defRPr>
            </a:pPr>
            <a:r>
              <a:rPr sz="1125" b="0" i="0">
                <a:solidFill>
                  <a:srgbClr val="C7D8E5"/>
                </a:solidFill>
                <a:latin typeface="Calibri"/>
                <a:ea typeface="Calibri"/>
                <a:cs typeface="Calibri"/>
              </a:rPr>
              <a:t>Transcribed from the methodological review, pp. 4–5. These are representative framework equations, not one new end-to-end model.</a:t>
            </a:r>
          </a:p>
        </p:txBody>
      </p:sp>
      <p:sp>
        <p:nvSpPr>
          <p:cNvPr id="4" name="">
            <a:extLst xmlns:a="http://schemas.openxmlformats.org/drawingml/2006/main">
              <a:ext uri="{FF2B5EF4-FFF2-40B4-BE49-F238E27FC236}">
                <a16:creationId xmlns:a16="http://schemas.microsoft.com/office/drawing/2014/main" id="{A2DF957C-A6C3-4C86-93EF-7CB2B266ADC2}"/>
              </a:ext>
            </a:extLst>
          </p:cNvPr>
          <p:cNvSpPr>
            <a:spLocks xmlns:a="http://schemas.openxmlformats.org/drawingml/2006/main" noGrp="1"/>
          </p:cNvSpPr>
          <p:nvPr/>
        </p:nvSpPr>
        <p:spPr>
          <a:xfrm xmlns:a="http://schemas.openxmlformats.org/drawingml/2006/main">
            <a:off x="552450" y="1952625"/>
            <a:ext cx="5238750" cy="1000125"/>
          </a:xfrm>
          <a:prstGeom xmlns:a="http://schemas.openxmlformats.org/drawingml/2006/main" prst="roundRect">
            <a:avLst>
              <a:gd name="adj" fmla="val 7619"/>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A56D948-F191-4E37-A34A-90DA50ABE947}"/>
              </a:ext>
            </a:extLst>
          </p:cNvPr>
          <p:cNvSpPr>
            <a:spLocks xmlns:a="http://schemas.openxmlformats.org/drawingml/2006/main" noGrp="1"/>
          </p:cNvSpPr>
          <p:nvPr/>
        </p:nvSpPr>
        <p:spPr>
          <a:xfrm xmlns:a="http://schemas.openxmlformats.org/drawingml/2006/main">
            <a:off x="723900" y="2076450"/>
            <a:ext cx="4895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0A896"/>
                </a:solidFill>
                <a:latin typeface="Calibri"/>
                <a:ea typeface="Calibri"/>
                <a:cs typeface="Calibri"/>
              </a:defRPr>
            </a:pPr>
            <a:r>
              <a:rPr sz="750" b="1" i="0">
                <a:solidFill>
                  <a:srgbClr val="00A896"/>
                </a:solidFill>
                <a:latin typeface="Calibri"/>
                <a:ea typeface="Calibri"/>
                <a:cs typeface="Calibri"/>
              </a:rPr>
              <a:t>(1) NEURAL APPROXIMATION</a:t>
            </a:r>
          </a:p>
        </p:txBody>
      </p:sp>
      <p:sp>
        <p:nvSpPr>
          <p:cNvPr id="6" name="">
            <a:extLst xmlns:a="http://schemas.openxmlformats.org/drawingml/2006/main">
              <a:ext uri="{FF2B5EF4-FFF2-40B4-BE49-F238E27FC236}">
                <a16:creationId xmlns:a16="http://schemas.microsoft.com/office/drawing/2014/main" id="{A8B95EBA-0715-48C2-8CD8-157EF744F5E5}"/>
              </a:ext>
            </a:extLst>
          </p:cNvPr>
          <p:cNvSpPr>
            <a:spLocks xmlns:a="http://schemas.openxmlformats.org/drawingml/2006/main" noGrp="1"/>
          </p:cNvSpPr>
          <p:nvPr/>
        </p:nvSpPr>
        <p:spPr>
          <a:xfrm xmlns:a="http://schemas.openxmlformats.org/drawingml/2006/main">
            <a:off x="723900" y="2324100"/>
            <a:ext cx="4895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i="0">
                <a:solidFill>
                  <a:srgbClr val="FFFFFF"/>
                </a:solidFill>
                <a:latin typeface="Cambria"/>
                <a:ea typeface="Cambria"/>
                <a:cs typeface="Cambria"/>
              </a:defRPr>
            </a:pPr>
            <a:r>
              <a:rPr sz="1875" b="1" i="0">
                <a:solidFill>
                  <a:srgbClr val="FFFFFF"/>
                </a:solidFill>
                <a:latin typeface="Cambria"/>
                <a:ea typeface="Cambria"/>
                <a:cs typeface="Cambria"/>
              </a:rPr>
              <a:t>uθ(x,t) = NNθ(x,t)</a:t>
            </a:r>
          </a:p>
        </p:txBody>
      </p:sp>
      <p:sp>
        <p:nvSpPr>
          <p:cNvPr id="7" name="">
            <a:extLst xmlns:a="http://schemas.openxmlformats.org/drawingml/2006/main">
              <a:ext uri="{FF2B5EF4-FFF2-40B4-BE49-F238E27FC236}">
                <a16:creationId xmlns:a16="http://schemas.microsoft.com/office/drawing/2014/main" id="{28A9B762-FB60-4FE6-BD77-AB3CDCD50D0F}"/>
              </a:ext>
            </a:extLst>
          </p:cNvPr>
          <p:cNvSpPr>
            <a:spLocks xmlns:a="http://schemas.openxmlformats.org/drawingml/2006/main" noGrp="1"/>
          </p:cNvSpPr>
          <p:nvPr/>
        </p:nvSpPr>
        <p:spPr>
          <a:xfrm xmlns:a="http://schemas.openxmlformats.org/drawingml/2006/main">
            <a:off x="723900" y="2609850"/>
            <a:ext cx="4895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b="0" i="0">
                <a:solidFill>
                  <a:srgbClr val="C7D8E5"/>
                </a:solidFill>
                <a:latin typeface="Calibri"/>
                <a:ea typeface="Calibri"/>
                <a:cs typeface="Calibri"/>
              </a:defRPr>
            </a:pPr>
            <a:r>
              <a:rPr sz="825" b="0" i="0">
                <a:solidFill>
                  <a:srgbClr val="C7D8E5"/>
                </a:solidFill>
                <a:latin typeface="Calibri"/>
                <a:ea typeface="Calibri"/>
                <a:cs typeface="Calibri"/>
              </a:rPr>
              <a:t>A network represents a battery state variable such as concentration, voltage, temperature, or SOC.</a:t>
            </a:r>
          </a:p>
        </p:txBody>
      </p:sp>
      <p:sp>
        <p:nvSpPr>
          <p:cNvPr id="8" name="">
            <a:extLst xmlns:a="http://schemas.openxmlformats.org/drawingml/2006/main">
              <a:ext uri="{FF2B5EF4-FFF2-40B4-BE49-F238E27FC236}">
                <a16:creationId xmlns:a16="http://schemas.microsoft.com/office/drawing/2014/main" id="{6D535488-F4E2-4FA8-A5D8-BD4986CE2DB1}"/>
              </a:ext>
            </a:extLst>
          </p:cNvPr>
          <p:cNvSpPr>
            <a:spLocks xmlns:a="http://schemas.openxmlformats.org/drawingml/2006/main" noGrp="1"/>
          </p:cNvSpPr>
          <p:nvPr/>
        </p:nvSpPr>
        <p:spPr>
          <a:xfrm xmlns:a="http://schemas.openxmlformats.org/drawingml/2006/main">
            <a:off x="6076950" y="1952625"/>
            <a:ext cx="5572125" cy="1000125"/>
          </a:xfrm>
          <a:prstGeom xmlns:a="http://schemas.openxmlformats.org/drawingml/2006/main" prst="roundRect">
            <a:avLst>
              <a:gd name="adj" fmla="val 7619"/>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DA103914-47BE-46FF-9BB4-9608EC110360}"/>
              </a:ext>
            </a:extLst>
          </p:cNvPr>
          <p:cNvSpPr>
            <a:spLocks xmlns:a="http://schemas.openxmlformats.org/drawingml/2006/main" noGrp="1"/>
          </p:cNvSpPr>
          <p:nvPr/>
        </p:nvSpPr>
        <p:spPr>
          <a:xfrm xmlns:a="http://schemas.openxmlformats.org/drawingml/2006/main">
            <a:off x="6248400" y="2076450"/>
            <a:ext cx="52292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0A896"/>
                </a:solidFill>
                <a:latin typeface="Calibri"/>
                <a:ea typeface="Calibri"/>
                <a:cs typeface="Calibri"/>
              </a:defRPr>
            </a:pPr>
            <a:r>
              <a:rPr sz="750" b="1" i="0">
                <a:solidFill>
                  <a:srgbClr val="00A896"/>
                </a:solidFill>
                <a:latin typeface="Calibri"/>
                <a:ea typeface="Calibri"/>
                <a:cs typeface="Calibri"/>
              </a:rPr>
              <a:t>(2) GOVERNING OPERATOR</a:t>
            </a:r>
          </a:p>
        </p:txBody>
      </p:sp>
      <p:sp>
        <p:nvSpPr>
          <p:cNvPr id="10" name="">
            <a:extLst xmlns:a="http://schemas.openxmlformats.org/drawingml/2006/main">
              <a:ext uri="{FF2B5EF4-FFF2-40B4-BE49-F238E27FC236}">
                <a16:creationId xmlns:a16="http://schemas.microsoft.com/office/drawing/2014/main" id="{C5BC3C3C-9096-4726-A0D9-FE9A84362301}"/>
              </a:ext>
            </a:extLst>
          </p:cNvPr>
          <p:cNvSpPr>
            <a:spLocks xmlns:a="http://schemas.openxmlformats.org/drawingml/2006/main" noGrp="1"/>
          </p:cNvSpPr>
          <p:nvPr/>
        </p:nvSpPr>
        <p:spPr>
          <a:xfrm xmlns:a="http://schemas.openxmlformats.org/drawingml/2006/main">
            <a:off x="6248400" y="2324100"/>
            <a:ext cx="5229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Cambria"/>
                <a:ea typeface="Cambria"/>
                <a:cs typeface="Cambria"/>
              </a:defRPr>
            </a:pPr>
            <a:r>
              <a:rPr sz="1800" b="1" i="0">
                <a:solidFill>
                  <a:srgbClr val="FFFFFF"/>
                </a:solidFill>
                <a:latin typeface="Cambria"/>
                <a:ea typeface="Cambria"/>
                <a:cs typeface="Cambria"/>
              </a:rPr>
              <a:t>𝒩[uθ](x,t; λ) = 0</a:t>
            </a:r>
          </a:p>
        </p:txBody>
      </p:sp>
      <p:sp>
        <p:nvSpPr>
          <p:cNvPr id="11" name="">
            <a:extLst xmlns:a="http://schemas.openxmlformats.org/drawingml/2006/main">
              <a:ext uri="{FF2B5EF4-FFF2-40B4-BE49-F238E27FC236}">
                <a16:creationId xmlns:a16="http://schemas.microsoft.com/office/drawing/2014/main" id="{388B5EF7-6FFC-47EE-A25B-374C9D759690}"/>
              </a:ext>
            </a:extLst>
          </p:cNvPr>
          <p:cNvSpPr>
            <a:spLocks xmlns:a="http://schemas.openxmlformats.org/drawingml/2006/main" noGrp="1"/>
          </p:cNvSpPr>
          <p:nvPr/>
        </p:nvSpPr>
        <p:spPr>
          <a:xfrm xmlns:a="http://schemas.openxmlformats.org/drawingml/2006/main">
            <a:off x="6248400" y="2609850"/>
            <a:ext cx="5229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05"/>
          </a:bodyPr>
          <a:lstStyle xmlns:a="http://schemas.openxmlformats.org/drawingml/2006/main"/>
          <a:p xmlns:a="http://schemas.openxmlformats.org/drawingml/2006/main">
            <a:pPr>
              <a:defRPr sz="825" b="0" i="0">
                <a:solidFill>
                  <a:srgbClr val="C7D8E5"/>
                </a:solidFill>
                <a:latin typeface="Calibri"/>
                <a:ea typeface="Calibri"/>
                <a:cs typeface="Calibri"/>
              </a:defRPr>
            </a:pPr>
            <a:r>
              <a:rPr sz="825" b="0" i="0">
                <a:solidFill>
                  <a:srgbClr val="C7D8E5"/>
                </a:solidFill>
                <a:latin typeface="Calibri"/>
                <a:ea typeface="Calibri"/>
                <a:cs typeface="Calibri"/>
              </a:rPr>
              <a:t>𝒩 is the physical operator derived from electrochemical, ECM, aging, or thermal equations; λ denotes physical parameters.</a:t>
            </a:r>
          </a:p>
        </p:txBody>
      </p:sp>
      <p:sp>
        <p:nvSpPr>
          <p:cNvPr id="12" name="">
            <a:extLst xmlns:a="http://schemas.openxmlformats.org/drawingml/2006/main">
              <a:ext uri="{FF2B5EF4-FFF2-40B4-BE49-F238E27FC236}">
                <a16:creationId xmlns:a16="http://schemas.microsoft.com/office/drawing/2014/main" id="{F83A37AA-BC32-4BB3-BDB8-28A36A1C2803}"/>
              </a:ext>
            </a:extLst>
          </p:cNvPr>
          <p:cNvSpPr>
            <a:spLocks xmlns:a="http://schemas.openxmlformats.org/drawingml/2006/main" noGrp="1"/>
          </p:cNvSpPr>
          <p:nvPr/>
        </p:nvSpPr>
        <p:spPr>
          <a:xfrm xmlns:a="http://schemas.openxmlformats.org/drawingml/2006/main">
            <a:off x="552450" y="3162300"/>
            <a:ext cx="5238750" cy="1000125"/>
          </a:xfrm>
          <a:prstGeom xmlns:a="http://schemas.openxmlformats.org/drawingml/2006/main" prst="roundRect">
            <a:avLst>
              <a:gd name="adj" fmla="val 7619"/>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0F8E3CEE-984F-45FA-950B-419DD0C96EC1}"/>
              </a:ext>
            </a:extLst>
          </p:cNvPr>
          <p:cNvSpPr>
            <a:spLocks xmlns:a="http://schemas.openxmlformats.org/drawingml/2006/main" noGrp="1"/>
          </p:cNvSpPr>
          <p:nvPr/>
        </p:nvSpPr>
        <p:spPr>
          <a:xfrm xmlns:a="http://schemas.openxmlformats.org/drawingml/2006/main">
            <a:off x="723900" y="3286125"/>
            <a:ext cx="4895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0A896"/>
                </a:solidFill>
                <a:latin typeface="Calibri"/>
                <a:ea typeface="Calibri"/>
                <a:cs typeface="Calibri"/>
              </a:defRPr>
            </a:pPr>
            <a:r>
              <a:rPr sz="750" b="1" i="0">
                <a:solidFill>
                  <a:srgbClr val="00A896"/>
                </a:solidFill>
                <a:latin typeface="Calibri"/>
                <a:ea typeface="Calibri"/>
                <a:cs typeface="Calibri"/>
              </a:rPr>
              <a:t>(3) RESIDUAL</a:t>
            </a:r>
          </a:p>
        </p:txBody>
      </p:sp>
      <p:sp>
        <p:nvSpPr>
          <p:cNvPr id="14" name="">
            <a:extLst xmlns:a="http://schemas.openxmlformats.org/drawingml/2006/main">
              <a:ext uri="{FF2B5EF4-FFF2-40B4-BE49-F238E27FC236}">
                <a16:creationId xmlns:a16="http://schemas.microsoft.com/office/drawing/2014/main" id="{27842823-E578-49EA-BF6B-829C0A90F5E1}"/>
              </a:ext>
            </a:extLst>
          </p:cNvPr>
          <p:cNvSpPr>
            <a:spLocks xmlns:a="http://schemas.openxmlformats.org/drawingml/2006/main" noGrp="1"/>
          </p:cNvSpPr>
          <p:nvPr/>
        </p:nvSpPr>
        <p:spPr>
          <a:xfrm xmlns:a="http://schemas.openxmlformats.org/drawingml/2006/main">
            <a:off x="723900" y="3533775"/>
            <a:ext cx="4895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i="0">
                <a:solidFill>
                  <a:srgbClr val="FFFFFF"/>
                </a:solidFill>
                <a:latin typeface="Cambria"/>
                <a:ea typeface="Cambria"/>
                <a:cs typeface="Cambria"/>
              </a:defRPr>
            </a:pPr>
            <a:r>
              <a:rPr sz="1725" b="1" i="0">
                <a:solidFill>
                  <a:srgbClr val="FFFFFF"/>
                </a:solidFill>
                <a:latin typeface="Cambria"/>
                <a:ea typeface="Cambria"/>
                <a:cs typeface="Cambria"/>
              </a:rPr>
              <a:t>rθ(x,t) = 𝒩[uθ](x,t; λ)</a:t>
            </a:r>
          </a:p>
        </p:txBody>
      </p:sp>
      <p:sp>
        <p:nvSpPr>
          <p:cNvPr id="15" name="">
            <a:extLst xmlns:a="http://schemas.openxmlformats.org/drawingml/2006/main">
              <a:ext uri="{FF2B5EF4-FFF2-40B4-BE49-F238E27FC236}">
                <a16:creationId xmlns:a16="http://schemas.microsoft.com/office/drawing/2014/main" id="{79A6182A-33BE-472E-940F-F9136B9681B0}"/>
              </a:ext>
            </a:extLst>
          </p:cNvPr>
          <p:cNvSpPr>
            <a:spLocks xmlns:a="http://schemas.openxmlformats.org/drawingml/2006/main" noGrp="1"/>
          </p:cNvSpPr>
          <p:nvPr/>
        </p:nvSpPr>
        <p:spPr>
          <a:xfrm xmlns:a="http://schemas.openxmlformats.org/drawingml/2006/main">
            <a:off x="723900" y="3819525"/>
            <a:ext cx="4895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b="0" i="0">
                <a:solidFill>
                  <a:srgbClr val="C7D8E5"/>
                </a:solidFill>
                <a:latin typeface="Calibri"/>
                <a:ea typeface="Calibri"/>
                <a:cs typeface="Calibri"/>
              </a:defRPr>
            </a:pPr>
            <a:r>
              <a:rPr sz="825" b="0" i="0">
                <a:solidFill>
                  <a:srgbClr val="C7D8E5"/>
                </a:solidFill>
                <a:latin typeface="Calibri"/>
                <a:ea typeface="Calibri"/>
                <a:cs typeface="Calibri"/>
              </a:rPr>
              <a:t>Automatic differentiation evaluates the physical-law residual at a point.</a:t>
            </a:r>
          </a:p>
        </p:txBody>
      </p:sp>
      <p:sp>
        <p:nvSpPr>
          <p:cNvPr id="16" name="">
            <a:extLst xmlns:a="http://schemas.openxmlformats.org/drawingml/2006/main">
              <a:ext uri="{FF2B5EF4-FFF2-40B4-BE49-F238E27FC236}">
                <a16:creationId xmlns:a16="http://schemas.microsoft.com/office/drawing/2014/main" id="{731BE5BF-A4CD-4E58-A3CA-C5EFC614227B}"/>
              </a:ext>
            </a:extLst>
          </p:cNvPr>
          <p:cNvSpPr>
            <a:spLocks xmlns:a="http://schemas.openxmlformats.org/drawingml/2006/main" noGrp="1"/>
          </p:cNvSpPr>
          <p:nvPr/>
        </p:nvSpPr>
        <p:spPr>
          <a:xfrm xmlns:a="http://schemas.openxmlformats.org/drawingml/2006/main">
            <a:off x="6076950" y="3162300"/>
            <a:ext cx="5572125" cy="1000125"/>
          </a:xfrm>
          <a:prstGeom xmlns:a="http://schemas.openxmlformats.org/drawingml/2006/main" prst="roundRect">
            <a:avLst>
              <a:gd name="adj" fmla="val 7619"/>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1D995CD-1883-4850-9F20-93A9A63B20ED}"/>
              </a:ext>
            </a:extLst>
          </p:cNvPr>
          <p:cNvSpPr>
            <a:spLocks xmlns:a="http://schemas.openxmlformats.org/drawingml/2006/main" noGrp="1"/>
          </p:cNvSpPr>
          <p:nvPr/>
        </p:nvSpPr>
        <p:spPr>
          <a:xfrm xmlns:a="http://schemas.openxmlformats.org/drawingml/2006/main">
            <a:off x="6248400" y="3286125"/>
            <a:ext cx="52292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0A896"/>
                </a:solidFill>
                <a:latin typeface="Calibri"/>
                <a:ea typeface="Calibri"/>
                <a:cs typeface="Calibri"/>
              </a:defRPr>
            </a:pPr>
            <a:r>
              <a:rPr sz="750" b="1" i="0">
                <a:solidFill>
                  <a:srgbClr val="00A896"/>
                </a:solidFill>
                <a:latin typeface="Calibri"/>
                <a:ea typeface="Calibri"/>
                <a:cs typeface="Calibri"/>
              </a:rPr>
              <a:t>(4) PHYSICS LOSS</a:t>
            </a:r>
          </a:p>
        </p:txBody>
      </p:sp>
      <p:sp>
        <p:nvSpPr>
          <p:cNvPr id="18" name="">
            <a:extLst xmlns:a="http://schemas.openxmlformats.org/drawingml/2006/main">
              <a:ext uri="{FF2B5EF4-FFF2-40B4-BE49-F238E27FC236}">
                <a16:creationId xmlns:a16="http://schemas.microsoft.com/office/drawing/2014/main" id="{7A8E4818-9DDD-4498-A286-0BB68F964DBA}"/>
              </a:ext>
            </a:extLst>
          </p:cNvPr>
          <p:cNvSpPr>
            <a:spLocks xmlns:a="http://schemas.openxmlformats.org/drawingml/2006/main" noGrp="1"/>
          </p:cNvSpPr>
          <p:nvPr/>
        </p:nvSpPr>
        <p:spPr>
          <a:xfrm xmlns:a="http://schemas.openxmlformats.org/drawingml/2006/main">
            <a:off x="6248400" y="3533775"/>
            <a:ext cx="5229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Cambria"/>
                <a:ea typeface="Cambria"/>
                <a:cs typeface="Cambria"/>
              </a:defRPr>
            </a:pPr>
            <a:r>
              <a:rPr sz="1650" b="1" i="0">
                <a:solidFill>
                  <a:srgbClr val="FFFFFF"/>
                </a:solidFill>
                <a:latin typeface="Cambria"/>
                <a:ea typeface="Cambria"/>
                <a:cs typeface="Cambria"/>
              </a:rPr>
              <a:t>L_phys = (1/Nₚ) Σ |rθ(xᵢ,tᵢ)|²</a:t>
            </a:r>
          </a:p>
        </p:txBody>
      </p:sp>
      <p:sp>
        <p:nvSpPr>
          <p:cNvPr id="19" name="">
            <a:extLst xmlns:a="http://schemas.openxmlformats.org/drawingml/2006/main">
              <a:ext uri="{FF2B5EF4-FFF2-40B4-BE49-F238E27FC236}">
                <a16:creationId xmlns:a16="http://schemas.microsoft.com/office/drawing/2014/main" id="{EABBBB3D-F3A7-4DE5-B385-F065390F8E14}"/>
              </a:ext>
            </a:extLst>
          </p:cNvPr>
          <p:cNvSpPr>
            <a:spLocks xmlns:a="http://schemas.openxmlformats.org/drawingml/2006/main" noGrp="1"/>
          </p:cNvSpPr>
          <p:nvPr/>
        </p:nvSpPr>
        <p:spPr>
          <a:xfrm xmlns:a="http://schemas.openxmlformats.org/drawingml/2006/main">
            <a:off x="6248400" y="3819525"/>
            <a:ext cx="5229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b="0" i="0">
                <a:solidFill>
                  <a:srgbClr val="C7D8E5"/>
                </a:solidFill>
                <a:latin typeface="Calibri"/>
                <a:ea typeface="Calibri"/>
                <a:cs typeface="Calibri"/>
              </a:defRPr>
            </a:pPr>
            <a:r>
              <a:rPr sz="825" b="0" i="0">
                <a:solidFill>
                  <a:srgbClr val="C7D8E5"/>
                </a:solidFill>
                <a:latin typeface="Calibri"/>
                <a:ea typeface="Calibri"/>
                <a:cs typeface="Calibri"/>
              </a:rPr>
              <a:t>Residuals are averaged over Nₚ physics collocation points.</a:t>
            </a:r>
          </a:p>
        </p:txBody>
      </p:sp>
      <p:sp>
        <p:nvSpPr>
          <p:cNvPr id="20" name="">
            <a:extLst xmlns:a="http://schemas.openxmlformats.org/drawingml/2006/main">
              <a:ext uri="{FF2B5EF4-FFF2-40B4-BE49-F238E27FC236}">
                <a16:creationId xmlns:a16="http://schemas.microsoft.com/office/drawing/2014/main" id="{B62E2168-6FD4-4DBC-ABE6-6634DCDC5094}"/>
              </a:ext>
            </a:extLst>
          </p:cNvPr>
          <p:cNvSpPr>
            <a:spLocks xmlns:a="http://schemas.openxmlformats.org/drawingml/2006/main" noGrp="1"/>
          </p:cNvSpPr>
          <p:nvPr/>
        </p:nvSpPr>
        <p:spPr>
          <a:xfrm xmlns:a="http://schemas.openxmlformats.org/drawingml/2006/main">
            <a:off x="552450" y="4371975"/>
            <a:ext cx="11096625" cy="1123950"/>
          </a:xfrm>
          <a:prstGeom xmlns:a="http://schemas.openxmlformats.org/drawingml/2006/main" prst="roundRect">
            <a:avLst>
              <a:gd name="adj" fmla="val 6780"/>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3E2A649-4D5E-4CF9-95F3-46ECFD11653A}"/>
              </a:ext>
            </a:extLst>
          </p:cNvPr>
          <p:cNvSpPr>
            <a:spLocks xmlns:a="http://schemas.openxmlformats.org/drawingml/2006/main" noGrp="1"/>
          </p:cNvSpPr>
          <p:nvPr/>
        </p:nvSpPr>
        <p:spPr>
          <a:xfrm xmlns:a="http://schemas.openxmlformats.org/drawingml/2006/main">
            <a:off x="723900" y="4495800"/>
            <a:ext cx="107537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0A896"/>
                </a:solidFill>
                <a:latin typeface="Calibri"/>
                <a:ea typeface="Calibri"/>
                <a:cs typeface="Calibri"/>
              </a:defRPr>
            </a:pPr>
            <a:r>
              <a:rPr sz="750" b="1" i="0">
                <a:solidFill>
                  <a:srgbClr val="00A896"/>
                </a:solidFill>
                <a:latin typeface="Calibri"/>
                <a:ea typeface="Calibri"/>
                <a:cs typeface="Calibri"/>
              </a:rPr>
              <a:t>(5) COMPOSITE PINN LOSS</a:t>
            </a:r>
          </a:p>
        </p:txBody>
      </p:sp>
      <p:sp>
        <p:nvSpPr>
          <p:cNvPr id="22" name="">
            <a:extLst xmlns:a="http://schemas.openxmlformats.org/drawingml/2006/main">
              <a:ext uri="{FF2B5EF4-FFF2-40B4-BE49-F238E27FC236}">
                <a16:creationId xmlns:a16="http://schemas.microsoft.com/office/drawing/2014/main" id="{52A82747-36B1-49D9-915C-CB4C5B27BF52}"/>
              </a:ext>
            </a:extLst>
          </p:cNvPr>
          <p:cNvSpPr>
            <a:spLocks xmlns:a="http://schemas.openxmlformats.org/drawingml/2006/main" noGrp="1"/>
          </p:cNvSpPr>
          <p:nvPr/>
        </p:nvSpPr>
        <p:spPr>
          <a:xfrm xmlns:a="http://schemas.openxmlformats.org/drawingml/2006/main">
            <a:off x="723900" y="4743450"/>
            <a:ext cx="10753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i="0">
                <a:solidFill>
                  <a:srgbClr val="FFFFFF"/>
                </a:solidFill>
                <a:latin typeface="Cambria"/>
                <a:ea typeface="Cambria"/>
                <a:cs typeface="Cambria"/>
              </a:defRPr>
            </a:pPr>
            <a:r>
              <a:rPr sz="1500" b="1" i="0">
                <a:solidFill>
                  <a:srgbClr val="FFFFFF"/>
                </a:solidFill>
                <a:latin typeface="Cambria"/>
                <a:ea typeface="Cambria"/>
                <a:cs typeface="Cambria"/>
              </a:rPr>
              <a:t>L_PINN = w_d L_data + w_p L_phys + w_b L_BC/IC + w_r L_reg</a:t>
            </a:r>
          </a:p>
        </p:txBody>
      </p:sp>
      <p:sp>
        <p:nvSpPr>
          <p:cNvPr id="23" name="">
            <a:extLst xmlns:a="http://schemas.openxmlformats.org/drawingml/2006/main">
              <a:ext uri="{FF2B5EF4-FFF2-40B4-BE49-F238E27FC236}">
                <a16:creationId xmlns:a16="http://schemas.microsoft.com/office/drawing/2014/main" id="{6523133C-5C66-4FC1-8589-4E75F58E5F45}"/>
              </a:ext>
            </a:extLst>
          </p:cNvPr>
          <p:cNvSpPr>
            <a:spLocks xmlns:a="http://schemas.openxmlformats.org/drawingml/2006/main" noGrp="1"/>
          </p:cNvSpPr>
          <p:nvPr/>
        </p:nvSpPr>
        <p:spPr>
          <a:xfrm xmlns:a="http://schemas.openxmlformats.org/drawingml/2006/main">
            <a:off x="723900" y="5114925"/>
            <a:ext cx="10753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0">
                <a:solidFill>
                  <a:srgbClr val="C7D8E5"/>
                </a:solidFill>
                <a:latin typeface="Calibri"/>
                <a:ea typeface="Calibri"/>
                <a:cs typeface="Calibri"/>
              </a:defRPr>
            </a:pPr>
            <a:r>
              <a:rPr sz="900" b="0" i="0">
                <a:solidFill>
                  <a:srgbClr val="C7D8E5"/>
                </a:solidFill>
                <a:latin typeface="Calibri"/>
                <a:ea typeface="Calibri"/>
                <a:cs typeface="Calibri"/>
              </a:rPr>
              <a:t>Weights balance data fit, governing physics, boundary/initial conditions, and optional regularization.</a:t>
            </a:r>
          </a:p>
        </p:txBody>
      </p:sp>
      <p:sp>
        <p:nvSpPr>
          <p:cNvPr id="24" name="">
            <a:extLst xmlns:a="http://schemas.openxmlformats.org/drawingml/2006/main">
              <a:ext uri="{FF2B5EF4-FFF2-40B4-BE49-F238E27FC236}">
                <a16:creationId xmlns:a16="http://schemas.microsoft.com/office/drawing/2014/main" id="{EFB8EC40-9BFB-4E0E-A2CE-7DBB7897BA63}"/>
              </a:ext>
            </a:extLst>
          </p:cNvPr>
          <p:cNvSpPr>
            <a:spLocks xmlns:a="http://schemas.openxmlformats.org/drawingml/2006/main" noGrp="1"/>
          </p:cNvSpPr>
          <p:nvPr/>
        </p:nvSpPr>
        <p:spPr>
          <a:xfrm xmlns:a="http://schemas.openxmlformats.org/drawingml/2006/main">
            <a:off x="552450" y="58102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i="0">
                <a:solidFill>
                  <a:srgbClr val="00A896"/>
                </a:solidFill>
                <a:latin typeface="Calibri"/>
                <a:ea typeface="Calibri"/>
                <a:cs typeface="Calibri"/>
              </a:defRPr>
            </a:pPr>
            <a:r>
              <a:t>Implementation: We specialize data loss, physical monotonicity, and capacity curve residual losses for battery health tracking.</a:t>
            </a:r>
          </a:p>
        </p:txBody>
      </p:sp>
      <p:sp>
        <p:nvSpPr>
          <p:cNvPr id="25" name="">
            <a:extLst xmlns:a="http://schemas.openxmlformats.org/drawingml/2006/main">
              <a:ext uri="{FF2B5EF4-FFF2-40B4-BE49-F238E27FC236}">
                <a16:creationId xmlns:a16="http://schemas.microsoft.com/office/drawing/2014/main" id="{DADF7565-B843-4A6C-AD22-3A7F30B3D11C}"/>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8FA9BE"/>
                </a:solidFill>
                <a:latin typeface="Calibri"/>
                <a:ea typeface="Calibri"/>
                <a:cs typeface="Calibri"/>
              </a:defRPr>
            </a:pPr>
            <a:r>
              <a:rPr sz="825" b="0" i="0">
                <a:solidFill>
                  <a:srgbClr val="8FA9BE"/>
                </a:solidFill>
                <a:latin typeface="Calibri"/>
                <a:ea typeface="Calibri"/>
                <a:cs typeface="Calibri"/>
              </a:rPr>
              <a:t>Adaptive PINN Battery Digital Twin</a:t>
            </a:r>
          </a:p>
        </p:txBody>
      </p:sp>
      <p:sp>
        <p:nvSpPr>
          <p:cNvPr id="26" name="">
            <a:extLst xmlns:a="http://schemas.openxmlformats.org/drawingml/2006/main">
              <a:ext uri="{FF2B5EF4-FFF2-40B4-BE49-F238E27FC236}">
                <a16:creationId xmlns:a16="http://schemas.microsoft.com/office/drawing/2014/main" id="{9F325D2E-BFD7-439B-A651-E650B91ED602}"/>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8FA9BE"/>
                </a:solidFill>
                <a:latin typeface="Calibri"/>
                <a:ea typeface="Calibri"/>
                <a:cs typeface="Calibri"/>
              </a:defRPr>
            </a:pPr>
            <a:r>
              <a:rPr sz="825" b="0" i="0">
                <a:solidFill>
                  <a:srgbClr val="8FA9BE"/>
                </a:solidFill>
                <a:latin typeface="Calibri"/>
                <a:ea typeface="Calibri"/>
                <a:cs typeface="Calibri"/>
              </a:rPr>
              <a:t>25 / 31</a:t>
            </a:r>
          </a:p>
        </p:txBody>
      </p:sp>
    </p:spTree>
    <p:extLst>
      <p:ext uri="{BB962C8B-B14F-4D97-AF65-F5344CB8AC3E}">
        <p14:creationId xmlns:p14="http://schemas.microsoft.com/office/powerpoint/2010/main" val="147410715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54DDC3E-324E-47A7-B5C0-4522AAC9AC80}"/>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28090"/>
                </a:solidFill>
                <a:latin typeface="Calibri"/>
                <a:ea typeface="Calibri"/>
                <a:cs typeface="Calibri"/>
              </a:defRPr>
            </a:pPr>
            <a:r>
              <a:t>BASE PAPER · EQUATIONS (6–9)</a:t>
            </a:r>
          </a:p>
        </p:txBody>
      </p:sp>
      <p:sp>
        <p:nvSpPr>
          <p:cNvPr id="2" name="">
            <a:extLst xmlns:a="http://schemas.openxmlformats.org/drawingml/2006/main">
              <a:ext uri="{FF2B5EF4-FFF2-40B4-BE49-F238E27FC236}">
                <a16:creationId xmlns:a16="http://schemas.microsoft.com/office/drawing/2014/main" id="{04853B8E-DE8A-41CD-A9EC-5C734923D8CF}"/>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B2545"/>
                </a:solidFill>
                <a:latin typeface="Cambria"/>
                <a:ea typeface="Cambria"/>
                <a:cs typeface="Cambria"/>
              </a:defRPr>
            </a:pPr>
            <a:r>
              <a:rPr sz="2325" b="1" i="0">
                <a:solidFill>
                  <a:srgbClr val="0B2545"/>
                </a:solidFill>
                <a:latin typeface="Cambria"/>
                <a:ea typeface="Cambria"/>
                <a:cs typeface="Cambria"/>
              </a:rPr>
              <a:t>Base paper: electrochemical constraints</a:t>
            </a:r>
          </a:p>
        </p:txBody>
      </p:sp>
      <p:sp>
        <p:nvSpPr>
          <p:cNvPr id="3" name="">
            <a:extLst xmlns:a="http://schemas.openxmlformats.org/drawingml/2006/main">
              <a:ext uri="{FF2B5EF4-FFF2-40B4-BE49-F238E27FC236}">
                <a16:creationId xmlns:a16="http://schemas.microsoft.com/office/drawing/2014/main" id="{13DB260F-6025-4604-9CEA-35D8ABA1921B}"/>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5B6B79"/>
                </a:solidFill>
                <a:latin typeface="Calibri"/>
                <a:ea typeface="Calibri"/>
                <a:cs typeface="Calibri"/>
              </a:defRPr>
            </a:pPr>
            <a:r>
              <a:rPr sz="1125" b="0" i="0">
                <a:solidFill>
                  <a:srgbClr val="5B6B79"/>
                </a:solidFill>
                <a:latin typeface="Calibri"/>
                <a:ea typeface="Calibri"/>
                <a:cs typeface="Calibri"/>
              </a:rPr>
              <a:t>These equations are reviewed as physics sources for PINNs; they are not activated in the first NASA POC because the required internal variables are not observed.</a:t>
            </a:r>
          </a:p>
        </p:txBody>
      </p:sp>
      <p:sp>
        <p:nvSpPr>
          <p:cNvPr id="4" name="">
            <a:extLst xmlns:a="http://schemas.openxmlformats.org/drawingml/2006/main">
              <a:ext uri="{FF2B5EF4-FFF2-40B4-BE49-F238E27FC236}">
                <a16:creationId xmlns:a16="http://schemas.microsoft.com/office/drawing/2014/main" id="{33BA3D4B-F356-4AAF-9AA2-56EB99D4C789}"/>
              </a:ext>
            </a:extLst>
          </p:cNvPr>
          <p:cNvSpPr>
            <a:spLocks xmlns:a="http://schemas.openxmlformats.org/drawingml/2006/main" noGrp="1"/>
          </p:cNvSpPr>
          <p:nvPr/>
        </p:nvSpPr>
        <p:spPr>
          <a:xfrm xmlns:a="http://schemas.openxmlformats.org/drawingml/2006/main">
            <a:off x="552450" y="1952625"/>
            <a:ext cx="5238750" cy="1428750"/>
          </a:xfrm>
          <a:prstGeom xmlns:a="http://schemas.openxmlformats.org/drawingml/2006/main" prst="roundRect">
            <a:avLst>
              <a:gd name="adj" fmla="val 5333"/>
            </a:avLst>
          </a:prstGeom>
          <a:solidFill xmlns:a="http://schemas.openxmlformats.org/drawingml/2006/main">
            <a:srgbClr val="F4F8FA"/>
          </a:solidFill>
          <a:ln xmlns:a="http://schemas.openxmlformats.org/drawingml/2006/main" w="9525">
            <a:solidFill>
              <a:srgbClr val="D7E3E9"/>
            </a:solid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2E61107-BDD1-472A-BE95-C3A262845D91}"/>
              </a:ext>
            </a:extLst>
          </p:cNvPr>
          <p:cNvSpPr>
            <a:spLocks xmlns:a="http://schemas.openxmlformats.org/drawingml/2006/main" noGrp="1"/>
          </p:cNvSpPr>
          <p:nvPr/>
        </p:nvSpPr>
        <p:spPr>
          <a:xfrm xmlns:a="http://schemas.openxmlformats.org/drawingml/2006/main">
            <a:off x="723900" y="2076450"/>
            <a:ext cx="4895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(6) SOLID-PHASE DIFFUSION</a:t>
            </a:r>
          </a:p>
        </p:txBody>
      </p:sp>
      <p:sp>
        <p:nvSpPr>
          <p:cNvPr id="6" name="">
            <a:extLst xmlns:a="http://schemas.openxmlformats.org/drawingml/2006/main">
              <a:ext uri="{FF2B5EF4-FFF2-40B4-BE49-F238E27FC236}">
                <a16:creationId xmlns:a16="http://schemas.microsoft.com/office/drawing/2014/main" id="{446A283B-AD77-44ED-8323-C6F65760259C}"/>
              </a:ext>
            </a:extLst>
          </p:cNvPr>
          <p:cNvSpPr>
            <a:spLocks xmlns:a="http://schemas.openxmlformats.org/drawingml/2006/main" noGrp="1"/>
          </p:cNvSpPr>
          <p:nvPr/>
        </p:nvSpPr>
        <p:spPr>
          <a:xfrm xmlns:a="http://schemas.openxmlformats.org/drawingml/2006/main">
            <a:off x="723900" y="2324100"/>
            <a:ext cx="4895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i="0">
                <a:solidFill>
                  <a:srgbClr val="0B2545"/>
                </a:solidFill>
                <a:latin typeface="Cambria"/>
                <a:ea typeface="Cambria"/>
                <a:cs typeface="Cambria"/>
              </a:defRPr>
            </a:pPr>
            <a:r>
              <a:rPr sz="1500" b="1" i="0">
                <a:solidFill>
                  <a:srgbClr val="0B2545"/>
                </a:solidFill>
                <a:latin typeface="Cambria"/>
                <a:ea typeface="Cambria"/>
                <a:cs typeface="Cambria"/>
              </a:rPr>
              <a:t>∂cₛ/∂t = (Dₛ/r²) ∂/∂r (r² ∂cₛ/∂r)</a:t>
            </a:r>
          </a:p>
        </p:txBody>
      </p:sp>
      <p:sp>
        <p:nvSpPr>
          <p:cNvPr id="7" name="">
            <a:extLst xmlns:a="http://schemas.openxmlformats.org/drawingml/2006/main">
              <a:ext uri="{FF2B5EF4-FFF2-40B4-BE49-F238E27FC236}">
                <a16:creationId xmlns:a16="http://schemas.microsoft.com/office/drawing/2014/main" id="{73C7FE05-4CA0-4189-8D07-95C44E355E1A}"/>
              </a:ext>
            </a:extLst>
          </p:cNvPr>
          <p:cNvSpPr>
            <a:spLocks xmlns:a="http://schemas.openxmlformats.org/drawingml/2006/main" noGrp="1"/>
          </p:cNvSpPr>
          <p:nvPr/>
        </p:nvSpPr>
        <p:spPr>
          <a:xfrm xmlns:a="http://schemas.openxmlformats.org/drawingml/2006/main">
            <a:off x="723900" y="2771775"/>
            <a:ext cx="489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0">
                <a:solidFill>
                  <a:srgbClr val="5B6B79"/>
                </a:solidFill>
                <a:latin typeface="Calibri"/>
                <a:ea typeface="Calibri"/>
                <a:cs typeface="Calibri"/>
              </a:defRPr>
            </a:pPr>
            <a:r>
              <a:rPr sz="900" b="0" i="0">
                <a:solidFill>
                  <a:srgbClr val="5B6B79"/>
                </a:solidFill>
                <a:latin typeface="Calibri"/>
                <a:ea typeface="Calibri"/>
                <a:cs typeface="Calibri"/>
              </a:rPr>
              <a:t>Fick-type diffusion in a spherical active-material particle; cₛ is concentration and Dₛ is solid-phase diffusivity.</a:t>
            </a:r>
          </a:p>
        </p:txBody>
      </p:sp>
      <p:sp>
        <p:nvSpPr>
          <p:cNvPr id="8" name="">
            <a:extLst xmlns:a="http://schemas.openxmlformats.org/drawingml/2006/main">
              <a:ext uri="{FF2B5EF4-FFF2-40B4-BE49-F238E27FC236}">
                <a16:creationId xmlns:a16="http://schemas.microsoft.com/office/drawing/2014/main" id="{8C231523-32DB-4E58-8B06-568A4E524242}"/>
              </a:ext>
            </a:extLst>
          </p:cNvPr>
          <p:cNvSpPr>
            <a:spLocks xmlns:a="http://schemas.openxmlformats.org/drawingml/2006/main" noGrp="1"/>
          </p:cNvSpPr>
          <p:nvPr/>
        </p:nvSpPr>
        <p:spPr>
          <a:xfrm xmlns:a="http://schemas.openxmlformats.org/drawingml/2006/main">
            <a:off x="6076950" y="1952625"/>
            <a:ext cx="5572125" cy="1428750"/>
          </a:xfrm>
          <a:prstGeom xmlns:a="http://schemas.openxmlformats.org/drawingml/2006/main" prst="roundRect">
            <a:avLst>
              <a:gd name="adj" fmla="val 5333"/>
            </a:avLst>
          </a:prstGeom>
          <a:solidFill xmlns:a="http://schemas.openxmlformats.org/drawingml/2006/main">
            <a:srgbClr val="F4F8FA"/>
          </a:solidFill>
          <a:ln xmlns:a="http://schemas.openxmlformats.org/drawingml/2006/main" w="9525">
            <a:solidFill>
              <a:srgbClr val="D7E3E9"/>
            </a:solidFill>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BF94F70-1180-4E9A-B3DF-23C88804EEFD}"/>
              </a:ext>
            </a:extLst>
          </p:cNvPr>
          <p:cNvSpPr>
            <a:spLocks xmlns:a="http://schemas.openxmlformats.org/drawingml/2006/main" noGrp="1"/>
          </p:cNvSpPr>
          <p:nvPr/>
        </p:nvSpPr>
        <p:spPr>
          <a:xfrm xmlns:a="http://schemas.openxmlformats.org/drawingml/2006/main">
            <a:off x="6248400" y="2076450"/>
            <a:ext cx="52292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(7) PARTICLE BOUNDARY CONDITIONS</a:t>
            </a:r>
          </a:p>
        </p:txBody>
      </p:sp>
      <p:sp>
        <p:nvSpPr>
          <p:cNvPr id="10" name="">
            <a:extLst xmlns:a="http://schemas.openxmlformats.org/drawingml/2006/main">
              <a:ext uri="{FF2B5EF4-FFF2-40B4-BE49-F238E27FC236}">
                <a16:creationId xmlns:a16="http://schemas.microsoft.com/office/drawing/2014/main" id="{EEDD0AA7-0E2B-4C9A-8FBC-FB06DAF2017C}"/>
              </a:ext>
            </a:extLst>
          </p:cNvPr>
          <p:cNvSpPr>
            <a:spLocks xmlns:a="http://schemas.openxmlformats.org/drawingml/2006/main" noGrp="1"/>
          </p:cNvSpPr>
          <p:nvPr/>
        </p:nvSpPr>
        <p:spPr>
          <a:xfrm xmlns:a="http://schemas.openxmlformats.org/drawingml/2006/main">
            <a:off x="6248400" y="2324100"/>
            <a:ext cx="5229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0B2545"/>
                </a:solidFill>
                <a:latin typeface="Cambria"/>
                <a:ea typeface="Cambria"/>
                <a:cs typeface="Cambria"/>
              </a:defRPr>
            </a:pPr>
            <a:r>
              <a:rPr sz="1425" b="1" i="0">
                <a:solidFill>
                  <a:srgbClr val="0B2545"/>
                </a:solidFill>
                <a:latin typeface="Cambria"/>
                <a:ea typeface="Cambria"/>
                <a:cs typeface="Cambria"/>
              </a:rPr>
              <a:t>∂cₛ/∂r|₀ = 0,  −Dₛ∂cₛ/∂r|Rₛ = Jₙ</a:t>
            </a:r>
          </a:p>
        </p:txBody>
      </p:sp>
      <p:sp>
        <p:nvSpPr>
          <p:cNvPr id="11" name="">
            <a:extLst xmlns:a="http://schemas.openxmlformats.org/drawingml/2006/main">
              <a:ext uri="{FF2B5EF4-FFF2-40B4-BE49-F238E27FC236}">
                <a16:creationId xmlns:a16="http://schemas.microsoft.com/office/drawing/2014/main" id="{80D94E26-6460-4919-B0D1-FDB82FB51EC0}"/>
              </a:ext>
            </a:extLst>
          </p:cNvPr>
          <p:cNvSpPr>
            <a:spLocks xmlns:a="http://schemas.openxmlformats.org/drawingml/2006/main" noGrp="1"/>
          </p:cNvSpPr>
          <p:nvPr/>
        </p:nvSpPr>
        <p:spPr>
          <a:xfrm xmlns:a="http://schemas.openxmlformats.org/drawingml/2006/main">
            <a:off x="6248400" y="2771775"/>
            <a:ext cx="5229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0">
                <a:solidFill>
                  <a:srgbClr val="5B6B79"/>
                </a:solidFill>
                <a:latin typeface="Calibri"/>
                <a:ea typeface="Calibri"/>
                <a:cs typeface="Calibri"/>
              </a:defRPr>
            </a:pPr>
            <a:r>
              <a:rPr sz="900" b="0" i="0">
                <a:solidFill>
                  <a:srgbClr val="5B6B79"/>
                </a:solidFill>
                <a:latin typeface="Calibri"/>
                <a:ea typeface="Calibri"/>
                <a:cs typeface="Calibri"/>
              </a:rPr>
              <a:t>Symmetry at the particle center and surface-flux condition at radius Rₛ.</a:t>
            </a:r>
          </a:p>
        </p:txBody>
      </p:sp>
      <p:sp>
        <p:nvSpPr>
          <p:cNvPr id="12" name="">
            <a:extLst xmlns:a="http://schemas.openxmlformats.org/drawingml/2006/main">
              <a:ext uri="{FF2B5EF4-FFF2-40B4-BE49-F238E27FC236}">
                <a16:creationId xmlns:a16="http://schemas.microsoft.com/office/drawing/2014/main" id="{B0B93224-75A1-4B50-B457-2999376A0ABA}"/>
              </a:ext>
            </a:extLst>
          </p:cNvPr>
          <p:cNvSpPr>
            <a:spLocks xmlns:a="http://schemas.openxmlformats.org/drawingml/2006/main" noGrp="1"/>
          </p:cNvSpPr>
          <p:nvPr/>
        </p:nvSpPr>
        <p:spPr>
          <a:xfrm xmlns:a="http://schemas.openxmlformats.org/drawingml/2006/main">
            <a:off x="552450" y="3667125"/>
            <a:ext cx="5238750" cy="1428750"/>
          </a:xfrm>
          <a:prstGeom xmlns:a="http://schemas.openxmlformats.org/drawingml/2006/main" prst="roundRect">
            <a:avLst>
              <a:gd name="adj" fmla="val 5333"/>
            </a:avLst>
          </a:prstGeom>
          <a:solidFill xmlns:a="http://schemas.openxmlformats.org/drawingml/2006/main">
            <a:srgbClr val="F4F8FA"/>
          </a:solidFill>
          <a:ln xmlns:a="http://schemas.openxmlformats.org/drawingml/2006/main" w="9525">
            <a:solidFill>
              <a:srgbClr val="D7E3E9"/>
            </a:solid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0FC7BF00-E04C-42CD-A1A5-7006247BF024}"/>
              </a:ext>
            </a:extLst>
          </p:cNvPr>
          <p:cNvSpPr>
            <a:spLocks xmlns:a="http://schemas.openxmlformats.org/drawingml/2006/main" noGrp="1"/>
          </p:cNvSpPr>
          <p:nvPr/>
        </p:nvSpPr>
        <p:spPr>
          <a:xfrm xmlns:a="http://schemas.openxmlformats.org/drawingml/2006/main">
            <a:off x="723900" y="3790950"/>
            <a:ext cx="4895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(8) BUTLER–VOLMER KINETICS</a:t>
            </a:r>
          </a:p>
        </p:txBody>
      </p:sp>
      <p:sp>
        <p:nvSpPr>
          <p:cNvPr id="14" name="">
            <a:extLst xmlns:a="http://schemas.openxmlformats.org/drawingml/2006/main">
              <a:ext uri="{FF2B5EF4-FFF2-40B4-BE49-F238E27FC236}">
                <a16:creationId xmlns:a16="http://schemas.microsoft.com/office/drawing/2014/main" id="{69C05E4E-32B2-41D4-AAC1-8CD09C1C54CC}"/>
              </a:ext>
            </a:extLst>
          </p:cNvPr>
          <p:cNvSpPr>
            <a:spLocks xmlns:a="http://schemas.openxmlformats.org/drawingml/2006/main" noGrp="1"/>
          </p:cNvSpPr>
          <p:nvPr/>
        </p:nvSpPr>
        <p:spPr>
          <a:xfrm xmlns:a="http://schemas.openxmlformats.org/drawingml/2006/main">
            <a:off x="723900" y="4038600"/>
            <a:ext cx="4895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0B2545"/>
                </a:solidFill>
                <a:latin typeface="Cambria"/>
                <a:ea typeface="Cambria"/>
                <a:cs typeface="Cambria"/>
              </a:defRPr>
            </a:pPr>
            <a:r>
              <a:rPr sz="1350" b="1" i="0">
                <a:solidFill>
                  <a:srgbClr val="0B2545"/>
                </a:solidFill>
                <a:latin typeface="Cambria"/>
                <a:ea typeface="Cambria"/>
                <a:cs typeface="Cambria"/>
              </a:rPr>
              <a:t>jₙ = i₀[exp(αₐFη/RT) − exp(−α𝚌Fη/RT)]</a:t>
            </a:r>
          </a:p>
        </p:txBody>
      </p:sp>
      <p:sp>
        <p:nvSpPr>
          <p:cNvPr id="15" name="">
            <a:extLst xmlns:a="http://schemas.openxmlformats.org/drawingml/2006/main">
              <a:ext uri="{FF2B5EF4-FFF2-40B4-BE49-F238E27FC236}">
                <a16:creationId xmlns:a16="http://schemas.microsoft.com/office/drawing/2014/main" id="{6E59752A-CEA6-49E1-8BFB-63BBA91EE449}"/>
              </a:ext>
            </a:extLst>
          </p:cNvPr>
          <p:cNvSpPr>
            <a:spLocks xmlns:a="http://schemas.openxmlformats.org/drawingml/2006/main" noGrp="1"/>
          </p:cNvSpPr>
          <p:nvPr/>
        </p:nvSpPr>
        <p:spPr>
          <a:xfrm xmlns:a="http://schemas.openxmlformats.org/drawingml/2006/main">
            <a:off x="723900" y="4486275"/>
            <a:ext cx="489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0">
                <a:solidFill>
                  <a:srgbClr val="5B6B79"/>
                </a:solidFill>
                <a:latin typeface="Calibri"/>
                <a:ea typeface="Calibri"/>
                <a:cs typeface="Calibri"/>
              </a:defRPr>
            </a:pPr>
            <a:r>
              <a:rPr sz="900" b="0" i="0">
                <a:solidFill>
                  <a:srgbClr val="5B6B79"/>
                </a:solidFill>
                <a:latin typeface="Calibri"/>
                <a:ea typeface="Calibri"/>
                <a:cs typeface="Calibri"/>
              </a:rPr>
              <a:t>Interfacial reaction-current relation; i₀ is exchange current density and η is overpotential.</a:t>
            </a:r>
          </a:p>
        </p:txBody>
      </p:sp>
      <p:sp>
        <p:nvSpPr>
          <p:cNvPr id="16" name="">
            <a:extLst xmlns:a="http://schemas.openxmlformats.org/drawingml/2006/main">
              <a:ext uri="{FF2B5EF4-FFF2-40B4-BE49-F238E27FC236}">
                <a16:creationId xmlns:a16="http://schemas.microsoft.com/office/drawing/2014/main" id="{03D689C4-8E90-49F8-AD83-E58FE6C3EC13}"/>
              </a:ext>
            </a:extLst>
          </p:cNvPr>
          <p:cNvSpPr>
            <a:spLocks xmlns:a="http://schemas.openxmlformats.org/drawingml/2006/main" noGrp="1"/>
          </p:cNvSpPr>
          <p:nvPr/>
        </p:nvSpPr>
        <p:spPr>
          <a:xfrm xmlns:a="http://schemas.openxmlformats.org/drawingml/2006/main">
            <a:off x="6076950" y="3667125"/>
            <a:ext cx="5572125" cy="1428750"/>
          </a:xfrm>
          <a:prstGeom xmlns:a="http://schemas.openxmlformats.org/drawingml/2006/main" prst="roundRect">
            <a:avLst>
              <a:gd name="adj" fmla="val 5333"/>
            </a:avLst>
          </a:prstGeom>
          <a:solidFill xmlns:a="http://schemas.openxmlformats.org/drawingml/2006/main">
            <a:srgbClr val="F4F8FA"/>
          </a:solidFill>
          <a:ln xmlns:a="http://schemas.openxmlformats.org/drawingml/2006/main" w="9525">
            <a:solidFill>
              <a:srgbClr val="D7E3E9"/>
            </a:solidFill>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C512B7BF-16CA-4ADD-9E80-4D7895283299}"/>
              </a:ext>
            </a:extLst>
          </p:cNvPr>
          <p:cNvSpPr>
            <a:spLocks xmlns:a="http://schemas.openxmlformats.org/drawingml/2006/main" noGrp="1"/>
          </p:cNvSpPr>
          <p:nvPr/>
        </p:nvSpPr>
        <p:spPr>
          <a:xfrm xmlns:a="http://schemas.openxmlformats.org/drawingml/2006/main">
            <a:off x="6248400" y="3790950"/>
            <a:ext cx="52292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(9) CHARGE CONSERVATION</a:t>
            </a:r>
          </a:p>
        </p:txBody>
      </p:sp>
      <p:sp>
        <p:nvSpPr>
          <p:cNvPr id="18" name="">
            <a:extLst xmlns:a="http://schemas.openxmlformats.org/drawingml/2006/main">
              <a:ext uri="{FF2B5EF4-FFF2-40B4-BE49-F238E27FC236}">
                <a16:creationId xmlns:a16="http://schemas.microsoft.com/office/drawing/2014/main" id="{C0006D83-39F6-4D09-9AD7-7DD4DE0CAFEF}"/>
              </a:ext>
            </a:extLst>
          </p:cNvPr>
          <p:cNvSpPr>
            <a:spLocks xmlns:a="http://schemas.openxmlformats.org/drawingml/2006/main" noGrp="1"/>
          </p:cNvSpPr>
          <p:nvPr/>
        </p:nvSpPr>
        <p:spPr>
          <a:xfrm xmlns:a="http://schemas.openxmlformats.org/drawingml/2006/main">
            <a:off x="6248400" y="4038600"/>
            <a:ext cx="5229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i="0">
                <a:solidFill>
                  <a:srgbClr val="0B2545"/>
                </a:solidFill>
                <a:latin typeface="Cambria"/>
                <a:ea typeface="Cambria"/>
                <a:cs typeface="Cambria"/>
              </a:defRPr>
            </a:pPr>
            <a:r>
              <a:rPr sz="1575" b="1" i="0">
                <a:solidFill>
                  <a:srgbClr val="0B2545"/>
                </a:solidFill>
                <a:latin typeface="Cambria"/>
                <a:ea typeface="Cambria"/>
                <a:cs typeface="Cambria"/>
              </a:rPr>
              <a:t>∇·iₛ = −aₛjₙ,   ∇·iₑ = aₛjₙ</a:t>
            </a:r>
          </a:p>
        </p:txBody>
      </p:sp>
      <p:sp>
        <p:nvSpPr>
          <p:cNvPr id="19" name="">
            <a:extLst xmlns:a="http://schemas.openxmlformats.org/drawingml/2006/main">
              <a:ext uri="{FF2B5EF4-FFF2-40B4-BE49-F238E27FC236}">
                <a16:creationId xmlns:a16="http://schemas.microsoft.com/office/drawing/2014/main" id="{073ED0D1-FC88-4286-8C55-92B7B74C2198}"/>
              </a:ext>
            </a:extLst>
          </p:cNvPr>
          <p:cNvSpPr>
            <a:spLocks xmlns:a="http://schemas.openxmlformats.org/drawingml/2006/main" noGrp="1"/>
          </p:cNvSpPr>
          <p:nvPr/>
        </p:nvSpPr>
        <p:spPr>
          <a:xfrm xmlns:a="http://schemas.openxmlformats.org/drawingml/2006/main">
            <a:off x="6248400" y="4486275"/>
            <a:ext cx="5229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0">
                <a:solidFill>
                  <a:srgbClr val="5B6B79"/>
                </a:solidFill>
                <a:latin typeface="Calibri"/>
                <a:ea typeface="Calibri"/>
                <a:cs typeface="Calibri"/>
              </a:defRPr>
            </a:pPr>
            <a:r>
              <a:rPr sz="900" b="0" i="0">
                <a:solidFill>
                  <a:srgbClr val="5B6B79"/>
                </a:solidFill>
                <a:latin typeface="Calibri"/>
                <a:ea typeface="Calibri"/>
                <a:cs typeface="Calibri"/>
              </a:rPr>
              <a:t>Solid/electrolyte current-density balance with specific interfacial area aₛ.</a:t>
            </a:r>
          </a:p>
        </p:txBody>
      </p:sp>
      <p:sp>
        <p:nvSpPr>
          <p:cNvPr id="20" name="">
            <a:extLst xmlns:a="http://schemas.openxmlformats.org/drawingml/2006/main">
              <a:ext uri="{FF2B5EF4-FFF2-40B4-BE49-F238E27FC236}">
                <a16:creationId xmlns:a16="http://schemas.microsoft.com/office/drawing/2014/main" id="{9416D491-8E17-45E5-B0A8-80B8FF0A3254}"/>
              </a:ext>
            </a:extLst>
          </p:cNvPr>
          <p:cNvSpPr>
            <a:spLocks xmlns:a="http://schemas.openxmlformats.org/drawingml/2006/main" noGrp="1"/>
          </p:cNvSpPr>
          <p:nvPr/>
        </p:nvSpPr>
        <p:spPr>
          <a:xfrm xmlns:a="http://schemas.openxmlformats.org/drawingml/2006/main">
            <a:off x="552450" y="5429250"/>
            <a:ext cx="11096625" cy="590550"/>
          </a:xfrm>
          <a:prstGeom xmlns:a="http://schemas.openxmlformats.org/drawingml/2006/main" prst="roundRect">
            <a:avLst>
              <a:gd name="adj" fmla="val 12903"/>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6F805B17-C171-4F81-84C5-BD9D44B19207}"/>
              </a:ext>
            </a:extLst>
          </p:cNvPr>
          <p:cNvSpPr>
            <a:spLocks xmlns:a="http://schemas.openxmlformats.org/drawingml/2006/main" noGrp="1"/>
          </p:cNvSpPr>
          <p:nvPr/>
        </p:nvSpPr>
        <p:spPr>
          <a:xfrm xmlns:a="http://schemas.openxmlformats.org/drawingml/2006/main">
            <a:off x="781050" y="5610225"/>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846"/>
          </a:bodyPr>
          <a:lstStyle xmlns:a="http://schemas.openxmlformats.org/drawingml/2006/main"/>
          <a:p xmlns:a="http://schemas.openxmlformats.org/drawingml/2006/main">
            <a:pPr>
              <a:defRPr sz="975" b="1" i="0">
                <a:solidFill>
                  <a:srgbClr val="028090"/>
                </a:solidFill>
                <a:latin typeface="Calibri"/>
                <a:ea typeface="Calibri"/>
                <a:cs typeface="Calibri"/>
              </a:defRPr>
            </a:pPr>
            <a:r>
              <a:t>Electrochemical PDE Context</a:t>
            </a:r>
          </a:p>
        </p:txBody>
      </p:sp>
      <p:sp>
        <p:nvSpPr>
          <p:cNvPr id="22" name="">
            <a:extLst xmlns:a="http://schemas.openxmlformats.org/drawingml/2006/main">
              <a:ext uri="{FF2B5EF4-FFF2-40B4-BE49-F238E27FC236}">
                <a16:creationId xmlns:a16="http://schemas.microsoft.com/office/drawing/2014/main" id="{5463DCD4-0386-489B-ADE4-3C812C715362}"/>
              </a:ext>
            </a:extLst>
          </p:cNvPr>
          <p:cNvSpPr>
            <a:spLocks xmlns:a="http://schemas.openxmlformats.org/drawingml/2006/main" noGrp="1"/>
          </p:cNvSpPr>
          <p:nvPr/>
        </p:nvSpPr>
        <p:spPr>
          <a:xfrm xmlns:a="http://schemas.openxmlformats.org/drawingml/2006/main">
            <a:off x="2647950" y="5610225"/>
            <a:ext cx="838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defRPr sz="1050" b="0" i="0">
                <a:solidFill>
                  <a:srgbClr val="0B2545"/>
                </a:solidFill>
                <a:latin typeface="Calibri"/>
                <a:ea typeface="Calibri"/>
                <a:cs typeface="Calibri"/>
              </a:defRPr>
            </a:pPr>
            <a:r>
              <a:rPr sz="1050" b="0" i="0">
                <a:solidFill>
                  <a:srgbClr val="0B2545"/>
                </a:solidFill>
                <a:latin typeface="Calibri"/>
                <a:ea typeface="Calibri"/>
                <a:cs typeface="Calibri"/>
              </a:rPr>
              <a:t>Reviewed for Stage 2 extension only · not claimed as an executed SEI/electrochemical experiment</a:t>
            </a:r>
          </a:p>
        </p:txBody>
      </p:sp>
      <p:sp>
        <p:nvSpPr>
          <p:cNvPr id="23" name="">
            <a:extLst xmlns:a="http://schemas.openxmlformats.org/drawingml/2006/main">
              <a:ext uri="{FF2B5EF4-FFF2-40B4-BE49-F238E27FC236}">
                <a16:creationId xmlns:a16="http://schemas.microsoft.com/office/drawing/2014/main" id="{1569E98B-5BB3-485F-8FA0-971280599707}"/>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24" name="">
            <a:extLst xmlns:a="http://schemas.openxmlformats.org/drawingml/2006/main">
              <a:ext uri="{FF2B5EF4-FFF2-40B4-BE49-F238E27FC236}">
                <a16:creationId xmlns:a16="http://schemas.microsoft.com/office/drawing/2014/main" id="{07B942D2-EC45-4A0D-9E2E-D1F70DE8DC9A}"/>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26 / 31</a:t>
            </a:r>
          </a:p>
        </p:txBody>
      </p:sp>
    </p:spTree>
    <p:extLst>
      <p:ext uri="{BB962C8B-B14F-4D97-AF65-F5344CB8AC3E}">
        <p14:creationId xmlns:p14="http://schemas.microsoft.com/office/powerpoint/2010/main" val="1573303785"/>
      </p:ext>
    </p:extLst>
  </p:cSld>
</p:sld>
</file>

<file path=ppt/slides/slide27.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957F31E-9DDB-448D-9B0E-7207D7C68A47}"/>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0A896"/>
                </a:solidFill>
                <a:latin typeface="Calibri"/>
                <a:ea typeface="Calibri"/>
                <a:cs typeface="Calibri"/>
              </a:defRPr>
            </a:pPr>
            <a:r>
              <a:t>BASE PAPER · EQUATIONS (10–16)</a:t>
            </a:r>
          </a:p>
        </p:txBody>
      </p:sp>
      <p:sp>
        <p:nvSpPr>
          <p:cNvPr id="2" name="">
            <a:extLst xmlns:a="http://schemas.openxmlformats.org/drawingml/2006/main">
              <a:ext uri="{FF2B5EF4-FFF2-40B4-BE49-F238E27FC236}">
                <a16:creationId xmlns:a16="http://schemas.microsoft.com/office/drawing/2014/main" id="{E63B843F-148E-43B6-B5E0-CE83617D0714}"/>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FFFFFF"/>
                </a:solidFill>
                <a:latin typeface="Cambria"/>
                <a:ea typeface="Cambria"/>
                <a:cs typeface="Cambria"/>
              </a:defRPr>
            </a:pPr>
            <a:r>
              <a:rPr sz="2325" b="1" i="0">
                <a:solidFill>
                  <a:srgbClr val="FFFFFF"/>
                </a:solidFill>
                <a:latin typeface="Cambria"/>
                <a:ea typeface="Cambria"/>
                <a:cs typeface="Cambria"/>
              </a:rPr>
              <a:t>Base paper: ECM state evolution and aging laws</a:t>
            </a:r>
          </a:p>
        </p:txBody>
      </p:sp>
      <p:sp>
        <p:nvSpPr>
          <p:cNvPr id="3" name="">
            <a:extLst xmlns:a="http://schemas.openxmlformats.org/drawingml/2006/main">
              <a:ext uri="{FF2B5EF4-FFF2-40B4-BE49-F238E27FC236}">
                <a16:creationId xmlns:a16="http://schemas.microsoft.com/office/drawing/2014/main" id="{E535913E-2EF0-4A4A-8397-8E730C4ADE0F}"/>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C7D8E5"/>
                </a:solidFill>
                <a:latin typeface="Calibri"/>
                <a:ea typeface="Calibri"/>
                <a:cs typeface="Calibri"/>
              </a:defRPr>
            </a:pPr>
            <a:r>
              <a:rPr sz="1125" b="0" i="0">
                <a:solidFill>
                  <a:srgbClr val="C7D8E5"/>
                </a:solidFill>
                <a:latin typeface="Calibri"/>
                <a:ea typeface="Calibri"/>
                <a:cs typeface="Calibri"/>
              </a:rPr>
              <a:t>These equations connect macroscopic circuit state, capacity fade, and monotonic degradation constraints.</a:t>
            </a:r>
          </a:p>
        </p:txBody>
      </p:sp>
      <p:sp>
        <p:nvSpPr>
          <p:cNvPr id="4" name="">
            <a:extLst xmlns:a="http://schemas.openxmlformats.org/drawingml/2006/main">
              <a:ext uri="{FF2B5EF4-FFF2-40B4-BE49-F238E27FC236}">
                <a16:creationId xmlns:a16="http://schemas.microsoft.com/office/drawing/2014/main" id="{1A4D3059-B6F5-4288-ADEC-6F1FC3DA5C3A}"/>
              </a:ext>
            </a:extLst>
          </p:cNvPr>
          <p:cNvSpPr>
            <a:spLocks xmlns:a="http://schemas.openxmlformats.org/drawingml/2006/main" noGrp="1"/>
          </p:cNvSpPr>
          <p:nvPr/>
        </p:nvSpPr>
        <p:spPr>
          <a:xfrm xmlns:a="http://schemas.openxmlformats.org/drawingml/2006/main">
            <a:off x="552450" y="1905000"/>
            <a:ext cx="5238750" cy="1000125"/>
          </a:xfrm>
          <a:prstGeom xmlns:a="http://schemas.openxmlformats.org/drawingml/2006/main" prst="roundRect">
            <a:avLst>
              <a:gd name="adj" fmla="val 7619"/>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39E33A4-6F47-4E11-A476-3655394249C1}"/>
              </a:ext>
            </a:extLst>
          </p:cNvPr>
          <p:cNvSpPr>
            <a:spLocks xmlns:a="http://schemas.openxmlformats.org/drawingml/2006/main" noGrp="1"/>
          </p:cNvSpPr>
          <p:nvPr/>
        </p:nvSpPr>
        <p:spPr>
          <a:xfrm xmlns:a="http://schemas.openxmlformats.org/drawingml/2006/main">
            <a:off x="723900" y="2028825"/>
            <a:ext cx="4895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0A896"/>
                </a:solidFill>
                <a:latin typeface="Calibri"/>
                <a:ea typeface="Calibri"/>
                <a:cs typeface="Calibri"/>
              </a:defRPr>
            </a:pPr>
            <a:r>
              <a:rPr sz="750" b="1" i="0">
                <a:solidFill>
                  <a:srgbClr val="00A896"/>
                </a:solidFill>
                <a:latin typeface="Calibri"/>
                <a:ea typeface="Calibri"/>
                <a:cs typeface="Calibri"/>
              </a:rPr>
              <a:t>(10) COULOMB COUNTING</a:t>
            </a:r>
          </a:p>
        </p:txBody>
      </p:sp>
      <p:sp>
        <p:nvSpPr>
          <p:cNvPr id="6" name="">
            <a:extLst xmlns:a="http://schemas.openxmlformats.org/drawingml/2006/main">
              <a:ext uri="{FF2B5EF4-FFF2-40B4-BE49-F238E27FC236}">
                <a16:creationId xmlns:a16="http://schemas.microsoft.com/office/drawing/2014/main" id="{9F436FF9-05AE-4383-8373-4DD1B83B3C3A}"/>
              </a:ext>
            </a:extLst>
          </p:cNvPr>
          <p:cNvSpPr>
            <a:spLocks xmlns:a="http://schemas.openxmlformats.org/drawingml/2006/main" noGrp="1"/>
          </p:cNvSpPr>
          <p:nvPr/>
        </p:nvSpPr>
        <p:spPr>
          <a:xfrm xmlns:a="http://schemas.openxmlformats.org/drawingml/2006/main">
            <a:off x="723900" y="2276475"/>
            <a:ext cx="4895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Cambria"/>
                <a:ea typeface="Cambria"/>
                <a:cs typeface="Cambria"/>
              </a:defRPr>
            </a:pPr>
            <a:r>
              <a:rPr sz="1800" b="1" i="0">
                <a:solidFill>
                  <a:srgbClr val="FFFFFF"/>
                </a:solidFill>
                <a:latin typeface="Cambria"/>
                <a:ea typeface="Cambria"/>
                <a:cs typeface="Cambria"/>
              </a:rPr>
              <a:t>dz/dt = −ηI(t)/Qₙ</a:t>
            </a:r>
          </a:p>
        </p:txBody>
      </p:sp>
      <p:sp>
        <p:nvSpPr>
          <p:cNvPr id="7" name="">
            <a:extLst xmlns:a="http://schemas.openxmlformats.org/drawingml/2006/main">
              <a:ext uri="{FF2B5EF4-FFF2-40B4-BE49-F238E27FC236}">
                <a16:creationId xmlns:a16="http://schemas.microsoft.com/office/drawing/2014/main" id="{8C28B42C-E786-42B1-855B-DC6B486D6455}"/>
              </a:ext>
            </a:extLst>
          </p:cNvPr>
          <p:cNvSpPr>
            <a:spLocks xmlns:a="http://schemas.openxmlformats.org/drawingml/2006/main" noGrp="1"/>
          </p:cNvSpPr>
          <p:nvPr/>
        </p:nvSpPr>
        <p:spPr>
          <a:xfrm xmlns:a="http://schemas.openxmlformats.org/drawingml/2006/main">
            <a:off x="723900" y="2571750"/>
            <a:ext cx="4895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056"/>
          </a:bodyPr>
          <a:lstStyle xmlns:a="http://schemas.openxmlformats.org/drawingml/2006/main"/>
          <a:p xmlns:a="http://schemas.openxmlformats.org/drawingml/2006/main">
            <a:pPr>
              <a:defRPr sz="900" b="0" i="0">
                <a:solidFill>
                  <a:srgbClr val="C7D8E5"/>
                </a:solidFill>
                <a:latin typeface="Calibri"/>
                <a:ea typeface="Calibri"/>
                <a:cs typeface="Calibri"/>
              </a:defRPr>
            </a:pPr>
            <a:r>
              <a:rPr sz="900" b="0" i="0">
                <a:solidFill>
                  <a:srgbClr val="C7D8E5"/>
                </a:solidFill>
                <a:latin typeface="Calibri"/>
                <a:ea typeface="Calibri"/>
                <a:cs typeface="Calibri"/>
              </a:rPr>
              <a:t>z is SOC, I is applied current, Qₙ is nominal capacity, and η is Coulombic efficiency.</a:t>
            </a:r>
          </a:p>
        </p:txBody>
      </p:sp>
      <p:sp>
        <p:nvSpPr>
          <p:cNvPr id="8" name="">
            <a:extLst xmlns:a="http://schemas.openxmlformats.org/drawingml/2006/main">
              <a:ext uri="{FF2B5EF4-FFF2-40B4-BE49-F238E27FC236}">
                <a16:creationId xmlns:a16="http://schemas.microsoft.com/office/drawing/2014/main" id="{0BBBAB74-7FE2-478C-984B-59751A796014}"/>
              </a:ext>
            </a:extLst>
          </p:cNvPr>
          <p:cNvSpPr>
            <a:spLocks xmlns:a="http://schemas.openxmlformats.org/drawingml/2006/main" noGrp="1"/>
          </p:cNvSpPr>
          <p:nvPr/>
        </p:nvSpPr>
        <p:spPr>
          <a:xfrm xmlns:a="http://schemas.openxmlformats.org/drawingml/2006/main">
            <a:off x="6076950" y="1905000"/>
            <a:ext cx="5572125" cy="1000125"/>
          </a:xfrm>
          <a:prstGeom xmlns:a="http://schemas.openxmlformats.org/drawingml/2006/main" prst="roundRect">
            <a:avLst>
              <a:gd name="adj" fmla="val 7619"/>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DD6147F8-7297-4045-91E4-F6B9C71DC463}"/>
              </a:ext>
            </a:extLst>
          </p:cNvPr>
          <p:cNvSpPr>
            <a:spLocks xmlns:a="http://schemas.openxmlformats.org/drawingml/2006/main" noGrp="1"/>
          </p:cNvSpPr>
          <p:nvPr/>
        </p:nvSpPr>
        <p:spPr>
          <a:xfrm xmlns:a="http://schemas.openxmlformats.org/drawingml/2006/main">
            <a:off x="6248400" y="2028825"/>
            <a:ext cx="52292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0A896"/>
                </a:solidFill>
                <a:latin typeface="Calibri"/>
                <a:ea typeface="Calibri"/>
                <a:cs typeface="Calibri"/>
              </a:defRPr>
            </a:pPr>
            <a:r>
              <a:rPr sz="750" b="1" i="0">
                <a:solidFill>
                  <a:srgbClr val="00A896"/>
                </a:solidFill>
                <a:latin typeface="Calibri"/>
                <a:ea typeface="Calibri"/>
                <a:cs typeface="Calibri"/>
              </a:rPr>
              <a:t>(11) RC POLARIZATION</a:t>
            </a:r>
          </a:p>
        </p:txBody>
      </p:sp>
      <p:sp>
        <p:nvSpPr>
          <p:cNvPr id="10" name="">
            <a:extLst xmlns:a="http://schemas.openxmlformats.org/drawingml/2006/main">
              <a:ext uri="{FF2B5EF4-FFF2-40B4-BE49-F238E27FC236}">
                <a16:creationId xmlns:a16="http://schemas.microsoft.com/office/drawing/2014/main" id="{35F458FF-DAFE-4FFD-973A-66FD8824D9BC}"/>
              </a:ext>
            </a:extLst>
          </p:cNvPr>
          <p:cNvSpPr>
            <a:spLocks xmlns:a="http://schemas.openxmlformats.org/drawingml/2006/main" noGrp="1"/>
          </p:cNvSpPr>
          <p:nvPr/>
        </p:nvSpPr>
        <p:spPr>
          <a:xfrm xmlns:a="http://schemas.openxmlformats.org/drawingml/2006/main">
            <a:off x="6248400" y="2276475"/>
            <a:ext cx="5229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Cambria"/>
                <a:ea typeface="Cambria"/>
                <a:cs typeface="Cambria"/>
              </a:defRPr>
            </a:pPr>
            <a:r>
              <a:rPr sz="1650" b="1" i="0">
                <a:solidFill>
                  <a:srgbClr val="FFFFFF"/>
                </a:solidFill>
                <a:latin typeface="Cambria"/>
                <a:ea typeface="Cambria"/>
                <a:cs typeface="Cambria"/>
              </a:rPr>
              <a:t>dVₚ/dt = −Vₚ/(RₚCₚ) + I/Cₚ</a:t>
            </a:r>
          </a:p>
        </p:txBody>
      </p:sp>
      <p:sp>
        <p:nvSpPr>
          <p:cNvPr id="11" name="">
            <a:extLst xmlns:a="http://schemas.openxmlformats.org/drawingml/2006/main">
              <a:ext uri="{FF2B5EF4-FFF2-40B4-BE49-F238E27FC236}">
                <a16:creationId xmlns:a16="http://schemas.microsoft.com/office/drawing/2014/main" id="{0D95C06C-37D3-4FB7-B6C8-B5CFBFF62012}"/>
              </a:ext>
            </a:extLst>
          </p:cNvPr>
          <p:cNvSpPr>
            <a:spLocks xmlns:a="http://schemas.openxmlformats.org/drawingml/2006/main" noGrp="1"/>
          </p:cNvSpPr>
          <p:nvPr/>
        </p:nvSpPr>
        <p:spPr>
          <a:xfrm xmlns:a="http://schemas.openxmlformats.org/drawingml/2006/main">
            <a:off x="6248400" y="2571750"/>
            <a:ext cx="5229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056"/>
          </a:bodyPr>
          <a:lstStyle xmlns:a="http://schemas.openxmlformats.org/drawingml/2006/main"/>
          <a:p xmlns:a="http://schemas.openxmlformats.org/drawingml/2006/main">
            <a:pPr>
              <a:defRPr sz="900" b="0" i="0">
                <a:solidFill>
                  <a:srgbClr val="C7D8E5"/>
                </a:solidFill>
                <a:latin typeface="Calibri"/>
                <a:ea typeface="Calibri"/>
                <a:cs typeface="Calibri"/>
              </a:defRPr>
            </a:pPr>
            <a:r>
              <a:rPr sz="900" b="0" i="0">
                <a:solidFill>
                  <a:srgbClr val="C7D8E5"/>
                </a:solidFill>
                <a:latin typeface="Calibri"/>
                <a:ea typeface="Calibri"/>
                <a:cs typeface="Calibri"/>
              </a:rPr>
              <a:t>First-order equivalent-circuit polarization branch.</a:t>
            </a:r>
          </a:p>
        </p:txBody>
      </p:sp>
      <p:sp>
        <p:nvSpPr>
          <p:cNvPr id="12" name="">
            <a:extLst xmlns:a="http://schemas.openxmlformats.org/drawingml/2006/main">
              <a:ext uri="{FF2B5EF4-FFF2-40B4-BE49-F238E27FC236}">
                <a16:creationId xmlns:a16="http://schemas.microsoft.com/office/drawing/2014/main" id="{6E3E69A1-72F9-4293-A117-A99DDFA9B9AF}"/>
              </a:ext>
            </a:extLst>
          </p:cNvPr>
          <p:cNvSpPr>
            <a:spLocks xmlns:a="http://schemas.openxmlformats.org/drawingml/2006/main" noGrp="1"/>
          </p:cNvSpPr>
          <p:nvPr/>
        </p:nvSpPr>
        <p:spPr>
          <a:xfrm xmlns:a="http://schemas.openxmlformats.org/drawingml/2006/main">
            <a:off x="552450" y="3114675"/>
            <a:ext cx="5238750" cy="1000125"/>
          </a:xfrm>
          <a:prstGeom xmlns:a="http://schemas.openxmlformats.org/drawingml/2006/main" prst="roundRect">
            <a:avLst>
              <a:gd name="adj" fmla="val 7619"/>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C0459261-E410-477C-843D-E5CA78949ED3}"/>
              </a:ext>
            </a:extLst>
          </p:cNvPr>
          <p:cNvSpPr>
            <a:spLocks xmlns:a="http://schemas.openxmlformats.org/drawingml/2006/main" noGrp="1"/>
          </p:cNvSpPr>
          <p:nvPr/>
        </p:nvSpPr>
        <p:spPr>
          <a:xfrm xmlns:a="http://schemas.openxmlformats.org/drawingml/2006/main">
            <a:off x="723900" y="3238500"/>
            <a:ext cx="4895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0A896"/>
                </a:solidFill>
                <a:latin typeface="Calibri"/>
                <a:ea typeface="Calibri"/>
                <a:cs typeface="Calibri"/>
              </a:defRPr>
            </a:pPr>
            <a:r>
              <a:rPr sz="750" b="1" i="0">
                <a:solidFill>
                  <a:srgbClr val="00A896"/>
                </a:solidFill>
                <a:latin typeface="Calibri"/>
                <a:ea typeface="Calibri"/>
                <a:cs typeface="Calibri"/>
              </a:rPr>
              <a:t>(12) TERMINAL VOLTAGE</a:t>
            </a:r>
          </a:p>
        </p:txBody>
      </p:sp>
      <p:sp>
        <p:nvSpPr>
          <p:cNvPr id="14" name="">
            <a:extLst xmlns:a="http://schemas.openxmlformats.org/drawingml/2006/main">
              <a:ext uri="{FF2B5EF4-FFF2-40B4-BE49-F238E27FC236}">
                <a16:creationId xmlns:a16="http://schemas.microsoft.com/office/drawing/2014/main" id="{066A6738-4C5B-4C35-A13D-5E42713C025F}"/>
              </a:ext>
            </a:extLst>
          </p:cNvPr>
          <p:cNvSpPr>
            <a:spLocks xmlns:a="http://schemas.openxmlformats.org/drawingml/2006/main" noGrp="1"/>
          </p:cNvSpPr>
          <p:nvPr/>
        </p:nvSpPr>
        <p:spPr>
          <a:xfrm xmlns:a="http://schemas.openxmlformats.org/drawingml/2006/main">
            <a:off x="723900" y="3486150"/>
            <a:ext cx="4895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Cambria"/>
                <a:ea typeface="Cambria"/>
                <a:cs typeface="Cambria"/>
              </a:defRPr>
            </a:pPr>
            <a:r>
              <a:rPr sz="1800" b="1" i="0">
                <a:solidFill>
                  <a:srgbClr val="FFFFFF"/>
                </a:solidFill>
                <a:latin typeface="Cambria"/>
                <a:ea typeface="Cambria"/>
                <a:cs typeface="Cambria"/>
              </a:rPr>
              <a:t>Vₜ = U_OC(z) − IR₀ − Vₚ</a:t>
            </a:r>
          </a:p>
        </p:txBody>
      </p:sp>
      <p:sp>
        <p:nvSpPr>
          <p:cNvPr id="15" name="">
            <a:extLst xmlns:a="http://schemas.openxmlformats.org/drawingml/2006/main">
              <a:ext uri="{FF2B5EF4-FFF2-40B4-BE49-F238E27FC236}">
                <a16:creationId xmlns:a16="http://schemas.microsoft.com/office/drawing/2014/main" id="{51E7ED94-1A07-4062-9ADB-5063C21DD29D}"/>
              </a:ext>
            </a:extLst>
          </p:cNvPr>
          <p:cNvSpPr>
            <a:spLocks xmlns:a="http://schemas.openxmlformats.org/drawingml/2006/main" noGrp="1"/>
          </p:cNvSpPr>
          <p:nvPr/>
        </p:nvSpPr>
        <p:spPr>
          <a:xfrm xmlns:a="http://schemas.openxmlformats.org/drawingml/2006/main">
            <a:off x="723900" y="3781425"/>
            <a:ext cx="4895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056"/>
          </a:bodyPr>
          <a:lstStyle xmlns:a="http://schemas.openxmlformats.org/drawingml/2006/main"/>
          <a:p xmlns:a="http://schemas.openxmlformats.org/drawingml/2006/main">
            <a:pPr>
              <a:defRPr sz="900" b="0" i="0">
                <a:solidFill>
                  <a:srgbClr val="C7D8E5"/>
                </a:solidFill>
                <a:latin typeface="Calibri"/>
                <a:ea typeface="Calibri"/>
                <a:cs typeface="Calibri"/>
              </a:defRPr>
            </a:pPr>
            <a:r>
              <a:rPr sz="900" b="0" i="0">
                <a:solidFill>
                  <a:srgbClr val="C7D8E5"/>
                </a:solidFill>
                <a:latin typeface="Calibri"/>
                <a:ea typeface="Calibri"/>
                <a:cs typeface="Calibri"/>
              </a:rPr>
              <a:t>Open-circuit voltage plus ohmic and polarization terms.</a:t>
            </a:r>
          </a:p>
        </p:txBody>
      </p:sp>
      <p:sp>
        <p:nvSpPr>
          <p:cNvPr id="16" name="">
            <a:extLst xmlns:a="http://schemas.openxmlformats.org/drawingml/2006/main">
              <a:ext uri="{FF2B5EF4-FFF2-40B4-BE49-F238E27FC236}">
                <a16:creationId xmlns:a16="http://schemas.microsoft.com/office/drawing/2014/main" id="{9FE78FB9-FD16-4BC5-A5AA-50E3BE17292D}"/>
              </a:ext>
            </a:extLst>
          </p:cNvPr>
          <p:cNvSpPr>
            <a:spLocks xmlns:a="http://schemas.openxmlformats.org/drawingml/2006/main" noGrp="1"/>
          </p:cNvSpPr>
          <p:nvPr/>
        </p:nvSpPr>
        <p:spPr>
          <a:xfrm xmlns:a="http://schemas.openxmlformats.org/drawingml/2006/main">
            <a:off x="6076950" y="3114675"/>
            <a:ext cx="5572125" cy="1000125"/>
          </a:xfrm>
          <a:prstGeom xmlns:a="http://schemas.openxmlformats.org/drawingml/2006/main" prst="roundRect">
            <a:avLst>
              <a:gd name="adj" fmla="val 7619"/>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93263EA-5678-40AB-A9CD-E773F4DFB309}"/>
              </a:ext>
            </a:extLst>
          </p:cNvPr>
          <p:cNvSpPr>
            <a:spLocks xmlns:a="http://schemas.openxmlformats.org/drawingml/2006/main" noGrp="1"/>
          </p:cNvSpPr>
          <p:nvPr/>
        </p:nvSpPr>
        <p:spPr>
          <a:xfrm xmlns:a="http://schemas.openxmlformats.org/drawingml/2006/main">
            <a:off x="6248400" y="3238500"/>
            <a:ext cx="52292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0A896"/>
                </a:solidFill>
                <a:latin typeface="Calibri"/>
                <a:ea typeface="Calibri"/>
                <a:cs typeface="Calibri"/>
              </a:defRPr>
            </a:pPr>
            <a:r>
              <a:rPr sz="750" b="1" i="0">
                <a:solidFill>
                  <a:srgbClr val="00A896"/>
                </a:solidFill>
                <a:latin typeface="Calibri"/>
                <a:ea typeface="Calibri"/>
                <a:cs typeface="Calibri"/>
              </a:rPr>
              <a:t>(13) CAPACITY-BASED SOH</a:t>
            </a:r>
          </a:p>
        </p:txBody>
      </p:sp>
      <p:sp>
        <p:nvSpPr>
          <p:cNvPr id="18" name="">
            <a:extLst xmlns:a="http://schemas.openxmlformats.org/drawingml/2006/main">
              <a:ext uri="{FF2B5EF4-FFF2-40B4-BE49-F238E27FC236}">
                <a16:creationId xmlns:a16="http://schemas.microsoft.com/office/drawing/2014/main" id="{5526A4BD-5F72-4B1E-97FD-05360DB74498}"/>
              </a:ext>
            </a:extLst>
          </p:cNvPr>
          <p:cNvSpPr>
            <a:spLocks xmlns:a="http://schemas.openxmlformats.org/drawingml/2006/main" noGrp="1"/>
          </p:cNvSpPr>
          <p:nvPr/>
        </p:nvSpPr>
        <p:spPr>
          <a:xfrm xmlns:a="http://schemas.openxmlformats.org/drawingml/2006/main">
            <a:off x="6248400" y="3486150"/>
            <a:ext cx="5229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Cambria"/>
                <a:ea typeface="Cambria"/>
                <a:cs typeface="Cambria"/>
              </a:defRPr>
            </a:pPr>
            <a:r>
              <a:rPr sz="1800" b="1" i="0">
                <a:solidFill>
                  <a:srgbClr val="FFFFFF"/>
                </a:solidFill>
                <a:latin typeface="Cambria"/>
                <a:ea typeface="Cambria"/>
                <a:cs typeface="Cambria"/>
              </a:rPr>
              <a:t>SOH(k) = Q(k)/Q₀</a:t>
            </a:r>
          </a:p>
        </p:txBody>
      </p:sp>
      <p:sp>
        <p:nvSpPr>
          <p:cNvPr id="19" name="">
            <a:extLst xmlns:a="http://schemas.openxmlformats.org/drawingml/2006/main">
              <a:ext uri="{FF2B5EF4-FFF2-40B4-BE49-F238E27FC236}">
                <a16:creationId xmlns:a16="http://schemas.microsoft.com/office/drawing/2014/main" id="{81ECBDFF-2BB8-4CEA-98CF-883709853478}"/>
              </a:ext>
            </a:extLst>
          </p:cNvPr>
          <p:cNvSpPr>
            <a:spLocks xmlns:a="http://schemas.openxmlformats.org/drawingml/2006/main" noGrp="1"/>
          </p:cNvSpPr>
          <p:nvPr/>
        </p:nvSpPr>
        <p:spPr>
          <a:xfrm xmlns:a="http://schemas.openxmlformats.org/drawingml/2006/main">
            <a:off x="6248400" y="3781425"/>
            <a:ext cx="5229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056"/>
          </a:bodyPr>
          <a:lstStyle xmlns:a="http://schemas.openxmlformats.org/drawingml/2006/main"/>
          <a:p xmlns:a="http://schemas.openxmlformats.org/drawingml/2006/main">
            <a:pPr>
              <a:defRPr sz="900" b="0" i="0">
                <a:solidFill>
                  <a:srgbClr val="C7D8E5"/>
                </a:solidFill>
                <a:latin typeface="Calibri"/>
                <a:ea typeface="Calibri"/>
                <a:cs typeface="Calibri"/>
              </a:defRPr>
            </a:pPr>
            <a:r>
              <a:rPr sz="900" b="0" i="0">
                <a:solidFill>
                  <a:srgbClr val="C7D8E5"/>
                </a:solidFill>
                <a:latin typeface="Calibri"/>
                <a:ea typeface="Calibri"/>
                <a:cs typeface="Calibri"/>
              </a:rPr>
              <a:t>The base review’s capacity-health equation is the source for our percentage form SOHₖ = 100Qₖ/Q_nom.</a:t>
            </a:r>
          </a:p>
        </p:txBody>
      </p:sp>
      <p:sp>
        <p:nvSpPr>
          <p:cNvPr id="20" name="">
            <a:extLst xmlns:a="http://schemas.openxmlformats.org/drawingml/2006/main">
              <a:ext uri="{FF2B5EF4-FFF2-40B4-BE49-F238E27FC236}">
                <a16:creationId xmlns:a16="http://schemas.microsoft.com/office/drawing/2014/main" id="{FD412C2A-159E-46DB-943F-067077929817}"/>
              </a:ext>
            </a:extLst>
          </p:cNvPr>
          <p:cNvSpPr>
            <a:spLocks xmlns:a="http://schemas.openxmlformats.org/drawingml/2006/main" noGrp="1"/>
          </p:cNvSpPr>
          <p:nvPr/>
        </p:nvSpPr>
        <p:spPr>
          <a:xfrm xmlns:a="http://schemas.openxmlformats.org/drawingml/2006/main">
            <a:off x="552450" y="4324350"/>
            <a:ext cx="5238750" cy="1000125"/>
          </a:xfrm>
          <a:prstGeom xmlns:a="http://schemas.openxmlformats.org/drawingml/2006/main" prst="roundRect">
            <a:avLst>
              <a:gd name="adj" fmla="val 7619"/>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39BF69D-572C-4C4A-9651-70104EB0E349}"/>
              </a:ext>
            </a:extLst>
          </p:cNvPr>
          <p:cNvSpPr>
            <a:spLocks xmlns:a="http://schemas.openxmlformats.org/drawingml/2006/main" noGrp="1"/>
          </p:cNvSpPr>
          <p:nvPr/>
        </p:nvSpPr>
        <p:spPr>
          <a:xfrm xmlns:a="http://schemas.openxmlformats.org/drawingml/2006/main">
            <a:off x="723900" y="4448175"/>
            <a:ext cx="4895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0A896"/>
                </a:solidFill>
                <a:latin typeface="Calibri"/>
                <a:ea typeface="Calibri"/>
                <a:cs typeface="Calibri"/>
              </a:defRPr>
            </a:pPr>
            <a:r>
              <a:rPr sz="750" b="1" i="0">
                <a:solidFill>
                  <a:srgbClr val="00A896"/>
                </a:solidFill>
                <a:latin typeface="Calibri"/>
                <a:ea typeface="Calibri"/>
                <a:cs typeface="Calibri"/>
              </a:rPr>
              <a:t>(14–15) CAPACITY FADE</a:t>
            </a:r>
          </a:p>
        </p:txBody>
      </p:sp>
      <p:sp>
        <p:nvSpPr>
          <p:cNvPr id="22" name="">
            <a:extLst xmlns:a="http://schemas.openxmlformats.org/drawingml/2006/main">
              <a:ext uri="{FF2B5EF4-FFF2-40B4-BE49-F238E27FC236}">
                <a16:creationId xmlns:a16="http://schemas.microsoft.com/office/drawing/2014/main" id="{8C63DFE0-B03D-4F67-BEE4-5469E867BD8D}"/>
              </a:ext>
            </a:extLst>
          </p:cNvPr>
          <p:cNvSpPr>
            <a:spLocks xmlns:a="http://schemas.openxmlformats.org/drawingml/2006/main" noGrp="1"/>
          </p:cNvSpPr>
          <p:nvPr/>
        </p:nvSpPr>
        <p:spPr>
          <a:xfrm xmlns:a="http://schemas.openxmlformats.org/drawingml/2006/main">
            <a:off x="723900" y="4695825"/>
            <a:ext cx="4895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i="0">
                <a:solidFill>
                  <a:srgbClr val="FFFFFF"/>
                </a:solidFill>
                <a:latin typeface="Cambria"/>
                <a:ea typeface="Cambria"/>
                <a:cs typeface="Cambria"/>
              </a:defRPr>
            </a:pPr>
            <a:r>
              <a:rPr sz="1500" b="1" i="0">
                <a:solidFill>
                  <a:srgbClr val="FFFFFF"/>
                </a:solidFill>
                <a:latin typeface="Cambria"/>
                <a:ea typeface="Cambria"/>
                <a:cs typeface="Cambria"/>
              </a:rPr>
              <a:t>Q(k)=Q₀−ΔQ(k)   or   Q(k)=Q₀−akᵇ</a:t>
            </a:r>
          </a:p>
        </p:txBody>
      </p:sp>
      <p:sp>
        <p:nvSpPr>
          <p:cNvPr id="23" name="">
            <a:extLst xmlns:a="http://schemas.openxmlformats.org/drawingml/2006/main">
              <a:ext uri="{FF2B5EF4-FFF2-40B4-BE49-F238E27FC236}">
                <a16:creationId xmlns:a16="http://schemas.microsoft.com/office/drawing/2014/main" id="{FB46BC24-554F-4E87-9A24-094FB902ECB3}"/>
              </a:ext>
            </a:extLst>
          </p:cNvPr>
          <p:cNvSpPr>
            <a:spLocks xmlns:a="http://schemas.openxmlformats.org/drawingml/2006/main" noGrp="1"/>
          </p:cNvSpPr>
          <p:nvPr/>
        </p:nvSpPr>
        <p:spPr>
          <a:xfrm xmlns:a="http://schemas.openxmlformats.org/drawingml/2006/main">
            <a:off x="723900" y="4991100"/>
            <a:ext cx="4895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056"/>
          </a:bodyPr>
          <a:lstStyle xmlns:a="http://schemas.openxmlformats.org/drawingml/2006/main"/>
          <a:p xmlns:a="http://schemas.openxmlformats.org/drawingml/2006/main">
            <a:pPr>
              <a:defRPr sz="900" b="0" i="0">
                <a:solidFill>
                  <a:srgbClr val="C7D8E5"/>
                </a:solidFill>
                <a:latin typeface="Calibri"/>
                <a:ea typeface="Calibri"/>
                <a:cs typeface="Calibri"/>
              </a:defRPr>
            </a:pPr>
            <a:r>
              <a:rPr sz="900" b="0" i="0">
                <a:solidFill>
                  <a:srgbClr val="C7D8E5"/>
                </a:solidFill>
                <a:latin typeface="Calibri"/>
                <a:ea typeface="Calibri"/>
                <a:cs typeface="Calibri"/>
              </a:rPr>
              <a:t>General accumulated loss and a semi-empirical cycle-dependent approximation.</a:t>
            </a:r>
          </a:p>
        </p:txBody>
      </p:sp>
      <p:sp>
        <p:nvSpPr>
          <p:cNvPr id="24" name="">
            <a:extLst xmlns:a="http://schemas.openxmlformats.org/drawingml/2006/main">
              <a:ext uri="{FF2B5EF4-FFF2-40B4-BE49-F238E27FC236}">
                <a16:creationId xmlns:a16="http://schemas.microsoft.com/office/drawing/2014/main" id="{E6CCFA8C-2091-48F6-8FBA-BE5299F452CE}"/>
              </a:ext>
            </a:extLst>
          </p:cNvPr>
          <p:cNvSpPr>
            <a:spLocks xmlns:a="http://schemas.openxmlformats.org/drawingml/2006/main" noGrp="1"/>
          </p:cNvSpPr>
          <p:nvPr/>
        </p:nvSpPr>
        <p:spPr>
          <a:xfrm xmlns:a="http://schemas.openxmlformats.org/drawingml/2006/main">
            <a:off x="6076950" y="4324350"/>
            <a:ext cx="5572125" cy="1000125"/>
          </a:xfrm>
          <a:prstGeom xmlns:a="http://schemas.openxmlformats.org/drawingml/2006/main" prst="roundRect">
            <a:avLst>
              <a:gd name="adj" fmla="val 7619"/>
            </a:avLst>
          </a:prstGeom>
          <a:solidFill xmlns:a="http://schemas.openxmlformats.org/drawingml/2006/main">
            <a:srgbClr val="13355E"/>
          </a:solidFill>
          <a:ln xmlns:a="http://schemas.openxmlformats.org/drawingml/2006/main" w="9525">
            <a:solidFill>
              <a:srgbClr val="13355E"/>
            </a:solidFill>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64F1306-2336-4B37-9B17-0C5D62964B39}"/>
              </a:ext>
            </a:extLst>
          </p:cNvPr>
          <p:cNvSpPr>
            <a:spLocks xmlns:a="http://schemas.openxmlformats.org/drawingml/2006/main" noGrp="1"/>
          </p:cNvSpPr>
          <p:nvPr/>
        </p:nvSpPr>
        <p:spPr>
          <a:xfrm xmlns:a="http://schemas.openxmlformats.org/drawingml/2006/main">
            <a:off x="6248400" y="4448175"/>
            <a:ext cx="52292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0A896"/>
                </a:solidFill>
                <a:latin typeface="Calibri"/>
                <a:ea typeface="Calibri"/>
                <a:cs typeface="Calibri"/>
              </a:defRPr>
            </a:pPr>
            <a:r>
              <a:rPr sz="750" b="1" i="0">
                <a:solidFill>
                  <a:srgbClr val="00A896"/>
                </a:solidFill>
                <a:latin typeface="Calibri"/>
                <a:ea typeface="Calibri"/>
                <a:cs typeface="Calibri"/>
              </a:rPr>
              <a:t>(16) MONOTONIC AGING</a:t>
            </a:r>
          </a:p>
        </p:txBody>
      </p:sp>
      <p:sp>
        <p:nvSpPr>
          <p:cNvPr id="26" name="">
            <a:extLst xmlns:a="http://schemas.openxmlformats.org/drawingml/2006/main">
              <a:ext uri="{FF2B5EF4-FFF2-40B4-BE49-F238E27FC236}">
                <a16:creationId xmlns:a16="http://schemas.microsoft.com/office/drawing/2014/main" id="{6A415261-737B-4F87-8498-D8E2210DF85A}"/>
              </a:ext>
            </a:extLst>
          </p:cNvPr>
          <p:cNvSpPr>
            <a:spLocks xmlns:a="http://schemas.openxmlformats.org/drawingml/2006/main" noGrp="1"/>
          </p:cNvSpPr>
          <p:nvPr/>
        </p:nvSpPr>
        <p:spPr>
          <a:xfrm xmlns:a="http://schemas.openxmlformats.org/drawingml/2006/main">
            <a:off x="6248400" y="4695825"/>
            <a:ext cx="5229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i="0">
                <a:solidFill>
                  <a:srgbClr val="FFFFFF"/>
                </a:solidFill>
                <a:latin typeface="Cambria"/>
                <a:ea typeface="Cambria"/>
                <a:cs typeface="Cambria"/>
              </a:defRPr>
            </a:pPr>
            <a:r>
              <a:rPr sz="1575" b="1" i="0">
                <a:solidFill>
                  <a:srgbClr val="FFFFFF"/>
                </a:solidFill>
                <a:latin typeface="Cambria"/>
                <a:ea typeface="Cambria"/>
                <a:cs typeface="Cambria"/>
              </a:rPr>
              <a:t>dQ/dk ≤ 0   or   Q(k+1) ≤ Q(k)</a:t>
            </a:r>
          </a:p>
        </p:txBody>
      </p:sp>
      <p:sp>
        <p:nvSpPr>
          <p:cNvPr id="27" name="">
            <a:extLst xmlns:a="http://schemas.openxmlformats.org/drawingml/2006/main">
              <a:ext uri="{FF2B5EF4-FFF2-40B4-BE49-F238E27FC236}">
                <a16:creationId xmlns:a16="http://schemas.microsoft.com/office/drawing/2014/main" id="{6224D47B-616D-4732-9C67-86160CE13AAB}"/>
              </a:ext>
            </a:extLst>
          </p:cNvPr>
          <p:cNvSpPr>
            <a:spLocks xmlns:a="http://schemas.openxmlformats.org/drawingml/2006/main" noGrp="1"/>
          </p:cNvSpPr>
          <p:nvPr/>
        </p:nvSpPr>
        <p:spPr>
          <a:xfrm xmlns:a="http://schemas.openxmlformats.org/drawingml/2006/main">
            <a:off x="6248400" y="4991100"/>
            <a:ext cx="5229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056"/>
          </a:bodyPr>
          <a:lstStyle xmlns:a="http://schemas.openxmlformats.org/drawingml/2006/main"/>
          <a:p xmlns:a="http://schemas.openxmlformats.org/drawingml/2006/main">
            <a:pPr>
              <a:defRPr sz="900" b="0" i="0">
                <a:solidFill>
                  <a:srgbClr val="C7D8E5"/>
                </a:solidFill>
                <a:latin typeface="Calibri"/>
                <a:ea typeface="Calibri"/>
                <a:cs typeface="Calibri"/>
              </a:defRPr>
            </a:pPr>
            <a:r>
              <a:rPr sz="900" b="0" i="0">
                <a:solidFill>
                  <a:srgbClr val="C7D8E5"/>
                </a:solidFill>
                <a:latin typeface="Calibri"/>
                <a:ea typeface="Calibri"/>
                <a:cs typeface="Calibri"/>
              </a:rPr>
              <a:t>The basis for soft degradation constraints; local regeneration can motivate a soft rather than hard penalty.</a:t>
            </a:r>
          </a:p>
        </p:txBody>
      </p:sp>
      <p:sp>
        <p:nvSpPr>
          <p:cNvPr id="28" name="">
            <a:extLst xmlns:a="http://schemas.openxmlformats.org/drawingml/2006/main">
              <a:ext uri="{FF2B5EF4-FFF2-40B4-BE49-F238E27FC236}">
                <a16:creationId xmlns:a16="http://schemas.microsoft.com/office/drawing/2014/main" id="{F9E42E87-3AEB-4FFB-A5E8-434AC59C21E4}"/>
              </a:ext>
            </a:extLst>
          </p:cNvPr>
          <p:cNvSpPr>
            <a:spLocks xmlns:a="http://schemas.openxmlformats.org/drawingml/2006/main" noGrp="1"/>
          </p:cNvSpPr>
          <p:nvPr/>
        </p:nvSpPr>
        <p:spPr>
          <a:xfrm xmlns:a="http://schemas.openxmlformats.org/drawingml/2006/main">
            <a:off x="552450" y="58102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i="0">
                <a:solidFill>
                  <a:srgbClr val="00A896"/>
                </a:solidFill>
                <a:latin typeface="Calibri"/>
                <a:ea typeface="Calibri"/>
                <a:cs typeface="Calibri"/>
              </a:defRPr>
            </a:pPr>
            <a:r>
              <a:t>Implementation: We adopt capacity-derived SOH and soft monotonicity constraints to reflect degradation physics.</a:t>
            </a:r>
          </a:p>
        </p:txBody>
      </p:sp>
      <p:sp>
        <p:nvSpPr>
          <p:cNvPr id="29" name="">
            <a:extLst xmlns:a="http://schemas.openxmlformats.org/drawingml/2006/main">
              <a:ext uri="{FF2B5EF4-FFF2-40B4-BE49-F238E27FC236}">
                <a16:creationId xmlns:a16="http://schemas.microsoft.com/office/drawing/2014/main" id="{F16160A7-8632-4C00-A39A-62592AA91709}"/>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8FA9BE"/>
                </a:solidFill>
                <a:latin typeface="Calibri"/>
                <a:ea typeface="Calibri"/>
                <a:cs typeface="Calibri"/>
              </a:defRPr>
            </a:pPr>
            <a:r>
              <a:rPr sz="825" b="0" i="0">
                <a:solidFill>
                  <a:srgbClr val="8FA9BE"/>
                </a:solidFill>
                <a:latin typeface="Calibri"/>
                <a:ea typeface="Calibri"/>
                <a:cs typeface="Calibri"/>
              </a:rPr>
              <a:t>Adaptive PINN Battery Digital Twin</a:t>
            </a:r>
          </a:p>
        </p:txBody>
      </p:sp>
      <p:sp>
        <p:nvSpPr>
          <p:cNvPr id="30" name="">
            <a:extLst xmlns:a="http://schemas.openxmlformats.org/drawingml/2006/main">
              <a:ext uri="{FF2B5EF4-FFF2-40B4-BE49-F238E27FC236}">
                <a16:creationId xmlns:a16="http://schemas.microsoft.com/office/drawing/2014/main" id="{830521D5-1412-4649-A1C2-3BCA027B2AAF}"/>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8FA9BE"/>
                </a:solidFill>
                <a:latin typeface="Calibri"/>
                <a:ea typeface="Calibri"/>
                <a:cs typeface="Calibri"/>
              </a:defRPr>
            </a:pPr>
            <a:r>
              <a:rPr sz="825" b="0" i="0">
                <a:solidFill>
                  <a:srgbClr val="8FA9BE"/>
                </a:solidFill>
                <a:latin typeface="Calibri"/>
                <a:ea typeface="Calibri"/>
                <a:cs typeface="Calibri"/>
              </a:rPr>
              <a:t>27 / 31</a:t>
            </a:r>
          </a:p>
        </p:txBody>
      </p:sp>
    </p:spTree>
    <p:extLst>
      <p:ext uri="{BB962C8B-B14F-4D97-AF65-F5344CB8AC3E}">
        <p14:creationId xmlns:p14="http://schemas.microsoft.com/office/powerpoint/2010/main" val="91532888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0D7E03D-4B14-4111-B2C0-C8989BFC8152}"/>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28090"/>
                </a:solidFill>
                <a:latin typeface="Calibri"/>
                <a:ea typeface="Calibri"/>
                <a:cs typeface="Calibri"/>
              </a:defRPr>
            </a:pPr>
            <a:r>
              <a:t>BASE PAPER · EQUATIONS (17–19)</a:t>
            </a:r>
          </a:p>
        </p:txBody>
      </p:sp>
      <p:sp>
        <p:nvSpPr>
          <p:cNvPr id="2" name="">
            <a:extLst xmlns:a="http://schemas.openxmlformats.org/drawingml/2006/main">
              <a:ext uri="{FF2B5EF4-FFF2-40B4-BE49-F238E27FC236}">
                <a16:creationId xmlns:a16="http://schemas.microsoft.com/office/drawing/2014/main" id="{CE1D57AD-4C3A-4369-8839-010C07DAC441}"/>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B2545"/>
                </a:solidFill>
                <a:latin typeface="Cambria"/>
                <a:ea typeface="Cambria"/>
                <a:cs typeface="Cambria"/>
              </a:defRPr>
            </a:pPr>
            <a:r>
              <a:rPr sz="2325" b="1" i="0">
                <a:solidFill>
                  <a:srgbClr val="0B2545"/>
                </a:solidFill>
                <a:latin typeface="Cambria"/>
                <a:ea typeface="Cambria"/>
                <a:cs typeface="Cambria"/>
              </a:rPr>
              <a:t>Base paper: thermal and reaction-rate constraints</a:t>
            </a:r>
          </a:p>
        </p:txBody>
      </p:sp>
      <p:sp>
        <p:nvSpPr>
          <p:cNvPr id="3" name="">
            <a:extLst xmlns:a="http://schemas.openxmlformats.org/drawingml/2006/main">
              <a:ext uri="{FF2B5EF4-FFF2-40B4-BE49-F238E27FC236}">
                <a16:creationId xmlns:a16="http://schemas.microsoft.com/office/drawing/2014/main" id="{7A801E5E-4FB0-4828-B1D6-AADDF7B248BA}"/>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5B6B79"/>
                </a:solidFill>
                <a:latin typeface="Calibri"/>
                <a:ea typeface="Calibri"/>
                <a:cs typeface="Calibri"/>
              </a:defRPr>
            </a:pPr>
            <a:r>
              <a:rPr sz="1125" b="0" i="0">
                <a:solidFill>
                  <a:srgbClr val="5B6B79"/>
                </a:solidFill>
                <a:latin typeface="Calibri"/>
                <a:ea typeface="Calibri"/>
                <a:cs typeface="Calibri"/>
              </a:rPr>
              <a:t>The review extends the PINN equation map to coupled thermal fields and temperature-dependent kinetics.</a:t>
            </a:r>
          </a:p>
        </p:txBody>
      </p:sp>
      <p:sp>
        <p:nvSpPr>
          <p:cNvPr id="4" name="">
            <a:extLst xmlns:a="http://schemas.openxmlformats.org/drawingml/2006/main">
              <a:ext uri="{FF2B5EF4-FFF2-40B4-BE49-F238E27FC236}">
                <a16:creationId xmlns:a16="http://schemas.microsoft.com/office/drawing/2014/main" id="{27E77723-CE7B-4C0A-A41C-B28B9C78843E}"/>
              </a:ext>
            </a:extLst>
          </p:cNvPr>
          <p:cNvSpPr>
            <a:spLocks xmlns:a="http://schemas.openxmlformats.org/drawingml/2006/main" noGrp="1"/>
          </p:cNvSpPr>
          <p:nvPr/>
        </p:nvSpPr>
        <p:spPr>
          <a:xfrm xmlns:a="http://schemas.openxmlformats.org/drawingml/2006/main">
            <a:off x="552450" y="2047875"/>
            <a:ext cx="5238750" cy="1381125"/>
          </a:xfrm>
          <a:prstGeom xmlns:a="http://schemas.openxmlformats.org/drawingml/2006/main" prst="roundRect">
            <a:avLst>
              <a:gd name="adj" fmla="val 5517"/>
            </a:avLst>
          </a:prstGeom>
          <a:solidFill xmlns:a="http://schemas.openxmlformats.org/drawingml/2006/main">
            <a:srgbClr val="F4F8FA"/>
          </a:solidFill>
          <a:ln xmlns:a="http://schemas.openxmlformats.org/drawingml/2006/main" w="9525">
            <a:solidFill>
              <a:srgbClr val="D7E3E9"/>
            </a:solid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DA33082-C0EE-4674-8F15-A3FFE05E1B84}"/>
              </a:ext>
            </a:extLst>
          </p:cNvPr>
          <p:cNvSpPr>
            <a:spLocks xmlns:a="http://schemas.openxmlformats.org/drawingml/2006/main" noGrp="1"/>
          </p:cNvSpPr>
          <p:nvPr/>
        </p:nvSpPr>
        <p:spPr>
          <a:xfrm xmlns:a="http://schemas.openxmlformats.org/drawingml/2006/main">
            <a:off x="723900" y="2171700"/>
            <a:ext cx="4895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(17) LUMPED THERMAL MODEL</a:t>
            </a:r>
          </a:p>
        </p:txBody>
      </p:sp>
      <p:sp>
        <p:nvSpPr>
          <p:cNvPr id="6" name="">
            <a:extLst xmlns:a="http://schemas.openxmlformats.org/drawingml/2006/main">
              <a:ext uri="{FF2B5EF4-FFF2-40B4-BE49-F238E27FC236}">
                <a16:creationId xmlns:a16="http://schemas.microsoft.com/office/drawing/2014/main" id="{33CC942F-17B9-4993-99FC-57F040601B7C}"/>
              </a:ext>
            </a:extLst>
          </p:cNvPr>
          <p:cNvSpPr>
            <a:spLocks xmlns:a="http://schemas.openxmlformats.org/drawingml/2006/main" noGrp="1"/>
          </p:cNvSpPr>
          <p:nvPr/>
        </p:nvSpPr>
        <p:spPr>
          <a:xfrm xmlns:a="http://schemas.openxmlformats.org/drawingml/2006/main">
            <a:off x="723900" y="2419350"/>
            <a:ext cx="4895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i="0">
                <a:solidFill>
                  <a:srgbClr val="0B2545"/>
                </a:solidFill>
                <a:latin typeface="Cambria"/>
                <a:ea typeface="Cambria"/>
                <a:cs typeface="Cambria"/>
              </a:defRPr>
            </a:pPr>
            <a:r>
              <a:rPr sz="1575" b="1" i="0">
                <a:solidFill>
                  <a:srgbClr val="0B2545"/>
                </a:solidFill>
                <a:latin typeface="Cambria"/>
                <a:ea typeface="Cambria"/>
                <a:cs typeface="Cambria"/>
              </a:rPr>
              <a:t>C_th dT/dt = Q_gen − hAₛ(T−T_amb)</a:t>
            </a:r>
          </a:p>
        </p:txBody>
      </p:sp>
      <p:sp>
        <p:nvSpPr>
          <p:cNvPr id="7" name="">
            <a:extLst xmlns:a="http://schemas.openxmlformats.org/drawingml/2006/main">
              <a:ext uri="{FF2B5EF4-FFF2-40B4-BE49-F238E27FC236}">
                <a16:creationId xmlns:a16="http://schemas.microsoft.com/office/drawing/2014/main" id="{6CDD3A98-6F20-483C-B6DB-B8F951FA776E}"/>
              </a:ext>
            </a:extLst>
          </p:cNvPr>
          <p:cNvSpPr>
            <a:spLocks xmlns:a="http://schemas.openxmlformats.org/drawingml/2006/main" noGrp="1"/>
          </p:cNvSpPr>
          <p:nvPr/>
        </p:nvSpPr>
        <p:spPr>
          <a:xfrm xmlns:a="http://schemas.openxmlformats.org/drawingml/2006/main">
            <a:off x="723900" y="2867025"/>
            <a:ext cx="4895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0">
                <a:solidFill>
                  <a:srgbClr val="5B6B79"/>
                </a:solidFill>
                <a:latin typeface="Calibri"/>
                <a:ea typeface="Calibri"/>
                <a:cs typeface="Calibri"/>
              </a:defRPr>
            </a:pPr>
            <a:r>
              <a:rPr sz="900" b="0" i="0">
                <a:solidFill>
                  <a:srgbClr val="5B6B79"/>
                </a:solidFill>
                <a:latin typeface="Calibri"/>
                <a:ea typeface="Calibri"/>
                <a:cs typeface="Calibri"/>
              </a:rPr>
              <a:t>Cell temperature T evolves from heat generation, convection, and ambient temperature.</a:t>
            </a:r>
          </a:p>
        </p:txBody>
      </p:sp>
      <p:sp>
        <p:nvSpPr>
          <p:cNvPr id="8" name="">
            <a:extLst xmlns:a="http://schemas.openxmlformats.org/drawingml/2006/main">
              <a:ext uri="{FF2B5EF4-FFF2-40B4-BE49-F238E27FC236}">
                <a16:creationId xmlns:a16="http://schemas.microsoft.com/office/drawing/2014/main" id="{9EFFBAD5-CC08-4498-AE98-6BD7D8B022A6}"/>
              </a:ext>
            </a:extLst>
          </p:cNvPr>
          <p:cNvSpPr>
            <a:spLocks xmlns:a="http://schemas.openxmlformats.org/drawingml/2006/main" noGrp="1"/>
          </p:cNvSpPr>
          <p:nvPr/>
        </p:nvSpPr>
        <p:spPr>
          <a:xfrm xmlns:a="http://schemas.openxmlformats.org/drawingml/2006/main">
            <a:off x="6076950" y="2047875"/>
            <a:ext cx="5572125" cy="1381125"/>
          </a:xfrm>
          <a:prstGeom xmlns:a="http://schemas.openxmlformats.org/drawingml/2006/main" prst="roundRect">
            <a:avLst>
              <a:gd name="adj" fmla="val 5517"/>
            </a:avLst>
          </a:prstGeom>
          <a:solidFill xmlns:a="http://schemas.openxmlformats.org/drawingml/2006/main">
            <a:srgbClr val="F4F8FA"/>
          </a:solidFill>
          <a:ln xmlns:a="http://schemas.openxmlformats.org/drawingml/2006/main" w="9525">
            <a:solidFill>
              <a:srgbClr val="D7E3E9"/>
            </a:solidFill>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6571D6F4-128E-4B43-A8E1-4BBBCE4B3854}"/>
              </a:ext>
            </a:extLst>
          </p:cNvPr>
          <p:cNvSpPr>
            <a:spLocks xmlns:a="http://schemas.openxmlformats.org/drawingml/2006/main" noGrp="1"/>
          </p:cNvSpPr>
          <p:nvPr/>
        </p:nvSpPr>
        <p:spPr>
          <a:xfrm xmlns:a="http://schemas.openxmlformats.org/drawingml/2006/main">
            <a:off x="6248400" y="2171700"/>
            <a:ext cx="52292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(18) DISTRIBUTED HEAT CONDUCTION</a:t>
            </a:r>
          </a:p>
        </p:txBody>
      </p:sp>
      <p:sp>
        <p:nvSpPr>
          <p:cNvPr id="10" name="">
            <a:extLst xmlns:a="http://schemas.openxmlformats.org/drawingml/2006/main">
              <a:ext uri="{FF2B5EF4-FFF2-40B4-BE49-F238E27FC236}">
                <a16:creationId xmlns:a16="http://schemas.microsoft.com/office/drawing/2014/main" id="{E2E92D43-ECE8-4905-A6D3-132E294240EC}"/>
              </a:ext>
            </a:extLst>
          </p:cNvPr>
          <p:cNvSpPr>
            <a:spLocks xmlns:a="http://schemas.openxmlformats.org/drawingml/2006/main" noGrp="1"/>
          </p:cNvSpPr>
          <p:nvPr/>
        </p:nvSpPr>
        <p:spPr>
          <a:xfrm xmlns:a="http://schemas.openxmlformats.org/drawingml/2006/main">
            <a:off x="6248400" y="2419350"/>
            <a:ext cx="5229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i="0">
                <a:solidFill>
                  <a:srgbClr val="0B2545"/>
                </a:solidFill>
                <a:latin typeface="Cambria"/>
                <a:ea typeface="Cambria"/>
                <a:cs typeface="Cambria"/>
              </a:defRPr>
            </a:pPr>
            <a:r>
              <a:rPr sz="1575" b="1" i="0">
                <a:solidFill>
                  <a:srgbClr val="0B2545"/>
                </a:solidFill>
                <a:latin typeface="Cambria"/>
                <a:ea typeface="Cambria"/>
                <a:cs typeface="Cambria"/>
              </a:rPr>
              <a:t>ρcₚ ∂T/∂t = ∇·(k_th∇T) + q_gen</a:t>
            </a:r>
          </a:p>
        </p:txBody>
      </p:sp>
      <p:sp>
        <p:nvSpPr>
          <p:cNvPr id="11" name="">
            <a:extLst xmlns:a="http://schemas.openxmlformats.org/drawingml/2006/main">
              <a:ext uri="{FF2B5EF4-FFF2-40B4-BE49-F238E27FC236}">
                <a16:creationId xmlns:a16="http://schemas.microsoft.com/office/drawing/2014/main" id="{2FFC9B05-7D88-43FD-A875-E5DEAA1A32D9}"/>
              </a:ext>
            </a:extLst>
          </p:cNvPr>
          <p:cNvSpPr>
            <a:spLocks xmlns:a="http://schemas.openxmlformats.org/drawingml/2006/main" noGrp="1"/>
          </p:cNvSpPr>
          <p:nvPr/>
        </p:nvSpPr>
        <p:spPr>
          <a:xfrm xmlns:a="http://schemas.openxmlformats.org/drawingml/2006/main">
            <a:off x="6248400" y="2867025"/>
            <a:ext cx="52292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0">
                <a:solidFill>
                  <a:srgbClr val="5B6B79"/>
                </a:solidFill>
                <a:latin typeface="Calibri"/>
                <a:ea typeface="Calibri"/>
                <a:cs typeface="Calibri"/>
              </a:defRPr>
            </a:pPr>
            <a:r>
              <a:rPr sz="900" b="0" i="0">
                <a:solidFill>
                  <a:srgbClr val="5B6B79"/>
                </a:solidFill>
                <a:latin typeface="Calibri"/>
                <a:ea typeface="Calibri"/>
                <a:cs typeface="Calibri"/>
              </a:rPr>
              <a:t>Spatial thermal field equation with density ρ, heat capacity cₚ, and conductivity k_th.</a:t>
            </a:r>
          </a:p>
        </p:txBody>
      </p:sp>
      <p:sp>
        <p:nvSpPr>
          <p:cNvPr id="12" name="">
            <a:extLst xmlns:a="http://schemas.openxmlformats.org/drawingml/2006/main">
              <a:ext uri="{FF2B5EF4-FFF2-40B4-BE49-F238E27FC236}">
                <a16:creationId xmlns:a16="http://schemas.microsoft.com/office/drawing/2014/main" id="{E51D4BD6-FD01-402E-8D80-D4AB7A132EED}"/>
              </a:ext>
            </a:extLst>
          </p:cNvPr>
          <p:cNvSpPr>
            <a:spLocks xmlns:a="http://schemas.openxmlformats.org/drawingml/2006/main" noGrp="1"/>
          </p:cNvSpPr>
          <p:nvPr/>
        </p:nvSpPr>
        <p:spPr>
          <a:xfrm xmlns:a="http://schemas.openxmlformats.org/drawingml/2006/main">
            <a:off x="552450" y="3714750"/>
            <a:ext cx="5238750" cy="1381125"/>
          </a:xfrm>
          <a:prstGeom xmlns:a="http://schemas.openxmlformats.org/drawingml/2006/main" prst="roundRect">
            <a:avLst>
              <a:gd name="adj" fmla="val 5517"/>
            </a:avLst>
          </a:prstGeom>
          <a:solidFill xmlns:a="http://schemas.openxmlformats.org/drawingml/2006/main">
            <a:srgbClr val="F4F8FA"/>
          </a:solidFill>
          <a:ln xmlns:a="http://schemas.openxmlformats.org/drawingml/2006/main" w="9525">
            <a:solidFill>
              <a:srgbClr val="D7E3E9"/>
            </a:solid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4FD8BCFC-A24B-4CEA-8B1A-5582900B7781}"/>
              </a:ext>
            </a:extLst>
          </p:cNvPr>
          <p:cNvSpPr>
            <a:spLocks xmlns:a="http://schemas.openxmlformats.org/drawingml/2006/main" noGrp="1"/>
          </p:cNvSpPr>
          <p:nvPr/>
        </p:nvSpPr>
        <p:spPr>
          <a:xfrm xmlns:a="http://schemas.openxmlformats.org/drawingml/2006/main">
            <a:off x="723900" y="3838575"/>
            <a:ext cx="4895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667"/>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(19) ARRHENIUS REACTION RATE</a:t>
            </a:r>
          </a:p>
        </p:txBody>
      </p:sp>
      <p:sp>
        <p:nvSpPr>
          <p:cNvPr id="14" name="">
            <a:extLst xmlns:a="http://schemas.openxmlformats.org/drawingml/2006/main">
              <a:ext uri="{FF2B5EF4-FFF2-40B4-BE49-F238E27FC236}">
                <a16:creationId xmlns:a16="http://schemas.microsoft.com/office/drawing/2014/main" id="{B805F9BB-D0FD-4446-BFEE-6CADF079D321}"/>
              </a:ext>
            </a:extLst>
          </p:cNvPr>
          <p:cNvSpPr>
            <a:spLocks xmlns:a="http://schemas.openxmlformats.org/drawingml/2006/main" noGrp="1"/>
          </p:cNvSpPr>
          <p:nvPr/>
        </p:nvSpPr>
        <p:spPr>
          <a:xfrm xmlns:a="http://schemas.openxmlformats.org/drawingml/2006/main">
            <a:off x="723900" y="4086225"/>
            <a:ext cx="4895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i="0">
                <a:solidFill>
                  <a:srgbClr val="0B2545"/>
                </a:solidFill>
                <a:latin typeface="Cambria"/>
                <a:ea typeface="Cambria"/>
                <a:cs typeface="Cambria"/>
              </a:defRPr>
            </a:pPr>
            <a:r>
              <a:rPr sz="1725" b="1" i="0">
                <a:solidFill>
                  <a:srgbClr val="0B2545"/>
                </a:solidFill>
                <a:latin typeface="Cambria"/>
                <a:ea typeface="Cambria"/>
                <a:cs typeface="Cambria"/>
              </a:rPr>
              <a:t>k_rxn(T) = A_r exp(−E_a/(R_gT))</a:t>
            </a:r>
          </a:p>
        </p:txBody>
      </p:sp>
      <p:sp>
        <p:nvSpPr>
          <p:cNvPr id="15" name="">
            <a:extLst xmlns:a="http://schemas.openxmlformats.org/drawingml/2006/main">
              <a:ext uri="{FF2B5EF4-FFF2-40B4-BE49-F238E27FC236}">
                <a16:creationId xmlns:a16="http://schemas.microsoft.com/office/drawing/2014/main" id="{D48ADBD0-729A-483D-AFC4-8E177C390D62}"/>
              </a:ext>
            </a:extLst>
          </p:cNvPr>
          <p:cNvSpPr>
            <a:spLocks xmlns:a="http://schemas.openxmlformats.org/drawingml/2006/main" noGrp="1"/>
          </p:cNvSpPr>
          <p:nvPr/>
        </p:nvSpPr>
        <p:spPr>
          <a:xfrm xmlns:a="http://schemas.openxmlformats.org/drawingml/2006/main">
            <a:off x="723900" y="4533900"/>
            <a:ext cx="4895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0">
                <a:solidFill>
                  <a:srgbClr val="5B6B79"/>
                </a:solidFill>
                <a:latin typeface="Calibri"/>
                <a:ea typeface="Calibri"/>
                <a:cs typeface="Calibri"/>
              </a:defRPr>
            </a:pPr>
            <a:r>
              <a:rPr sz="900" b="0" i="0">
                <a:solidFill>
                  <a:srgbClr val="5B6B79"/>
                </a:solidFill>
                <a:latin typeface="Calibri"/>
                <a:ea typeface="Calibri"/>
                <a:cs typeface="Calibri"/>
              </a:rPr>
              <a:t>Temperature-dependent reaction-rate constant with activation energy E_a.</a:t>
            </a:r>
          </a:p>
        </p:txBody>
      </p:sp>
      <p:sp>
        <p:nvSpPr>
          <p:cNvPr id="16" name="">
            <a:extLst xmlns:a="http://schemas.openxmlformats.org/drawingml/2006/main">
              <a:ext uri="{FF2B5EF4-FFF2-40B4-BE49-F238E27FC236}">
                <a16:creationId xmlns:a16="http://schemas.microsoft.com/office/drawing/2014/main" id="{EDE7505D-C177-49DC-97DA-2C1CB907641B}"/>
              </a:ext>
            </a:extLst>
          </p:cNvPr>
          <p:cNvSpPr>
            <a:spLocks xmlns:a="http://schemas.openxmlformats.org/drawingml/2006/main" noGrp="1"/>
          </p:cNvSpPr>
          <p:nvPr/>
        </p:nvSpPr>
        <p:spPr>
          <a:xfrm xmlns:a="http://schemas.openxmlformats.org/drawingml/2006/main">
            <a:off x="6076950" y="3714750"/>
            <a:ext cx="5572125" cy="1381125"/>
          </a:xfrm>
          <a:prstGeom xmlns:a="http://schemas.openxmlformats.org/drawingml/2006/main" prst="roundRect">
            <a:avLst>
              <a:gd name="adj" fmla="val 5517"/>
            </a:avLst>
          </a:prstGeom>
          <a:solidFill xmlns:a="http://schemas.openxmlformats.org/drawingml/2006/main">
            <a:srgbClr val="0B2545"/>
          </a:solidFill>
          <a:ln xmlns:a="http://schemas.openxmlformats.org/drawingml/2006/main" w="9525">
            <a:solidFill>
              <a:srgbClr val="0B2545"/>
            </a:solidFill>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0CD34D4-57C1-4E03-BF2F-74D380509C0D}"/>
              </a:ext>
            </a:extLst>
          </p:cNvPr>
          <p:cNvSpPr>
            <a:spLocks xmlns:a="http://schemas.openxmlformats.org/drawingml/2006/main" noGrp="1"/>
          </p:cNvSpPr>
          <p:nvPr/>
        </p:nvSpPr>
        <p:spPr>
          <a:xfrm xmlns:a="http://schemas.openxmlformats.org/drawingml/2006/main">
            <a:off x="6324600" y="3924300"/>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7778"/>
          </a:bodyPr>
          <a:lstStyle xmlns:a="http://schemas.openxmlformats.org/drawingml/2006/main"/>
          <a:p xmlns:a="http://schemas.openxmlformats.org/drawingml/2006/main">
            <a:pPr>
              <a:defRPr sz="1125" b="1" i="0">
                <a:solidFill>
                  <a:srgbClr val="00A896"/>
                </a:solidFill>
                <a:latin typeface="Calibri"/>
                <a:ea typeface="Calibri"/>
                <a:cs typeface="Calibri"/>
              </a:defRPr>
            </a:pPr>
            <a:r>
              <a:t>Data Scope &amp; Verification</a:t>
            </a:r>
          </a:p>
        </p:txBody>
      </p:sp>
      <p:sp>
        <p:nvSpPr>
          <p:cNvPr id="18" name="">
            <a:extLst xmlns:a="http://schemas.openxmlformats.org/drawingml/2006/main">
              <a:ext uri="{FF2B5EF4-FFF2-40B4-BE49-F238E27FC236}">
                <a16:creationId xmlns:a16="http://schemas.microsoft.com/office/drawing/2014/main" id="{B76859E3-1BB3-49D2-ACE5-F45CBACE636E}"/>
              </a:ext>
            </a:extLst>
          </p:cNvPr>
          <p:cNvSpPr>
            <a:spLocks xmlns:a="http://schemas.openxmlformats.org/drawingml/2006/main" noGrp="1"/>
          </p:cNvSpPr>
          <p:nvPr/>
        </p:nvSpPr>
        <p:spPr>
          <a:xfrm xmlns:a="http://schemas.openxmlformats.org/drawingml/2006/main">
            <a:off x="6324600" y="4248150"/>
            <a:ext cx="490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37"/>
          </a:bodyPr>
          <a:lstStyle xmlns:a="http://schemas.openxmlformats.org/drawingml/2006/main"/>
          <a:p xmlns:a="http://schemas.openxmlformats.org/drawingml/2006/main">
            <a:pPr>
              <a:defRPr sz="1125" b="0" i="0">
                <a:solidFill>
                  <a:srgbClr val="FFFFFF"/>
                </a:solidFill>
                <a:latin typeface="Calibri"/>
                <a:ea typeface="Calibri"/>
                <a:cs typeface="Calibri"/>
              </a:defRPr>
            </a:pPr>
            <a:r>
              <a:rPr sz="1125" b="0" i="0">
                <a:solidFill>
                  <a:srgbClr val="FFFFFF"/>
                </a:solidFill>
                <a:latin typeface="Calibri"/>
                <a:ea typeface="Calibri"/>
                <a:cs typeface="Calibri"/>
              </a:rPr>
              <a:t>The NASA cycle records expose voltage, current, temperature, time, and capacity, but not every internal concentration, flux, heat-source, or reaction parameter required to claim these residuals.</a:t>
            </a:r>
          </a:p>
        </p:txBody>
      </p:sp>
      <p:sp>
        <p:nvSpPr>
          <p:cNvPr id="19" name="">
            <a:extLst xmlns:a="http://schemas.openxmlformats.org/drawingml/2006/main">
              <a:ext uri="{FF2B5EF4-FFF2-40B4-BE49-F238E27FC236}">
                <a16:creationId xmlns:a16="http://schemas.microsoft.com/office/drawing/2014/main" id="{2EF0EAC2-6553-41F1-BD14-9939B5B598B5}"/>
              </a:ext>
            </a:extLst>
          </p:cNvPr>
          <p:cNvSpPr>
            <a:spLocks xmlns:a="http://schemas.openxmlformats.org/drawingml/2006/main" noGrp="1"/>
          </p:cNvSpPr>
          <p:nvPr/>
        </p:nvSpPr>
        <p:spPr>
          <a:xfrm xmlns:a="http://schemas.openxmlformats.org/drawingml/2006/main">
            <a:off x="552450" y="5429250"/>
            <a:ext cx="11096625" cy="590550"/>
          </a:xfrm>
          <a:prstGeom xmlns:a="http://schemas.openxmlformats.org/drawingml/2006/main" prst="roundRect">
            <a:avLst>
              <a:gd name="adj" fmla="val 12903"/>
            </a:avLst>
          </a:prstGeom>
          <a:solidFill xmlns:a="http://schemas.openxmlformats.org/drawingml/2006/main">
            <a:srgbClr val="E8F2F7"/>
          </a:solidFill>
          <a:ln xmlns:a="http://schemas.openxmlformats.org/drawingml/2006/main" w="9525">
            <a:solidFill>
              <a:srgbClr val="E8F2F7"/>
            </a:solidFill>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97B6FF4C-2155-4A2F-B1E2-B12F8D39ED50}"/>
              </a:ext>
            </a:extLst>
          </p:cNvPr>
          <p:cNvSpPr>
            <a:spLocks xmlns:a="http://schemas.openxmlformats.org/drawingml/2006/main" noGrp="1"/>
          </p:cNvSpPr>
          <p:nvPr/>
        </p:nvSpPr>
        <p:spPr>
          <a:xfrm xmlns:a="http://schemas.openxmlformats.org/drawingml/2006/main">
            <a:off x="781050" y="5610225"/>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846"/>
          </a:bodyPr>
          <a:lstStyle xmlns:a="http://schemas.openxmlformats.org/drawingml/2006/main"/>
          <a:p xmlns:a="http://schemas.openxmlformats.org/drawingml/2006/main">
            <a:pPr>
              <a:defRPr sz="975" b="1" i="0">
                <a:solidFill>
                  <a:srgbClr val="028090"/>
                </a:solidFill>
                <a:latin typeface="Calibri"/>
                <a:ea typeface="Calibri"/>
                <a:cs typeface="Calibri"/>
              </a:defRPr>
            </a:pPr>
            <a:r>
              <a:t>Core Physical Scope</a:t>
            </a:r>
          </a:p>
        </p:txBody>
      </p:sp>
      <p:sp>
        <p:nvSpPr>
          <p:cNvPr id="21" name="">
            <a:extLst xmlns:a="http://schemas.openxmlformats.org/drawingml/2006/main">
              <a:ext uri="{FF2B5EF4-FFF2-40B4-BE49-F238E27FC236}">
                <a16:creationId xmlns:a16="http://schemas.microsoft.com/office/drawing/2014/main" id="{1EB57F10-51AE-4545-8EFA-BD317B309FD2}"/>
              </a:ext>
            </a:extLst>
          </p:cNvPr>
          <p:cNvSpPr>
            <a:spLocks xmlns:a="http://schemas.openxmlformats.org/drawingml/2006/main" noGrp="1"/>
          </p:cNvSpPr>
          <p:nvPr/>
        </p:nvSpPr>
        <p:spPr>
          <a:xfrm xmlns:a="http://schemas.openxmlformats.org/drawingml/2006/main">
            <a:off x="2647950" y="56102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defRPr sz="1050" b="0" i="0">
                <a:solidFill>
                  <a:srgbClr val="0B2545"/>
                </a:solidFill>
                <a:latin typeface="Calibri"/>
                <a:ea typeface="Calibri"/>
                <a:cs typeface="Calibri"/>
              </a:defRPr>
            </a:pPr>
            <a:r>
              <a:rPr sz="1050" b="0" i="0">
                <a:solidFill>
                  <a:srgbClr val="0B2545"/>
                </a:solidFill>
                <a:latin typeface="Calibri"/>
                <a:ea typeface="Calibri"/>
                <a:cs typeface="Calibri"/>
              </a:rPr>
              <a:t>Equations (1)–(19) are the review’s core numbered map; only measurable capacity/degradation constraints are active in our Stage 1 implementation.</a:t>
            </a:r>
          </a:p>
        </p:txBody>
      </p:sp>
      <p:sp>
        <p:nvSpPr>
          <p:cNvPr id="22" name="">
            <a:extLst xmlns:a="http://schemas.openxmlformats.org/drawingml/2006/main">
              <a:ext uri="{FF2B5EF4-FFF2-40B4-BE49-F238E27FC236}">
                <a16:creationId xmlns:a16="http://schemas.microsoft.com/office/drawing/2014/main" id="{DB145544-C4B3-4C9F-9ACC-AE6A514AF68C}"/>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23" name="">
            <a:extLst xmlns:a="http://schemas.openxmlformats.org/drawingml/2006/main">
              <a:ext uri="{FF2B5EF4-FFF2-40B4-BE49-F238E27FC236}">
                <a16:creationId xmlns:a16="http://schemas.microsoft.com/office/drawing/2014/main" id="{01E80C9F-09F2-49BA-BA84-E12A13A400B8}"/>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28 / 31</a:t>
            </a:r>
          </a:p>
        </p:txBody>
      </p:sp>
    </p:spTree>
    <p:extLst>
      <p:ext uri="{BB962C8B-B14F-4D97-AF65-F5344CB8AC3E}">
        <p14:creationId xmlns:p14="http://schemas.microsoft.com/office/powerpoint/2010/main" val="105499511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6DF4B83-D102-4864-85AB-7ADEAD9AB8D6}"/>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28090"/>
                </a:solidFill>
                <a:latin typeface="Calibri"/>
                <a:ea typeface="Calibri"/>
                <a:cs typeface="Calibri"/>
              </a:defRPr>
            </a:pPr>
            <a:r>
              <a:rPr sz="900" b="1" i="0">
                <a:solidFill>
                  <a:srgbClr val="028090"/>
                </a:solidFill>
                <a:latin typeface="Calibri"/>
                <a:ea typeface="Calibri"/>
                <a:cs typeface="Calibri"/>
              </a:rPr>
              <a:t>PHASE II · FINAL RESULTS</a:t>
            </a:r>
          </a:p>
        </p:txBody>
      </p:sp>
      <p:sp>
        <p:nvSpPr>
          <p:cNvPr id="2" name="">
            <a:extLst xmlns:a="http://schemas.openxmlformats.org/drawingml/2006/main">
              <a:ext uri="{FF2B5EF4-FFF2-40B4-BE49-F238E27FC236}">
                <a16:creationId xmlns:a16="http://schemas.microsoft.com/office/drawing/2014/main" id="{3A8C419B-E245-4DD5-AB69-1DD5FBE9BA6E}"/>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B2545"/>
                </a:solidFill>
                <a:latin typeface="Cambria"/>
                <a:ea typeface="Cambria"/>
                <a:cs typeface="Cambria"/>
              </a:defRPr>
            </a:pPr>
            <a:r>
              <a:rPr sz="2325" b="1" i="0">
                <a:solidFill>
                  <a:srgbClr val="0B2545"/>
                </a:solidFill>
                <a:latin typeface="Cambria"/>
                <a:ea typeface="Cambria"/>
                <a:cs typeface="Cambria"/>
              </a:rPr>
              <a:t>Measured model comparison under the held-out-cell protocol</a:t>
            </a:r>
          </a:p>
        </p:txBody>
      </p:sp>
      <p:sp>
        <p:nvSpPr>
          <p:cNvPr id="3" name="">
            <a:extLst xmlns:a="http://schemas.openxmlformats.org/drawingml/2006/main">
              <a:ext uri="{FF2B5EF4-FFF2-40B4-BE49-F238E27FC236}">
                <a16:creationId xmlns:a16="http://schemas.microsoft.com/office/drawing/2014/main" id="{2329C6B3-9C48-44FB-9920-93BC53265C74}"/>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5B6B79"/>
                </a:solidFill>
                <a:latin typeface="Calibri"/>
                <a:ea typeface="Calibri"/>
                <a:cs typeface="Calibri"/>
              </a:defRPr>
            </a:pPr>
            <a:r>
              <a:rPr sz="1125" b="0" i="0">
                <a:solidFill>
                  <a:srgbClr val="5B6B79"/>
                </a:solidFill>
                <a:latin typeface="Calibri"/>
                <a:ea typeface="Calibri"/>
                <a:cs typeface="Calibri"/>
              </a:rPr>
              <a:t>Mean ± standard deviation over seeds 7, 17, and 27; B0005/B0006/B0007 train and B0018 held out.</a:t>
            </a:r>
          </a:p>
        </p:txBody>
      </p:sp>
      <p:graphicFrame>
        <p:nvGraphicFramePr>
          <p:cNvPr id="13" name=""/>
          <p:cNvGraphicFramePr/>
          <p:nvPr/>
        </p:nvGraphicFramePr>
        <p:xfrm>
          <a:off xmlns:a="http://schemas.openxmlformats.org/drawingml/2006/main" x="552450" y="1905000"/>
          <a:ext xmlns:a="http://schemas.openxmlformats.org/drawingml/2006/main" cx="11096625" cy="2857500"/>
        </p:xfrm>
        <a:graphic xmlns:a="http://schemas.openxmlformats.org/drawingml/2006/main">
          <a:graphicData uri="http://schemas.openxmlformats.org/drawingml/2006/table">
            <a:tbl>
              <a:tblPr firstRow="1" bandRow="1"/>
              <a:tblGrid>
                <a:gridCol w="2762250"/>
                <a:gridCol w="1666875"/>
                <a:gridCol w="1666875"/>
                <a:gridCol w="1714500"/>
                <a:gridCol w="1143000"/>
                <a:gridCol w="2143125"/>
              </a:tblGrid>
              <a:tr h="476250">
                <a:tc>
                  <a:txBody>
                    <a:bodyPr>
                      <a:normAutofit/>
                    </a:bodyPr>
                    <a:lstStyle/>
                    <a:p>
                      <a:r>
                        <a:rPr sz="900" b="1">
                          <a:solidFill>
                            <a:srgbClr val="FFFFFF"/>
                          </a:solidFill>
                          <a:latin typeface="Calibri"/>
                          <a:ea typeface="Calibri"/>
                          <a:cs typeface="Calibri"/>
                        </a:rPr>
                        <a:t>Model</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SOH MAE</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SOH RMSE</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SOH MAPE</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SOH R²</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RUL MAE (cycles)</a:t>
                      </a:r>
                    </a:p>
                  </a:txBody>
                  <a:tcPr marL="91440" marR="91440" marT="45720" marB="45720">
                    <a:solidFill>
                      <a:srgbClr val="13355E"/>
                    </a:solidFill>
                  </a:tcPr>
                </a:tc>
              </a:tr>
              <a:tr h="476250">
                <a:tc>
                  <a:txBody>
                    <a:bodyPr>
                      <a:normAutofit/>
                    </a:bodyPr>
                    <a:lstStyle/>
                    <a:p>
                      <a:r>
                        <a:rPr sz="900" b="1">
                          <a:solidFill>
                            <a:srgbClr val="0B2545"/>
                          </a:solidFill>
                          <a:latin typeface="Calibri"/>
                          <a:ea typeface="Calibri"/>
                          <a:cs typeface="Calibri"/>
                        </a:rPr>
                        <a:t>DNN</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11.05 ± 0.25</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21.03 ± 0.08</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13.74 ± 0.36%</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-6.43</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37.04 ± 6.18</a:t>
                      </a:r>
                    </a:p>
                  </a:txBody>
                  <a:tcPr marL="91440" marR="91440" marT="45720" marB="45720">
                    <a:solidFill>
                      <a:srgbClr val="FFFFFF"/>
                    </a:solidFill>
                  </a:tcPr>
                </a:tc>
              </a:tr>
              <a:tr h="476250">
                <a:tc>
                  <a:txBody>
                    <a:bodyPr>
                      <a:normAutofit/>
                    </a:bodyPr>
                    <a:lstStyle/>
                    <a:p>
                      <a:r>
                        <a:rPr sz="900" b="1">
                          <a:solidFill>
                            <a:srgbClr val="0B2545"/>
                          </a:solidFill>
                          <a:latin typeface="Calibri"/>
                          <a:ea typeface="Calibri"/>
                          <a:cs typeface="Calibri"/>
                        </a:rPr>
                        <a:t>GRU</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10.52 ± 1.03</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13.05 ± 0.63</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13.69 ± 1.46%</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-1.87</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36.39 ± 4.95</a:t>
                      </a:r>
                    </a:p>
                  </a:txBody>
                  <a:tcPr marL="91440" marR="91440" marT="45720" marB="45720">
                    <a:solidFill>
                      <a:srgbClr val="F4F8FA"/>
                    </a:solidFill>
                  </a:tcPr>
                </a:tc>
              </a:tr>
              <a:tr h="476250">
                <a:tc>
                  <a:txBody>
                    <a:bodyPr>
                      <a:normAutofit/>
                    </a:bodyPr>
                    <a:lstStyle/>
                    <a:p>
                      <a:r>
                        <a:rPr sz="900" b="1">
                          <a:solidFill>
                            <a:srgbClr val="0B2545"/>
                          </a:solidFill>
                          <a:latin typeface="Calibri"/>
                          <a:ea typeface="Calibri"/>
                          <a:cs typeface="Calibri"/>
                        </a:rPr>
                        <a:t>Transformer-only</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11.50 ± 0.56</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21.22 ± 0.31</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14.42 ± 0.83%</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-6.57</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43.98 ± 9.94</a:t>
                      </a:r>
                    </a:p>
                  </a:txBody>
                  <a:tcPr marL="91440" marR="91440" marT="45720" marB="45720">
                    <a:solidFill>
                      <a:srgbClr val="FFFFFF"/>
                    </a:solidFill>
                  </a:tcPr>
                </a:tc>
              </a:tr>
              <a:tr h="476250">
                <a:tc>
                  <a:txBody>
                    <a:bodyPr>
                      <a:normAutofit/>
                    </a:bodyPr>
                    <a:lstStyle/>
                    <a:p>
                      <a:r>
                        <a:rPr sz="900" b="1">
                          <a:solidFill>
                            <a:srgbClr val="0B2545"/>
                          </a:solidFill>
                          <a:latin typeface="Calibri"/>
                          <a:ea typeface="Calibri"/>
                          <a:cs typeface="Calibri"/>
                        </a:rPr>
                        <a:t>PINN without adaptation</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7.76 ± 1.42</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15.81 ± 6.27</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9.65 ± 1.53%</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-3.86</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38.15 ± 4.59</a:t>
                      </a:r>
                    </a:p>
                  </a:txBody>
                  <a:tcPr marL="91440" marR="91440" marT="45720" marB="45720">
                    <a:solidFill>
                      <a:srgbClr val="F4F8FA"/>
                    </a:solidFill>
                  </a:tcPr>
                </a:tc>
              </a:tr>
              <a:tr h="476250">
                <a:tc>
                  <a:txBody>
                    <a:bodyPr>
                      <a:normAutofit/>
                    </a:bodyPr>
                    <a:lstStyle/>
                    <a:p>
                      <a:r>
                        <a:rPr sz="900" b="1">
                          <a:solidFill>
                            <a:srgbClr val="0B2545"/>
                          </a:solidFill>
                          <a:latin typeface="Calibri"/>
                          <a:ea typeface="Calibri"/>
                          <a:cs typeface="Calibri"/>
                        </a:rPr>
                        <a:t>Adaptive twin</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10.05 ± 1.46</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17.22 ± 5.45</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12.82 ± 1.78%</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-4.48</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38.36 ± 3.39</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17EC151-9E39-4D7B-9A74-5B97D596A7B5}"/>
              </a:ext>
            </a:extLst>
          </p:cNvPr>
          <p:cNvSpPr>
            <a:spLocks xmlns:a="http://schemas.openxmlformats.org/drawingml/2006/main" noGrp="1"/>
          </p:cNvSpPr>
          <p:nvPr/>
        </p:nvSpPr>
        <p:spPr>
          <a:xfrm xmlns:a="http://schemas.openxmlformats.org/drawingml/2006/main">
            <a:off x="552450" y="5095875"/>
            <a:ext cx="11096625" cy="666750"/>
          </a:xfrm>
          <a:prstGeom xmlns:a="http://schemas.openxmlformats.org/drawingml/2006/main" prst="roundRect">
            <a:avLst>
              <a:gd name="adj" fmla="val 11429"/>
            </a:avLst>
          </a:prstGeom>
          <a:solidFill xmlns:a="http://schemas.openxmlformats.org/drawingml/2006/main">
            <a:srgbClr val="0B2545"/>
          </a:solidFill>
          <a:ln xmlns:a="http://schemas.openxmlformats.org/drawingml/2006/main" w="9525">
            <a:solidFill>
              <a:srgbClr val="0B2545"/>
            </a:solid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61B2FC39-4422-4C5B-8229-F3487248AE3A}"/>
              </a:ext>
            </a:extLst>
          </p:cNvPr>
          <p:cNvSpPr>
            <a:spLocks xmlns:a="http://schemas.openxmlformats.org/drawingml/2006/main" noGrp="1"/>
          </p:cNvSpPr>
          <p:nvPr/>
        </p:nvSpPr>
        <p:spPr>
          <a:xfrm xmlns:a="http://schemas.openxmlformats.org/drawingml/2006/main">
            <a:off x="781050" y="527685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defRPr sz="1050" b="1" i="0">
                <a:solidFill>
                  <a:srgbClr val="00A896"/>
                </a:solidFill>
                <a:latin typeface="Calibri"/>
                <a:ea typeface="Calibri"/>
                <a:cs typeface="Calibri"/>
              </a:defRPr>
            </a:pPr>
            <a:r>
              <a:rPr sz="1050" b="1" i="0">
                <a:solidFill>
                  <a:srgbClr val="00A896"/>
                </a:solidFill>
                <a:latin typeface="Calibri"/>
                <a:ea typeface="Calibri"/>
                <a:cs typeface="Calibri"/>
              </a:rPr>
              <a:t>Readout</a:t>
            </a:r>
          </a:p>
        </p:txBody>
      </p:sp>
      <p:sp>
        <p:nvSpPr>
          <p:cNvPr id="7" name="">
            <a:extLst xmlns:a="http://schemas.openxmlformats.org/drawingml/2006/main">
              <a:ext uri="{FF2B5EF4-FFF2-40B4-BE49-F238E27FC236}">
                <a16:creationId xmlns:a16="http://schemas.microsoft.com/office/drawing/2014/main" id="{CEC07722-4EF5-480C-90D2-FE08D9B8C334}"/>
              </a:ext>
            </a:extLst>
          </p:cNvPr>
          <p:cNvSpPr>
            <a:spLocks xmlns:a="http://schemas.openxmlformats.org/drawingml/2006/main" noGrp="1"/>
          </p:cNvSpPr>
          <p:nvPr/>
        </p:nvSpPr>
        <p:spPr>
          <a:xfrm xmlns:a="http://schemas.openxmlformats.org/drawingml/2006/main">
            <a:off x="1981200" y="5248275"/>
            <a:ext cx="933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504"/>
          </a:bodyPr>
          <a:lstStyle xmlns:a="http://schemas.openxmlformats.org/drawingml/2006/main"/>
          <a:p xmlns:a="http://schemas.openxmlformats.org/drawingml/2006/main">
            <a:pPr>
              <a:defRPr sz="1050" b="0" i="0">
                <a:solidFill>
                  <a:srgbClr val="FFFFFF"/>
                </a:solidFill>
                <a:latin typeface="Calibri"/>
                <a:ea typeface="Calibri"/>
                <a:cs typeface="Calibri"/>
              </a:defRPr>
            </a:pPr>
            <a:r>
              <a:rPr sz="1050" b="0" i="0">
                <a:solidFill>
                  <a:srgbClr val="FFFFFF"/>
                </a:solidFill>
                <a:latin typeface="Calibri"/>
                <a:ea typeface="Calibri"/>
                <a:cs typeface="Calibri"/>
              </a:rPr>
              <a:t>Standalone PINN has the lowest mean frozen SOH MAE (7.76 ± 1.42). The adaptive twin’s value is the later-stream improvement and low update cost, not a claim of the best frozen-cell score.</a:t>
            </a:r>
          </a:p>
        </p:txBody>
      </p:sp>
      <p:sp>
        <p:nvSpPr>
          <p:cNvPr id="8" name="">
            <a:extLst xmlns:a="http://schemas.openxmlformats.org/drawingml/2006/main">
              <a:ext uri="{FF2B5EF4-FFF2-40B4-BE49-F238E27FC236}">
                <a16:creationId xmlns:a16="http://schemas.microsoft.com/office/drawing/2014/main" id="{57C00902-6C36-4C6D-B057-9156771E4345}"/>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9" name="">
            <a:extLst xmlns:a="http://schemas.openxmlformats.org/drawingml/2006/main">
              <a:ext uri="{FF2B5EF4-FFF2-40B4-BE49-F238E27FC236}">
                <a16:creationId xmlns:a16="http://schemas.microsoft.com/office/drawing/2014/main" id="{4BDC328E-23C0-4852-958A-FF9F3FC581D3}"/>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29 / 31</a:t>
            </a:r>
          </a:p>
        </p:txBody>
      </p:sp>
    </p:spTree>
    <p:extLst>
      <p:ext uri="{BB962C8B-B14F-4D97-AF65-F5344CB8AC3E}">
        <p14:creationId xmlns:p14="http://schemas.microsoft.com/office/powerpoint/2010/main" val="43159760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66ACFC0-286E-406D-877B-3F14609DA9BE}"/>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28090"/>
                </a:solidFill>
                <a:latin typeface="Calibri"/>
                <a:ea typeface="Calibri"/>
                <a:cs typeface="Calibri"/>
              </a:defRPr>
            </a:pPr>
            <a:r>
              <a:rPr sz="900" b="1" i="0">
                <a:solidFill>
                  <a:srgbClr val="028090"/>
                </a:solidFill>
                <a:latin typeface="Calibri"/>
                <a:ea typeface="Calibri"/>
                <a:cs typeface="Calibri"/>
              </a:rPr>
              <a:t>PHASE II · EVIDENCE</a:t>
            </a:r>
          </a:p>
        </p:txBody>
      </p:sp>
      <p:sp>
        <p:nvSpPr>
          <p:cNvPr id="2" name="">
            <a:extLst xmlns:a="http://schemas.openxmlformats.org/drawingml/2006/main">
              <a:ext uri="{FF2B5EF4-FFF2-40B4-BE49-F238E27FC236}">
                <a16:creationId xmlns:a16="http://schemas.microsoft.com/office/drawing/2014/main" id="{0E6F3C4C-EE43-41F6-BAF4-D833350E14DF}"/>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B2545"/>
                </a:solidFill>
                <a:latin typeface="Cambria"/>
                <a:ea typeface="Cambria"/>
                <a:cs typeface="Cambria"/>
              </a:defRPr>
            </a:pPr>
            <a:r>
              <a:rPr sz="2325" b="1" i="0">
                <a:solidFill>
                  <a:srgbClr val="0B2545"/>
                </a:solidFill>
                <a:latin typeface="Cambria"/>
                <a:ea typeface="Cambria"/>
                <a:cs typeface="Cambria"/>
              </a:rPr>
              <a:t>Adaptation targets, ablations, and robustness results</a:t>
            </a:r>
          </a:p>
        </p:txBody>
      </p:sp>
      <p:sp>
        <p:nvSpPr>
          <p:cNvPr id="3" name="">
            <a:extLst xmlns:a="http://schemas.openxmlformats.org/drawingml/2006/main">
              <a:ext uri="{FF2B5EF4-FFF2-40B4-BE49-F238E27FC236}">
                <a16:creationId xmlns:a16="http://schemas.microsoft.com/office/drawing/2014/main" id="{A4185023-B4C1-4432-BB5A-DF08BF78922A}"/>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5B6B79"/>
                </a:solidFill>
                <a:latin typeface="Calibri"/>
                <a:ea typeface="Calibri"/>
                <a:cs typeface="Calibri"/>
              </a:defRPr>
            </a:pPr>
            <a:r>
              <a:rPr sz="1125" b="0" i="0">
                <a:solidFill>
                  <a:srgbClr val="5B6B79"/>
                </a:solidFill>
                <a:latin typeface="Calibri"/>
                <a:ea typeface="Calibri"/>
                <a:cs typeface="Calibri"/>
              </a:rPr>
              <a:t>All required experiment families were executed; the acceptance table is the direct proof-of-concept decision record.</a:t>
            </a:r>
          </a:p>
        </p:txBody>
      </p:sp>
      <p:graphicFrame>
        <p:nvGraphicFramePr>
          <p:cNvPr id="15" name=""/>
          <p:cNvGraphicFramePr/>
          <p:nvPr/>
        </p:nvGraphicFramePr>
        <p:xfrm>
          <a:off xmlns:a="http://schemas.openxmlformats.org/drawingml/2006/main" x="552450" y="1857375"/>
          <a:ext xmlns:a="http://schemas.openxmlformats.org/drawingml/2006/main" cx="5381625" cy="2238375"/>
        </p:xfrm>
        <a:graphic xmlns:a="http://schemas.openxmlformats.org/drawingml/2006/main">
          <a:graphicData uri="http://schemas.openxmlformats.org/drawingml/2006/table">
            <a:tbl>
              <a:tblPr firstRow="1" bandRow="1"/>
              <a:tblGrid>
                <a:gridCol w="2333625"/>
                <a:gridCol w="1428750"/>
                <a:gridCol w="952500"/>
                <a:gridCol w="666750"/>
              </a:tblGrid>
              <a:tr h="447675">
                <a:tc>
                  <a:txBody>
                    <a:bodyPr>
                      <a:normAutofit/>
                    </a:bodyPr>
                    <a:lstStyle/>
                    <a:p>
                      <a:r>
                        <a:rPr sz="825" b="1">
                          <a:solidFill>
                            <a:srgbClr val="FFFFFF"/>
                          </a:solidFill>
                          <a:latin typeface="Calibri"/>
                          <a:ea typeface="Calibri"/>
                          <a:cs typeface="Calibri"/>
                        </a:rPr>
                        <a:t>Acceptance measure</a:t>
                      </a:r>
                    </a:p>
                  </a:txBody>
                  <a:tcPr marL="91440" marR="91440" marT="45720" marB="45720">
                    <a:solidFill>
                      <a:srgbClr val="13355E"/>
                    </a:solidFill>
                  </a:tcPr>
                </a:tc>
                <a:tc>
                  <a:txBody>
                    <a:bodyPr>
                      <a:normAutofit/>
                    </a:bodyPr>
                    <a:lstStyle/>
                    <a:p>
                      <a:r>
                        <a:rPr sz="825" b="1">
                          <a:solidFill>
                            <a:srgbClr val="FFFFFF"/>
                          </a:solidFill>
                          <a:latin typeface="Calibri"/>
                          <a:ea typeface="Calibri"/>
                          <a:cs typeface="Calibri"/>
                        </a:rPr>
                        <a:t>Mean ± SD</a:t>
                      </a:r>
                    </a:p>
                  </a:txBody>
                  <a:tcPr marL="91440" marR="91440" marT="45720" marB="45720">
                    <a:solidFill>
                      <a:srgbClr val="13355E"/>
                    </a:solidFill>
                  </a:tcPr>
                </a:tc>
                <a:tc>
                  <a:txBody>
                    <a:bodyPr>
                      <a:normAutofit/>
                    </a:bodyPr>
                    <a:lstStyle/>
                    <a:p>
                      <a:r>
                        <a:rPr sz="825" b="1">
                          <a:solidFill>
                            <a:srgbClr val="FFFFFF"/>
                          </a:solidFill>
                          <a:latin typeface="Calibri"/>
                          <a:ea typeface="Calibri"/>
                          <a:cs typeface="Calibri"/>
                        </a:rPr>
                        <a:t>Target</a:t>
                      </a:r>
                    </a:p>
                  </a:txBody>
                  <a:tcPr marL="91440" marR="91440" marT="45720" marB="45720">
                    <a:solidFill>
                      <a:srgbClr val="13355E"/>
                    </a:solidFill>
                  </a:tcPr>
                </a:tc>
                <a:tc>
                  <a:txBody>
                    <a:bodyPr>
                      <a:normAutofit/>
                    </a:bodyPr>
                    <a:lstStyle/>
                    <a:p>
                      <a:r>
                        <a:rPr sz="825" b="1">
                          <a:solidFill>
                            <a:srgbClr val="FFFFFF"/>
                          </a:solidFill>
                          <a:latin typeface="Calibri"/>
                          <a:ea typeface="Calibri"/>
                          <a:cs typeface="Calibri"/>
                        </a:rPr>
                        <a:t>Status</a:t>
                      </a:r>
                    </a:p>
                  </a:txBody>
                  <a:tcPr marL="91440" marR="91440" marT="45720" marB="45720">
                    <a:solidFill>
                      <a:srgbClr val="13355E"/>
                    </a:solidFill>
                  </a:tcPr>
                </a:tc>
              </a:tr>
              <a:tr h="447675">
                <a:tc>
                  <a:txBody>
                    <a:bodyPr>
                      <a:normAutofit/>
                    </a:bodyPr>
                    <a:lstStyle/>
                    <a:p>
                      <a:r>
                        <a:rPr sz="825" b="1">
                          <a:solidFill>
                            <a:srgbClr val="0B2545"/>
                          </a:solidFill>
                          <a:latin typeface="Calibri"/>
                          <a:ea typeface="Calibri"/>
                          <a:cs typeface="Calibri"/>
                        </a:rPr>
                        <a:t>Post-shift improvement</a:t>
                      </a:r>
                    </a:p>
                  </a:txBody>
                  <a:tcPr marL="91440" marR="91440" marT="45720" marB="45720">
                    <a:solidFill>
                      <a:srgbClr val="FFFFFF"/>
                    </a:solidFill>
                  </a:tcPr>
                </a:tc>
                <a:tc>
                  <a:txBody>
                    <a:bodyPr>
                      <a:normAutofit/>
                    </a:bodyPr>
                    <a:lstStyle/>
                    <a:p>
                      <a:r>
                        <a:rPr sz="825" b="0">
                          <a:solidFill>
                            <a:srgbClr val="0B2545"/>
                          </a:solidFill>
                          <a:latin typeface="Calibri"/>
                          <a:ea typeface="Calibri"/>
                          <a:cs typeface="Calibri"/>
                        </a:rPr>
                        <a:t>80.63 ± 2.46%</a:t>
                      </a:r>
                    </a:p>
                  </a:txBody>
                  <a:tcPr marL="91440" marR="91440" marT="45720" marB="45720">
                    <a:solidFill>
                      <a:srgbClr val="FFFFFF"/>
                    </a:solidFill>
                  </a:tcPr>
                </a:tc>
                <a:tc>
                  <a:txBody>
                    <a:bodyPr>
                      <a:normAutofit/>
                    </a:bodyPr>
                    <a:lstStyle/>
                    <a:p>
                      <a:r>
                        <a:rPr sz="825" b="0">
                          <a:solidFill>
                            <a:srgbClr val="0B2545"/>
                          </a:solidFill>
                          <a:latin typeface="Calibri"/>
                          <a:ea typeface="Calibri"/>
                          <a:cs typeface="Calibri"/>
                        </a:rPr>
                        <a:t>≥ 10%</a:t>
                      </a:r>
                    </a:p>
                  </a:txBody>
                  <a:tcPr marL="91440" marR="91440" marT="45720" marB="45720">
                    <a:solidFill>
                      <a:srgbClr val="FFFFFF"/>
                    </a:solidFill>
                  </a:tcPr>
                </a:tc>
                <a:tc>
                  <a:txBody>
                    <a:bodyPr>
                      <a:normAutofit/>
                    </a:bodyPr>
                    <a:lstStyle/>
                    <a:p>
                      <a:r>
                        <a:rPr sz="825" b="0">
                          <a:solidFill>
                            <a:srgbClr val="0B2545"/>
                          </a:solidFill>
                          <a:latin typeface="Calibri"/>
                          <a:ea typeface="Calibri"/>
                          <a:cs typeface="Calibri"/>
                        </a:rPr>
                        <a:t>PASS</a:t>
                      </a:r>
                    </a:p>
                  </a:txBody>
                  <a:tcPr marL="91440" marR="91440" marT="45720" marB="45720">
                    <a:solidFill>
                      <a:srgbClr val="FFFFFF"/>
                    </a:solidFill>
                  </a:tcPr>
                </a:tc>
              </a:tr>
              <a:tr h="447675">
                <a:tc>
                  <a:txBody>
                    <a:bodyPr>
                      <a:normAutofit/>
                    </a:bodyPr>
                    <a:lstStyle/>
                    <a:p>
                      <a:r>
                        <a:rPr sz="825" b="1">
                          <a:solidFill>
                            <a:srgbClr val="0B2545"/>
                          </a:solidFill>
                          <a:latin typeface="Calibri"/>
                          <a:ea typeface="Calibri"/>
                          <a:cs typeface="Calibri"/>
                        </a:rPr>
                        <a:t>Adaptation work ratio</a:t>
                      </a:r>
                    </a:p>
                  </a:txBody>
                  <a:tcPr marL="91440" marR="91440" marT="45720" marB="45720">
                    <a:solidFill>
                      <a:srgbClr val="F4F8FA"/>
                    </a:solidFill>
                  </a:tcPr>
                </a:tc>
                <a:tc>
                  <a:txBody>
                    <a:bodyPr>
                      <a:normAutofit/>
                    </a:bodyPr>
                    <a:lstStyle/>
                    <a:p>
                      <a:r>
                        <a:rPr sz="825" b="0">
                          <a:solidFill>
                            <a:srgbClr val="0B2545"/>
                          </a:solidFill>
                          <a:latin typeface="Calibri"/>
                          <a:ea typeface="Calibri"/>
                          <a:cs typeface="Calibri"/>
                        </a:rPr>
                        <a:t>8.75 ± 0.00%</a:t>
                      </a:r>
                    </a:p>
                  </a:txBody>
                  <a:tcPr marL="91440" marR="91440" marT="45720" marB="45720">
                    <a:solidFill>
                      <a:srgbClr val="F4F8FA"/>
                    </a:solidFill>
                  </a:tcPr>
                </a:tc>
                <a:tc>
                  <a:txBody>
                    <a:bodyPr>
                      <a:normAutofit/>
                    </a:bodyPr>
                    <a:lstStyle/>
                    <a:p>
                      <a:r>
                        <a:rPr sz="825" b="0">
                          <a:solidFill>
                            <a:srgbClr val="0B2545"/>
                          </a:solidFill>
                          <a:latin typeface="Calibri"/>
                          <a:ea typeface="Calibri"/>
                          <a:cs typeface="Calibri"/>
                        </a:rPr>
                        <a:t>≤ 10%</a:t>
                      </a:r>
                    </a:p>
                  </a:txBody>
                  <a:tcPr marL="91440" marR="91440" marT="45720" marB="45720">
                    <a:solidFill>
                      <a:srgbClr val="F4F8FA"/>
                    </a:solidFill>
                  </a:tcPr>
                </a:tc>
                <a:tc>
                  <a:txBody>
                    <a:bodyPr>
                      <a:normAutofit/>
                    </a:bodyPr>
                    <a:lstStyle/>
                    <a:p>
                      <a:r>
                        <a:rPr sz="825" b="0">
                          <a:solidFill>
                            <a:srgbClr val="0B2545"/>
                          </a:solidFill>
                          <a:latin typeface="Calibri"/>
                          <a:ea typeface="Calibri"/>
                          <a:cs typeface="Calibri"/>
                        </a:rPr>
                        <a:t>PASS</a:t>
                      </a:r>
                    </a:p>
                  </a:txBody>
                  <a:tcPr marL="91440" marR="91440" marT="45720" marB="45720">
                    <a:solidFill>
                      <a:srgbClr val="F4F8FA"/>
                    </a:solidFill>
                  </a:tcPr>
                </a:tc>
              </a:tr>
              <a:tr h="447675">
                <a:tc>
                  <a:txBody>
                    <a:bodyPr>
                      <a:normAutofit/>
                    </a:bodyPr>
                    <a:lstStyle/>
                    <a:p>
                      <a:r>
                        <a:rPr sz="825" b="1">
                          <a:solidFill>
                            <a:srgbClr val="0B2545"/>
                          </a:solidFill>
                          <a:latin typeface="Calibri"/>
                          <a:ea typeface="Calibri"/>
                          <a:cs typeface="Calibri"/>
                        </a:rPr>
                        <a:t>Prior-domain forgetting</a:t>
                      </a:r>
                    </a:p>
                  </a:txBody>
                  <a:tcPr marL="91440" marR="91440" marT="45720" marB="45720">
                    <a:solidFill>
                      <a:srgbClr val="FFFFFF"/>
                    </a:solidFill>
                  </a:tcPr>
                </a:tc>
                <a:tc>
                  <a:txBody>
                    <a:bodyPr>
                      <a:normAutofit/>
                    </a:bodyPr>
                    <a:lstStyle/>
                    <a:p>
                      <a:r>
                        <a:rPr sz="825" b="0">
                          <a:solidFill>
                            <a:srgbClr val="0B2545"/>
                          </a:solidFill>
                          <a:latin typeface="Calibri"/>
                          <a:ea typeface="Calibri"/>
                          <a:cs typeface="Calibri"/>
                        </a:rPr>
                        <a:t>-10.20 ± 4.47%</a:t>
                      </a:r>
                    </a:p>
                  </a:txBody>
                  <a:tcPr marL="91440" marR="91440" marT="45720" marB="45720">
                    <a:solidFill>
                      <a:srgbClr val="FFFFFF"/>
                    </a:solidFill>
                  </a:tcPr>
                </a:tc>
                <a:tc>
                  <a:txBody>
                    <a:bodyPr>
                      <a:normAutofit/>
                    </a:bodyPr>
                    <a:lstStyle/>
                    <a:p>
                      <a:r>
                        <a:rPr sz="825" b="0">
                          <a:solidFill>
                            <a:srgbClr val="0B2545"/>
                          </a:solidFill>
                          <a:latin typeface="Calibri"/>
                          <a:ea typeface="Calibri"/>
                          <a:cs typeface="Calibri"/>
                        </a:rPr>
                        <a:t>≤ 5%</a:t>
                      </a:r>
                    </a:p>
                  </a:txBody>
                  <a:tcPr marL="91440" marR="91440" marT="45720" marB="45720">
                    <a:solidFill>
                      <a:srgbClr val="FFFFFF"/>
                    </a:solidFill>
                  </a:tcPr>
                </a:tc>
                <a:tc>
                  <a:txBody>
                    <a:bodyPr>
                      <a:normAutofit/>
                    </a:bodyPr>
                    <a:lstStyle/>
                    <a:p>
                      <a:r>
                        <a:rPr sz="825" b="0">
                          <a:solidFill>
                            <a:srgbClr val="0B2545"/>
                          </a:solidFill>
                          <a:latin typeface="Calibri"/>
                          <a:ea typeface="Calibri"/>
                          <a:cs typeface="Calibri"/>
                        </a:rPr>
                        <a:t>PASS*</a:t>
                      </a:r>
                    </a:p>
                  </a:txBody>
                  <a:tcPr marL="91440" marR="91440" marT="45720" marB="45720">
                    <a:solidFill>
                      <a:srgbClr val="FFFFFF"/>
                    </a:solidFill>
                  </a:tcPr>
                </a:tc>
              </a:tr>
              <a:tr h="447675">
                <a:tc>
                  <a:txBody>
                    <a:bodyPr>
                      <a:normAutofit/>
                    </a:bodyPr>
                    <a:lstStyle/>
                    <a:p>
                      <a:r>
                        <a:rPr sz="825" b="1">
                          <a:solidFill>
                            <a:srgbClr val="0B2545"/>
                          </a:solidFill>
                          <a:latin typeface="Calibri"/>
                          <a:ea typeface="Calibri"/>
                          <a:cs typeface="Calibri"/>
                        </a:rPr>
                        <a:t>Drift events</a:t>
                      </a:r>
                    </a:p>
                  </a:txBody>
                  <a:tcPr marL="91440" marR="91440" marT="45720" marB="45720">
                    <a:solidFill>
                      <a:srgbClr val="F4F8FA"/>
                    </a:solidFill>
                  </a:tcPr>
                </a:tc>
                <a:tc>
                  <a:txBody>
                    <a:bodyPr>
                      <a:normAutofit/>
                    </a:bodyPr>
                    <a:lstStyle/>
                    <a:p>
                      <a:r>
                        <a:rPr sz="825" b="0">
                          <a:solidFill>
                            <a:srgbClr val="0B2545"/>
                          </a:solidFill>
                          <a:latin typeface="Calibri"/>
                          <a:ea typeface="Calibri"/>
                          <a:cs typeface="Calibri"/>
                        </a:rPr>
                        <a:t>7 ± 0</a:t>
                      </a:r>
                    </a:p>
                  </a:txBody>
                  <a:tcPr marL="91440" marR="91440" marT="45720" marB="45720">
                    <a:solidFill>
                      <a:srgbClr val="F4F8FA"/>
                    </a:solidFill>
                  </a:tcPr>
                </a:tc>
                <a:tc>
                  <a:txBody>
                    <a:bodyPr>
                      <a:normAutofit/>
                    </a:bodyPr>
                    <a:lstStyle/>
                    <a:p>
                      <a:r>
                        <a:rPr sz="825" b="0">
                          <a:solidFill>
                            <a:srgbClr val="0B2545"/>
                          </a:solidFill>
                          <a:latin typeface="Calibri"/>
                          <a:ea typeface="Calibri"/>
                          <a:cs typeface="Calibri"/>
                        </a:rPr>
                        <a:t>&gt; 0</a:t>
                      </a:r>
                    </a:p>
                  </a:txBody>
                  <a:tcPr marL="91440" marR="91440" marT="45720" marB="45720">
                    <a:solidFill>
                      <a:srgbClr val="F4F8FA"/>
                    </a:solidFill>
                  </a:tcPr>
                </a:tc>
                <a:tc>
                  <a:txBody>
                    <a:bodyPr>
                      <a:normAutofit/>
                    </a:bodyPr>
                    <a:lstStyle/>
                    <a:p>
                      <a:r>
                        <a:rPr sz="825" b="0">
                          <a:solidFill>
                            <a:srgbClr val="0B2545"/>
                          </a:solidFill>
                          <a:latin typeface="Calibri"/>
                          <a:ea typeface="Calibri"/>
                          <a:cs typeface="Calibri"/>
                        </a:rPr>
                        <a:t>PASS</a:t>
                      </a:r>
                    </a:p>
                  </a:txBody>
                  <a:tcPr marL="91440" marR="91440" marT="45720" marB="45720">
                    <a:solidFill>
                      <a:srgbClr val="F4F8FA"/>
                    </a:solidFill>
                  </a:tcPr>
                </a:tc>
              </a:tr>
            </a:tbl>
          </a:graphicData>
        </a:graphic>
      </p:graphicFrame>
      <p:graphicFrame>
        <p:nvGraphicFramePr>
          <p:cNvPr id="16" name=""/>
          <p:cNvGraphicFramePr/>
          <p:nvPr/>
        </p:nvGraphicFramePr>
        <p:xfrm>
          <a:off xmlns:a="http://schemas.openxmlformats.org/drawingml/2006/main" x="6267450" y="1857375"/>
          <a:ext xmlns:a="http://schemas.openxmlformats.org/drawingml/2006/main" cx="5381625" cy="2238375"/>
        </p:xfrm>
        <a:graphic xmlns:a="http://schemas.openxmlformats.org/drawingml/2006/main">
          <a:graphicData uri="http://schemas.openxmlformats.org/drawingml/2006/table">
            <a:tbl>
              <a:tblPr firstRow="1" bandRow="1"/>
              <a:tblGrid>
                <a:gridCol w="1809750"/>
                <a:gridCol w="1190625"/>
                <a:gridCol w="1190625"/>
                <a:gridCol w="762000"/>
              </a:tblGrid>
              <a:tr h="447675">
                <a:tc>
                  <a:txBody>
                    <a:bodyPr>
                      <a:normAutofit/>
                    </a:bodyPr>
                    <a:lstStyle/>
                    <a:p>
                      <a:r>
                        <a:rPr sz="825" b="1">
                          <a:solidFill>
                            <a:srgbClr val="FFFFFF"/>
                          </a:solidFill>
                          <a:latin typeface="Calibri"/>
                          <a:ea typeface="Calibri"/>
                          <a:cs typeface="Calibri"/>
                        </a:rPr>
                        <a:t>Scenario</a:t>
                      </a:r>
                    </a:p>
                  </a:txBody>
                  <a:tcPr marL="91440" marR="91440" marT="45720" marB="45720">
                    <a:solidFill>
                      <a:srgbClr val="13355E"/>
                    </a:solidFill>
                  </a:tcPr>
                </a:tc>
                <a:tc>
                  <a:txBody>
                    <a:bodyPr>
                      <a:normAutofit/>
                    </a:bodyPr>
                    <a:lstStyle/>
                    <a:p>
                      <a:r>
                        <a:rPr sz="825" b="1">
                          <a:solidFill>
                            <a:srgbClr val="FFFFFF"/>
                          </a:solidFill>
                          <a:latin typeface="Calibri"/>
                          <a:ea typeface="Calibri"/>
                          <a:cs typeface="Calibri"/>
                        </a:rPr>
                        <a:t>Frozen MAE</a:t>
                      </a:r>
                    </a:p>
                  </a:txBody>
                  <a:tcPr marL="91440" marR="91440" marT="45720" marB="45720">
                    <a:solidFill>
                      <a:srgbClr val="13355E"/>
                    </a:solidFill>
                  </a:tcPr>
                </a:tc>
                <a:tc>
                  <a:txBody>
                    <a:bodyPr>
                      <a:normAutofit/>
                    </a:bodyPr>
                    <a:lstStyle/>
                    <a:p>
                      <a:r>
                        <a:rPr sz="825" b="1">
                          <a:solidFill>
                            <a:srgbClr val="FFFFFF"/>
                          </a:solidFill>
                          <a:latin typeface="Calibri"/>
                          <a:ea typeface="Calibri"/>
                          <a:cs typeface="Calibri"/>
                        </a:rPr>
                        <a:t>Adapted MAE</a:t>
                      </a:r>
                    </a:p>
                  </a:txBody>
                  <a:tcPr marL="91440" marR="91440" marT="45720" marB="45720">
                    <a:solidFill>
                      <a:srgbClr val="13355E"/>
                    </a:solidFill>
                  </a:tcPr>
                </a:tc>
                <a:tc>
                  <a:txBody>
                    <a:bodyPr>
                      <a:normAutofit/>
                    </a:bodyPr>
                    <a:lstStyle/>
                    <a:p>
                      <a:r>
                        <a:rPr sz="825" b="1">
                          <a:solidFill>
                            <a:srgbClr val="FFFFFF"/>
                          </a:solidFill>
                          <a:latin typeface="Calibri"/>
                          <a:ea typeface="Calibri"/>
                          <a:cs typeface="Calibri"/>
                        </a:rPr>
                        <a:t>Events</a:t>
                      </a:r>
                    </a:p>
                  </a:txBody>
                  <a:tcPr marL="91440" marR="91440" marT="45720" marB="45720">
                    <a:solidFill>
                      <a:srgbClr val="13355E"/>
                    </a:solidFill>
                  </a:tcPr>
                </a:tc>
              </a:tr>
              <a:tr h="447675">
                <a:tc>
                  <a:txBody>
                    <a:bodyPr>
                      <a:normAutofit/>
                    </a:bodyPr>
                    <a:lstStyle/>
                    <a:p>
                      <a:r>
                        <a:rPr sz="825" b="1">
                          <a:solidFill>
                            <a:srgbClr val="0B2545"/>
                          </a:solidFill>
                          <a:latin typeface="Calibri"/>
                          <a:ea typeface="Calibri"/>
                          <a:cs typeface="Calibri"/>
                        </a:rPr>
                        <a:t>Clean</a:t>
                      </a:r>
                    </a:p>
                  </a:txBody>
                  <a:tcPr marL="91440" marR="91440" marT="45720" marB="45720">
                    <a:solidFill>
                      <a:srgbClr val="FFFFFF"/>
                    </a:solidFill>
                  </a:tcPr>
                </a:tc>
                <a:tc>
                  <a:txBody>
                    <a:bodyPr>
                      <a:normAutofit/>
                    </a:bodyPr>
                    <a:lstStyle/>
                    <a:p>
                      <a:r>
                        <a:rPr sz="825" b="0">
                          <a:solidFill>
                            <a:srgbClr val="0B2545"/>
                          </a:solidFill>
                          <a:latin typeface="Calibri"/>
                          <a:ea typeface="Calibri"/>
                          <a:cs typeface="Calibri"/>
                        </a:rPr>
                        <a:t>8.81</a:t>
                      </a:r>
                    </a:p>
                  </a:txBody>
                  <a:tcPr marL="91440" marR="91440" marT="45720" marB="45720">
                    <a:solidFill>
                      <a:srgbClr val="FFFFFF"/>
                    </a:solidFill>
                  </a:tcPr>
                </a:tc>
                <a:tc>
                  <a:txBody>
                    <a:bodyPr>
                      <a:normAutofit/>
                    </a:bodyPr>
                    <a:lstStyle/>
                    <a:p>
                      <a:r>
                        <a:rPr sz="825" b="0">
                          <a:solidFill>
                            <a:srgbClr val="0B2545"/>
                          </a:solidFill>
                          <a:latin typeface="Calibri"/>
                          <a:ea typeface="Calibri"/>
                          <a:cs typeface="Calibri"/>
                        </a:rPr>
                        <a:t>1.73</a:t>
                      </a:r>
                    </a:p>
                  </a:txBody>
                  <a:tcPr marL="91440" marR="91440" marT="45720" marB="45720">
                    <a:solidFill>
                      <a:srgbClr val="FFFFFF"/>
                    </a:solidFill>
                  </a:tcPr>
                </a:tc>
                <a:tc>
                  <a:txBody>
                    <a:bodyPr>
                      <a:normAutofit/>
                    </a:bodyPr>
                    <a:lstStyle/>
                    <a:p>
                      <a:r>
                        <a:rPr sz="825" b="0">
                          <a:solidFill>
                            <a:srgbClr val="0B2545"/>
                          </a:solidFill>
                          <a:latin typeface="Calibri"/>
                          <a:ea typeface="Calibri"/>
                          <a:cs typeface="Calibri"/>
                        </a:rPr>
                        <a:t>7</a:t>
                      </a:r>
                    </a:p>
                  </a:txBody>
                  <a:tcPr marL="91440" marR="91440" marT="45720" marB="45720">
                    <a:solidFill>
                      <a:srgbClr val="FFFFFF"/>
                    </a:solidFill>
                  </a:tcPr>
                </a:tc>
              </a:tr>
              <a:tr h="447675">
                <a:tc>
                  <a:txBody>
                    <a:bodyPr>
                      <a:normAutofit/>
                    </a:bodyPr>
                    <a:lstStyle/>
                    <a:p>
                      <a:r>
                        <a:rPr sz="825" b="1">
                          <a:solidFill>
                            <a:srgbClr val="0B2545"/>
                          </a:solidFill>
                          <a:latin typeface="Calibri"/>
                          <a:ea typeface="Calibri"/>
                          <a:cs typeface="Calibri"/>
                        </a:rPr>
                        <a:t>V/I/T noise</a:t>
                      </a:r>
                    </a:p>
                  </a:txBody>
                  <a:tcPr marL="91440" marR="91440" marT="45720" marB="45720">
                    <a:solidFill>
                      <a:srgbClr val="F4F8FA"/>
                    </a:solidFill>
                  </a:tcPr>
                </a:tc>
                <a:tc>
                  <a:txBody>
                    <a:bodyPr>
                      <a:normAutofit/>
                    </a:bodyPr>
                    <a:lstStyle/>
                    <a:p>
                      <a:r>
                        <a:rPr sz="825" b="0">
                          <a:solidFill>
                            <a:srgbClr val="0B2545"/>
                          </a:solidFill>
                          <a:latin typeface="Calibri"/>
                          <a:ea typeface="Calibri"/>
                          <a:cs typeface="Calibri"/>
                        </a:rPr>
                        <a:t>9.02</a:t>
                      </a:r>
                    </a:p>
                  </a:txBody>
                  <a:tcPr marL="91440" marR="91440" marT="45720" marB="45720">
                    <a:solidFill>
                      <a:srgbClr val="F4F8FA"/>
                    </a:solidFill>
                  </a:tcPr>
                </a:tc>
                <a:tc>
                  <a:txBody>
                    <a:bodyPr>
                      <a:normAutofit/>
                    </a:bodyPr>
                    <a:lstStyle/>
                    <a:p>
                      <a:r>
                        <a:rPr sz="825" b="0">
                          <a:solidFill>
                            <a:srgbClr val="0B2545"/>
                          </a:solidFill>
                          <a:latin typeface="Calibri"/>
                          <a:ea typeface="Calibri"/>
                          <a:cs typeface="Calibri"/>
                        </a:rPr>
                        <a:t>1.52</a:t>
                      </a:r>
                    </a:p>
                  </a:txBody>
                  <a:tcPr marL="91440" marR="91440" marT="45720" marB="45720">
                    <a:solidFill>
                      <a:srgbClr val="F4F8FA"/>
                    </a:solidFill>
                  </a:tcPr>
                </a:tc>
                <a:tc>
                  <a:txBody>
                    <a:bodyPr>
                      <a:normAutofit/>
                    </a:bodyPr>
                    <a:lstStyle/>
                    <a:p>
                      <a:r>
                        <a:rPr sz="825" b="0">
                          <a:solidFill>
                            <a:srgbClr val="0B2545"/>
                          </a:solidFill>
                          <a:latin typeface="Calibri"/>
                          <a:ea typeface="Calibri"/>
                          <a:cs typeface="Calibri"/>
                        </a:rPr>
                        <a:t>7</a:t>
                      </a:r>
                    </a:p>
                  </a:txBody>
                  <a:tcPr marL="91440" marR="91440" marT="45720" marB="45720">
                    <a:solidFill>
                      <a:srgbClr val="F4F8FA"/>
                    </a:solidFill>
                  </a:tcPr>
                </a:tc>
              </a:tr>
              <a:tr h="447675">
                <a:tc>
                  <a:txBody>
                    <a:bodyPr>
                      <a:normAutofit/>
                    </a:bodyPr>
                    <a:lstStyle/>
                    <a:p>
                      <a:r>
                        <a:rPr sz="825" b="1">
                          <a:solidFill>
                            <a:srgbClr val="0B2545"/>
                          </a:solidFill>
                          <a:latin typeface="Calibri"/>
                          <a:ea typeface="Calibri"/>
                          <a:cs typeface="Calibri"/>
                        </a:rPr>
                        <a:t>Missing samples</a:t>
                      </a:r>
                    </a:p>
                  </a:txBody>
                  <a:tcPr marL="91440" marR="91440" marT="45720" marB="45720">
                    <a:solidFill>
                      <a:srgbClr val="FFFFFF"/>
                    </a:solidFill>
                  </a:tcPr>
                </a:tc>
                <a:tc>
                  <a:txBody>
                    <a:bodyPr>
                      <a:normAutofit/>
                    </a:bodyPr>
                    <a:lstStyle/>
                    <a:p>
                      <a:r>
                        <a:rPr sz="825" b="0">
                          <a:solidFill>
                            <a:srgbClr val="0B2545"/>
                          </a:solidFill>
                          <a:latin typeface="Calibri"/>
                          <a:ea typeface="Calibri"/>
                          <a:cs typeface="Calibri"/>
                        </a:rPr>
                        <a:t>8.78</a:t>
                      </a:r>
                    </a:p>
                  </a:txBody>
                  <a:tcPr marL="91440" marR="91440" marT="45720" marB="45720">
                    <a:solidFill>
                      <a:srgbClr val="FFFFFF"/>
                    </a:solidFill>
                  </a:tcPr>
                </a:tc>
                <a:tc>
                  <a:txBody>
                    <a:bodyPr>
                      <a:normAutofit/>
                    </a:bodyPr>
                    <a:lstStyle/>
                    <a:p>
                      <a:r>
                        <a:rPr sz="825" b="0">
                          <a:solidFill>
                            <a:srgbClr val="0B2545"/>
                          </a:solidFill>
                          <a:latin typeface="Calibri"/>
                          <a:ea typeface="Calibri"/>
                          <a:cs typeface="Calibri"/>
                        </a:rPr>
                        <a:t>1.51</a:t>
                      </a:r>
                    </a:p>
                  </a:txBody>
                  <a:tcPr marL="91440" marR="91440" marT="45720" marB="45720">
                    <a:solidFill>
                      <a:srgbClr val="FFFFFF"/>
                    </a:solidFill>
                  </a:tcPr>
                </a:tc>
                <a:tc>
                  <a:txBody>
                    <a:bodyPr>
                      <a:normAutofit/>
                    </a:bodyPr>
                    <a:lstStyle/>
                    <a:p>
                      <a:r>
                        <a:rPr sz="825" b="0">
                          <a:solidFill>
                            <a:srgbClr val="0B2545"/>
                          </a:solidFill>
                          <a:latin typeface="Calibri"/>
                          <a:ea typeface="Calibri"/>
                          <a:cs typeface="Calibri"/>
                        </a:rPr>
                        <a:t>7</a:t>
                      </a:r>
                    </a:p>
                  </a:txBody>
                  <a:tcPr marL="91440" marR="91440" marT="45720" marB="45720">
                    <a:solidFill>
                      <a:srgbClr val="FFFFFF"/>
                    </a:solidFill>
                  </a:tcPr>
                </a:tc>
              </a:tr>
              <a:tr h="447675">
                <a:tc>
                  <a:txBody>
                    <a:bodyPr>
                      <a:normAutofit/>
                    </a:bodyPr>
                    <a:lstStyle/>
                    <a:p>
                      <a:r>
                        <a:rPr sz="825" b="1">
                          <a:solidFill>
                            <a:srgbClr val="0B2545"/>
                          </a:solidFill>
                          <a:latin typeface="Calibri"/>
                          <a:ea typeface="Calibri"/>
                          <a:cs typeface="Calibri"/>
                        </a:rPr>
                        <a:t>Sensor drift</a:t>
                      </a:r>
                    </a:p>
                  </a:txBody>
                  <a:tcPr marL="91440" marR="91440" marT="45720" marB="45720">
                    <a:solidFill>
                      <a:srgbClr val="F4F8FA"/>
                    </a:solidFill>
                  </a:tcPr>
                </a:tc>
                <a:tc>
                  <a:txBody>
                    <a:bodyPr>
                      <a:normAutofit/>
                    </a:bodyPr>
                    <a:lstStyle/>
                    <a:p>
                      <a:r>
                        <a:rPr sz="825" b="0">
                          <a:solidFill>
                            <a:srgbClr val="0B2545"/>
                          </a:solidFill>
                          <a:latin typeface="Calibri"/>
                          <a:ea typeface="Calibri"/>
                          <a:cs typeface="Calibri"/>
                        </a:rPr>
                        <a:t>8.88</a:t>
                      </a:r>
                    </a:p>
                  </a:txBody>
                  <a:tcPr marL="91440" marR="91440" marT="45720" marB="45720">
                    <a:solidFill>
                      <a:srgbClr val="F4F8FA"/>
                    </a:solidFill>
                  </a:tcPr>
                </a:tc>
                <a:tc>
                  <a:txBody>
                    <a:bodyPr>
                      <a:normAutofit/>
                    </a:bodyPr>
                    <a:lstStyle/>
                    <a:p>
                      <a:r>
                        <a:rPr sz="825" b="0">
                          <a:solidFill>
                            <a:srgbClr val="0B2545"/>
                          </a:solidFill>
                          <a:latin typeface="Calibri"/>
                          <a:ea typeface="Calibri"/>
                          <a:cs typeface="Calibri"/>
                        </a:rPr>
                        <a:t>1.69</a:t>
                      </a:r>
                    </a:p>
                  </a:txBody>
                  <a:tcPr marL="91440" marR="91440" marT="45720" marB="45720">
                    <a:solidFill>
                      <a:srgbClr val="F4F8FA"/>
                    </a:solidFill>
                  </a:tcPr>
                </a:tc>
                <a:tc>
                  <a:txBody>
                    <a:bodyPr>
                      <a:normAutofit/>
                    </a:bodyPr>
                    <a:lstStyle/>
                    <a:p>
                      <a:r>
                        <a:rPr sz="825" b="0">
                          <a:solidFill>
                            <a:srgbClr val="0B2545"/>
                          </a:solidFill>
                          <a:latin typeface="Calibri"/>
                          <a:ea typeface="Calibri"/>
                          <a:cs typeface="Calibri"/>
                        </a:rPr>
                        <a:t>7</a:t>
                      </a:r>
                    </a:p>
                  </a:txBody>
                  <a:tcPr marL="91440" marR="91440" marT="45720" marB="45720">
                    <a:solidFill>
                      <a:srgbClr val="F4F8FA"/>
                    </a:solidFill>
                  </a:tcPr>
                </a:tc>
              </a:tr>
            </a:tbl>
          </a:graphicData>
        </a:graphic>
      </p:graphicFrame>
      <p:sp>
        <p:nvSpPr>
          <p:cNvPr id="6" name="">
            <a:extLst xmlns:a="http://schemas.openxmlformats.org/drawingml/2006/main">
              <a:ext uri="{FF2B5EF4-FFF2-40B4-BE49-F238E27FC236}">
                <a16:creationId xmlns:a16="http://schemas.microsoft.com/office/drawing/2014/main" id="{BD2BA894-28A2-4118-8DC3-DDBCE72FBACF}"/>
              </a:ext>
            </a:extLst>
          </p:cNvPr>
          <p:cNvSpPr>
            <a:spLocks xmlns:a="http://schemas.openxmlformats.org/drawingml/2006/main" noGrp="1"/>
          </p:cNvSpPr>
          <p:nvPr/>
        </p:nvSpPr>
        <p:spPr>
          <a:xfrm xmlns:a="http://schemas.openxmlformats.org/drawingml/2006/main">
            <a:off x="552450" y="4333875"/>
            <a:ext cx="11096625" cy="895350"/>
          </a:xfrm>
          <a:prstGeom xmlns:a="http://schemas.openxmlformats.org/drawingml/2006/main" prst="roundRect">
            <a:avLst>
              <a:gd name="adj" fmla="val 8511"/>
            </a:avLst>
          </a:prstGeom>
          <a:solidFill xmlns:a="http://schemas.openxmlformats.org/drawingml/2006/main">
            <a:srgbClr val="0B2545"/>
          </a:solidFill>
          <a:ln xmlns:a="http://schemas.openxmlformats.org/drawingml/2006/main" w="9525">
            <a:solidFill>
              <a:srgbClr val="0B2545"/>
            </a:solid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86845B3-8FB5-40EB-BFEC-E3B899FCDBDA}"/>
              </a:ext>
            </a:extLst>
          </p:cNvPr>
          <p:cNvSpPr>
            <a:spLocks xmlns:a="http://schemas.openxmlformats.org/drawingml/2006/main" noGrp="1"/>
          </p:cNvSpPr>
          <p:nvPr/>
        </p:nvSpPr>
        <p:spPr>
          <a:xfrm xmlns:a="http://schemas.openxmlformats.org/drawingml/2006/main">
            <a:off x="781050" y="4524375"/>
            <a:ext cx="247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52"/>
          </a:bodyPr>
          <a:lstStyle xmlns:a="http://schemas.openxmlformats.org/drawingml/2006/main"/>
          <a:p xmlns:a="http://schemas.openxmlformats.org/drawingml/2006/main">
            <a:pPr>
              <a:defRPr sz="1050" b="1" i="0">
                <a:solidFill>
                  <a:srgbClr val="00A896"/>
                </a:solidFill>
                <a:latin typeface="Calibri"/>
                <a:ea typeface="Calibri"/>
                <a:cs typeface="Calibri"/>
              </a:defRPr>
            </a:pPr>
            <a:r>
              <a:rPr sz="1050" b="1" i="0">
                <a:solidFill>
                  <a:srgbClr val="00A896"/>
                </a:solidFill>
                <a:latin typeface="Calibri"/>
                <a:ea typeface="Calibri"/>
                <a:cs typeface="Calibri"/>
              </a:rPr>
              <a:t>Ablation post-shift SOH MAE</a:t>
            </a:r>
          </a:p>
        </p:txBody>
      </p:sp>
      <p:sp>
        <p:nvSpPr>
          <p:cNvPr id="8" name="">
            <a:extLst xmlns:a="http://schemas.openxmlformats.org/drawingml/2006/main">
              <a:ext uri="{FF2B5EF4-FFF2-40B4-BE49-F238E27FC236}">
                <a16:creationId xmlns:a16="http://schemas.microsoft.com/office/drawing/2014/main" id="{CD961264-2EFA-4CE2-8B5D-2FAABF583F6D}"/>
              </a:ext>
            </a:extLst>
          </p:cNvPr>
          <p:cNvSpPr>
            <a:spLocks xmlns:a="http://schemas.openxmlformats.org/drawingml/2006/main" noGrp="1"/>
          </p:cNvSpPr>
          <p:nvPr/>
        </p:nvSpPr>
        <p:spPr>
          <a:xfrm xmlns:a="http://schemas.openxmlformats.org/drawingml/2006/main">
            <a:off x="781050" y="4857750"/>
            <a:ext cx="10334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0" i="0">
                <a:solidFill>
                  <a:srgbClr val="FFFFFF"/>
                </a:solidFill>
                <a:latin typeface="Calibri"/>
                <a:ea typeface="Calibri"/>
                <a:cs typeface="Calibri"/>
              </a:defRPr>
            </a:pPr>
            <a:r>
              <a:rPr sz="975" b="0" i="0">
                <a:solidFill>
                  <a:srgbClr val="FFFFFF"/>
                </a:solidFill>
                <a:latin typeface="Calibri"/>
                <a:ea typeface="Calibri"/>
                <a:cs typeface="Calibri"/>
              </a:rPr>
              <a:t>Proposed 1.74  ·  No physics 1.23  ·  No Transformer 4.09  ·  No replay 3.97  ·  No drift detector 1.59  ·  Full retraining 1.58</a:t>
            </a:r>
          </a:p>
        </p:txBody>
      </p:sp>
      <p:sp>
        <p:nvSpPr>
          <p:cNvPr id="9" name="">
            <a:extLst xmlns:a="http://schemas.openxmlformats.org/drawingml/2006/main">
              <a:ext uri="{FF2B5EF4-FFF2-40B4-BE49-F238E27FC236}">
                <a16:creationId xmlns:a16="http://schemas.microsoft.com/office/drawing/2014/main" id="{CF5D8BB2-DD1B-42B4-8E06-D0329D1467F0}"/>
              </a:ext>
            </a:extLst>
          </p:cNvPr>
          <p:cNvSpPr>
            <a:spLocks xmlns:a="http://schemas.openxmlformats.org/drawingml/2006/main" noGrp="1"/>
          </p:cNvSpPr>
          <p:nvPr/>
        </p:nvSpPr>
        <p:spPr>
          <a:xfrm xmlns:a="http://schemas.openxmlformats.org/drawingml/2006/main">
            <a:off x="552450" y="5524500"/>
            <a:ext cx="11096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1">
                <a:solidFill>
                  <a:srgbClr val="5B6B79"/>
                </a:solidFill>
                <a:latin typeface="Calibri"/>
                <a:ea typeface="Calibri"/>
                <a:cs typeface="Calibri"/>
              </a:defRPr>
            </a:pPr>
            <a:r>
              <a:rPr sz="900" b="0" i="1">
                <a:solidFill>
                  <a:srgbClr val="5B6B79"/>
                </a:solidFill>
                <a:latin typeface="Calibri"/>
                <a:ea typeface="Calibri"/>
                <a:cs typeface="Calibri"/>
              </a:rPr>
              <a:t>Physical checks: SOH bounds 0.00% · negative RUL 0.00% · capacity-curve residual 0.00573 ± 0.00009 · *negative forgetting means prior-domain MAE improved</a:t>
            </a:r>
          </a:p>
        </p:txBody>
      </p:sp>
      <p:sp>
        <p:nvSpPr>
          <p:cNvPr id="10" name="">
            <a:extLst xmlns:a="http://schemas.openxmlformats.org/drawingml/2006/main">
              <a:ext uri="{FF2B5EF4-FFF2-40B4-BE49-F238E27FC236}">
                <a16:creationId xmlns:a16="http://schemas.microsoft.com/office/drawing/2014/main" id="{4B077388-4423-4F4B-8E4B-EAB709E5680E}"/>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11" name="">
            <a:extLst xmlns:a="http://schemas.openxmlformats.org/drawingml/2006/main">
              <a:ext uri="{FF2B5EF4-FFF2-40B4-BE49-F238E27FC236}">
                <a16:creationId xmlns:a16="http://schemas.microsoft.com/office/drawing/2014/main" id="{BBA458AC-4535-46C3-9A4F-0BF636329DC5}"/>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30 / 31</a:t>
            </a:r>
          </a:p>
        </p:txBody>
      </p:sp>
    </p:spTree>
    <p:extLst>
      <p:ext uri="{BB962C8B-B14F-4D97-AF65-F5344CB8AC3E}">
        <p14:creationId xmlns:p14="http://schemas.microsoft.com/office/powerpoint/2010/main" val="1318942930"/>
      </p:ext>
    </p:extLst>
  </p:cSld>
</p:sld>
</file>

<file path=ppt/slides/slide31.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4D0414-E5E6-4E91-9097-66B344E3B225}"/>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0A896"/>
                </a:solidFill>
                <a:latin typeface="Calibri"/>
                <a:ea typeface="Calibri"/>
                <a:cs typeface="Calibri"/>
              </a:defRPr>
            </a:pPr>
            <a:r>
              <a:rPr sz="900" b="1" i="0">
                <a:solidFill>
                  <a:srgbClr val="00A896"/>
                </a:solidFill>
                <a:latin typeface="Calibri"/>
                <a:ea typeface="Calibri"/>
                <a:cs typeface="Calibri"/>
              </a:rPr>
              <a:t>PHASE II · EVIDENCE BOUNDARY</a:t>
            </a:r>
          </a:p>
        </p:txBody>
      </p:sp>
      <p:sp>
        <p:nvSpPr>
          <p:cNvPr id="2" name="">
            <a:extLst xmlns:a="http://schemas.openxmlformats.org/drawingml/2006/main">
              <a:ext uri="{FF2B5EF4-FFF2-40B4-BE49-F238E27FC236}">
                <a16:creationId xmlns:a16="http://schemas.microsoft.com/office/drawing/2014/main" id="{80980245-6FB0-4AA7-A148-9417FC7A9AE7}"/>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FFFFFF"/>
                </a:solidFill>
                <a:latin typeface="Cambria"/>
                <a:ea typeface="Cambria"/>
                <a:cs typeface="Cambria"/>
              </a:defRPr>
            </a:pPr>
            <a:r>
              <a:rPr sz="2325" b="1" i="0">
                <a:solidFill>
                  <a:srgbClr val="FFFFFF"/>
                </a:solidFill>
                <a:latin typeface="Cambria"/>
                <a:ea typeface="Cambria"/>
                <a:cs typeface="Cambria"/>
              </a:rPr>
              <a:t>What the base review and prior papers actually prove</a:t>
            </a:r>
          </a:p>
        </p:txBody>
      </p:sp>
      <p:sp>
        <p:nvSpPr>
          <p:cNvPr id="3" name="">
            <a:extLst xmlns:a="http://schemas.openxmlformats.org/drawingml/2006/main">
              <a:ext uri="{FF2B5EF4-FFF2-40B4-BE49-F238E27FC236}">
                <a16:creationId xmlns:a16="http://schemas.microsoft.com/office/drawing/2014/main" id="{C461638C-16A5-4BC8-A69A-9A24F8C68B9D}"/>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C7D8E5"/>
                </a:solidFill>
                <a:latin typeface="Calibri"/>
                <a:ea typeface="Calibri"/>
                <a:cs typeface="Calibri"/>
              </a:defRPr>
            </a:pPr>
            <a:r>
              <a:rPr sz="1125" b="0" i="0">
                <a:solidFill>
                  <a:srgbClr val="C7D8E5"/>
                </a:solidFill>
                <a:latin typeface="Calibri"/>
                <a:ea typeface="Calibri"/>
                <a:cs typeface="Calibri"/>
              </a:rPr>
              <a:t>The project result is new evidence from the executed NASA protocol; literature values remain context because protocols are not directly equivalent.</a:t>
            </a:r>
          </a:p>
        </p:txBody>
      </p:sp>
      <p:graphicFrame>
        <p:nvGraphicFramePr>
          <p:cNvPr id="13" name=""/>
          <p:cNvGraphicFramePr/>
          <p:nvPr/>
        </p:nvGraphicFramePr>
        <p:xfrm>
          <a:off xmlns:a="http://schemas.openxmlformats.org/drawingml/2006/main" x="552450" y="1809750"/>
          <a:ext xmlns:a="http://schemas.openxmlformats.org/drawingml/2006/main" cx="11096625" cy="3381375"/>
        </p:xfrm>
        <a:graphic xmlns:a="http://schemas.openxmlformats.org/drawingml/2006/main">
          <a:graphicData uri="http://schemas.openxmlformats.org/drawingml/2006/table">
            <a:tbl>
              <a:tblPr firstRow="1" bandRow="1"/>
              <a:tblGrid>
                <a:gridCol w="1952625"/>
                <a:gridCol w="4953000"/>
                <a:gridCol w="4191000"/>
              </a:tblGrid>
              <a:tr h="563563">
                <a:tc>
                  <a:txBody>
                    <a:bodyPr>
                      <a:normAutofit/>
                    </a:bodyPr>
                    <a:lstStyle/>
                    <a:p>
                      <a:r>
                        <a:rPr sz="825" b="1">
                          <a:solidFill>
                            <a:srgbClr val="FFFFFF"/>
                          </a:solidFill>
                          <a:latin typeface="Calibri"/>
                          <a:ea typeface="Calibri"/>
                          <a:cs typeface="Calibri"/>
                        </a:rPr>
                        <a:t>Source</a:t>
                      </a:r>
                    </a:p>
                  </a:txBody>
                  <a:tcPr marL="91440" marR="91440" marT="45720" marB="45720">
                    <a:solidFill>
                      <a:srgbClr val="13355E"/>
                    </a:solidFill>
                  </a:tcPr>
                </a:tc>
                <a:tc>
                  <a:txBody>
                    <a:bodyPr>
                      <a:normAutofit/>
                    </a:bodyPr>
                    <a:lstStyle/>
                    <a:p>
                      <a:r>
                        <a:rPr sz="825" b="1">
                          <a:solidFill>
                            <a:srgbClr val="FFFFFF"/>
                          </a:solidFill>
                          <a:latin typeface="Calibri"/>
                          <a:ea typeface="Calibri"/>
                          <a:cs typeface="Calibri"/>
                        </a:rPr>
                        <a:t>Experiment / formula focus</a:t>
                      </a:r>
                    </a:p>
                  </a:txBody>
                  <a:tcPr marL="91440" marR="91440" marT="45720" marB="45720">
                    <a:solidFill>
                      <a:srgbClr val="13355E"/>
                    </a:solidFill>
                  </a:tcPr>
                </a:tc>
                <a:tc>
                  <a:txBody>
                    <a:bodyPr>
                      <a:normAutofit/>
                    </a:bodyPr>
                    <a:lstStyle/>
                    <a:p>
                      <a:r>
                        <a:rPr sz="825" b="1">
                          <a:solidFill>
                            <a:srgbClr val="FFFFFF"/>
                          </a:solidFill>
                          <a:latin typeface="Calibri"/>
                          <a:ea typeface="Calibri"/>
                          <a:cs typeface="Calibri"/>
                        </a:rPr>
                        <a:t>Reported result or evidence</a:t>
                      </a:r>
                    </a:p>
                  </a:txBody>
                  <a:tcPr marL="91440" marR="91440" marT="45720" marB="45720">
                    <a:solidFill>
                      <a:srgbClr val="13355E"/>
                    </a:solidFill>
                  </a:tcPr>
                </a:tc>
              </a:tr>
              <a:tr h="563563">
                <a:tc>
                  <a:txBody>
                    <a:bodyPr>
                      <a:normAutofit/>
                    </a:bodyPr>
                    <a:lstStyle/>
                    <a:p>
                      <a:r>
                        <a:rPr sz="750" b="1">
                          <a:solidFill>
                            <a:srgbClr val="0B2545"/>
                          </a:solidFill>
                          <a:latin typeface="Calibri"/>
                          <a:ea typeface="Calibri"/>
                          <a:cs typeface="Calibri"/>
                        </a:rPr>
                        <a:t>0.base_paper.pdf</a:t>
                      </a:r>
                    </a:p>
                  </a:txBody>
                  <a:tcPr marL="91440" marR="91440" marT="45720" marB="45720">
                    <a:solidFill>
                      <a:srgbClr val="FFFFFF"/>
                    </a:solidFill>
                  </a:tcPr>
                </a:tc>
                <a:tc>
                  <a:txBody>
                    <a:bodyPr>
                      <a:normAutofit/>
                    </a:bodyPr>
                    <a:lstStyle/>
                    <a:p>
                      <a:r>
                        <a:rPr sz="750" b="0">
                          <a:solidFill>
                            <a:srgbClr val="0B2545"/>
                          </a:solidFill>
                          <a:latin typeface="Calibri"/>
                          <a:ea typeface="Calibri"/>
                          <a:cs typeface="Calibri"/>
                        </a:rPr>
                        <a:t>Methodological review: PINN residuals, electrochemical/ECM/aging/thermal equations, uncertainty, deployment</a:t>
                      </a:r>
                    </a:p>
                  </a:txBody>
                  <a:tcPr marL="91440" marR="91440" marT="45720" marB="45720">
                    <a:solidFill>
                      <a:srgbClr val="FFFFFF"/>
                    </a:solidFill>
                  </a:tcPr>
                </a:tc>
                <a:tc>
                  <a:txBody>
                    <a:bodyPr>
                      <a:normAutofit/>
                    </a:bodyPr>
                    <a:lstStyle/>
                    <a:p>
                      <a:r>
                        <a:rPr sz="750" b="0">
                          <a:solidFill>
                            <a:srgbClr val="0B2545"/>
                          </a:solidFill>
                          <a:latin typeface="Calibri"/>
                          <a:ea typeface="Calibri"/>
                          <a:cs typeface="Calibri"/>
                        </a:rPr>
                        <a:t>No single new end-to-end model or one reproducible score; it synthesizes reviewed methods.</a:t>
                      </a:r>
                    </a:p>
                  </a:txBody>
                  <a:tcPr marL="91440" marR="91440" marT="45720" marB="45720">
                    <a:solidFill>
                      <a:srgbClr val="FFFFFF"/>
                    </a:solidFill>
                  </a:tcPr>
                </a:tc>
              </a:tr>
              <a:tr h="563563">
                <a:tc>
                  <a:txBody>
                    <a:bodyPr>
                      <a:normAutofit/>
                    </a:bodyPr>
                    <a:lstStyle/>
                    <a:p>
                      <a:r>
                        <a:rPr sz="750" b="1">
                          <a:solidFill>
                            <a:srgbClr val="0B2545"/>
                          </a:solidFill>
                          <a:latin typeface="Calibri"/>
                          <a:ea typeface="Calibri"/>
                          <a:cs typeface="Calibri"/>
                        </a:rPr>
                        <a:t>Applied Energy paper</a:t>
                      </a:r>
                    </a:p>
                  </a:txBody>
                  <a:tcPr marL="91440" marR="91440" marT="45720" marB="45720">
                    <a:solidFill>
                      <a:srgbClr val="F4F8FA"/>
                    </a:solidFill>
                  </a:tcPr>
                </a:tc>
                <a:tc>
                  <a:txBody>
                    <a:bodyPr>
                      <a:normAutofit/>
                    </a:bodyPr>
                    <a:lstStyle/>
                    <a:p>
                      <a:r>
                        <a:rPr sz="750" b="0">
                          <a:solidFill>
                            <a:srgbClr val="0B2545"/>
                          </a:solidFill>
                          <a:latin typeface="Calibri"/>
                          <a:ea typeface="Calibri"/>
                          <a:cs typeface="Calibri"/>
                        </a:rPr>
                        <a:t>Multi-task PINN + simplified Transformer; CV charging features; sensitivity and transfer learning</a:t>
                      </a:r>
                    </a:p>
                  </a:txBody>
                  <a:tcPr marL="91440" marR="91440" marT="45720" marB="45720">
                    <a:solidFill>
                      <a:srgbClr val="F4F8FA"/>
                    </a:solidFill>
                  </a:tcPr>
                </a:tc>
                <a:tc>
                  <a:txBody>
                    <a:bodyPr>
                      <a:normAutofit/>
                    </a:bodyPr>
                    <a:lstStyle/>
                    <a:p>
                      <a:r>
                        <a:rPr sz="750" b="0">
                          <a:solidFill>
                            <a:srgbClr val="0B2545"/>
                          </a:solidFill>
                          <a:latin typeface="Calibri"/>
                          <a:ea typeface="Calibri"/>
                          <a:cs typeface="Calibri"/>
                        </a:rPr>
                        <a:t>SOH MAPE 0.75%; degradation-path deviation ≈0.01; RUL MAE 104 cycles in reported cases.</a:t>
                      </a:r>
                    </a:p>
                  </a:txBody>
                  <a:tcPr marL="91440" marR="91440" marT="45720" marB="45720">
                    <a:solidFill>
                      <a:srgbClr val="F4F8FA"/>
                    </a:solidFill>
                  </a:tcPr>
                </a:tc>
              </a:tr>
              <a:tr h="563563">
                <a:tc>
                  <a:txBody>
                    <a:bodyPr>
                      <a:normAutofit/>
                    </a:bodyPr>
                    <a:lstStyle/>
                    <a:p>
                      <a:r>
                        <a:rPr sz="750" b="1">
                          <a:solidFill>
                            <a:srgbClr val="0B2545"/>
                          </a:solidFill>
                          <a:latin typeface="Calibri"/>
                          <a:ea typeface="Calibri"/>
                          <a:cs typeface="Calibri"/>
                        </a:rPr>
                        <a:t>Energy EM-PINN</a:t>
                      </a:r>
                    </a:p>
                  </a:txBody>
                  <a:tcPr marL="91440" marR="91440" marT="45720" marB="45720">
                    <a:solidFill>
                      <a:srgbClr val="FFFFFF"/>
                    </a:solidFill>
                  </a:tcPr>
                </a:tc>
                <a:tc>
                  <a:txBody>
                    <a:bodyPr>
                      <a:normAutofit/>
                    </a:bodyPr>
                    <a:lstStyle/>
                    <a:p>
                      <a:r>
                        <a:rPr sz="750" b="0">
                          <a:solidFill>
                            <a:srgbClr val="0B2545"/>
                          </a:solidFill>
                          <a:latin typeface="Calibri"/>
                          <a:ea typeface="Calibri"/>
                          <a:cs typeface="Calibri"/>
                        </a:rPr>
                        <a:t>SEI-layer-growth PDE with PDE, BC, IC, and SOH losses; XJTU/MIT/HUST; six data-volume scenarios</a:t>
                      </a:r>
                    </a:p>
                  </a:txBody>
                  <a:tcPr marL="91440" marR="91440" marT="45720" marB="45720">
                    <a:solidFill>
                      <a:srgbClr val="FFFFFF"/>
                    </a:solidFill>
                  </a:tcPr>
                </a:tc>
                <a:tc>
                  <a:txBody>
                    <a:bodyPr>
                      <a:normAutofit/>
                    </a:bodyPr>
                    <a:lstStyle/>
                    <a:p>
                      <a:r>
                        <a:rPr sz="750" b="0">
                          <a:solidFill>
                            <a:srgbClr val="0B2545"/>
                          </a:solidFill>
                          <a:latin typeface="Calibri"/>
                          <a:ea typeface="Calibri"/>
                          <a:cs typeface="Calibri"/>
                        </a:rPr>
                        <a:t>Reported MAPE as low as 0.873%.</a:t>
                      </a:r>
                    </a:p>
                  </a:txBody>
                  <a:tcPr marL="91440" marR="91440" marT="45720" marB="45720">
                    <a:solidFill>
                      <a:srgbClr val="FFFFFF"/>
                    </a:solidFill>
                  </a:tcPr>
                </a:tc>
              </a:tr>
              <a:tr h="563563">
                <a:tc>
                  <a:txBody>
                    <a:bodyPr>
                      <a:normAutofit/>
                    </a:bodyPr>
                    <a:lstStyle/>
                    <a:p>
                      <a:r>
                        <a:rPr sz="750" b="1">
                          <a:solidFill>
                            <a:srgbClr val="0B2545"/>
                          </a:solidFill>
                          <a:latin typeface="Calibri"/>
                          <a:ea typeface="Calibri"/>
                          <a:cs typeface="Calibri"/>
                        </a:rPr>
                        <a:t>Scientific Reports Bat-T-GNN</a:t>
                      </a:r>
                    </a:p>
                  </a:txBody>
                  <a:tcPr marL="91440" marR="91440" marT="45720" marB="45720">
                    <a:solidFill>
                      <a:srgbClr val="F4F8FA"/>
                    </a:solidFill>
                  </a:tcPr>
                </a:tc>
                <a:tc>
                  <a:txBody>
                    <a:bodyPr>
                      <a:normAutofit/>
                    </a:bodyPr>
                    <a:lstStyle/>
                    <a:p>
                      <a:r>
                        <a:rPr sz="750" b="0">
                          <a:solidFill>
                            <a:srgbClr val="0B2545"/>
                          </a:solidFill>
                          <a:latin typeface="Calibri"/>
                          <a:ea typeface="Calibri"/>
                          <a:cs typeface="Calibri"/>
                        </a:rPr>
                        <a:t>Cycle-aware patches, time-aware convolution, Transformer, dynamic GNN, PINN-RUL; ablations and corruption tests</a:t>
                      </a:r>
                    </a:p>
                  </a:txBody>
                  <a:tcPr marL="91440" marR="91440" marT="45720" marB="45720">
                    <a:solidFill>
                      <a:srgbClr val="F4F8FA"/>
                    </a:solidFill>
                  </a:tcPr>
                </a:tc>
                <a:tc>
                  <a:txBody>
                    <a:bodyPr>
                      <a:normAutofit/>
                    </a:bodyPr>
                    <a:lstStyle/>
                    <a:p>
                      <a:r>
                        <a:rPr sz="750" b="0">
                          <a:solidFill>
                            <a:srgbClr val="0B2545"/>
                          </a:solidFill>
                          <a:latin typeface="Calibri"/>
                          <a:ea typeface="Calibri"/>
                          <a:cs typeface="Calibri"/>
                        </a:rPr>
                        <a:t>Reported NASA values include RMSE 0.014, MAE 0.007, MAPE 0.008; robustness evidence is central.</a:t>
                      </a:r>
                    </a:p>
                  </a:txBody>
                  <a:tcPr marL="91440" marR="91440" marT="45720" marB="45720">
                    <a:solidFill>
                      <a:srgbClr val="F4F8FA"/>
                    </a:solidFill>
                  </a:tcPr>
                </a:tc>
              </a:tr>
              <a:tr h="563563">
                <a:tc>
                  <a:txBody>
                    <a:bodyPr>
                      <a:normAutofit/>
                    </a:bodyPr>
                    <a:lstStyle/>
                    <a:p>
                      <a:r>
                        <a:rPr sz="750" b="1">
                          <a:solidFill>
                            <a:srgbClr val="0B2545"/>
                          </a:solidFill>
                          <a:latin typeface="Calibri"/>
                          <a:ea typeface="Calibri"/>
                          <a:cs typeface="Calibri"/>
                        </a:rPr>
                        <a:t>Complex &amp; Intelligent Systems</a:t>
                      </a:r>
                    </a:p>
                  </a:txBody>
                  <a:tcPr marL="91440" marR="91440" marT="45720" marB="45720">
                    <a:solidFill>
                      <a:srgbClr val="FFFFFF"/>
                    </a:solidFill>
                  </a:tcPr>
                </a:tc>
                <a:tc>
                  <a:txBody>
                    <a:bodyPr>
                      <a:normAutofit/>
                    </a:bodyPr>
                    <a:lstStyle/>
                    <a:p>
                      <a:r>
                        <a:rPr sz="750" b="0">
                          <a:solidFill>
                            <a:srgbClr val="0B2545"/>
                          </a:solidFill>
                          <a:latin typeface="Calibri"/>
                          <a:ea typeface="Calibri"/>
                          <a:cs typeface="Calibri"/>
                        </a:rPr>
                        <a:t>PINN + physics-guided augmentation + momentum contrastive learning on B0005/B0006/B0007/B0018</a:t>
                      </a:r>
                    </a:p>
                  </a:txBody>
                  <a:tcPr marL="91440" marR="91440" marT="45720" marB="45720">
                    <a:solidFill>
                      <a:srgbClr val="FFFFFF"/>
                    </a:solidFill>
                  </a:tcPr>
                </a:tc>
                <a:tc>
                  <a:txBody>
                    <a:bodyPr>
                      <a:normAutofit/>
                    </a:bodyPr>
                    <a:lstStyle/>
                    <a:p>
                      <a:r>
                        <a:rPr sz="750" b="0">
                          <a:solidFill>
                            <a:srgbClr val="0B2545"/>
                          </a:solidFill>
                          <a:latin typeface="Calibri"/>
                          <a:ea typeface="Calibri"/>
                          <a:cs typeface="Calibri"/>
                        </a:rPr>
                        <a:t>Compared CNN, BPINN, Informer, XGBoost-ARIMA; added ablation, SHAP, parameter, time, and latency analysis.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3EBAED9-7E03-410D-A7F8-68C907AFE836}"/>
              </a:ext>
            </a:extLst>
          </p:cNvPr>
          <p:cNvSpPr>
            <a:spLocks xmlns:a="http://schemas.openxmlformats.org/drawingml/2006/main" noGrp="1"/>
          </p:cNvSpPr>
          <p:nvPr/>
        </p:nvSpPr>
        <p:spPr>
          <a:xfrm xmlns:a="http://schemas.openxmlformats.org/drawingml/2006/main">
            <a:off x="552450" y="5524500"/>
            <a:ext cx="11096625" cy="514350"/>
          </a:xfrm>
          <a:prstGeom xmlns:a="http://schemas.openxmlformats.org/drawingml/2006/main" prst="roundRect">
            <a:avLst>
              <a:gd name="adj" fmla="val 14815"/>
            </a:avLst>
          </a:prstGeom>
          <a:solidFill xmlns:a="http://schemas.openxmlformats.org/drawingml/2006/main">
            <a:srgbClr val="1B4A73"/>
          </a:solidFill>
          <a:ln xmlns:a="http://schemas.openxmlformats.org/drawingml/2006/main" w="9525">
            <a:solidFill>
              <a:srgbClr val="1B4A73"/>
            </a:solid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9EFD14F-618E-4C5B-A192-BB24CDA78BE9}"/>
              </a:ext>
            </a:extLst>
          </p:cNvPr>
          <p:cNvSpPr>
            <a:spLocks xmlns:a="http://schemas.openxmlformats.org/drawingml/2006/main" noGrp="1"/>
          </p:cNvSpPr>
          <p:nvPr/>
        </p:nvSpPr>
        <p:spPr>
          <a:xfrm xmlns:a="http://schemas.openxmlformats.org/drawingml/2006/main">
            <a:off x="781050" y="5686425"/>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846"/>
          </a:bodyPr>
          <a:lstStyle xmlns:a="http://schemas.openxmlformats.org/drawingml/2006/main"/>
          <a:p xmlns:a="http://schemas.openxmlformats.org/drawingml/2006/main">
            <a:pPr>
              <a:defRPr sz="975" b="1" i="0">
                <a:solidFill>
                  <a:srgbClr val="00A896"/>
                </a:solidFill>
                <a:latin typeface="Calibri"/>
                <a:ea typeface="Calibri"/>
                <a:cs typeface="Calibri"/>
              </a:defRPr>
            </a:pPr>
            <a:r>
              <a:t>Key Contribution</a:t>
            </a:r>
          </a:p>
        </p:txBody>
      </p:sp>
      <p:sp>
        <p:nvSpPr>
          <p:cNvPr id="7" name="">
            <a:extLst xmlns:a="http://schemas.openxmlformats.org/drawingml/2006/main">
              <a:ext uri="{FF2B5EF4-FFF2-40B4-BE49-F238E27FC236}">
                <a16:creationId xmlns:a16="http://schemas.microsoft.com/office/drawing/2014/main" id="{102BEF3B-9CF8-4D05-8C96-898B4C562798}"/>
              </a:ext>
            </a:extLst>
          </p:cNvPr>
          <p:cNvSpPr>
            <a:spLocks xmlns:a="http://schemas.openxmlformats.org/drawingml/2006/main" noGrp="1"/>
          </p:cNvSpPr>
          <p:nvPr/>
        </p:nvSpPr>
        <p:spPr>
          <a:xfrm xmlns:a="http://schemas.openxmlformats.org/drawingml/2006/main">
            <a:off x="2457450" y="5686425"/>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846"/>
          </a:bodyPr>
          <a:lstStyle xmlns:a="http://schemas.openxmlformats.org/drawingml/2006/main"/>
          <a:p xmlns:a="http://schemas.openxmlformats.org/drawingml/2006/main">
            <a:pPr>
              <a:defRPr sz="975" b="0" i="0">
                <a:solidFill>
                  <a:srgbClr val="FFFFFF"/>
                </a:solidFill>
                <a:latin typeface="Calibri"/>
                <a:ea typeface="Calibri"/>
                <a:cs typeface="Calibri"/>
              </a:defRPr>
            </a:pPr>
            <a:r>
              <a:t>Our core contribution is the integration of drift-triggered replay adaptation with physics-preserving constraints for real-time BMS deployment.</a:t>
            </a:r>
          </a:p>
        </p:txBody>
      </p:sp>
      <p:sp>
        <p:nvSpPr>
          <p:cNvPr id="8" name="">
            <a:extLst xmlns:a="http://schemas.openxmlformats.org/drawingml/2006/main">
              <a:ext uri="{FF2B5EF4-FFF2-40B4-BE49-F238E27FC236}">
                <a16:creationId xmlns:a16="http://schemas.microsoft.com/office/drawing/2014/main" id="{64EF7092-80D4-45E5-938F-474312814F85}"/>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8FA9BE"/>
                </a:solidFill>
                <a:latin typeface="Calibri"/>
                <a:ea typeface="Calibri"/>
                <a:cs typeface="Calibri"/>
              </a:defRPr>
            </a:pPr>
            <a:r>
              <a:rPr sz="825" b="0" i="0">
                <a:solidFill>
                  <a:srgbClr val="8FA9BE"/>
                </a:solidFill>
                <a:latin typeface="Calibri"/>
                <a:ea typeface="Calibri"/>
                <a:cs typeface="Calibri"/>
              </a:rPr>
              <a:t>Adaptive PINN Battery Digital Twin</a:t>
            </a:r>
          </a:p>
        </p:txBody>
      </p:sp>
      <p:sp>
        <p:nvSpPr>
          <p:cNvPr id="9" name="">
            <a:extLst xmlns:a="http://schemas.openxmlformats.org/drawingml/2006/main">
              <a:ext uri="{FF2B5EF4-FFF2-40B4-BE49-F238E27FC236}">
                <a16:creationId xmlns:a16="http://schemas.microsoft.com/office/drawing/2014/main" id="{DB662F72-9D68-473D-8613-0F87665979E2}"/>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8FA9BE"/>
                </a:solidFill>
                <a:latin typeface="Calibri"/>
                <a:ea typeface="Calibri"/>
                <a:cs typeface="Calibri"/>
              </a:defRPr>
            </a:pPr>
            <a:r>
              <a:rPr sz="825" b="0" i="0">
                <a:solidFill>
                  <a:srgbClr val="8FA9BE"/>
                </a:solidFill>
                <a:latin typeface="Calibri"/>
                <a:ea typeface="Calibri"/>
                <a:cs typeface="Calibri"/>
              </a:rPr>
              <a:t>31 / 31</a:t>
            </a:r>
          </a:p>
        </p:txBody>
      </p:sp>
    </p:spTree>
    <p:extLst>
      <p:ext uri="{BB962C8B-B14F-4D97-AF65-F5344CB8AC3E}">
        <p14:creationId xmlns:p14="http://schemas.microsoft.com/office/powerpoint/2010/main" val="109374058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2026-09-13T10:34:54.1540000Z</dcterms:created>
  <dcterms:modified xsi:type="dcterms:W3CDTF">2026-09-13T10:34:54.1540000Z</dcterms:modified>
</coreProperties>
</file>