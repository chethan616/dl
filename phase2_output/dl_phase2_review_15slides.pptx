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3" name="TextBox 2"/>
          <p:cNvSpPr txBox="1"/>
          <p:nvPr/>
        </p:nvSpPr>
        <p:spPr>
          <a:xfrm>
            <a:off x="8485632" y="4206240"/>
            <a:ext cx="658368" cy="1828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4" name="TextBox 3"/>
          <p:cNvSpPr txBox="1"/>
          <p:nvPr/>
        </p:nvSpPr>
        <p:spPr>
          <a:xfrm>
            <a:off x="8558784" y="4315968"/>
            <a:ext cx="512064" cy="16276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9345168" y="4206240"/>
            <a:ext cx="658368" cy="1828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9418320" y="4133088"/>
            <a:ext cx="512064" cy="18105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7" name="TextBox 6"/>
          <p:cNvSpPr txBox="1"/>
          <p:nvPr/>
        </p:nvSpPr>
        <p:spPr>
          <a:xfrm>
            <a:off x="10204704" y="4206240"/>
            <a:ext cx="658368" cy="1828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10277856" y="4864608"/>
            <a:ext cx="512064" cy="10789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9" name="TextBox 8"/>
          <p:cNvSpPr txBox="1"/>
          <p:nvPr/>
        </p:nvSpPr>
        <p:spPr>
          <a:xfrm>
            <a:off x="11064240" y="4206240"/>
            <a:ext cx="658368" cy="1828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0" name="TextBox 9"/>
          <p:cNvSpPr txBox="1"/>
          <p:nvPr/>
        </p:nvSpPr>
        <p:spPr>
          <a:xfrm>
            <a:off x="11137392" y="4133088"/>
            <a:ext cx="512064" cy="18105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1" name="TextBox 10"/>
          <p:cNvSpPr txBox="1"/>
          <p:nvPr/>
        </p:nvSpPr>
        <p:spPr>
          <a:xfrm>
            <a:off x="8394192" y="3822192"/>
            <a:ext cx="3419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SOH  ·  RUL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417320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SCOPE  ·  B.TECH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874520"/>
            <a:ext cx="74066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Adaptive Physics-Informed Battery Digital Twin for SOH and RUL Prediction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Energy AI  ·  Battery Management Systems  ·  Physics-Informed Neural Networks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92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23036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M. Chethan Krishna   23BAI0093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9612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K. Shanmukha Santhosh   23BAI0157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61888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Ashok Reddy   23BAI0143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DOMAIN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Project Overview &amp;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5029200" cy="48920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DOMAIN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11096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Energy AI  ·  Battery Management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5000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TYPE OF DNN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9464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Physics-Informed Neural Network (PINN) + Feedforward DNN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72968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4480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Li-ion batteries degrade with cycling, temperature and age. Pure deep-learning models need large labeled datasets and can be physically inconsistent; pure physics models are too slow for real-time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389120"/>
            <a:ext cx="4480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OUR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45152"/>
            <a:ext cx="44805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An Adaptive PINN Battery Digital Twin fuses PINNs, a Transformer Encoder and Incremental Adaptive Learning to continuously estimate SOH and RUL — adapting to new data without full retraining.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417320"/>
            <a:ext cx="5879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WHERE IT APPLIES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Adaptive PINN Battery Digital Twin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FOUNDATION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Base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274552" cy="14173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4303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Physics-Informed Neural Networks for Battery Modeling and State Estimation: A Methodological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10543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Renewable and Sustainable Energy Reviews,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WHY THIS PAPER WAS SELECTED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21024"/>
            <a:ext cx="146304" cy="1463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10954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Comprehensive review of Physics-Informed Neural Networks (PINNs) for battery applications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133088"/>
            <a:ext cx="146304" cy="1463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1" name="TextBox 10"/>
          <p:cNvSpPr txBox="1"/>
          <p:nvPr/>
        </p:nvSpPr>
        <p:spPr>
          <a:xfrm>
            <a:off x="777240" y="4032504"/>
            <a:ext cx="10954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Covers SOH, RUL, SOC, Digital Twins, thermal diagnosis and internal state reconstruction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45152"/>
            <a:ext cx="146304" cy="1463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3" name="TextBox 12"/>
          <p:cNvSpPr txBox="1"/>
          <p:nvPr/>
        </p:nvSpPr>
        <p:spPr>
          <a:xfrm>
            <a:off x="777240" y="4544568"/>
            <a:ext cx="10954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Explains multiple methods for embedding battery physics into neural networks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157216"/>
            <a:ext cx="146304" cy="1463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5" name="TextBox 14"/>
          <p:cNvSpPr txBox="1"/>
          <p:nvPr/>
        </p:nvSpPr>
        <p:spPr>
          <a:xfrm>
            <a:off x="777240" y="5056632"/>
            <a:ext cx="10954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Discusses training stability, domain generalization, uncertainty quantification and interpretability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669280"/>
            <a:ext cx="146304" cy="14630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7" name="TextBox 16"/>
          <p:cNvSpPr txBox="1"/>
          <p:nvPr/>
        </p:nvSpPr>
        <p:spPr>
          <a:xfrm>
            <a:off x="777240" y="5568696"/>
            <a:ext cx="109545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Lays out future research directions for intelligent Battery Management Systems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Adaptive PINN Battery Digital Twin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t>5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POSITIONING OUR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Literature Review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2763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Existing PINN models are trained offline, adapt poorly to changing battery behaviour, and remain difficult to deploy in real-time BMS. Lightweight, continual-learning methods are still an open problem.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Adaptive PINN Battery Digital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t>6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REAL-WORLD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08760"/>
            <a:ext cx="3544824" cy="1828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58568"/>
            <a:ext cx="3087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Electric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15768"/>
            <a:ext cx="3087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Predict battery replacement before failure occurs.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2064" y="1508760"/>
            <a:ext cx="3544824" cy="1828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0" name="TextBox 9"/>
          <p:cNvSpPr txBox="1"/>
          <p:nvPr/>
        </p:nvSpPr>
        <p:spPr>
          <a:xfrm>
            <a:off x="4550664" y="1737360"/>
            <a:ext cx="384048" cy="38404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1" name="TextBox 10"/>
          <p:cNvSpPr txBox="1"/>
          <p:nvPr/>
        </p:nvSpPr>
        <p:spPr>
          <a:xfrm>
            <a:off x="4550664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0664" y="2258568"/>
            <a:ext cx="3087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Solar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0664" y="2715768"/>
            <a:ext cx="3087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Monitor home batteries and predict maintenance needs.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6928" y="1508760"/>
            <a:ext cx="3544824" cy="1828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5" name="TextBox 14"/>
          <p:cNvSpPr txBox="1"/>
          <p:nvPr/>
        </p:nvSpPr>
        <p:spPr>
          <a:xfrm>
            <a:off x="8415528" y="1737360"/>
            <a:ext cx="384048" cy="38404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6" name="TextBox 15"/>
          <p:cNvSpPr txBox="1"/>
          <p:nvPr/>
        </p:nvSpPr>
        <p:spPr>
          <a:xfrm>
            <a:off x="8415528" y="173736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5528" y="2258568"/>
            <a:ext cx="3087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Smart Grids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5528" y="2715768"/>
            <a:ext cx="3087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Avoid sudden, costly battery failures at scale.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29612" y="3657600"/>
            <a:ext cx="3544824" cy="1828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20" name="TextBox 19"/>
          <p:cNvSpPr txBox="1"/>
          <p:nvPr/>
        </p:nvSpPr>
        <p:spPr>
          <a:xfrm>
            <a:off x="2458212" y="3886200"/>
            <a:ext cx="384048" cy="38404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21" name="TextBox 20"/>
          <p:cNvSpPr txBox="1"/>
          <p:nvPr/>
        </p:nvSpPr>
        <p:spPr>
          <a:xfrm>
            <a:off x="2458212" y="3886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8212" y="4407408"/>
            <a:ext cx="3087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Drones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58212" y="4864608"/>
            <a:ext cx="3087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Estimate safe remaining flying time in-flight.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4476" y="3657600"/>
            <a:ext cx="3544824" cy="1828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25" name="TextBox 24"/>
          <p:cNvSpPr txBox="1"/>
          <p:nvPr/>
        </p:nvSpPr>
        <p:spPr>
          <a:xfrm>
            <a:off x="6323076" y="3886200"/>
            <a:ext cx="384048" cy="38404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26" name="TextBox 25"/>
          <p:cNvSpPr txBox="1"/>
          <p:nvPr/>
        </p:nvSpPr>
        <p:spPr>
          <a:xfrm>
            <a:off x="6323076" y="3886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4407408"/>
            <a:ext cx="3087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Laptops &amp; Smartphones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3076" y="4864608"/>
            <a:ext cx="308762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More accurate battery degradation estimates.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Adaptive PINN Battery Digital Twin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t>9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400050"/>
            <a:ext cx="47625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 b="1">
                <a:solidFill>
                  <a:srgbClr val="028090"/>
                </a:solidFill>
                <a:latin typeface="Calibri"/>
              </a:defRPr>
            </a:pPr>
            <a:r>
              <a:t>PHASE II ·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2450" y="714375"/>
            <a:ext cx="10096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2325" b="1">
                <a:solidFill>
                  <a:srgbClr val="0B2545"/>
                </a:solidFill>
                <a:latin typeface="Cambria"/>
              </a:defRPr>
            </a:pPr>
            <a:r>
              <a:t>NASA cells and a leakage-safe evaluation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285875"/>
            <a:ext cx="10572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>
                <a:solidFill>
                  <a:srgbClr val="5B6B79"/>
                </a:solidFill>
                <a:latin typeface="Calibri"/>
              </a:defRPr>
            </a:pPr>
            <a:r>
              <a:t>The official NASA PCoE repository provides the first committed dataset for this proof of concept.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4953000"/>
            <a:ext cx="1905000" cy="66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704850" y="5067300"/>
            <a:ext cx="1600200" cy="152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EOL 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5257800"/>
            <a:ext cx="1600200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650" b="1">
                <a:solidFill>
                  <a:srgbClr val="028090"/>
                </a:solidFill>
                <a:latin typeface="Cambria"/>
              </a:defRPr>
            </a:pPr>
            <a:r>
              <a:t>70% SOH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67000" y="4953000"/>
            <a:ext cx="1905000" cy="66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9" name="TextBox 8"/>
          <p:cNvSpPr txBox="1"/>
          <p:nvPr/>
        </p:nvSpPr>
        <p:spPr>
          <a:xfrm>
            <a:off x="2819400" y="5067300"/>
            <a:ext cx="1600200" cy="152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HELD-OUT CELL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19400" y="5257800"/>
            <a:ext cx="1600200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650" b="1">
                <a:solidFill>
                  <a:srgbClr val="028090"/>
                </a:solidFill>
                <a:latin typeface="Cambria"/>
              </a:defRPr>
            </a:pPr>
            <a:r>
              <a:t>B0018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1550" y="4953000"/>
            <a:ext cx="1905000" cy="66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2" name="TextBox 11"/>
          <p:cNvSpPr txBox="1"/>
          <p:nvPr/>
        </p:nvSpPr>
        <p:spPr>
          <a:xfrm>
            <a:off x="4933950" y="5067300"/>
            <a:ext cx="1600200" cy="152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CYCLES PARSED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3950" y="5257800"/>
            <a:ext cx="1600200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650" b="1">
                <a:solidFill>
                  <a:srgbClr val="028090"/>
                </a:solidFill>
                <a:latin typeface="Cambria"/>
              </a:defRPr>
            </a:pPr>
            <a:r>
              <a:t>636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96100" y="4953000"/>
            <a:ext cx="1905000" cy="66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5" name="TextBox 14"/>
          <p:cNvSpPr txBox="1"/>
          <p:nvPr/>
        </p:nvSpPr>
        <p:spPr>
          <a:xfrm>
            <a:off x="7048500" y="5067300"/>
            <a:ext cx="1600200" cy="152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ORDER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8500" y="5257800"/>
            <a:ext cx="1600200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650" b="1">
                <a:solidFill>
                  <a:srgbClr val="028090"/>
                </a:solidFill>
                <a:latin typeface="Cambria"/>
              </a:defRPr>
            </a:pPr>
            <a:r>
              <a:t>Time-aware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10650" y="4953000"/>
            <a:ext cx="2190750" cy="66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8" name="TextBox 17"/>
          <p:cNvSpPr txBox="1"/>
          <p:nvPr/>
        </p:nvSpPr>
        <p:spPr>
          <a:xfrm>
            <a:off x="9163050" y="5067300"/>
            <a:ext cx="1885950" cy="152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METRIC UNIT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3050" y="5257800"/>
            <a:ext cx="1885950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650" b="1">
                <a:solidFill>
                  <a:srgbClr val="028090"/>
                </a:solidFill>
                <a:latin typeface="Cambria"/>
              </a:defRPr>
            </a:pPr>
            <a:r>
              <a:t>RUL in cycles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2450" y="6553200"/>
            <a:ext cx="342900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Adaptive PINN Battery Digital Twin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0875" y="6553200"/>
            <a:ext cx="809625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400050"/>
            <a:ext cx="47625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 b="1">
                <a:solidFill>
                  <a:srgbClr val="028090"/>
                </a:solidFill>
                <a:latin typeface="Calibri"/>
              </a:defRPr>
            </a:pPr>
            <a:r>
              <a:t>PHASE II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2450" y="714375"/>
            <a:ext cx="10096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2325" b="1">
                <a:solidFill>
                  <a:srgbClr val="0B2545"/>
                </a:solidFill>
                <a:latin typeface="Cambria"/>
              </a:defRPr>
            </a:pPr>
            <a:r>
              <a:t>From measured cycle to adaptive digital-twin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285875"/>
            <a:ext cx="10572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>
                <a:solidFill>
                  <a:srgbClr val="5B6B79"/>
                </a:solidFill>
                <a:latin typeface="Calibri"/>
              </a:defRPr>
            </a:pPr>
            <a:r>
              <a:t>The first-stage physics model uses relationships supported by the NASA measurements.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143125"/>
            <a:ext cx="1695450" cy="1619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695325" y="2286000"/>
            <a:ext cx="266700" cy="266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7" name="TextBox 6"/>
          <p:cNvSpPr txBox="1"/>
          <p:nvPr/>
        </p:nvSpPr>
        <p:spPr>
          <a:xfrm>
            <a:off x="771525" y="2276475"/>
            <a:ext cx="1143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5325" y="2638425"/>
            <a:ext cx="1409700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 b="1">
                <a:solidFill>
                  <a:srgbClr val="0B2545"/>
                </a:solidFill>
                <a:latin typeface="Calibri"/>
              </a:defRPr>
            </a:pPr>
            <a:r>
              <a:t>NASA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325" y="2886075"/>
            <a:ext cx="1409700" cy="76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Cycle-level voltage, current, temperature, time,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2933700"/>
            <a:ext cx="95250" cy="38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1" name="TextBox 10"/>
          <p:cNvSpPr txBox="1"/>
          <p:nvPr/>
        </p:nvSpPr>
        <p:spPr>
          <a:xfrm>
            <a:off x="2419350" y="2143125"/>
            <a:ext cx="1695450" cy="1619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2" name="TextBox 11"/>
          <p:cNvSpPr txBox="1"/>
          <p:nvPr/>
        </p:nvSpPr>
        <p:spPr>
          <a:xfrm>
            <a:off x="2562225" y="2286000"/>
            <a:ext cx="266700" cy="266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3" name="TextBox 12"/>
          <p:cNvSpPr txBox="1"/>
          <p:nvPr/>
        </p:nvSpPr>
        <p:spPr>
          <a:xfrm>
            <a:off x="2638425" y="2276475"/>
            <a:ext cx="1143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2225" y="2638425"/>
            <a:ext cx="1409700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 b="1">
                <a:solidFill>
                  <a:srgbClr val="0B2545"/>
                </a:solidFill>
                <a:latin typeface="Calibri"/>
              </a:defRPr>
            </a:pPr>
            <a:r>
              <a:t>Masked encoder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2225" y="2886075"/>
            <a:ext cx="1409700" cy="76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Measured points + delta_t, no blind interpolation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52900" y="2933700"/>
            <a:ext cx="95250" cy="38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7" name="TextBox 16"/>
          <p:cNvSpPr txBox="1"/>
          <p:nvPr/>
        </p:nvSpPr>
        <p:spPr>
          <a:xfrm>
            <a:off x="4286250" y="2143125"/>
            <a:ext cx="1695450" cy="1619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8" name="TextBox 17"/>
          <p:cNvSpPr txBox="1"/>
          <p:nvPr/>
        </p:nvSpPr>
        <p:spPr>
          <a:xfrm>
            <a:off x="4429125" y="2286000"/>
            <a:ext cx="266700" cy="266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9" name="TextBox 18"/>
          <p:cNvSpPr txBox="1"/>
          <p:nvPr/>
        </p:nvSpPr>
        <p:spPr>
          <a:xfrm>
            <a:off x="4505325" y="2276475"/>
            <a:ext cx="1143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9125" y="2638425"/>
            <a:ext cx="1409700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 b="1">
                <a:solidFill>
                  <a:srgbClr val="0B2545"/>
                </a:solidFill>
                <a:latin typeface="Calibri"/>
              </a:defRPr>
            </a:pPr>
            <a:r>
              <a:t>Temporal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9125" y="2886075"/>
            <a:ext cx="1409700" cy="76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History across cycles with Transformer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19800" y="2933700"/>
            <a:ext cx="95250" cy="38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23" name="TextBox 22"/>
          <p:cNvSpPr txBox="1"/>
          <p:nvPr/>
        </p:nvSpPr>
        <p:spPr>
          <a:xfrm>
            <a:off x="6153150" y="2143125"/>
            <a:ext cx="1695450" cy="1619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24" name="TextBox 23"/>
          <p:cNvSpPr txBox="1"/>
          <p:nvPr/>
        </p:nvSpPr>
        <p:spPr>
          <a:xfrm>
            <a:off x="6296025" y="2286000"/>
            <a:ext cx="266700" cy="266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25" name="TextBox 24"/>
          <p:cNvSpPr txBox="1"/>
          <p:nvPr/>
        </p:nvSpPr>
        <p:spPr>
          <a:xfrm>
            <a:off x="6372225" y="2276475"/>
            <a:ext cx="1143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6025" y="2638425"/>
            <a:ext cx="1409700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 b="1">
                <a:solidFill>
                  <a:srgbClr val="0B2545"/>
                </a:solidFill>
                <a:latin typeface="Calibri"/>
              </a:defRPr>
            </a:pPr>
            <a:r>
              <a:t>SOH / RUL heads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6025" y="2886075"/>
            <a:ext cx="1409700" cy="76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Bounded SOH 0–100 and non-negative RUL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6700" y="2933700"/>
            <a:ext cx="95250" cy="38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29" name="TextBox 28"/>
          <p:cNvSpPr txBox="1"/>
          <p:nvPr/>
        </p:nvSpPr>
        <p:spPr>
          <a:xfrm>
            <a:off x="8020050" y="2143125"/>
            <a:ext cx="1695450" cy="1619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30" name="TextBox 29"/>
          <p:cNvSpPr txBox="1"/>
          <p:nvPr/>
        </p:nvSpPr>
        <p:spPr>
          <a:xfrm>
            <a:off x="8162925" y="2286000"/>
            <a:ext cx="266700" cy="266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31" name="TextBox 30"/>
          <p:cNvSpPr txBox="1"/>
          <p:nvPr/>
        </p:nvSpPr>
        <p:spPr>
          <a:xfrm>
            <a:off x="8239125" y="2276475"/>
            <a:ext cx="1143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62925" y="2638425"/>
            <a:ext cx="1409700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 b="1">
                <a:solidFill>
                  <a:srgbClr val="0B2545"/>
                </a:solidFill>
                <a:latin typeface="Calibri"/>
              </a:defRPr>
            </a:pPr>
            <a:r>
              <a:t>Physics losses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62925" y="2886075"/>
            <a:ext cx="1409700" cy="76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Soft degradation, RUL order, capacity-curve residual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3600" y="2933700"/>
            <a:ext cx="95250" cy="38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35" name="TextBox 34"/>
          <p:cNvSpPr txBox="1"/>
          <p:nvPr/>
        </p:nvSpPr>
        <p:spPr>
          <a:xfrm>
            <a:off x="9886950" y="2143125"/>
            <a:ext cx="1695450" cy="1619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36" name="TextBox 35"/>
          <p:cNvSpPr txBox="1"/>
          <p:nvPr/>
        </p:nvSpPr>
        <p:spPr>
          <a:xfrm>
            <a:off x="10029825" y="2286000"/>
            <a:ext cx="266700" cy="266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37" name="TextBox 36"/>
          <p:cNvSpPr txBox="1"/>
          <p:nvPr/>
        </p:nvSpPr>
        <p:spPr>
          <a:xfrm>
            <a:off x="10106025" y="2276475"/>
            <a:ext cx="1143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29825" y="2638425"/>
            <a:ext cx="1409700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 b="1">
                <a:solidFill>
                  <a:srgbClr val="FFFFFF"/>
                </a:solidFill>
                <a:latin typeface="Calibri"/>
              </a:defRPr>
            </a:pPr>
            <a:r>
              <a:t>Replay adaptation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29825" y="2886075"/>
            <a:ext cx="1409700" cy="76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C7D8E5"/>
                </a:solidFill>
                <a:latin typeface="Calibri"/>
              </a:defRPr>
            </a:pPr>
            <a:r>
              <a:t>Drift trigger, recent + representative history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450" y="4333875"/>
            <a:ext cx="11096625" cy="1066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41" name="TextBox 40"/>
          <p:cNvSpPr txBox="1"/>
          <p:nvPr/>
        </p:nvSpPr>
        <p:spPr>
          <a:xfrm>
            <a:off x="800100" y="4552950"/>
            <a:ext cx="2000250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 b="1">
                <a:solidFill>
                  <a:srgbClr val="00A896"/>
                </a:solidFill>
                <a:latin typeface="Calibri"/>
              </a:defRPr>
            </a:pPr>
            <a:r>
              <a:t>Training objective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57500" y="4495800"/>
            <a:ext cx="4953000" cy="323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mbria"/>
              </a:defRPr>
            </a:pPr>
            <a:r>
              <a:t>L_total = L_data + λ_phys L_phys + λ_cons L_cons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" y="4972050"/>
            <a:ext cx="10287000" cy="238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050">
                <a:solidFill>
                  <a:srgbClr val="C7D8E5"/>
                </a:solidFill>
                <a:latin typeface="Calibri"/>
              </a:defRPr>
            </a:pPr>
            <a:r>
              <a:t>The SEI-growth PDE formulation remains a Stage 2 extension until every variable and parameter is available and verified.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2450" y="6553200"/>
            <a:ext cx="342900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Adaptive PINN Battery Digital Twin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10875" y="6553200"/>
            <a:ext cx="809625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400050"/>
            <a:ext cx="47625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 b="1">
                <a:solidFill>
                  <a:srgbClr val="028090"/>
                </a:solidFill>
                <a:latin typeface="Calibri"/>
              </a:defRPr>
            </a:pPr>
            <a:r>
              <a:t>PHASE II · FORMULA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2450" y="714375"/>
            <a:ext cx="10096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2325" b="1">
                <a:solidFill>
                  <a:srgbClr val="0B2545"/>
                </a:solidFill>
                <a:latin typeface="Cambria"/>
              </a:defRPr>
            </a:pPr>
            <a:r>
              <a:t>The active training objective and physical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285875"/>
            <a:ext cx="10572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>
                <a:solidFill>
                  <a:srgbClr val="5B6B79"/>
                </a:solidFill>
                <a:latin typeface="Calibri"/>
              </a:defRPr>
            </a:pPr>
            <a:r>
              <a:t>The first-stage POC uses capacity/degradation consistency that the NASA records can support; it does not claim an SEI-PDE residual.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905000"/>
            <a:ext cx="11096625" cy="838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857250" y="2105025"/>
            <a:ext cx="7239000" cy="323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2025" b="1">
                <a:solidFill>
                  <a:srgbClr val="FFFFFF"/>
                </a:solidFill>
                <a:latin typeface="Cambria"/>
              </a:defRPr>
            </a:pPr>
            <a:r>
              <a:t>L_total = L_data + λ_phys L_phys + λ_cons L_cons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7250" y="2476500"/>
            <a:ext cx="952500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75">
                <a:solidFill>
                  <a:srgbClr val="C7D8E5"/>
                </a:solidFill>
                <a:latin typeface="Calibri"/>
              </a:defRPr>
            </a:pPr>
            <a:r>
              <a:t>selected: λ_phys = 0.1 · λ_cons = 1 · RUL scale = 250 cycles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3048000"/>
            <a:ext cx="5238750" cy="1143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9" name="TextBox 8"/>
          <p:cNvSpPr txBox="1"/>
          <p:nvPr/>
        </p:nvSpPr>
        <p:spPr>
          <a:xfrm>
            <a:off x="723900" y="3171825"/>
            <a:ext cx="4895850" cy="161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DATA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419475"/>
            <a:ext cx="489585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350" b="1">
                <a:solidFill>
                  <a:srgbClr val="0B2545"/>
                </a:solidFill>
                <a:latin typeface="Cambria"/>
              </a:defRPr>
            </a:pPr>
            <a:r>
              <a:t>L_data = mean|ŝoh−soh| + mean|r̂ul−rul|/250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900" y="3829050"/>
            <a:ext cx="4895850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>
                <a:solidFill>
                  <a:srgbClr val="5B6B79"/>
                </a:solidFill>
                <a:latin typeface="Calibri"/>
              </a:defRPr>
            </a:pPr>
            <a:r>
              <a:t>Joint SOH and RUL regression with valid-cycle masks.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76950" y="3048000"/>
            <a:ext cx="5572125" cy="1143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3" name="TextBox 12"/>
          <p:cNvSpPr txBox="1"/>
          <p:nvPr/>
        </p:nvSpPr>
        <p:spPr>
          <a:xfrm>
            <a:off x="6248400" y="3171825"/>
            <a:ext cx="5229225" cy="161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SOFT PHYSICS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8400" y="3419475"/>
            <a:ext cx="5229225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275" b="1">
                <a:solidFill>
                  <a:srgbClr val="0B2545"/>
                </a:solidFill>
                <a:latin typeface="Cambria"/>
              </a:defRPr>
            </a:pPr>
            <a:r>
              <a:t>L_phys = mean ReLU(Δŝoh) + mean ReLU(Δr̂ul)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8400" y="3829050"/>
            <a:ext cx="5229225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>
                <a:solidFill>
                  <a:srgbClr val="5B6B79"/>
                </a:solidFill>
                <a:latin typeface="Calibri"/>
              </a:defRPr>
            </a:pPr>
            <a:r>
              <a:t>Penalizes predicted SOH or RUL increases across ordered cycles; soft because real cells can show local regeneration.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450" y="4400550"/>
            <a:ext cx="5238750" cy="1143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7" name="TextBox 16"/>
          <p:cNvSpPr txBox="1"/>
          <p:nvPr/>
        </p:nvSpPr>
        <p:spPr>
          <a:xfrm>
            <a:off x="723900" y="4524375"/>
            <a:ext cx="4895850" cy="161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CURVE CONSISTENCY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4772025"/>
            <a:ext cx="489585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25" b="1">
                <a:solidFill>
                  <a:srgbClr val="0B2545"/>
                </a:solidFill>
                <a:latin typeface="Cambria"/>
              </a:defRPr>
            </a:pPr>
            <a:r>
              <a:t>L_cons = mean|Δŝoh−Δsoh| /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" y="5181600"/>
            <a:ext cx="4895850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>
                <a:solidFill>
                  <a:srgbClr val="5B6B79"/>
                </a:solidFill>
                <a:latin typeface="Calibri"/>
              </a:defRPr>
            </a:pPr>
            <a:r>
              <a:t>Capacity-curve shape residual between predicted and measured SOH changes.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6950" y="4400550"/>
            <a:ext cx="5572125" cy="1143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21" name="TextBox 20"/>
          <p:cNvSpPr txBox="1"/>
          <p:nvPr/>
        </p:nvSpPr>
        <p:spPr>
          <a:xfrm>
            <a:off x="6248400" y="4524375"/>
            <a:ext cx="5229225" cy="161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BOUNDED HEADS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8400" y="4772025"/>
            <a:ext cx="5229225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425" b="1">
                <a:solidFill>
                  <a:srgbClr val="0B2545"/>
                </a:solidFill>
                <a:latin typeface="Cambria"/>
              </a:defRPr>
            </a:pPr>
            <a:r>
              <a:t>ŝoh = 100·σ(z₁),  r̂ul = 250·σ(z₂)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8400" y="5181600"/>
            <a:ext cx="5229225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>
                <a:solidFill>
                  <a:srgbClr val="5B6B79"/>
                </a:solidFill>
                <a:latin typeface="Calibri"/>
              </a:defRPr>
            </a:pPr>
            <a:r>
              <a:t>Output contract: SOH ∈ [0,100] and RUL ∈ [0,250]. The nonnegative-consistency term is an explicit zero-valued future hook.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450" y="5857875"/>
            <a:ext cx="11096625" cy="285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75">
                <a:solidFill>
                  <a:srgbClr val="5B6B79"/>
                </a:solidFill>
                <a:latin typeface="Calibri"/>
              </a:defRPr>
            </a:pPr>
            <a:r>
              <a:t>Diagnostics reported: SOH bounds violation · negative RUL rate · degradation violation rate · SOH/RUL consistency violation · capacity-curve residual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450" y="6553200"/>
            <a:ext cx="342900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Adaptive PINN Battery Digital Twin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10875" y="6553200"/>
            <a:ext cx="809625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24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400050"/>
            <a:ext cx="47625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 b="1">
                <a:solidFill>
                  <a:srgbClr val="00A896"/>
                </a:solidFill>
                <a:latin typeface="Calibri"/>
              </a:defRPr>
            </a:pPr>
            <a:r>
              <a:t>BASE PAPER · EQUATIONS (1–5)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2450" y="714375"/>
            <a:ext cx="10096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2325" b="1">
                <a:solidFill>
                  <a:srgbClr val="FFFFFF"/>
                </a:solidFill>
                <a:latin typeface="Cambria"/>
              </a:defRPr>
            </a:pPr>
            <a:r>
              <a:t>Base paper: general PINN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285875"/>
            <a:ext cx="10572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>
                <a:solidFill>
                  <a:srgbClr val="C7D8E5"/>
                </a:solidFill>
                <a:latin typeface="Calibri"/>
              </a:defRPr>
            </a:pPr>
            <a:r>
              <a:t>Transcribed from the methodological review, pp. 4–5. These are representative framework equations, not one new end-to-end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1952625"/>
            <a:ext cx="5238750" cy="100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723900" y="2076450"/>
            <a:ext cx="4895850" cy="161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0A896"/>
                </a:solidFill>
                <a:latin typeface="Calibri"/>
              </a:defRPr>
            </a:pPr>
            <a:r>
              <a:t>(1) NEURAL APPROXIMATION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2324100"/>
            <a:ext cx="489585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875" b="1">
                <a:solidFill>
                  <a:srgbClr val="FFFFFF"/>
                </a:solidFill>
                <a:latin typeface="Cambria"/>
              </a:defRPr>
            </a:pPr>
            <a:r>
              <a:t>uθ(x,t) = NNθ(x,t)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2609850"/>
            <a:ext cx="4895850" cy="228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C7D8E5"/>
                </a:solidFill>
                <a:latin typeface="Calibri"/>
              </a:defRPr>
            </a:pPr>
            <a:r>
              <a:t>A network represents a battery state variable such as concentration, voltage, temperature, or SOC.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6950" y="1952625"/>
            <a:ext cx="5572125" cy="100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0" name="TextBox 9"/>
          <p:cNvSpPr txBox="1"/>
          <p:nvPr/>
        </p:nvSpPr>
        <p:spPr>
          <a:xfrm>
            <a:off x="6248400" y="2076450"/>
            <a:ext cx="5229225" cy="161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0A896"/>
                </a:solidFill>
                <a:latin typeface="Calibri"/>
              </a:defRPr>
            </a:pPr>
            <a:r>
              <a:t>(2) GOVERNING OPERATOR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0" y="2324100"/>
            <a:ext cx="5229225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mbria"/>
              </a:defRPr>
            </a:pPr>
            <a:r>
              <a:t>𝒩[uθ](x,t; λ) = 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2609850"/>
            <a:ext cx="5229225" cy="228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C7D8E5"/>
                </a:solidFill>
                <a:latin typeface="Calibri"/>
              </a:defRPr>
            </a:pPr>
            <a:r>
              <a:t>𝒩 is the physical operator derived from electrochemical, ECM, aging, or thermal equations; λ denotes physical parameters.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2450" y="3162300"/>
            <a:ext cx="5238750" cy="100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4" name="TextBox 13"/>
          <p:cNvSpPr txBox="1"/>
          <p:nvPr/>
        </p:nvSpPr>
        <p:spPr>
          <a:xfrm>
            <a:off x="723900" y="3286125"/>
            <a:ext cx="4895850" cy="161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0A896"/>
                </a:solidFill>
                <a:latin typeface="Calibri"/>
              </a:defRPr>
            </a:pPr>
            <a:r>
              <a:t>(3) RESIDUAL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3533775"/>
            <a:ext cx="4895850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725" b="1">
                <a:solidFill>
                  <a:srgbClr val="FFFFFF"/>
                </a:solidFill>
                <a:latin typeface="Cambria"/>
              </a:defRPr>
            </a:pPr>
            <a:r>
              <a:t>rθ(x,t) = 𝒩[uθ](x,t; λ)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3819525"/>
            <a:ext cx="4895850" cy="228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C7D8E5"/>
                </a:solidFill>
                <a:latin typeface="Calibri"/>
              </a:defRPr>
            </a:pPr>
            <a:r>
              <a:t>Automatic differentiation evaluates the physical-law residual at a point.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6950" y="3162300"/>
            <a:ext cx="5572125" cy="100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8" name="TextBox 17"/>
          <p:cNvSpPr txBox="1"/>
          <p:nvPr/>
        </p:nvSpPr>
        <p:spPr>
          <a:xfrm>
            <a:off x="6248400" y="3286125"/>
            <a:ext cx="5229225" cy="161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0A896"/>
                </a:solidFill>
                <a:latin typeface="Calibri"/>
              </a:defRPr>
            </a:pPr>
            <a:r>
              <a:t>(4) PHYSICS 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8400" y="3533775"/>
            <a:ext cx="5229225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Cambria"/>
              </a:defRPr>
            </a:pPr>
            <a:r>
              <a:t>L_phys = (1/Nₚ) Σ |rθ(xᵢ,tᵢ)|²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8400" y="3819525"/>
            <a:ext cx="5229225" cy="228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C7D8E5"/>
                </a:solidFill>
                <a:latin typeface="Calibri"/>
              </a:defRPr>
            </a:pPr>
            <a:r>
              <a:t>Residuals are averaged over Nₚ physics collocation points.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" y="4371975"/>
            <a:ext cx="11096625" cy="1123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22" name="TextBox 21"/>
          <p:cNvSpPr txBox="1"/>
          <p:nvPr/>
        </p:nvSpPr>
        <p:spPr>
          <a:xfrm>
            <a:off x="723900" y="4495800"/>
            <a:ext cx="10753725" cy="161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0A896"/>
                </a:solidFill>
                <a:latin typeface="Calibri"/>
              </a:defRPr>
            </a:pPr>
            <a:r>
              <a:t>(5) COMPOSITE PINN LOSS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4743450"/>
            <a:ext cx="10753725" cy="381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mbria"/>
              </a:defRPr>
            </a:pPr>
            <a:r>
              <a:t>L_PINN = w_d L_data + w_p L_phys + w_b L_BC/IC + w_r L_reg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3900" y="5114925"/>
            <a:ext cx="10753725" cy="266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>
                <a:solidFill>
                  <a:srgbClr val="C7D8E5"/>
                </a:solidFill>
                <a:latin typeface="Calibri"/>
              </a:defRPr>
            </a:pPr>
            <a:r>
              <a:t>Weights balance data fit, governing physics, boundary/initial conditions, and optional regularization.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2450" y="5810250"/>
            <a:ext cx="11049000" cy="228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050" b="1">
                <a:solidFill>
                  <a:srgbClr val="00A896"/>
                </a:solidFill>
                <a:latin typeface="Calibri"/>
              </a:defRPr>
            </a:pPr>
            <a:r>
              <a:t>Implementation: We specialize data loss, physical monotonicity, and capacity curve residual losses for battery health tracking.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2450" y="6553200"/>
            <a:ext cx="342900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8FA9BE"/>
                </a:solidFill>
                <a:latin typeface="Calibri"/>
              </a:defRPr>
            </a:pPr>
            <a:r>
              <a:t>Adaptive PINN Battery Digital Twin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10875" y="6553200"/>
            <a:ext cx="809625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8FA9BE"/>
                </a:solidFill>
                <a:latin typeface="Calibri"/>
              </a:defRPr>
            </a:pPr>
            <a:r>
              <a:t>25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400050"/>
            <a:ext cx="47625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 b="1">
                <a:solidFill>
                  <a:srgbClr val="028090"/>
                </a:solidFill>
                <a:latin typeface="Calibri"/>
              </a:defRPr>
            </a:pPr>
            <a:r>
              <a:t>PHASE II ·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2450" y="714375"/>
            <a:ext cx="10096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2325" b="1">
                <a:solidFill>
                  <a:srgbClr val="0B2545"/>
                </a:solidFill>
                <a:latin typeface="Cambria"/>
              </a:defRPr>
            </a:pPr>
            <a:r>
              <a:t>The selected configuration came from the complete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285875"/>
            <a:ext cx="10572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>
                <a:solidFill>
                  <a:srgbClr val="5B6B79"/>
                </a:solidFill>
                <a:latin typeface="Calibri"/>
              </a:defRPr>
            </a:pPr>
            <a:r>
              <a:t>Every requested combination ran across seeds 7, 17, and 27 before the final evidence pass.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91250" y="2000250"/>
            <a:ext cx="5457825" cy="2667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6496050" y="2238375"/>
            <a:ext cx="4095750" cy="228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 b="1">
                <a:solidFill>
                  <a:srgbClr val="00A896"/>
                </a:solidFill>
                <a:latin typeface="Calibri"/>
              </a:defRPr>
            </a:pPr>
            <a:r>
              <a:t>Selected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6050" y="2667000"/>
            <a:ext cx="4572000" cy="1333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mbria"/>
              </a:defRPr>
            </a:pPr>
            <a:r>
              <a:t>Hidden size  64</a:t>
            </a:r>
          </a:p>
          <a:p>
            <a:pPr>
              <a:defRPr sz="1800" b="1">
                <a:solidFill>
                  <a:srgbClr val="FFFFFF"/>
                </a:solidFill>
                <a:latin typeface="Cambria"/>
              </a:defRPr>
            </a:pPr>
            <a:r>
              <a:t>Learning rate  0.001</a:t>
            </a:r>
          </a:p>
          <a:p>
            <a:pPr>
              <a:defRPr sz="1800" b="1">
                <a:solidFill>
                  <a:srgbClr val="FFFFFF"/>
                </a:solidFill>
                <a:latin typeface="Cambria"/>
              </a:defRPr>
            </a:pPr>
            <a:r>
              <a:t>Physics weight  0.1</a:t>
            </a:r>
          </a:p>
          <a:p>
            <a:pPr>
              <a:defRPr sz="1800" b="1">
                <a:solidFill>
                  <a:srgbClr val="FFFFFF"/>
                </a:solidFill>
                <a:latin typeface="Cambria"/>
              </a:defRPr>
            </a:pPr>
            <a:r>
              <a:t>Replay size  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6050" y="4191000"/>
            <a:ext cx="4572000" cy="3238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050">
                <a:solidFill>
                  <a:srgbClr val="C7D8E5"/>
                </a:solidFill>
                <a:latin typeface="Calibri"/>
              </a:defRPr>
            </a:pPr>
            <a:r>
              <a:t>The final evidence runner then used the selected configuration on the full default cycle-window representation.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5143500"/>
            <a:ext cx="2381250" cy="66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0" name="TextBox 9"/>
          <p:cNvSpPr txBox="1"/>
          <p:nvPr/>
        </p:nvSpPr>
        <p:spPr>
          <a:xfrm>
            <a:off x="704850" y="5257800"/>
            <a:ext cx="2076450" cy="152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GRID STATUS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850" y="5448300"/>
            <a:ext cx="2076450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650" b="1">
                <a:solidFill>
                  <a:srgbClr val="147D64"/>
                </a:solidFill>
                <a:latin typeface="Cambria"/>
              </a:defRPr>
            </a:pPr>
            <a:r>
              <a:t>54 / 54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3250" y="5143500"/>
            <a:ext cx="2190750" cy="66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3" name="TextBox 12"/>
          <p:cNvSpPr txBox="1"/>
          <p:nvPr/>
        </p:nvSpPr>
        <p:spPr>
          <a:xfrm>
            <a:off x="3295650" y="5257800"/>
            <a:ext cx="1885950" cy="152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MODEL 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5650" y="5448300"/>
            <a:ext cx="1885950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650" b="1">
                <a:solidFill>
                  <a:srgbClr val="028090"/>
                </a:solidFill>
                <a:latin typeface="Cambria"/>
              </a:defRPr>
            </a:pPr>
            <a:r>
              <a:t>5 comparisons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4500" y="5143500"/>
            <a:ext cx="2190750" cy="66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6" name="TextBox 15"/>
          <p:cNvSpPr txBox="1"/>
          <p:nvPr/>
        </p:nvSpPr>
        <p:spPr>
          <a:xfrm>
            <a:off x="5676900" y="5257800"/>
            <a:ext cx="1885950" cy="152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EVIDENCE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76900" y="5448300"/>
            <a:ext cx="1885950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650" b="1">
                <a:solidFill>
                  <a:srgbClr val="028090"/>
                </a:solidFill>
                <a:latin typeface="Cambria"/>
              </a:defRPr>
            </a:pPr>
            <a:r>
              <a:t>Held-out cell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0" y="5143500"/>
            <a:ext cx="2476500" cy="66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9" name="TextBox 18"/>
          <p:cNvSpPr txBox="1"/>
          <p:nvPr/>
        </p:nvSpPr>
        <p:spPr>
          <a:xfrm>
            <a:off x="8058150" y="5257800"/>
            <a:ext cx="2171700" cy="152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750" b="1">
                <a:solidFill>
                  <a:srgbClr val="028090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58150" y="5448300"/>
            <a:ext cx="2171700" cy="2476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650" b="1">
                <a:solidFill>
                  <a:srgbClr val="028090"/>
                </a:solidFill>
                <a:latin typeface="Cambria"/>
              </a:defRPr>
            </a:pPr>
            <a:r>
              <a:t>JSON + CSV + PNG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" y="6553200"/>
            <a:ext cx="342900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Adaptive PINN Battery Digital Twin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10875" y="6553200"/>
            <a:ext cx="809625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400050"/>
            <a:ext cx="47625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 b="1">
                <a:solidFill>
                  <a:srgbClr val="028090"/>
                </a:solidFill>
                <a:latin typeface="Calibri"/>
              </a:defRPr>
            </a:pPr>
            <a:r>
              <a:t>PHASE II · 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2450" y="714375"/>
            <a:ext cx="10096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2325" b="1">
                <a:solidFill>
                  <a:srgbClr val="0B2545"/>
                </a:solidFill>
                <a:latin typeface="Cambria"/>
              </a:defRPr>
            </a:pPr>
            <a:r>
              <a:t>The standalone PINN led frozen SOH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285875"/>
            <a:ext cx="10572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>
                <a:solidFill>
                  <a:srgbClr val="5B6B79"/>
                </a:solidFill>
                <a:latin typeface="Calibri"/>
              </a:defRPr>
            </a:pPr>
            <a:r>
              <a:t>All model rows use the same B0018 held-out evaluation protocol and four training epochs.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5000625"/>
            <a:ext cx="5334000" cy="76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781050" y="5191125"/>
            <a:ext cx="171450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050" b="1">
                <a:solidFill>
                  <a:srgbClr val="00A896"/>
                </a:solidFill>
                <a:latin typeface="Calibri"/>
              </a:defRPr>
            </a:pPr>
            <a:r>
              <a:t>Adaptive twin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5429250"/>
            <a:ext cx="4762500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275" b="1">
                <a:solidFill>
                  <a:srgbClr val="FFFFFF"/>
                </a:solidFill>
                <a:latin typeface="Calibri"/>
              </a:defRPr>
            </a:pPr>
            <a:r>
              <a:t>10.05 ± 1.46 SOH MAE  ·  38.36 ± 3.39 RUL MAE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5000625"/>
            <a:ext cx="5457825" cy="762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9" name="TextBox 8"/>
          <p:cNvSpPr txBox="1"/>
          <p:nvPr/>
        </p:nvSpPr>
        <p:spPr>
          <a:xfrm>
            <a:off x="6429375" y="5191125"/>
            <a:ext cx="200025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050" b="1">
                <a:solidFill>
                  <a:srgbClr val="028090"/>
                </a:solidFill>
                <a:latin typeface="Calibri"/>
              </a:defRPr>
            </a:pPr>
            <a:r>
              <a:t>Best frozen SOH row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9375" y="5429250"/>
            <a:ext cx="4572000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275" b="1">
                <a:solidFill>
                  <a:srgbClr val="0B2545"/>
                </a:solidFill>
                <a:latin typeface="Calibri"/>
              </a:defRPr>
            </a:pPr>
            <a:r>
              <a:t>PINN: 7.76 ± 1.42 SOH 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2450" y="6553200"/>
            <a:ext cx="342900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Adaptive PINN Battery Digital Twin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10875" y="6553200"/>
            <a:ext cx="809625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400050"/>
            <a:ext cx="47625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 b="1">
                <a:solidFill>
                  <a:srgbClr val="028090"/>
                </a:solidFill>
                <a:latin typeface="Calibri"/>
              </a:defRPr>
            </a:pPr>
            <a:r>
              <a:t>PHASE II · FINAL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2450" y="714375"/>
            <a:ext cx="10096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2325" b="1">
                <a:solidFill>
                  <a:srgbClr val="0B2545"/>
                </a:solidFill>
                <a:latin typeface="Cambria"/>
              </a:defRPr>
            </a:pPr>
            <a:r>
              <a:t>Measured model comparison under the held-out-cell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285875"/>
            <a:ext cx="10572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>
                <a:solidFill>
                  <a:srgbClr val="5B6B79"/>
                </a:solidFill>
                <a:latin typeface="Calibri"/>
              </a:defRPr>
            </a:pPr>
            <a:r>
              <a:t>Mean ± standard deviation over seeds 7, 17, and 27; B0005/B0006/B0007 train and B0018 held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5095875"/>
            <a:ext cx="11096625" cy="666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781050" y="5276850"/>
            <a:ext cx="114300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050" b="1">
                <a:solidFill>
                  <a:srgbClr val="00A896"/>
                </a:solidFill>
                <a:latin typeface="Calibri"/>
              </a:defRPr>
            </a:pPr>
            <a:r>
              <a:t>Readout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5248275"/>
            <a:ext cx="9334500" cy="2857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050">
                <a:solidFill>
                  <a:srgbClr val="FFFFFF"/>
                </a:solidFill>
                <a:latin typeface="Calibri"/>
              </a:defRPr>
            </a:pPr>
            <a:r>
              <a:t>Standalone PINN has the lowest mean frozen SOH MAE (7.76 ± 1.42). The adaptive twin’s value is the later-stream improvement and low update cost, not a claim of the best frozen-cell score.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6553200"/>
            <a:ext cx="342900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Adaptive PINN Battery Digital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10875" y="6553200"/>
            <a:ext cx="809625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29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400050"/>
            <a:ext cx="47625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 b="1">
                <a:solidFill>
                  <a:srgbClr val="00A896"/>
                </a:solidFill>
                <a:latin typeface="Calibri"/>
              </a:defRPr>
            </a:pPr>
            <a:r>
              <a:t>PHASE II · FINAL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2450" y="714375"/>
            <a:ext cx="10096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2325" b="1">
                <a:solidFill>
                  <a:srgbClr val="FFFFFF"/>
                </a:solidFill>
                <a:latin typeface="Cambria"/>
              </a:defRPr>
            </a:pPr>
            <a:r>
              <a:t>A tested adaptive POC with a clear next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285875"/>
            <a:ext cx="10572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>
                <a:solidFill>
                  <a:srgbClr val="C7D8E5"/>
                </a:solidFill>
                <a:latin typeface="Calibri"/>
              </a:defRPr>
            </a:pPr>
            <a:r>
              <a:t>The strongest evidence is the low-cost online update. The main limitation is the small four-cell dataset.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2047875"/>
            <a:ext cx="4953000" cy="2381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838200" y="2305050"/>
            <a:ext cx="3619500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200" b="1">
                <a:solidFill>
                  <a:srgbClr val="00A896"/>
                </a:solidFill>
                <a:latin typeface="Calibri"/>
              </a:defRPr>
            </a:pPr>
            <a:r>
              <a:t>What the run supports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762250"/>
            <a:ext cx="228600" cy="228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8" name="TextBox 7"/>
          <p:cNvSpPr txBox="1"/>
          <p:nvPr/>
        </p:nvSpPr>
        <p:spPr>
          <a:xfrm>
            <a:off x="904875" y="2781300"/>
            <a:ext cx="133350" cy="152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2743200"/>
            <a:ext cx="3714750" cy="228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275" b="1">
                <a:solidFill>
                  <a:srgbClr val="FFFFFF"/>
                </a:solidFill>
                <a:latin typeface="Calibri"/>
              </a:defRPr>
            </a:pPr>
            <a:r>
              <a:t>Adaptation benefit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009900"/>
            <a:ext cx="3714750" cy="45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050">
                <a:solidFill>
                  <a:srgbClr val="C7D8E5"/>
                </a:solidFill>
                <a:latin typeface="Calibri"/>
              </a:defRPr>
            </a:pPr>
            <a:r>
              <a:t>80.63% lower post-shift SOH MAE than frozen.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524250"/>
            <a:ext cx="228600" cy="228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2" name="TextBox 11"/>
          <p:cNvSpPr txBox="1"/>
          <p:nvPr/>
        </p:nvSpPr>
        <p:spPr>
          <a:xfrm>
            <a:off x="904875" y="3543300"/>
            <a:ext cx="133350" cy="1524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3505200"/>
            <a:ext cx="3714750" cy="2286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275" b="1">
                <a:solidFill>
                  <a:srgbClr val="FFFFFF"/>
                </a:solidFill>
                <a:latin typeface="Calibri"/>
              </a:defRPr>
            </a:pPr>
            <a:r>
              <a:t>Low update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19200" y="3771900"/>
            <a:ext cx="3714750" cy="457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050">
                <a:solidFill>
                  <a:srgbClr val="C7D8E5"/>
                </a:solidFill>
                <a:latin typeface="Calibri"/>
              </a:defRPr>
            </a:pPr>
            <a:r>
              <a:t>8.75% of full-retraining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48375" y="2047875"/>
            <a:ext cx="5600700" cy="2381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6" name="TextBox 15"/>
          <p:cNvSpPr txBox="1"/>
          <p:nvPr/>
        </p:nvSpPr>
        <p:spPr>
          <a:xfrm>
            <a:off x="6334125" y="2305050"/>
            <a:ext cx="4286250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What the run does not prove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4125" y="2781300"/>
            <a:ext cx="4762500" cy="1143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275">
                <a:solidFill>
                  <a:srgbClr val="0B2545"/>
                </a:solidFill>
                <a:latin typeface="Calibri"/>
              </a:defRPr>
            </a:pPr>
            <a:r>
              <a:t>• Universal chemistry or temperature generalization</a:t>
            </a:r>
          </a:p>
          <a:p>
            <a:pPr>
              <a:defRPr sz="1275">
                <a:solidFill>
                  <a:srgbClr val="0B2545"/>
                </a:solidFill>
                <a:latin typeface="Calibri"/>
              </a:defRPr>
            </a:pPr>
            <a:r>
              <a:t>• Perfect monotonic degradation behavior</a:t>
            </a:r>
          </a:p>
          <a:p>
            <a:pPr>
              <a:defRPr sz="1275">
                <a:solidFill>
                  <a:srgbClr val="0B2545"/>
                </a:solidFill>
                <a:latin typeface="Calibri"/>
              </a:defRPr>
            </a:pPr>
            <a:r>
              <a:t>• SEI-PDE validity without additional variables</a:t>
            </a:r>
          </a:p>
          <a:p>
            <a:pPr>
              <a:defRPr sz="1275">
                <a:solidFill>
                  <a:srgbClr val="0B2545"/>
                </a:solidFill>
                <a:latin typeface="Calibri"/>
              </a:defRPr>
            </a:pPr>
            <a:r>
              <a:t>• A direct numerical ranking against the four papers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2450" y="4953000"/>
            <a:ext cx="11096625" cy="6858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9" name="TextBox 18"/>
          <p:cNvSpPr txBox="1"/>
          <p:nvPr/>
        </p:nvSpPr>
        <p:spPr>
          <a:xfrm>
            <a:off x="800100" y="5143500"/>
            <a:ext cx="161925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050" b="1">
                <a:solidFill>
                  <a:srgbClr val="00A896"/>
                </a:solidFill>
                <a:latin typeface="Calibri"/>
              </a:defRPr>
            </a:pPr>
            <a:r>
              <a:t>Next experiment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76500" y="5143500"/>
            <a:ext cx="8572500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Calibrate physics weights, add longer training, and repeat leave-one-cell-out validation before making a broader scientific claim.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450" y="6553200"/>
            <a:ext cx="342900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8FA9BE"/>
                </a:solidFill>
                <a:latin typeface="Calibri"/>
              </a:defRPr>
            </a:pPr>
            <a:r>
              <a:t>Adaptive PINN Battery Digital Twin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10875" y="6553200"/>
            <a:ext cx="809625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8FA9BE"/>
                </a:solidFill>
                <a:latin typeface="Calibri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52450" y="400050"/>
            <a:ext cx="4762500" cy="1905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 b="1">
                <a:solidFill>
                  <a:srgbClr val="028090"/>
                </a:solidFill>
                <a:latin typeface="Calibri"/>
              </a:defRPr>
            </a:pPr>
            <a:r>
              <a:t>PHASE II ·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52450" y="714375"/>
            <a:ext cx="10096500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2325" b="1">
                <a:solidFill>
                  <a:srgbClr val="0B2545"/>
                </a:solidFill>
                <a:latin typeface="Cambria"/>
              </a:defRPr>
            </a:pPr>
            <a:r>
              <a:t>Adaptation targets, ablations, and robustness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2450" y="1285875"/>
            <a:ext cx="1057275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125">
                <a:solidFill>
                  <a:srgbClr val="5B6B79"/>
                </a:solidFill>
                <a:latin typeface="Calibri"/>
              </a:defRPr>
            </a:pPr>
            <a:r>
              <a:t>All required experiment families were executed; the acceptance table is the direct proof-of-concept decision record.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0" y="4333875"/>
            <a:ext cx="11096625" cy="8953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6" name="TextBox 5"/>
          <p:cNvSpPr txBox="1"/>
          <p:nvPr/>
        </p:nvSpPr>
        <p:spPr>
          <a:xfrm>
            <a:off x="781050" y="4524375"/>
            <a:ext cx="2476500" cy="1809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1050" b="1">
                <a:solidFill>
                  <a:srgbClr val="00A896"/>
                </a:solidFill>
                <a:latin typeface="Calibri"/>
              </a:defRPr>
            </a:pPr>
            <a:r>
              <a:t>Ablation post-shift SOH MAE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1050" y="4857750"/>
            <a:ext cx="10334625" cy="2095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75">
                <a:solidFill>
                  <a:srgbClr val="FFFFFF"/>
                </a:solidFill>
                <a:latin typeface="Calibri"/>
              </a:defRPr>
            </a:pPr>
            <a:r>
              <a:t>Proposed 0.82  ·  No physics 1.23  ·  No Transformer 4.09  ·  No replay 3.97  ·  No drift detector 1.59  ·  Full retraining 1.58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2450" y="5524500"/>
            <a:ext cx="11096625" cy="2667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900">
                <a:solidFill>
                  <a:srgbClr val="5B6B79"/>
                </a:solidFill>
                <a:latin typeface="Calibri"/>
              </a:defRPr>
            </a:pPr>
            <a:r>
              <a:t>Physical checks: SOH bounds 0.00% · negative RUL 0.00% · capacity-curve residual 0.00573 ± 0.00009 · *negative forgetting means prior-domain MAE improved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2450" y="6553200"/>
            <a:ext cx="3429000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Adaptive PINN Battery Digital Twin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10875" y="6553200"/>
            <a:ext cx="809625" cy="1714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 sz="825">
                <a:solidFill>
                  <a:srgbClr val="5B6B79"/>
                </a:solidFill>
                <a:latin typeface="Calibri"/>
              </a:defRPr>
            </a:pPr>
            <a:r>
              <a:t>30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Project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55648"/>
            <a:ext cx="164592" cy="1645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Proposed an Adaptive Physics-Informed Battery Digital Twin for accurate SOH and RUL estimation.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41448"/>
            <a:ext cx="164592" cy="1645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Integrated Transformer Encoder, PINN and Feedforward DNN to combine data-driven learning with battery physics.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27248"/>
            <a:ext cx="164592" cy="1645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Introduced incremental adaptive learning to keep the Digital Twin current without full model retraining.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13048"/>
            <a:ext cx="164592" cy="16459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090879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Overcomes key limits of pure deep-learning and pure physics-based models with real-time, physically consistent predictions.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74552" cy="77724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/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72591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Potential impact:  Electric Vehicles, Battery Management Systems, Renewable Energy Storage, Smart Grids, Drones and Consumer Electronics.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Adaptive PINN Battery Digital Twin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t>10 / 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t>Adaptive PINN Battery Digital Twin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t>9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