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6969ae321748e4" /><Relationship Type="http://schemas.openxmlformats.org/officeDocument/2006/relationships/extended-properties" Target="/docProps/app.xml" Id="R660e15538eb04649" /><Relationship Type="http://schemas.openxmlformats.org/officeDocument/2006/relationships/officeDocument" Target="/ppt/presentation.xml" Id="Rfc07e9d147c443af" /></Relationships>
</file>

<file path=ppt/presentation.xml><?xml version="1.0" encoding="utf-8"?>
<p:presentation xmlns:p="http://schemas.openxmlformats.org/presentationml/2006/main">
  <p:sldMasterIdLst>
    <p:sldMasterId xmlns:r="http://schemas.openxmlformats.org/officeDocument/2006/relationships" id="2147483648" r:id="Raef1d209348d429f"/>
  </p:sldMasterIdLst>
  <p:notesMasterIdLst>
    <p:notesMasterId xmlns:r="http://schemas.openxmlformats.org/officeDocument/2006/relationships" r:id="Ra28725288b504db4"/>
  </p:notesMasterIdLst>
  <p:sldIdLst>
    <p:sldId xmlns:r="http://schemas.openxmlformats.org/officeDocument/2006/relationships" id="256" r:id="Re98f6b2e942d4ed6"/>
    <p:sldId xmlns:r="http://schemas.openxmlformats.org/officeDocument/2006/relationships" id="257" r:id="Rbe195e0509164673"/>
    <p:sldId xmlns:r="http://schemas.openxmlformats.org/officeDocument/2006/relationships" id="258" r:id="R64126ad20a0b432d"/>
    <p:sldId xmlns:r="http://schemas.openxmlformats.org/officeDocument/2006/relationships" id="259" r:id="Ref47ef2737b742ae"/>
    <p:sldId xmlns:r="http://schemas.openxmlformats.org/officeDocument/2006/relationships" id="260" r:id="Rfbbceae5b0ff413b"/>
    <p:sldId xmlns:r="http://schemas.openxmlformats.org/officeDocument/2006/relationships" id="261" r:id="R369652991e484429"/>
    <p:sldId xmlns:r="http://schemas.openxmlformats.org/officeDocument/2006/relationships" id="262" r:id="R77936759c91a43ec"/>
    <p:sldId xmlns:r="http://schemas.openxmlformats.org/officeDocument/2006/relationships" id="263" r:id="Raaa6fd0076284fa7"/>
    <p:sldId xmlns:r="http://schemas.openxmlformats.org/officeDocument/2006/relationships" id="264" r:id="R12395aa2cc3d4800"/>
    <p:sldId xmlns:r="http://schemas.openxmlformats.org/officeDocument/2006/relationships" id="265" r:id="R0f38f9f93d0a4d4d"/>
    <p:sldId xmlns:r="http://schemas.openxmlformats.org/officeDocument/2006/relationships" id="266" r:id="Rcebdfbcbd69d419d"/>
    <p:sldId xmlns:r="http://schemas.openxmlformats.org/officeDocument/2006/relationships" id="267" r:id="Rdb2980996a8d4b87"/>
    <p:sldId xmlns:r="http://schemas.openxmlformats.org/officeDocument/2006/relationships" id="268" r:id="R14a8ec006ea44d87"/>
    <p:sldId xmlns:r="http://schemas.openxmlformats.org/officeDocument/2006/relationships" id="269" r:id="R6677cff65031453f"/>
    <p:sldId xmlns:r="http://schemas.openxmlformats.org/officeDocument/2006/relationships" id="270" r:id="R4e0d88e494344449"/>
    <p:sldId xmlns:r="http://schemas.openxmlformats.org/officeDocument/2006/relationships" id="271" r:id="Rbbe6b462476e4545"/>
    <p:sldId xmlns:r="http://schemas.openxmlformats.org/officeDocument/2006/relationships" id="272" r:id="R5e499204c4164fe1"/>
    <p:sldId xmlns:r="http://schemas.openxmlformats.org/officeDocument/2006/relationships" id="273" r:id="R3c710610588b47c4"/>
    <p:sldId xmlns:r="http://schemas.openxmlformats.org/officeDocument/2006/relationships" id="274" r:id="R771b5f8629ed49fd"/>
    <p:sldId xmlns:r="http://schemas.openxmlformats.org/officeDocument/2006/relationships" id="275" r:id="Re2eff56ce0464e88"/>
    <p:sldId xmlns:r="http://schemas.openxmlformats.org/officeDocument/2006/relationships" id="276" r:id="Rbfb8e2e2d85c4a3a"/>
    <p:sldId xmlns:r="http://schemas.openxmlformats.org/officeDocument/2006/relationships" id="277" r:id="Rdec14064fa0247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8ea3c64f8144b46" /><Relationship Type="http://schemas.openxmlformats.org/officeDocument/2006/relationships/slideMaster" Target="/ppt/slideMasters/slideMaster1.xml" Id="Raef1d209348d429f" /><Relationship Type="http://schemas.openxmlformats.org/officeDocument/2006/relationships/notesMaster" Target="/ppt/notesMasters/notesMaster1.xml" Id="Ra28725288b504db4" /><Relationship Type="http://schemas.openxmlformats.org/officeDocument/2006/relationships/presProps" Target="/ppt/presProps.xml" Id="R85f73abff82e4713" /><Relationship Type="http://schemas.openxmlformats.org/officeDocument/2006/relationships/viewProps" Target="/ppt/viewProps.xml" Id="R6d8545db60684bd9" /><Relationship Type="http://schemas.openxmlformats.org/officeDocument/2006/relationships/tableStyles" Target="/ppt/tableStyles.xml" Id="R76759f1ce8174b04" /><Relationship Type="http://schemas.openxmlformats.org/officeDocument/2006/relationships/slide" Target="/ppt/slides/slide1.xml" Id="Re98f6b2e942d4ed6" /><Relationship Type="http://schemas.openxmlformats.org/officeDocument/2006/relationships/slide" Target="/ppt/slides/slide2.xml" Id="Rbe195e0509164673" /><Relationship Type="http://schemas.openxmlformats.org/officeDocument/2006/relationships/slide" Target="/ppt/slides/slide3.xml" Id="R64126ad20a0b432d" /><Relationship Type="http://schemas.openxmlformats.org/officeDocument/2006/relationships/slide" Target="/ppt/slides/slide4.xml" Id="Ref47ef2737b742ae" /><Relationship Type="http://schemas.openxmlformats.org/officeDocument/2006/relationships/slide" Target="/ppt/slides/slide5.xml" Id="Rfbbceae5b0ff413b" /><Relationship Type="http://schemas.openxmlformats.org/officeDocument/2006/relationships/slide" Target="/ppt/slides/slide6.xml" Id="R369652991e484429" /><Relationship Type="http://schemas.openxmlformats.org/officeDocument/2006/relationships/slide" Target="/ppt/slides/slide7.xml" Id="R77936759c91a43ec" /><Relationship Type="http://schemas.openxmlformats.org/officeDocument/2006/relationships/slide" Target="/ppt/slides/slide8.xml" Id="Raaa6fd0076284fa7" /><Relationship Type="http://schemas.openxmlformats.org/officeDocument/2006/relationships/slide" Target="/ppt/slides/slide9.xml" Id="R12395aa2cc3d4800" /><Relationship Type="http://schemas.openxmlformats.org/officeDocument/2006/relationships/slide" Target="/ppt/slides/slide10.xml" Id="R0f38f9f93d0a4d4d" /><Relationship Type="http://schemas.openxmlformats.org/officeDocument/2006/relationships/slide" Target="/ppt/slides/slide11.xml" Id="Rcebdfbcbd69d419d" /><Relationship Type="http://schemas.openxmlformats.org/officeDocument/2006/relationships/slide" Target="/ppt/slides/slide12.xml" Id="Rdb2980996a8d4b87" /><Relationship Type="http://schemas.openxmlformats.org/officeDocument/2006/relationships/slide" Target="/ppt/slides/slide13.xml" Id="R14a8ec006ea44d87" /><Relationship Type="http://schemas.openxmlformats.org/officeDocument/2006/relationships/slide" Target="/ppt/slides/slide14.xml" Id="R6677cff65031453f" /><Relationship Type="http://schemas.openxmlformats.org/officeDocument/2006/relationships/slide" Target="/ppt/slides/slide15.xml" Id="R4e0d88e494344449" /><Relationship Type="http://schemas.openxmlformats.org/officeDocument/2006/relationships/slide" Target="/ppt/slides/slide16.xml" Id="Rbbe6b462476e4545" /><Relationship Type="http://schemas.openxmlformats.org/officeDocument/2006/relationships/slide" Target="/ppt/slides/slide17.xml" Id="R5e499204c4164fe1" /><Relationship Type="http://schemas.openxmlformats.org/officeDocument/2006/relationships/slide" Target="/ppt/slides/slide18.xml" Id="R3c710610588b47c4" /><Relationship Type="http://schemas.openxmlformats.org/officeDocument/2006/relationships/slide" Target="/ppt/slides/slide19.xml" Id="R771b5f8629ed49fd" /><Relationship Type="http://schemas.openxmlformats.org/officeDocument/2006/relationships/slide" Target="/ppt/slides/slide20.xml" Id="Re2eff56ce0464e88" /><Relationship Type="http://schemas.openxmlformats.org/officeDocument/2006/relationships/slide" Target="/ppt/slides/slide21.xml" Id="Rbfb8e2e2d85c4a3a" /><Relationship Type="http://schemas.openxmlformats.org/officeDocument/2006/relationships/slide" Target="/ppt/slides/slide22.xml" Id="Rdec14064fa0247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07733f681a47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c42234267844a3" /><Relationship Type="http://schemas.openxmlformats.org/officeDocument/2006/relationships/notesMaster" Target="/ppt/notesMasters/notesMaster1.xml" Id="R51ce34c47ff74f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34daf6323d44f1" /><Relationship Type="http://schemas.openxmlformats.org/officeDocument/2006/relationships/notesMaster" Target="/ppt/notesMasters/notesMaster1.xml" Id="R3cb29b0fbe5c47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a5ca742f864950" /><Relationship Type="http://schemas.openxmlformats.org/officeDocument/2006/relationships/notesMaster" Target="/ppt/notesMasters/notesMaster1.xml" Id="R5e026d45eb6240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9f20a89d8b414e" /><Relationship Type="http://schemas.openxmlformats.org/officeDocument/2006/relationships/notesMaster" Target="/ppt/notesMasters/notesMaster1.xml" Id="Rb461480ee0504a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13873573b9434f" /><Relationship Type="http://schemas.openxmlformats.org/officeDocument/2006/relationships/notesMaster" Target="/ppt/notesMasters/notesMaster1.xml" Id="R12b31a25805145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3edb7e5066486a" /><Relationship Type="http://schemas.openxmlformats.org/officeDocument/2006/relationships/notesMaster" Target="/ppt/notesMasters/notesMaster1.xml" Id="Ra7c080a76e114b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c3fa1146a24eae" /><Relationship Type="http://schemas.openxmlformats.org/officeDocument/2006/relationships/notesMaster" Target="/ppt/notesMasters/notesMaster1.xml" Id="R52412159955f41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0b5cfefbcc4253" /><Relationship Type="http://schemas.openxmlformats.org/officeDocument/2006/relationships/notesMaster" Target="/ppt/notesMasters/notesMaster1.xml" Id="R79db590af85b49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a739c645464f41" /><Relationship Type="http://schemas.openxmlformats.org/officeDocument/2006/relationships/notesMaster" Target="/ppt/notesMasters/notesMaster1.xml" Id="R6412273ab3be48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54ad4725184c1b" /><Relationship Type="http://schemas.openxmlformats.org/officeDocument/2006/relationships/notesMaster" Target="/ppt/notesMasters/notesMaster1.xml" Id="R54c016ea682a42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62271666a54691" /><Relationship Type="http://schemas.openxmlformats.org/officeDocument/2006/relationships/notesMaster" Target="/ppt/notesMasters/notesMaster1.xml" Id="Ra63b57f4ab4e4b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c315aa0e8c446e" /><Relationship Type="http://schemas.openxmlformats.org/officeDocument/2006/relationships/notesMaster" Target="/ppt/notesMasters/notesMaster1.xml" Id="Rce355e93368c4d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f00ddb7ac44af4" /><Relationship Type="http://schemas.openxmlformats.org/officeDocument/2006/relationships/notesMaster" Target="/ppt/notesMasters/notesMaster1.xml" Id="Ra3bc91d70a3641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c7d947e7c34b01" /><Relationship Type="http://schemas.openxmlformats.org/officeDocument/2006/relationships/notesMaster" Target="/ppt/notesMasters/notesMaster1.xml" Id="Rec80a3f9db1b44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94041ccec74d12" /><Relationship Type="http://schemas.openxmlformats.org/officeDocument/2006/relationships/notesMaster" Target="/ppt/notesMasters/notesMaster1.xml" Id="R3094949887e14d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dcb14868794b64" /><Relationship Type="http://schemas.openxmlformats.org/officeDocument/2006/relationships/notesMaster" Target="/ppt/notesMasters/notesMaster1.xml" Id="Reb9489e1a2a24e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e093bc1fe342aa" /><Relationship Type="http://schemas.openxmlformats.org/officeDocument/2006/relationships/notesMaster" Target="/ppt/notesMasters/notesMaster1.xml" Id="R451f65fa96b74a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26f73484f44636" /><Relationship Type="http://schemas.openxmlformats.org/officeDocument/2006/relationships/notesMaster" Target="/ppt/notesMasters/notesMaster1.xml" Id="R0b4ab5d3187044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c211ae899b4d53" /><Relationship Type="http://schemas.openxmlformats.org/officeDocument/2006/relationships/notesMaster" Target="/ppt/notesMasters/notesMaster1.xml" Id="R80eab7cf52dd4c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ae13a22cf94d15" /><Relationship Type="http://schemas.openxmlformats.org/officeDocument/2006/relationships/notesMaster" Target="/ppt/notesMasters/notesMaster1.xml" Id="Rbdeefef6f6cd42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71a2f8ab7a46f9" /><Relationship Type="http://schemas.openxmlformats.org/officeDocument/2006/relationships/notesMaster" Target="/ppt/notesMasters/notesMaster1.xml" Id="R0b4358cd06c740e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52bf54466c4329" /><Relationship Type="http://schemas.openxmlformats.org/officeDocument/2006/relationships/notesMaster" Target="/ppt/notesMasters/notesMaster1.xml" Id="Re436041ef45a4e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II section appended to the supplied deck. Evidence source: D:/DL/battery_twin/outputs/final_evidence_v2/evidence_results.json.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implementation files: D:/DL/battery_twin/src/battery_twin and D:/DL/battery_twin/scripts. The source audit in the HTML report distinguishes proposal claims, literature evidence, and new student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source: https://www.nasa.gov/intelligent-systems-division/discovery-and-systems-health/pcoe/pcoe-data-set-repository/. Local audit and labels are implemented in data.py and features.py. The 636-cycle count is the parser audit across the four selected NASA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models.py, physics.py, training.py. The methodology review and EM-PINN paper inform the physics discussion, but the student POC does not claim to reproduce the SEI-PDE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Tuning source: D:/DL/battery_twin/outputs/tuning/grid.json. The grid JSON records combinations_requested = 54, combinations_run = 54, and seeds = [7, 17,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source: D:/DL/battery_twin/outputs/final_evidence_v2/evidence_results.json and final_summary.csv. Paper metrics are not numerically ranked against this table because datasets, splits, labels, and metric scales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source: evidence_results.json and ablation_summary.csv. Negative forgetting means the initial-domain SOH MAE improved after adaptation. Full retraining is the cost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Robustness and physical-validity source: evidence_results.json. The monotonic rates are diagnostics because real cells can show local capacity regeneration. Capacity-curve residual is the first-stage data-supported residual, not an SEI-PDE residual.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Faculty rubric source: D:/DL/RUBRICS FOR COURSE BASED DESIGN PROJECT - FALL 26-27.pdf and the supplied Phase II screenshots. The actual recording must be made and uploaded by the student; this slide and video_reflection_script.md prepare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reflection: AI helped translate the proposal and rubric into code, tests, and evidence tables. Human scientific judgment kept unsupported SEI-PDE claims out of the first NASA implementation. Manual video recording remains the only presentation step not automated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faculty submission, replace PASTE VIDEO URL HERE with the actual Moodle, Stream, Drive, or other approved video URL. The user did not provide a video URL in the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0f160b0c98453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1eb80a765f41ac" /><Relationship Type="http://schemas.openxmlformats.org/officeDocument/2006/relationships/slideLayout" Target="/ppt/slideLayouts/slideLayout1.xml" Id="Re94f0b636cbd432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4f0b636cbd432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83f13e1423440e" /><Relationship Type="http://schemas.openxmlformats.org/officeDocument/2006/relationships/notesSlide" Target="/ppt/notesSlides/notesSlide1.xml" Id="R788b4acb2ccb46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dd6a5031414b6e" /><Relationship Type="http://schemas.openxmlformats.org/officeDocument/2006/relationships/notesSlide" Target="/ppt/notesSlides/notesSlide2.xml" Id="R120ec6e02cf441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9a95e2d7d8e4eb4" /><Relationship Type="http://schemas.openxmlformats.org/officeDocument/2006/relationships/notesSlide" Target="/ppt/notesSlides/notesSlide3.xml" Id="R9e0e7627f01948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f593b580584e0a" /><Relationship Type="http://schemas.openxmlformats.org/officeDocument/2006/relationships/notesSlide" Target="/ppt/notesSlides/notesSlide4.xml" Id="R69988d4def2343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06fac0010a4ad0" /><Relationship Type="http://schemas.openxmlformats.org/officeDocument/2006/relationships/notesSlide" Target="/ppt/notesSlides/notesSlide5.xml" Id="R730137f23bfc44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a8a51de1f842f7" /><Relationship Type="http://schemas.openxmlformats.org/officeDocument/2006/relationships/notesSlide" Target="/ppt/notesSlides/notesSlide6.xml" Id="R28657d53baa948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68cd0c71964737" /><Relationship Type="http://schemas.openxmlformats.org/officeDocument/2006/relationships/notesSlide" Target="/ppt/notesSlides/notesSlide7.xml" Id="Rd1aa6fdf594742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5391fcd494484e" /><Relationship Type="http://schemas.openxmlformats.org/officeDocument/2006/relationships/notesSlide" Target="/ppt/notesSlides/notesSlide8.xml" Id="Rdd8bc75a616e45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d8a7f5fce84811" /><Relationship Type="http://schemas.openxmlformats.org/officeDocument/2006/relationships/notesSlide" Target="/ppt/notesSlides/notesSlide9.xml" Id="R1a5d3bd8fc334e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40808e03924049" /><Relationship Type="http://schemas.openxmlformats.org/officeDocument/2006/relationships/notesSlide" Target="/ppt/notesSlides/notesSlide10.xml" Id="R13414717a5ed48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2dbe409fc649ab" /><Relationship Type="http://schemas.openxmlformats.org/officeDocument/2006/relationships/hyperlink" Target="https://www.sciencedirect.com/science/article/pii/S1364032126005253" TargetMode="External" Id="R1e999a0ad3e84c03" /><Relationship Type="http://schemas.openxmlformats.org/officeDocument/2006/relationships/hyperlink" Target="https://www.sciencedirect.com/science/article/pii/S0306261925011572" TargetMode="External" Id="R5eef0ec8b21440ad" /><Relationship Type="http://schemas.openxmlformats.org/officeDocument/2006/relationships/hyperlink" Target="https://www.sciencedirect.com/science/article/pii/S0360544225053964" TargetMode="External" Id="Re4dce5fe7bd94ffe" /><Relationship Type="http://schemas.openxmlformats.org/officeDocument/2006/relationships/hyperlink" Target="https://www.researchgate.net/publication/399255851_A_cycle-aware_and_physics-informed_framework_for_battery_remaining_useful_life_prediction" TargetMode="External" Id="R745220c0baa34ef5" /><Relationship Type="http://schemas.openxmlformats.org/officeDocument/2006/relationships/hyperlink" Target="https://www.researchgate.net/publication/398786756_Physics-informed_neural_network_and_momentum_contrastive_learning_for_battery_state_of_health_estimation" TargetMode="External" Id="Re7ac09e1c86246da" /><Relationship Type="http://schemas.openxmlformats.org/officeDocument/2006/relationships/notesSlide" Target="/ppt/notesSlides/notesSlide11.xml" Id="Re4e85b3f66bc4c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09eeb45e234ad8" /><Relationship Type="http://schemas.openxmlformats.org/officeDocument/2006/relationships/notesSlide" Target="/ppt/notesSlides/notesSlide12.xml" Id="R7f526a2281074d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e5b693773246c4" /><Relationship Type="http://schemas.openxmlformats.org/officeDocument/2006/relationships/notesSlide" Target="/ppt/notesSlides/notesSlide13.xml" Id="R7bb1f081c48741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2363ce86c174ad3" /><Relationship Type="http://schemas.openxmlformats.org/officeDocument/2006/relationships/notesSlide" Target="/ppt/notesSlides/notesSlide14.xml" Id="R407419f2c98b49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66b8adf8464ec7" /><Relationship Type="http://schemas.openxmlformats.org/officeDocument/2006/relationships/notesSlide" Target="/ppt/notesSlides/notesSlide15.xml" Id="R33a4a51bd35342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c469e5245e24eb7" /><Relationship Type="http://schemas.openxmlformats.org/officeDocument/2006/relationships/notesSlide" Target="/ppt/notesSlides/notesSlide16.xml" Id="R347e15847fde46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e00b5ce11814d53" /><Relationship Type="http://schemas.openxmlformats.org/officeDocument/2006/relationships/notesSlide" Target="/ppt/notesSlides/notesSlide17.xml" Id="Rd4b3c4beb80d46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e5eda14da56475c" /><Relationship Type="http://schemas.openxmlformats.org/officeDocument/2006/relationships/notesSlide" Target="/ppt/notesSlides/notesSlide18.xml" Id="R943f8cb7d05c4b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a0b7443cc1475e" /><Relationship Type="http://schemas.openxmlformats.org/officeDocument/2006/relationships/notesSlide" Target="/ppt/notesSlides/notesSlide19.xml" Id="R12e33daebc7548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7eb7eac0f324999" /><Relationship Type="http://schemas.openxmlformats.org/officeDocument/2006/relationships/notesSlide" Target="/ppt/notesSlides/notesSlide20.xml" Id="R8cc5d6c8045e457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b8b4b1044674226" /><Relationship Type="http://schemas.openxmlformats.org/officeDocument/2006/relationships/notesSlide" Target="/ppt/notesSlides/notesSlide21.xml" Id="Rd58e899efdff49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d41a579d6034a98" /><Relationship Type="http://schemas.openxmlformats.org/officeDocument/2006/relationships/notesSlide" Target="/ppt/notesSlides/notesSlide22.xml" Id="Rbfa0d7018bbb435e" /></Relationships>
</file>

<file path=ppt/slides/slide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7EFB77E-F176-4EE3-AB0D-E3CB2FAAC2C2}"/>
              </a:ext>
            </a:extLst>
          </p:cNvPr>
          <p:cNvSpPr>
            <a:spLocks xmlns:a="http://schemas.openxmlformats.org/drawingml/2006/main" noGrp="1"/>
          </p:cNvSpPr>
          <p:nvPr/>
        </p:nvSpPr>
        <p:spPr>
          <a:xfrm xmlns:a="http://schemas.openxmlformats.org/drawingml/2006/main">
            <a:off x="8138160" y="0"/>
            <a:ext cx="4050792" cy="6858000"/>
          </a:xfrm>
          <a:prstGeom xmlns:a="http://schemas.openxmlformats.org/drawingml/2006/main" prst="rect">
            <a:avLst/>
          </a:prstGeom>
          <a:solidFill xmlns:a="http://schemas.openxmlformats.org/drawingml/2006/main">
            <a:srgbClr val="13355E"/>
          </a:solidFill>
        </p:spPr>
      </p:sp>
      <p:sp>
        <p:nvSpPr>
          <p:cNvPr id="3" name="Shape 1">
            <a:extLst xmlns:a="http://schemas.openxmlformats.org/drawingml/2006/main">
              <a:ext uri="{FF2B5EF4-FFF2-40B4-BE49-F238E27FC236}">
                <a16:creationId xmlns:a16="http://schemas.microsoft.com/office/drawing/2014/main" id="{CCD948C9-E5F5-4882-8CBA-2880361FEAC3}"/>
              </a:ext>
            </a:extLst>
          </p:cNvPr>
          <p:cNvSpPr>
            <a:spLocks xmlns:a="http://schemas.openxmlformats.org/drawingml/2006/main" noGrp="1"/>
          </p:cNvSpPr>
          <p:nvPr/>
        </p:nvSpPr>
        <p:spPr>
          <a:xfrm xmlns:a="http://schemas.openxmlformats.org/drawingml/2006/main">
            <a:off x="8485632"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4" name="Shape 2">
            <a:extLst xmlns:a="http://schemas.openxmlformats.org/drawingml/2006/main">
              <a:ext uri="{FF2B5EF4-FFF2-40B4-BE49-F238E27FC236}">
                <a16:creationId xmlns:a16="http://schemas.microsoft.com/office/drawing/2014/main" id="{28B53AF0-15DB-43EE-8EF3-280BBDCB874A}"/>
              </a:ext>
            </a:extLst>
          </p:cNvPr>
          <p:cNvSpPr>
            <a:spLocks xmlns:a="http://schemas.openxmlformats.org/drawingml/2006/main" noGrp="1"/>
          </p:cNvSpPr>
          <p:nvPr/>
        </p:nvSpPr>
        <p:spPr>
          <a:xfrm xmlns:a="http://schemas.openxmlformats.org/drawingml/2006/main">
            <a:off x="8558784" y="4315968"/>
            <a:ext cx="512064" cy="1627632"/>
          </a:xfrm>
          <a:prstGeom xmlns:a="http://schemas.openxmlformats.org/drawingml/2006/main" prst="roundRect">
            <a:avLst>
              <a:gd name="adj" fmla="val 10714"/>
            </a:avLst>
          </a:prstGeom>
          <a:solidFill xmlns:a="http://schemas.openxmlformats.org/drawingml/2006/main">
            <a:srgbClr val="00A896"/>
          </a:solidFill>
        </p:spPr>
      </p:sp>
      <p:sp>
        <p:nvSpPr>
          <p:cNvPr id="5" name="Shape 3">
            <a:extLst xmlns:a="http://schemas.openxmlformats.org/drawingml/2006/main">
              <a:ext uri="{FF2B5EF4-FFF2-40B4-BE49-F238E27FC236}">
                <a16:creationId xmlns:a16="http://schemas.microsoft.com/office/drawing/2014/main" id="{75CE7D78-17F0-4E89-9FCE-4E1A6180128D}"/>
              </a:ext>
            </a:extLst>
          </p:cNvPr>
          <p:cNvSpPr>
            <a:spLocks xmlns:a="http://schemas.openxmlformats.org/drawingml/2006/main" noGrp="1"/>
          </p:cNvSpPr>
          <p:nvPr/>
        </p:nvSpPr>
        <p:spPr>
          <a:xfrm xmlns:a="http://schemas.openxmlformats.org/drawingml/2006/main">
            <a:off x="9345168"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6" name="Shape 4">
            <a:extLst xmlns:a="http://schemas.openxmlformats.org/drawingml/2006/main">
              <a:ext uri="{FF2B5EF4-FFF2-40B4-BE49-F238E27FC236}">
                <a16:creationId xmlns:a16="http://schemas.microsoft.com/office/drawing/2014/main" id="{5FF26CB1-54D6-472D-ACF5-DF65556C414B}"/>
              </a:ext>
            </a:extLst>
          </p:cNvPr>
          <p:cNvSpPr>
            <a:spLocks xmlns:a="http://schemas.openxmlformats.org/drawingml/2006/main" noGrp="1"/>
          </p:cNvSpPr>
          <p:nvPr/>
        </p:nvSpPr>
        <p:spPr>
          <a:xfrm xmlns:a="http://schemas.openxmlformats.org/drawingml/2006/main">
            <a:off x="9418320" y="4133088"/>
            <a:ext cx="512064" cy="1810512"/>
          </a:xfrm>
          <a:prstGeom xmlns:a="http://schemas.openxmlformats.org/drawingml/2006/main" prst="roundRect">
            <a:avLst>
              <a:gd name="adj" fmla="val 10714"/>
            </a:avLst>
          </a:prstGeom>
          <a:solidFill xmlns:a="http://schemas.openxmlformats.org/drawingml/2006/main">
            <a:srgbClr val="00A896"/>
          </a:solidFill>
        </p:spPr>
      </p:sp>
      <p:sp>
        <p:nvSpPr>
          <p:cNvPr id="7" name="Shape 5">
            <a:extLst xmlns:a="http://schemas.openxmlformats.org/drawingml/2006/main">
              <a:ext uri="{FF2B5EF4-FFF2-40B4-BE49-F238E27FC236}">
                <a16:creationId xmlns:a16="http://schemas.microsoft.com/office/drawing/2014/main" id="{4ED54EE5-DCE6-4BDB-A98D-FF2AB10517AC}"/>
              </a:ext>
            </a:extLst>
          </p:cNvPr>
          <p:cNvSpPr>
            <a:spLocks xmlns:a="http://schemas.openxmlformats.org/drawingml/2006/main" noGrp="1"/>
          </p:cNvSpPr>
          <p:nvPr/>
        </p:nvSpPr>
        <p:spPr>
          <a:xfrm xmlns:a="http://schemas.openxmlformats.org/drawingml/2006/main">
            <a:off x="10204704"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8" name="Shape 6">
            <a:extLst xmlns:a="http://schemas.openxmlformats.org/drawingml/2006/main">
              <a:ext uri="{FF2B5EF4-FFF2-40B4-BE49-F238E27FC236}">
                <a16:creationId xmlns:a16="http://schemas.microsoft.com/office/drawing/2014/main" id="{4A36355C-96FE-4B30-ACDD-E34D67C049B7}"/>
              </a:ext>
            </a:extLst>
          </p:cNvPr>
          <p:cNvSpPr>
            <a:spLocks xmlns:a="http://schemas.openxmlformats.org/drawingml/2006/main" noGrp="1"/>
          </p:cNvSpPr>
          <p:nvPr/>
        </p:nvSpPr>
        <p:spPr>
          <a:xfrm xmlns:a="http://schemas.openxmlformats.org/drawingml/2006/main">
            <a:off x="10277856" y="4864608"/>
            <a:ext cx="512064" cy="1078992"/>
          </a:xfrm>
          <a:prstGeom xmlns:a="http://schemas.openxmlformats.org/drawingml/2006/main" prst="roundRect">
            <a:avLst>
              <a:gd name="adj" fmla="val 10714"/>
            </a:avLst>
          </a:prstGeom>
          <a:solidFill xmlns:a="http://schemas.openxmlformats.org/drawingml/2006/main">
            <a:srgbClr val="00A896"/>
          </a:solidFill>
        </p:spPr>
      </p:sp>
      <p:sp>
        <p:nvSpPr>
          <p:cNvPr id="9" name="Shape 7">
            <a:extLst xmlns:a="http://schemas.openxmlformats.org/drawingml/2006/main">
              <a:ext uri="{FF2B5EF4-FFF2-40B4-BE49-F238E27FC236}">
                <a16:creationId xmlns:a16="http://schemas.microsoft.com/office/drawing/2014/main" id="{BF0B19E4-CF3B-4968-8A7C-D4EEB9D91E6D}"/>
              </a:ext>
            </a:extLst>
          </p:cNvPr>
          <p:cNvSpPr>
            <a:spLocks xmlns:a="http://schemas.openxmlformats.org/drawingml/2006/main" noGrp="1"/>
          </p:cNvSpPr>
          <p:nvPr/>
        </p:nvSpPr>
        <p:spPr>
          <a:xfrm xmlns:a="http://schemas.openxmlformats.org/drawingml/2006/main">
            <a:off x="11064240" y="4206240"/>
            <a:ext cx="658368" cy="1828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12700">
            <a:solidFill>
              <a:srgbClr val="2E6C99"/>
            </a:solidFill>
            <a:prstDash val="solid"/>
          </a:ln>
        </p:spPr>
      </p:sp>
      <p:sp>
        <p:nvSpPr>
          <p:cNvPr id="10" name="Shape 8">
            <a:extLst xmlns:a="http://schemas.openxmlformats.org/drawingml/2006/main">
              <a:ext uri="{FF2B5EF4-FFF2-40B4-BE49-F238E27FC236}">
                <a16:creationId xmlns:a16="http://schemas.microsoft.com/office/drawing/2014/main" id="{1C75D087-7EFB-4DF5-9B73-7DB4B1FBC3EF}"/>
              </a:ext>
            </a:extLst>
          </p:cNvPr>
          <p:cNvSpPr>
            <a:spLocks xmlns:a="http://schemas.openxmlformats.org/drawingml/2006/main" noGrp="1"/>
          </p:cNvSpPr>
          <p:nvPr/>
        </p:nvSpPr>
        <p:spPr>
          <a:xfrm xmlns:a="http://schemas.openxmlformats.org/drawingml/2006/main">
            <a:off x="11137392" y="4133088"/>
            <a:ext cx="512064" cy="1810512"/>
          </a:xfrm>
          <a:prstGeom xmlns:a="http://schemas.openxmlformats.org/drawingml/2006/main" prst="roundRect">
            <a:avLst>
              <a:gd name="adj" fmla="val 10714"/>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321C23D9-39E4-4308-8237-C16A74284762}"/>
              </a:ext>
            </a:extLst>
          </p:cNvPr>
          <p:cNvSpPr>
            <a:spLocks xmlns:a="http://schemas.openxmlformats.org/drawingml/2006/main" noGrp="1"/>
          </p:cNvSpPr>
          <p:nvPr/>
        </p:nvSpPr>
        <p:spPr>
          <a:xfrm xmlns:a="http://schemas.openxmlformats.org/drawingml/2006/main">
            <a:off x="8394192" y="3822192"/>
            <a:ext cx="3419856"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spc="200">
                <a:solidFill>
                  <a:srgbClr val="9FC6E0"/>
                </a:solidFill>
                <a:latin typeface="Calibri"/>
                <a:ea typeface="Calibri"/>
                <a:cs typeface="Calibri"/>
              </a:rPr>
              <a:t>SOH  ·  RUL</a:t>
            </a:r>
            <a:endParaRPr sz="1100"/>
          </a:p>
        </p:txBody>
      </p:sp>
      <p:sp>
        <p:nvSpPr>
          <p:cNvPr id="12" name="Text 10">
            <a:extLst xmlns:a="http://schemas.openxmlformats.org/drawingml/2006/main">
              <a:ext uri="{FF2B5EF4-FFF2-40B4-BE49-F238E27FC236}">
                <a16:creationId xmlns:a16="http://schemas.microsoft.com/office/drawing/2014/main" id="{EE7F4F7C-3088-4207-9837-08A26D3A84A4}"/>
              </a:ext>
            </a:extLst>
          </p:cNvPr>
          <p:cNvSpPr>
            <a:spLocks xmlns:a="http://schemas.openxmlformats.org/drawingml/2006/main" noGrp="1"/>
          </p:cNvSpPr>
          <p:nvPr/>
        </p:nvSpPr>
        <p:spPr>
          <a:xfrm xmlns:a="http://schemas.openxmlformats.org/drawingml/2006/main">
            <a:off x="457200" y="1417320"/>
            <a:ext cx="71323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spc="300">
                <a:solidFill>
                  <a:srgbClr val="00A896"/>
                </a:solidFill>
                <a:latin typeface="Calibri"/>
                <a:ea typeface="Calibri"/>
                <a:cs typeface="Calibri"/>
              </a:rPr>
              <a:t>SCOPE  ·  B.TECH PROJECT</a:t>
            </a:r>
            <a:endParaRPr sz="1300"/>
          </a:p>
        </p:txBody>
      </p:sp>
      <p:sp>
        <p:nvSpPr>
          <p:cNvPr id="13" name="Text 11">
            <a:extLst xmlns:a="http://schemas.openxmlformats.org/drawingml/2006/main">
              <a:ext uri="{FF2B5EF4-FFF2-40B4-BE49-F238E27FC236}">
                <a16:creationId xmlns:a16="http://schemas.microsoft.com/office/drawing/2014/main" id="{11294647-F1F2-404C-AF4E-0F6672F8290A}"/>
              </a:ext>
            </a:extLst>
          </p:cNvPr>
          <p:cNvSpPr>
            <a:spLocks xmlns:a="http://schemas.openxmlformats.org/drawingml/2006/main" noGrp="1"/>
          </p:cNvSpPr>
          <p:nvPr/>
        </p:nvSpPr>
        <p:spPr>
          <a:xfrm xmlns:a="http://schemas.openxmlformats.org/drawingml/2006/main">
            <a:off x="457200" y="1874520"/>
            <a:ext cx="7406640" cy="1920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4000"/>
              </a:lnSpc>
              <a:buNone/>
            </a:pPr>
            <a:r>
              <a:rPr sz="3400" b="1">
                <a:solidFill>
                  <a:srgbClr val="FFFFFF"/>
                </a:solidFill>
                <a:latin typeface="Cambria"/>
                <a:ea typeface="Cambria"/>
                <a:cs typeface="Cambria"/>
              </a:rPr>
              <a:t>Adaptive Physics-Informed Battery Digital Twin for SOH and RUL Prediction</a:t>
            </a:r>
            <a:endParaRPr sz="3400"/>
          </a:p>
        </p:txBody>
      </p:sp>
      <p:sp>
        <p:nvSpPr>
          <p:cNvPr id="14" name="Text 12">
            <a:extLst xmlns:a="http://schemas.openxmlformats.org/drawingml/2006/main">
              <a:ext uri="{FF2B5EF4-FFF2-40B4-BE49-F238E27FC236}">
                <a16:creationId xmlns:a16="http://schemas.microsoft.com/office/drawing/2014/main" id="{935876B2-48F8-4BBD-A460-7082038B480F}"/>
              </a:ext>
            </a:extLst>
          </p:cNvPr>
          <p:cNvSpPr>
            <a:spLocks xmlns:a="http://schemas.openxmlformats.org/drawingml/2006/main" noGrp="1"/>
          </p:cNvSpPr>
          <p:nvPr/>
        </p:nvSpPr>
        <p:spPr>
          <a:xfrm xmlns:a="http://schemas.openxmlformats.org/drawingml/2006/main">
            <a:off x="457200" y="379476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i="1">
                <a:solidFill>
                  <a:srgbClr val="AFC7DA"/>
                </a:solidFill>
                <a:latin typeface="Calibri"/>
                <a:ea typeface="Calibri"/>
                <a:cs typeface="Calibri"/>
              </a:rPr>
              <a:t>Energy AI  ·  Battery Management Systems  ·  Physics-Informed Neural Networks</a:t>
            </a:r>
            <a:endParaRPr sz="1300"/>
          </a:p>
        </p:txBody>
      </p:sp>
      <p:sp>
        <p:nvSpPr>
          <p:cNvPr id="15" name="Text 13">
            <a:extLst xmlns:a="http://schemas.openxmlformats.org/drawingml/2006/main">
              <a:ext uri="{FF2B5EF4-FFF2-40B4-BE49-F238E27FC236}">
                <a16:creationId xmlns:a16="http://schemas.microsoft.com/office/drawing/2014/main" id="{5222D5D3-E0AC-4818-8B06-1B87A02B107A}"/>
              </a:ext>
            </a:extLst>
          </p:cNvPr>
          <p:cNvSpPr>
            <a:spLocks xmlns:a="http://schemas.openxmlformats.org/drawingml/2006/main" noGrp="1"/>
          </p:cNvSpPr>
          <p:nvPr/>
        </p:nvSpPr>
        <p:spPr>
          <a:xfrm xmlns:a="http://schemas.openxmlformats.org/drawingml/2006/main">
            <a:off x="457200" y="4892040"/>
            <a:ext cx="3657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200">
                <a:solidFill>
                  <a:srgbClr val="00A896"/>
                </a:solidFill>
                <a:latin typeface="Calibri"/>
                <a:ea typeface="Calibri"/>
                <a:cs typeface="Calibri"/>
              </a:rPr>
              <a:t>TEAM</a:t>
            </a:r>
            <a:endParaRPr sz="1100"/>
          </a:p>
        </p:txBody>
      </p:sp>
      <p:sp>
        <p:nvSpPr>
          <p:cNvPr id="16" name="Text 14">
            <a:extLst xmlns:a="http://schemas.openxmlformats.org/drawingml/2006/main">
              <a:ext uri="{FF2B5EF4-FFF2-40B4-BE49-F238E27FC236}">
                <a16:creationId xmlns:a16="http://schemas.microsoft.com/office/drawing/2014/main" id="{FEF78377-878E-428A-99BE-30A4122514F3}"/>
              </a:ext>
            </a:extLst>
          </p:cNvPr>
          <p:cNvSpPr>
            <a:spLocks xmlns:a="http://schemas.openxmlformats.org/drawingml/2006/main" noGrp="1"/>
          </p:cNvSpPr>
          <p:nvPr/>
        </p:nvSpPr>
        <p:spPr>
          <a:xfrm xmlns:a="http://schemas.openxmlformats.org/drawingml/2006/main">
            <a:off x="457200" y="523036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M. Chethan Krishna</a:t>
            </a:r>
            <a:r>
              <a:rPr sz="1350">
                <a:solidFill>
                  <a:srgbClr val="8FA9BE"/>
                </a:solidFill>
                <a:latin typeface="Calibri"/>
                <a:ea typeface="Calibri"/>
                <a:cs typeface="Calibri"/>
              </a:rPr>
              <a:t>   23BAI0093</a:t>
            </a:r>
            <a:endParaRPr sz="1350"/>
          </a:p>
        </p:txBody>
      </p:sp>
      <p:sp>
        <p:nvSpPr>
          <p:cNvPr id="17" name="Text 15">
            <a:extLst xmlns:a="http://schemas.openxmlformats.org/drawingml/2006/main">
              <a:ext uri="{FF2B5EF4-FFF2-40B4-BE49-F238E27FC236}">
                <a16:creationId xmlns:a16="http://schemas.microsoft.com/office/drawing/2014/main" id="{4BCB8DCB-8523-46A6-BC23-2ADE2F623200}"/>
              </a:ext>
            </a:extLst>
          </p:cNvPr>
          <p:cNvSpPr>
            <a:spLocks xmlns:a="http://schemas.openxmlformats.org/drawingml/2006/main" noGrp="1"/>
          </p:cNvSpPr>
          <p:nvPr/>
        </p:nvSpPr>
        <p:spPr>
          <a:xfrm xmlns:a="http://schemas.openxmlformats.org/drawingml/2006/main">
            <a:off x="457200" y="559612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K. Shanmukha Santhosh</a:t>
            </a:r>
            <a:r>
              <a:rPr sz="1350">
                <a:solidFill>
                  <a:srgbClr val="8FA9BE"/>
                </a:solidFill>
                <a:latin typeface="Calibri"/>
                <a:ea typeface="Calibri"/>
                <a:cs typeface="Calibri"/>
              </a:rPr>
              <a:t>   23BAI0157</a:t>
            </a:r>
            <a:endParaRPr sz="1350"/>
          </a:p>
        </p:txBody>
      </p:sp>
      <p:sp>
        <p:nvSpPr>
          <p:cNvPr id="18" name="Text 16">
            <a:extLst xmlns:a="http://schemas.openxmlformats.org/drawingml/2006/main">
              <a:ext uri="{FF2B5EF4-FFF2-40B4-BE49-F238E27FC236}">
                <a16:creationId xmlns:a16="http://schemas.microsoft.com/office/drawing/2014/main" id="{20C5CBD5-3781-4593-9BFA-9018B421E2D8}"/>
              </a:ext>
            </a:extLst>
          </p:cNvPr>
          <p:cNvSpPr>
            <a:spLocks xmlns:a="http://schemas.openxmlformats.org/drawingml/2006/main" noGrp="1"/>
          </p:cNvSpPr>
          <p:nvPr/>
        </p:nvSpPr>
        <p:spPr>
          <a:xfrm xmlns:a="http://schemas.openxmlformats.org/drawingml/2006/main">
            <a:off x="457200" y="5961888"/>
            <a:ext cx="6858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FFFFFF"/>
                </a:solidFill>
                <a:latin typeface="Calibri"/>
                <a:ea typeface="Calibri"/>
                <a:cs typeface="Calibri"/>
              </a:rPr>
              <a:t>Ashok Reddy</a:t>
            </a:r>
            <a:r>
              <a:rPr sz="1350">
                <a:solidFill>
                  <a:srgbClr val="8FA9BE"/>
                </a:solidFill>
                <a:latin typeface="Calibri"/>
                <a:ea typeface="Calibri"/>
                <a:cs typeface="Calibri"/>
              </a:rPr>
              <a:t>   23BAI0143</a:t>
            </a:r>
            <a:endParaRPr sz="1350"/>
          </a:p>
        </p:txBody>
      </p:sp>
    </p:spTree>
    <p:extLst>
      <p:ext uri="{BB962C8B-B14F-4D97-AF65-F5344CB8AC3E}">
        <p14:creationId xmlns:p14="http://schemas.microsoft.com/office/powerpoint/2010/main" val="10206787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31C654-CEC3-44CD-B4A7-6F3D027BA86C}"/>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DOMAIN &amp; MOTIVATION</a:t>
            </a:r>
            <a:endParaRPr sz="1200"/>
          </a:p>
        </p:txBody>
      </p:sp>
      <p:sp>
        <p:nvSpPr>
          <p:cNvPr id="3" name="Text 1">
            <a:extLst xmlns:a="http://schemas.openxmlformats.org/drawingml/2006/main">
              <a:ext uri="{FF2B5EF4-FFF2-40B4-BE49-F238E27FC236}">
                <a16:creationId xmlns:a16="http://schemas.microsoft.com/office/drawing/2014/main" id="{C6FA128A-905D-4D37-99C4-23C4A8185C64}"/>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Project Overview &amp; Use Cases</a:t>
            </a:r>
            <a:endParaRPr sz="2800"/>
          </a:p>
        </p:txBody>
      </p:sp>
      <p:sp>
        <p:nvSpPr>
          <p:cNvPr id="4" name="Shape 2">
            <a:extLst xmlns:a="http://schemas.openxmlformats.org/drawingml/2006/main">
              <a:ext uri="{FF2B5EF4-FFF2-40B4-BE49-F238E27FC236}">
                <a16:creationId xmlns:a16="http://schemas.microsoft.com/office/drawing/2014/main" id="{F6B4DB00-909D-4455-B738-956B5C0EEEA4}"/>
              </a:ext>
            </a:extLst>
          </p:cNvPr>
          <p:cNvSpPr>
            <a:spLocks xmlns:a="http://schemas.openxmlformats.org/drawingml/2006/main" noGrp="1"/>
          </p:cNvSpPr>
          <p:nvPr/>
        </p:nvSpPr>
        <p:spPr>
          <a:xfrm xmlns:a="http://schemas.openxmlformats.org/drawingml/2006/main">
            <a:off x="457200" y="1417320"/>
            <a:ext cx="5029200" cy="4892040"/>
          </a:xfrm>
          <a:prstGeom xmlns:a="http://schemas.openxmlformats.org/drawingml/2006/main" prst="roundRect">
            <a:avLst>
              <a:gd name="adj" fmla="val 1495"/>
            </a:avLst>
          </a:prstGeom>
          <a:solidFill xmlns:a="http://schemas.openxmlformats.org/drawingml/2006/main">
            <a:srgbClr val="F2F6F8"/>
          </a:solidFill>
        </p:spPr>
      </p:sp>
      <p:sp>
        <p:nvSpPr>
          <p:cNvPr id="5" name="Text 3">
            <a:extLst xmlns:a="http://schemas.openxmlformats.org/drawingml/2006/main">
              <a:ext uri="{FF2B5EF4-FFF2-40B4-BE49-F238E27FC236}">
                <a16:creationId xmlns:a16="http://schemas.microsoft.com/office/drawing/2014/main" id="{3DE09C76-9CA3-48A5-ADFA-7231600E489F}"/>
              </a:ext>
            </a:extLst>
          </p:cNvPr>
          <p:cNvSpPr>
            <a:spLocks xmlns:a="http://schemas.openxmlformats.org/drawingml/2006/main" noGrp="1"/>
          </p:cNvSpPr>
          <p:nvPr/>
        </p:nvSpPr>
        <p:spPr>
          <a:xfrm xmlns:a="http://schemas.openxmlformats.org/drawingml/2006/main">
            <a:off x="731520" y="1691640"/>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DOMAIN</a:t>
            </a:r>
            <a:endParaRPr sz="1000"/>
          </a:p>
        </p:txBody>
      </p:sp>
      <p:sp>
        <p:nvSpPr>
          <p:cNvPr id="6" name="Text 4">
            <a:extLst xmlns:a="http://schemas.openxmlformats.org/drawingml/2006/main">
              <a:ext uri="{FF2B5EF4-FFF2-40B4-BE49-F238E27FC236}">
                <a16:creationId xmlns:a16="http://schemas.microsoft.com/office/drawing/2014/main" id="{3252D716-11F9-439D-A9D7-34477553BFE1}"/>
              </a:ext>
            </a:extLst>
          </p:cNvPr>
          <p:cNvSpPr>
            <a:spLocks xmlns:a="http://schemas.openxmlformats.org/drawingml/2006/main" noGrp="1"/>
          </p:cNvSpPr>
          <p:nvPr/>
        </p:nvSpPr>
        <p:spPr>
          <a:xfrm xmlns:a="http://schemas.openxmlformats.org/drawingml/2006/main">
            <a:off x="731520" y="1911096"/>
            <a:ext cx="44805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22B33"/>
                </a:solidFill>
                <a:latin typeface="Calibri"/>
                <a:ea typeface="Calibri"/>
                <a:cs typeface="Calibri"/>
              </a:rPr>
              <a:t>Energy AI  ·  Battery Management Systems</a:t>
            </a:r>
            <a:endParaRPr sz="1250"/>
          </a:p>
        </p:txBody>
      </p:sp>
      <p:sp>
        <p:nvSpPr>
          <p:cNvPr id="7" name="Text 5">
            <a:extLst xmlns:a="http://schemas.openxmlformats.org/drawingml/2006/main">
              <a:ext uri="{FF2B5EF4-FFF2-40B4-BE49-F238E27FC236}">
                <a16:creationId xmlns:a16="http://schemas.microsoft.com/office/drawing/2014/main" id="{95B7B967-0031-4A17-9180-DAC6FD59528D}"/>
              </a:ext>
            </a:extLst>
          </p:cNvPr>
          <p:cNvSpPr>
            <a:spLocks xmlns:a="http://schemas.openxmlformats.org/drawingml/2006/main" noGrp="1"/>
          </p:cNvSpPr>
          <p:nvPr/>
        </p:nvSpPr>
        <p:spPr>
          <a:xfrm xmlns:a="http://schemas.openxmlformats.org/drawingml/2006/main">
            <a:off x="731520" y="2350008"/>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TYPE OF DNN</a:t>
            </a:r>
            <a:endParaRPr sz="1000"/>
          </a:p>
        </p:txBody>
      </p:sp>
      <p:sp>
        <p:nvSpPr>
          <p:cNvPr id="8" name="Text 6">
            <a:extLst xmlns:a="http://schemas.openxmlformats.org/drawingml/2006/main">
              <a:ext uri="{FF2B5EF4-FFF2-40B4-BE49-F238E27FC236}">
                <a16:creationId xmlns:a16="http://schemas.microsoft.com/office/drawing/2014/main" id="{6890FE13-B608-48C1-9479-41A7AFDE92DB}"/>
              </a:ext>
            </a:extLst>
          </p:cNvPr>
          <p:cNvSpPr>
            <a:spLocks xmlns:a="http://schemas.openxmlformats.org/drawingml/2006/main" noGrp="1"/>
          </p:cNvSpPr>
          <p:nvPr/>
        </p:nvSpPr>
        <p:spPr>
          <a:xfrm xmlns:a="http://schemas.openxmlformats.org/drawingml/2006/main">
            <a:off x="731520" y="2569464"/>
            <a:ext cx="44805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222B33"/>
                </a:solidFill>
                <a:latin typeface="Calibri"/>
                <a:ea typeface="Calibri"/>
                <a:cs typeface="Calibri"/>
              </a:rPr>
              <a:t>Physics-Informed Neural Network (PINN) + Feedforward DNN</a:t>
            </a:r>
            <a:endParaRPr sz="1250"/>
          </a:p>
        </p:txBody>
      </p:sp>
      <p:sp>
        <p:nvSpPr>
          <p:cNvPr id="9" name="Text 7">
            <a:extLst xmlns:a="http://schemas.openxmlformats.org/drawingml/2006/main">
              <a:ext uri="{FF2B5EF4-FFF2-40B4-BE49-F238E27FC236}">
                <a16:creationId xmlns:a16="http://schemas.microsoft.com/office/drawing/2014/main" id="{AF9DE6D7-DCEE-4BD4-9B03-CE0E560652EA}"/>
              </a:ext>
            </a:extLst>
          </p:cNvPr>
          <p:cNvSpPr>
            <a:spLocks xmlns:a="http://schemas.openxmlformats.org/drawingml/2006/main" noGrp="1"/>
          </p:cNvSpPr>
          <p:nvPr/>
        </p:nvSpPr>
        <p:spPr>
          <a:xfrm xmlns:a="http://schemas.openxmlformats.org/drawingml/2006/main">
            <a:off x="731520" y="3172968"/>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THE CHALLENGE</a:t>
            </a:r>
            <a:endParaRPr sz="1000"/>
          </a:p>
        </p:txBody>
      </p:sp>
      <p:sp>
        <p:nvSpPr>
          <p:cNvPr id="10" name="Text 8">
            <a:extLst xmlns:a="http://schemas.openxmlformats.org/drawingml/2006/main">
              <a:ext uri="{FF2B5EF4-FFF2-40B4-BE49-F238E27FC236}">
                <a16:creationId xmlns:a16="http://schemas.microsoft.com/office/drawing/2014/main" id="{87BEEFDE-B47B-4CDF-B8F3-AED247168184}"/>
              </a:ext>
            </a:extLst>
          </p:cNvPr>
          <p:cNvSpPr>
            <a:spLocks xmlns:a="http://schemas.openxmlformats.org/drawingml/2006/main" noGrp="1"/>
          </p:cNvSpPr>
          <p:nvPr/>
        </p:nvSpPr>
        <p:spPr>
          <a:xfrm xmlns:a="http://schemas.openxmlformats.org/drawingml/2006/main">
            <a:off x="731520" y="3429000"/>
            <a:ext cx="448056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50">
                <a:solidFill>
                  <a:srgbClr val="222B33"/>
                </a:solidFill>
                <a:latin typeface="Calibri"/>
                <a:ea typeface="Calibri"/>
                <a:cs typeface="Calibri"/>
              </a:rPr>
              <a:t>Li-ion batteries degrade with cycling, temperature and age. Pure deep-learning models need large labeled datasets and can be physically inconsistent; pure physics models are too slow for real-time use.</a:t>
            </a:r>
            <a:endParaRPr sz="1150"/>
          </a:p>
        </p:txBody>
      </p:sp>
      <p:sp>
        <p:nvSpPr>
          <p:cNvPr id="11" name="Text 9">
            <a:extLst xmlns:a="http://schemas.openxmlformats.org/drawingml/2006/main">
              <a:ext uri="{FF2B5EF4-FFF2-40B4-BE49-F238E27FC236}">
                <a16:creationId xmlns:a16="http://schemas.microsoft.com/office/drawing/2014/main" id="{C10DAF9F-7E65-4956-A75A-3218685AD1D6}"/>
              </a:ext>
            </a:extLst>
          </p:cNvPr>
          <p:cNvSpPr>
            <a:spLocks xmlns:a="http://schemas.openxmlformats.org/drawingml/2006/main" noGrp="1"/>
          </p:cNvSpPr>
          <p:nvPr/>
        </p:nvSpPr>
        <p:spPr>
          <a:xfrm xmlns:a="http://schemas.openxmlformats.org/drawingml/2006/main">
            <a:off x="731520" y="4389120"/>
            <a:ext cx="448056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OUR APPROACH</a:t>
            </a:r>
            <a:endParaRPr sz="1000"/>
          </a:p>
        </p:txBody>
      </p:sp>
      <p:sp>
        <p:nvSpPr>
          <p:cNvPr id="12" name="Text 10">
            <a:extLst xmlns:a="http://schemas.openxmlformats.org/drawingml/2006/main">
              <a:ext uri="{FF2B5EF4-FFF2-40B4-BE49-F238E27FC236}">
                <a16:creationId xmlns:a16="http://schemas.microsoft.com/office/drawing/2014/main" id="{F73658CC-DA75-46D6-BC19-E925580F006C}"/>
              </a:ext>
            </a:extLst>
          </p:cNvPr>
          <p:cNvSpPr>
            <a:spLocks xmlns:a="http://schemas.openxmlformats.org/drawingml/2006/main" noGrp="1"/>
          </p:cNvSpPr>
          <p:nvPr/>
        </p:nvSpPr>
        <p:spPr>
          <a:xfrm xmlns:a="http://schemas.openxmlformats.org/drawingml/2006/main">
            <a:off x="731520" y="4645152"/>
            <a:ext cx="448056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50">
                <a:solidFill>
                  <a:srgbClr val="222B33"/>
                </a:solidFill>
                <a:latin typeface="Calibri"/>
                <a:ea typeface="Calibri"/>
                <a:cs typeface="Calibri"/>
              </a:rPr>
              <a:t>An Adaptive PINN Battery Digital Twin fuses PINNs, a Transformer Encoder and Incremental Adaptive Learning to continuously estimate SOH and RUL — adapting to new data without full retraining.</a:t>
            </a:r>
            <a:endParaRPr sz="1150"/>
          </a:p>
        </p:txBody>
      </p:sp>
      <p:sp>
        <p:nvSpPr>
          <p:cNvPr id="13" name="Text 11">
            <a:extLst xmlns:a="http://schemas.openxmlformats.org/drawingml/2006/main">
              <a:ext uri="{FF2B5EF4-FFF2-40B4-BE49-F238E27FC236}">
                <a16:creationId xmlns:a16="http://schemas.microsoft.com/office/drawing/2014/main" id="{AA300975-26ED-4604-96C8-ABB10925DD2E}"/>
              </a:ext>
            </a:extLst>
          </p:cNvPr>
          <p:cNvSpPr>
            <a:spLocks xmlns:a="http://schemas.openxmlformats.org/drawingml/2006/main" noGrp="1"/>
          </p:cNvSpPr>
          <p:nvPr/>
        </p:nvSpPr>
        <p:spPr>
          <a:xfrm xmlns:a="http://schemas.openxmlformats.org/drawingml/2006/main">
            <a:off x="5852160" y="1417320"/>
            <a:ext cx="5879592"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50">
                <a:solidFill>
                  <a:srgbClr val="028090"/>
                </a:solidFill>
                <a:latin typeface="Calibri"/>
                <a:ea typeface="Calibri"/>
                <a:cs typeface="Calibri"/>
              </a:rPr>
              <a:t>WHERE IT APPLIES</a:t>
            </a:r>
            <a:endParaRPr sz="1000"/>
          </a:p>
        </p:txBody>
      </p:sp>
      <p:graphicFrame>
        <p:nvGraphicFramePr>
          <p:cNvPr id="30" name="Table 0"/>
          <p:cNvGraphicFramePr/>
          <p:nvPr/>
        </p:nvGraphicFramePr>
        <p:xfrm>
          <a:off xmlns:a="http://schemas.openxmlformats.org/drawingml/2006/main" x="5852160" y="1709928"/>
          <a:ext xmlns:a="http://schemas.openxmlformats.org/drawingml/2006/main" cx="5879592" cy="914400"/>
        </p:xfrm>
        <a:graphic xmlns:a="http://schemas.openxmlformats.org/drawingml/2006/main">
          <a:graphicData uri="http://schemas.openxmlformats.org/drawingml/2006/table">
            <a:tbl>
              <a:tblPr/>
              <a:tblGrid>
                <a:gridCol w="1691640"/>
                <a:gridCol w="4187952"/>
              </a:tblGrid>
              <a:tr h="310896">
                <a:tc>
                  <a:txBody>
                    <a:bodyPr/>
                    <a:lstStyle/>
                    <a:p>
                      <a:pPr marL="0" indent="0">
                        <a:buNone/>
                      </a:pPr>
                      <a:r>
                        <a:rPr sz="1100" b="1">
                          <a:solidFill>
                            <a:srgbClr val="FFFFFF"/>
                          </a:solidFill>
                          <a:latin typeface="Calibri"/>
                          <a:ea typeface="Calibri"/>
                          <a:cs typeface="Calibri"/>
                        </a:rPr>
                        <a:t>Use Case</a:t>
                      </a:r>
                      <a:endParaRPr sz="11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100" b="1">
                          <a:solidFill>
                            <a:srgbClr val="FFFFFF"/>
                          </a:solidFill>
                          <a:latin typeface="Calibri"/>
                          <a:ea typeface="Calibri"/>
                          <a:cs typeface="Calibri"/>
                        </a:rPr>
                        <a:t>Impact</a:t>
                      </a:r>
                      <a:endParaRPr sz="11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603504">
                <a:tc>
                  <a:txBody>
                    <a:bodyPr/>
                    <a:lstStyle/>
                    <a:p>
                      <a:pPr marL="0" indent="0">
                        <a:buNone/>
                      </a:pPr>
                      <a:r>
                        <a:rPr sz="1050" b="1">
                          <a:solidFill>
                            <a:srgbClr val="222B33"/>
                          </a:solidFill>
                          <a:latin typeface="Calibri"/>
                          <a:ea typeface="Calibri"/>
                          <a:cs typeface="Calibri"/>
                        </a:rPr>
                        <a:t>Electric Vehicles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Tesla, BYD, Hyundai, Tata EV, MG — predict battery replacement before failure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Battery Swapping Stations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Identify which battery packs should be retired</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03504">
                <a:tc>
                  <a:txBody>
                    <a:bodyPr/>
                    <a:lstStyle/>
                    <a:p>
                      <a:pPr marL="0" indent="0">
                        <a:buNone/>
                      </a:pPr>
                      <a:r>
                        <a:rPr sz="1050" b="1">
                          <a:solidFill>
                            <a:srgbClr val="222B33"/>
                          </a:solidFill>
                          <a:latin typeface="Calibri"/>
                          <a:ea typeface="Calibri"/>
                          <a:cs typeface="Calibri"/>
                        </a:rPr>
                        <a:t>Solar Energy Storage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Monitor home batteries and predict maintenance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Grid-Scale Storage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Avoid sudden, unplanned battery failures</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457200">
                <a:tc>
                  <a:txBody>
                    <a:bodyPr/>
                    <a:lstStyle/>
                    <a:p>
                      <a:pPr marL="0" indent="0">
                        <a:buNone/>
                      </a:pPr>
                      <a:r>
                        <a:rPr sz="1050" b="1">
                          <a:solidFill>
                            <a:srgbClr val="222B33"/>
                          </a:solidFill>
                          <a:latin typeface="Calibri"/>
                          <a:ea typeface="Calibri"/>
                          <a:cs typeface="Calibri"/>
                        </a:rPr>
                        <a:t>Drone Batteries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Estimate safe remaining flying time</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03504">
                <a:tc>
                  <a:txBody>
                    <a:bodyPr/>
                    <a:lstStyle/>
                    <a:p>
                      <a:pPr marL="0" indent="0">
                        <a:buNone/>
                      </a:pPr>
                      <a:r>
                        <a:rPr sz="1050" b="1">
                          <a:solidFill>
                            <a:srgbClr val="222B33"/>
                          </a:solidFill>
                          <a:latin typeface="Calibri"/>
                          <a:ea typeface="Calibri"/>
                          <a:cs typeface="Calibri"/>
                        </a:rPr>
                        <a:t>Space Missions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1000">
                          <a:solidFill>
                            <a:srgbClr val="5B6B79"/>
                          </a:solidFill>
                          <a:latin typeface="Calibri"/>
                          <a:ea typeface="Calibri"/>
                          <a:cs typeface="Calibri"/>
                        </a:rPr>
                        <a:t>Battery swaps are impossible — lifetime prediction is critical</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03504">
                <a:tc>
                  <a:txBody>
                    <a:bodyPr/>
                    <a:lstStyle/>
                    <a:p>
                      <a:pPr marL="0" indent="0">
                        <a:buNone/>
                      </a:pPr>
                      <a:r>
                        <a:rPr sz="1050" b="1">
                          <a:solidFill>
                            <a:srgbClr val="222B33"/>
                          </a:solidFill>
                          <a:latin typeface="Calibri"/>
                          <a:ea typeface="Calibri"/>
                          <a:cs typeface="Calibri"/>
                        </a:rPr>
                        <a:t>Smartphones &amp; Laptops</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1000">
                          <a:solidFill>
                            <a:srgbClr val="5B6B79"/>
                          </a:solidFill>
                          <a:latin typeface="Calibri"/>
                          <a:ea typeface="Calibri"/>
                          <a:cs typeface="Calibri"/>
                        </a:rPr>
                        <a:t>Sharper degradation estimates than today's health meters</a:t>
                      </a:r>
                      <a:endParaRPr sz="100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bl>
          </a:graphicData>
        </a:graphic>
      </p:graphicFrame>
      <p:sp>
        <p:nvSpPr>
          <p:cNvPr id="15" name="Text 12">
            <a:extLst xmlns:a="http://schemas.openxmlformats.org/drawingml/2006/main">
              <a:ext uri="{FF2B5EF4-FFF2-40B4-BE49-F238E27FC236}">
                <a16:creationId xmlns:a16="http://schemas.microsoft.com/office/drawing/2014/main" id="{37B7A373-809A-4ADB-8AEF-BC5537197DE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6" name="Text 13">
            <a:extLst xmlns:a="http://schemas.openxmlformats.org/drawingml/2006/main">
              <a:ext uri="{FF2B5EF4-FFF2-40B4-BE49-F238E27FC236}">
                <a16:creationId xmlns:a16="http://schemas.microsoft.com/office/drawing/2014/main" id="{D5BFE1FE-221C-44E9-90AD-4089117DC675}"/>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2 / 10</a:t>
            </a:r>
            <a:endParaRPr sz="900"/>
          </a:p>
        </p:txBody>
      </p:sp>
    </p:spTree>
    <p:extLst>
      <p:ext uri="{BB962C8B-B14F-4D97-AF65-F5344CB8AC3E}">
        <p14:creationId xmlns:p14="http://schemas.microsoft.com/office/powerpoint/2010/main" val="911067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2AE5EE-2FF7-4455-950E-6D0269ED5040}"/>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MOTIVATION</a:t>
            </a:r>
            <a:endParaRPr sz="1200"/>
          </a:p>
        </p:txBody>
      </p:sp>
      <p:sp>
        <p:nvSpPr>
          <p:cNvPr id="3" name="Text 1">
            <a:extLst xmlns:a="http://schemas.openxmlformats.org/drawingml/2006/main">
              <a:ext uri="{FF2B5EF4-FFF2-40B4-BE49-F238E27FC236}">
                <a16:creationId xmlns:a16="http://schemas.microsoft.com/office/drawing/2014/main" id="{4123E525-CD80-4CAA-934B-DDD54791B5EF}"/>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Problem Statement</a:t>
            </a:r>
            <a:endParaRPr sz="2800"/>
          </a:p>
        </p:txBody>
      </p:sp>
      <p:sp>
        <p:nvSpPr>
          <p:cNvPr id="4" name="Text 2">
            <a:extLst xmlns:a="http://schemas.openxmlformats.org/drawingml/2006/main">
              <a:ext uri="{FF2B5EF4-FFF2-40B4-BE49-F238E27FC236}">
                <a16:creationId xmlns:a16="http://schemas.microsoft.com/office/drawing/2014/main" id="{335099DA-9761-41CA-8FE0-82DBC6426C02}"/>
              </a:ext>
            </a:extLst>
          </p:cNvPr>
          <p:cNvSpPr>
            <a:spLocks xmlns:a="http://schemas.openxmlformats.org/drawingml/2006/main" noGrp="1"/>
          </p:cNvSpPr>
          <p:nvPr/>
        </p:nvSpPr>
        <p:spPr>
          <a:xfrm xmlns:a="http://schemas.openxmlformats.org/drawingml/2006/main">
            <a:off x="457200" y="1371600"/>
            <a:ext cx="11274552"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800"/>
              </a:lnSpc>
              <a:buNone/>
            </a:pPr>
            <a:r>
              <a:rPr sz="1300">
                <a:solidFill>
                  <a:srgbClr val="222B33"/>
                </a:solidFill>
                <a:latin typeface="Calibri"/>
                <a:ea typeface="Calibri"/>
                <a:cs typeface="Calibri"/>
              </a:rPr>
              <a:t>Lithium-ion batteries power electric vehicles and renewable energy storage, but their performance degrades with charge cycles, temperature, current load and age. Accurately estimating State of Health (SOH) and Remaining Useful Life (RUL) is essential for safety, reliability and efficient maintenance.</a:t>
            </a:r>
            <a:endParaRPr sz="1300"/>
          </a:p>
        </p:txBody>
      </p:sp>
      <p:sp>
        <p:nvSpPr>
          <p:cNvPr id="5" name="Shape 3">
            <a:extLst xmlns:a="http://schemas.openxmlformats.org/drawingml/2006/main">
              <a:ext uri="{FF2B5EF4-FFF2-40B4-BE49-F238E27FC236}">
                <a16:creationId xmlns:a16="http://schemas.microsoft.com/office/drawing/2014/main" id="{4335C530-20DB-4868-BF12-E33E899A16B3}"/>
              </a:ext>
            </a:extLst>
          </p:cNvPr>
          <p:cNvSpPr>
            <a:spLocks xmlns:a="http://schemas.openxmlformats.org/drawingml/2006/main" noGrp="1"/>
          </p:cNvSpPr>
          <p:nvPr/>
        </p:nvSpPr>
        <p:spPr>
          <a:xfrm xmlns:a="http://schemas.openxmlformats.org/drawingml/2006/main">
            <a:off x="457200" y="2514600"/>
            <a:ext cx="5408676" cy="3749040"/>
          </a:xfrm>
          <a:prstGeom xmlns:a="http://schemas.openxmlformats.org/drawingml/2006/main" prst="roundRect">
            <a:avLst>
              <a:gd name="adj" fmla="val 1951"/>
            </a:avLst>
          </a:prstGeom>
          <a:solidFill xmlns:a="http://schemas.openxmlformats.org/drawingml/2006/main">
            <a:srgbClr val="F2F6F8"/>
          </a:solidFill>
        </p:spPr>
      </p:sp>
      <p:sp>
        <p:nvSpPr>
          <p:cNvPr id="6" name="Shape 4">
            <a:extLst xmlns:a="http://schemas.openxmlformats.org/drawingml/2006/main">
              <a:ext uri="{FF2B5EF4-FFF2-40B4-BE49-F238E27FC236}">
                <a16:creationId xmlns:a16="http://schemas.microsoft.com/office/drawing/2014/main" id="{8015C9C8-BE94-480F-8085-CD7335DFEC82}"/>
              </a:ext>
            </a:extLst>
          </p:cNvPr>
          <p:cNvSpPr>
            <a:spLocks xmlns:a="http://schemas.openxmlformats.org/drawingml/2006/main" noGrp="1"/>
          </p:cNvSpPr>
          <p:nvPr/>
        </p:nvSpPr>
        <p:spPr>
          <a:xfrm xmlns:a="http://schemas.openxmlformats.org/drawingml/2006/main">
            <a:off x="731520" y="2788920"/>
            <a:ext cx="457200" cy="457200"/>
          </a:xfrm>
          <a:prstGeom xmlns:a="http://schemas.openxmlformats.org/drawingml/2006/main" prst="roundRect">
            <a:avLst>
              <a:gd name="adj" fmla="val 50000"/>
            </a:avLst>
          </a:prstGeom>
          <a:solidFill xmlns:a="http://schemas.openxmlformats.org/drawingml/2006/main">
            <a:srgbClr val="00A896"/>
          </a:solidFill>
        </p:spPr>
      </p:sp>
      <p:sp>
        <p:nvSpPr>
          <p:cNvPr id="7" name="Text 5">
            <a:extLst xmlns:a="http://schemas.openxmlformats.org/drawingml/2006/main">
              <a:ext uri="{FF2B5EF4-FFF2-40B4-BE49-F238E27FC236}">
                <a16:creationId xmlns:a16="http://schemas.microsoft.com/office/drawing/2014/main" id="{94077275-3D8B-4BCD-9FC7-6A7E9E42675E}"/>
              </a:ext>
            </a:extLst>
          </p:cNvPr>
          <p:cNvSpPr>
            <a:spLocks xmlns:a="http://schemas.openxmlformats.org/drawingml/2006/main" noGrp="1"/>
          </p:cNvSpPr>
          <p:nvPr/>
        </p:nvSpPr>
        <p:spPr>
          <a:xfrm xmlns:a="http://schemas.openxmlformats.org/drawingml/2006/main">
            <a:off x="731520" y="3383280"/>
            <a:ext cx="4860036"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0B2545"/>
                </a:solidFill>
                <a:latin typeface="Cambria"/>
                <a:ea typeface="Cambria"/>
                <a:cs typeface="Cambria"/>
              </a:rPr>
              <a:t>Deep Learning Models</a:t>
            </a:r>
            <a:endParaRPr sz="1700"/>
          </a:p>
        </p:txBody>
      </p:sp>
      <p:sp>
        <p:nvSpPr>
          <p:cNvPr id="8" name="Text 6">
            <a:extLst xmlns:a="http://schemas.openxmlformats.org/drawingml/2006/main">
              <a:ext uri="{FF2B5EF4-FFF2-40B4-BE49-F238E27FC236}">
                <a16:creationId xmlns:a16="http://schemas.microsoft.com/office/drawing/2014/main" id="{C79CEBC3-5F43-4379-8DF3-2D698A93BF84}"/>
              </a:ext>
            </a:extLst>
          </p:cNvPr>
          <p:cNvSpPr>
            <a:spLocks xmlns:a="http://schemas.openxmlformats.org/drawingml/2006/main" noGrp="1"/>
          </p:cNvSpPr>
          <p:nvPr/>
        </p:nvSpPr>
        <p:spPr>
          <a:xfrm xmlns:a="http://schemas.openxmlformats.org/drawingml/2006/main">
            <a:off x="731520" y="3931920"/>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Require large volumes of labeled training data</a:t>
            </a:r>
            <a:endParaRPr sz="1200"/>
          </a:p>
        </p:txBody>
      </p:sp>
      <p:sp>
        <p:nvSpPr>
          <p:cNvPr id="9" name="Text 7">
            <a:extLst xmlns:a="http://schemas.openxmlformats.org/drawingml/2006/main">
              <a:ext uri="{FF2B5EF4-FFF2-40B4-BE49-F238E27FC236}">
                <a16:creationId xmlns:a16="http://schemas.microsoft.com/office/drawing/2014/main" id="{F47DE491-03B2-413E-800F-72B4070E0ED4}"/>
              </a:ext>
            </a:extLst>
          </p:cNvPr>
          <p:cNvSpPr>
            <a:spLocks xmlns:a="http://schemas.openxmlformats.org/drawingml/2006/main" noGrp="1"/>
          </p:cNvSpPr>
          <p:nvPr/>
        </p:nvSpPr>
        <p:spPr>
          <a:xfrm xmlns:a="http://schemas.openxmlformats.org/drawingml/2006/main">
            <a:off x="731520" y="4645152"/>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May produce physically inconsistent predictions</a:t>
            </a:r>
            <a:endParaRPr sz="1200"/>
          </a:p>
        </p:txBody>
      </p:sp>
      <p:sp>
        <p:nvSpPr>
          <p:cNvPr id="10" name="Text 8">
            <a:extLst xmlns:a="http://schemas.openxmlformats.org/drawingml/2006/main">
              <a:ext uri="{FF2B5EF4-FFF2-40B4-BE49-F238E27FC236}">
                <a16:creationId xmlns:a16="http://schemas.microsoft.com/office/drawing/2014/main" id="{5B333616-05A0-485A-B14F-231405453456}"/>
              </a:ext>
            </a:extLst>
          </p:cNvPr>
          <p:cNvSpPr>
            <a:spLocks xmlns:a="http://schemas.openxmlformats.org/drawingml/2006/main" noGrp="1"/>
          </p:cNvSpPr>
          <p:nvPr/>
        </p:nvSpPr>
        <p:spPr>
          <a:xfrm xmlns:a="http://schemas.openxmlformats.org/drawingml/2006/main">
            <a:off x="731520" y="5358384"/>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Limited generalization to unseen operating conditions</a:t>
            </a:r>
            <a:endParaRPr sz="1200"/>
          </a:p>
        </p:txBody>
      </p:sp>
      <p:sp>
        <p:nvSpPr>
          <p:cNvPr id="11" name="Shape 9">
            <a:extLst xmlns:a="http://schemas.openxmlformats.org/drawingml/2006/main">
              <a:ext uri="{FF2B5EF4-FFF2-40B4-BE49-F238E27FC236}">
                <a16:creationId xmlns:a16="http://schemas.microsoft.com/office/drawing/2014/main" id="{41AA81B6-4B1E-4D4A-990E-1CDC579DADE4}"/>
              </a:ext>
            </a:extLst>
          </p:cNvPr>
          <p:cNvSpPr>
            <a:spLocks xmlns:a="http://schemas.openxmlformats.org/drawingml/2006/main" noGrp="1"/>
          </p:cNvSpPr>
          <p:nvPr/>
        </p:nvSpPr>
        <p:spPr>
          <a:xfrm xmlns:a="http://schemas.openxmlformats.org/drawingml/2006/main">
            <a:off x="6323076" y="2514600"/>
            <a:ext cx="5408676" cy="3749040"/>
          </a:xfrm>
          <a:prstGeom xmlns:a="http://schemas.openxmlformats.org/drawingml/2006/main" prst="roundRect">
            <a:avLst>
              <a:gd name="adj" fmla="val 1951"/>
            </a:avLst>
          </a:prstGeom>
          <a:solidFill xmlns:a="http://schemas.openxmlformats.org/drawingml/2006/main">
            <a:srgbClr val="F2F6F8"/>
          </a:solidFill>
        </p:spPr>
      </p:sp>
      <p:sp>
        <p:nvSpPr>
          <p:cNvPr id="12" name="Shape 10">
            <a:extLst xmlns:a="http://schemas.openxmlformats.org/drawingml/2006/main">
              <a:ext uri="{FF2B5EF4-FFF2-40B4-BE49-F238E27FC236}">
                <a16:creationId xmlns:a16="http://schemas.microsoft.com/office/drawing/2014/main" id="{AA39861B-0C2C-4C97-925B-1BD88D9048D1}"/>
              </a:ext>
            </a:extLst>
          </p:cNvPr>
          <p:cNvSpPr>
            <a:spLocks xmlns:a="http://schemas.openxmlformats.org/drawingml/2006/main" noGrp="1"/>
          </p:cNvSpPr>
          <p:nvPr/>
        </p:nvSpPr>
        <p:spPr>
          <a:xfrm xmlns:a="http://schemas.openxmlformats.org/drawingml/2006/main">
            <a:off x="6597396" y="2788920"/>
            <a:ext cx="457200" cy="457200"/>
          </a:xfrm>
          <a:prstGeom xmlns:a="http://schemas.openxmlformats.org/drawingml/2006/main" prst="roundRect">
            <a:avLst>
              <a:gd name="adj" fmla="val 50000"/>
            </a:avLst>
          </a:prstGeom>
          <a:solidFill xmlns:a="http://schemas.openxmlformats.org/drawingml/2006/main">
            <a:srgbClr val="13355E"/>
          </a:solidFill>
        </p:spPr>
      </p:sp>
      <p:sp>
        <p:nvSpPr>
          <p:cNvPr id="13" name="Text 11">
            <a:extLst xmlns:a="http://schemas.openxmlformats.org/drawingml/2006/main">
              <a:ext uri="{FF2B5EF4-FFF2-40B4-BE49-F238E27FC236}">
                <a16:creationId xmlns:a16="http://schemas.microsoft.com/office/drawing/2014/main" id="{ED3D7720-D9A3-48EE-BFEA-A5AF86C7A698}"/>
              </a:ext>
            </a:extLst>
          </p:cNvPr>
          <p:cNvSpPr>
            <a:spLocks xmlns:a="http://schemas.openxmlformats.org/drawingml/2006/main" noGrp="1"/>
          </p:cNvSpPr>
          <p:nvPr/>
        </p:nvSpPr>
        <p:spPr>
          <a:xfrm xmlns:a="http://schemas.openxmlformats.org/drawingml/2006/main">
            <a:off x="6597396" y="3383280"/>
            <a:ext cx="4860036"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0B2545"/>
                </a:solidFill>
                <a:latin typeface="Cambria"/>
                <a:ea typeface="Cambria"/>
                <a:cs typeface="Cambria"/>
              </a:rPr>
              <a:t>Physics-Based Models</a:t>
            </a:r>
            <a:endParaRPr sz="1700"/>
          </a:p>
        </p:txBody>
      </p:sp>
      <p:sp>
        <p:nvSpPr>
          <p:cNvPr id="14" name="Text 12">
            <a:extLst xmlns:a="http://schemas.openxmlformats.org/drawingml/2006/main">
              <a:ext uri="{FF2B5EF4-FFF2-40B4-BE49-F238E27FC236}">
                <a16:creationId xmlns:a16="http://schemas.microsoft.com/office/drawing/2014/main" id="{C8642BC8-E182-4A9D-8258-83C7E854A7A4}"/>
              </a:ext>
            </a:extLst>
          </p:cNvPr>
          <p:cNvSpPr>
            <a:spLocks xmlns:a="http://schemas.openxmlformats.org/drawingml/2006/main" noGrp="1"/>
          </p:cNvSpPr>
          <p:nvPr/>
        </p:nvSpPr>
        <p:spPr>
          <a:xfrm xmlns:a="http://schemas.openxmlformats.org/drawingml/2006/main">
            <a:off x="6597396" y="3931920"/>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Computationally expensive to run</a:t>
            </a:r>
            <a:endParaRPr sz="1200"/>
          </a:p>
        </p:txBody>
      </p:sp>
      <p:sp>
        <p:nvSpPr>
          <p:cNvPr id="15" name="Text 13">
            <a:extLst xmlns:a="http://schemas.openxmlformats.org/drawingml/2006/main">
              <a:ext uri="{FF2B5EF4-FFF2-40B4-BE49-F238E27FC236}">
                <a16:creationId xmlns:a16="http://schemas.microsoft.com/office/drawing/2014/main" id="{495E9F76-5138-4365-BA41-CA25F7B8935C}"/>
              </a:ext>
            </a:extLst>
          </p:cNvPr>
          <p:cNvSpPr>
            <a:spLocks xmlns:a="http://schemas.openxmlformats.org/drawingml/2006/main" noGrp="1"/>
          </p:cNvSpPr>
          <p:nvPr/>
        </p:nvSpPr>
        <p:spPr>
          <a:xfrm xmlns:a="http://schemas.openxmlformats.org/drawingml/2006/main">
            <a:off x="6597396" y="4645152"/>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Difficult to deploy for real-time estimation</a:t>
            </a:r>
            <a:endParaRPr sz="1200"/>
          </a:p>
        </p:txBody>
      </p:sp>
      <p:sp>
        <p:nvSpPr>
          <p:cNvPr id="16" name="Text 14">
            <a:extLst xmlns:a="http://schemas.openxmlformats.org/drawingml/2006/main">
              <a:ext uri="{FF2B5EF4-FFF2-40B4-BE49-F238E27FC236}">
                <a16:creationId xmlns:a16="http://schemas.microsoft.com/office/drawing/2014/main" id="{1C7CFC65-71D6-4104-8CF5-1F00A4CDF6E2}"/>
              </a:ext>
            </a:extLst>
          </p:cNvPr>
          <p:cNvSpPr>
            <a:spLocks xmlns:a="http://schemas.openxmlformats.org/drawingml/2006/main" noGrp="1"/>
          </p:cNvSpPr>
          <p:nvPr/>
        </p:nvSpPr>
        <p:spPr>
          <a:xfrm xmlns:a="http://schemas.openxmlformats.org/drawingml/2006/main">
            <a:off x="6597396" y="5358384"/>
            <a:ext cx="4860036"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03200" indent="-203200">
              <a:lnSpc>
                <a:spcPts val="1500"/>
              </a:lnSpc>
              <a:buSzPct val="100000"/>
              <a:buChar char="■"/>
            </a:pPr>
            <a:r>
              <a:rPr sz="1200">
                <a:solidFill>
                  <a:srgbClr val="222B33"/>
                </a:solidFill>
                <a:latin typeface="Calibri"/>
                <a:ea typeface="Calibri"/>
                <a:cs typeface="Calibri"/>
              </a:rPr>
              <a:t>Rely on complex electrochemical simulations</a:t>
            </a:r>
            <a:endParaRPr sz="1200"/>
          </a:p>
        </p:txBody>
      </p:sp>
      <p:sp>
        <p:nvSpPr>
          <p:cNvPr id="17" name="Text 15">
            <a:extLst xmlns:a="http://schemas.openxmlformats.org/drawingml/2006/main">
              <a:ext uri="{FF2B5EF4-FFF2-40B4-BE49-F238E27FC236}">
                <a16:creationId xmlns:a16="http://schemas.microsoft.com/office/drawing/2014/main" id="{4D2E1F3C-29AF-414F-AD35-0348DCD889F8}"/>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8" name="Text 16">
            <a:extLst xmlns:a="http://schemas.openxmlformats.org/drawingml/2006/main">
              <a:ext uri="{FF2B5EF4-FFF2-40B4-BE49-F238E27FC236}">
                <a16:creationId xmlns:a16="http://schemas.microsoft.com/office/drawing/2014/main" id="{5758F383-EA6F-4892-8C2D-44FA76104497}"/>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3 / 10</a:t>
            </a:r>
            <a:endParaRPr sz="900"/>
          </a:p>
        </p:txBody>
      </p:sp>
    </p:spTree>
    <p:extLst>
      <p:ext uri="{BB962C8B-B14F-4D97-AF65-F5344CB8AC3E}">
        <p14:creationId xmlns:p14="http://schemas.microsoft.com/office/powerpoint/2010/main" val="20330160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1B40FB-833B-439D-8B5E-7F2A744BAE4E}"/>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SYSTEM DESIGN</a:t>
            </a:r>
            <a:endParaRPr sz="1200"/>
          </a:p>
        </p:txBody>
      </p:sp>
      <p:sp>
        <p:nvSpPr>
          <p:cNvPr id="3" name="Text 1">
            <a:extLst xmlns:a="http://schemas.openxmlformats.org/drawingml/2006/main">
              <a:ext uri="{FF2B5EF4-FFF2-40B4-BE49-F238E27FC236}">
                <a16:creationId xmlns:a16="http://schemas.microsoft.com/office/drawing/2014/main" id="{1FE6FB9B-6075-4D9D-82A5-097D5D541200}"/>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Proposed Approach &amp; Architecture</a:t>
            </a:r>
            <a:endParaRPr sz="2800"/>
          </a:p>
        </p:txBody>
      </p:sp>
      <p:sp>
        <p:nvSpPr>
          <p:cNvPr id="4" name="Text 2">
            <a:extLst xmlns:a="http://schemas.openxmlformats.org/drawingml/2006/main">
              <a:ext uri="{FF2B5EF4-FFF2-40B4-BE49-F238E27FC236}">
                <a16:creationId xmlns:a16="http://schemas.microsoft.com/office/drawing/2014/main" id="{43CC74DD-ABCB-4709-8247-9A6F05B51744}"/>
              </a:ext>
            </a:extLst>
          </p:cNvPr>
          <p:cNvSpPr>
            <a:spLocks xmlns:a="http://schemas.openxmlformats.org/drawingml/2006/main" noGrp="1"/>
          </p:cNvSpPr>
          <p:nvPr/>
        </p:nvSpPr>
        <p:spPr>
          <a:xfrm xmlns:a="http://schemas.openxmlformats.org/drawingml/2006/main">
            <a:off x="457200" y="1371600"/>
            <a:ext cx="11274552"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250">
                <a:solidFill>
                  <a:srgbClr val="222B33"/>
                </a:solidFill>
                <a:latin typeface="Calibri"/>
                <a:ea typeface="Calibri"/>
                <a:cs typeface="Calibri"/>
              </a:rPr>
              <a:t>Real-time sensor data, electrochemical battery physics and deep learning combine to estimate SOH and RUL. The Digital Twin continuously adapts to new battery behaviour through incremental learning — no full retraining required.</a:t>
            </a:r>
            <a:endParaRPr sz="1250"/>
          </a:p>
        </p:txBody>
      </p:sp>
      <p:sp>
        <p:nvSpPr>
          <p:cNvPr id="5" name="Shape 3">
            <a:extLst xmlns:a="http://schemas.openxmlformats.org/drawingml/2006/main">
              <a:ext uri="{FF2B5EF4-FFF2-40B4-BE49-F238E27FC236}">
                <a16:creationId xmlns:a16="http://schemas.microsoft.com/office/drawing/2014/main" id="{E6B696A4-9BA4-4F5E-9C88-9DE123718DBF}"/>
              </a:ext>
            </a:extLst>
          </p:cNvPr>
          <p:cNvSpPr>
            <a:spLocks xmlns:a="http://schemas.openxmlformats.org/drawingml/2006/main" noGrp="1"/>
          </p:cNvSpPr>
          <p:nvPr/>
        </p:nvSpPr>
        <p:spPr>
          <a:xfrm xmlns:a="http://schemas.openxmlformats.org/drawingml/2006/main">
            <a:off x="457200"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6" name="Shape 4">
            <a:extLst xmlns:a="http://schemas.openxmlformats.org/drawingml/2006/main">
              <a:ext uri="{FF2B5EF4-FFF2-40B4-BE49-F238E27FC236}">
                <a16:creationId xmlns:a16="http://schemas.microsoft.com/office/drawing/2014/main" id="{86B466C2-BEE0-4FD6-B311-AEBC96F9F037}"/>
              </a:ext>
            </a:extLst>
          </p:cNvPr>
          <p:cNvSpPr>
            <a:spLocks xmlns:a="http://schemas.openxmlformats.org/drawingml/2006/main" noGrp="1"/>
          </p:cNvSpPr>
          <p:nvPr/>
        </p:nvSpPr>
        <p:spPr>
          <a:xfrm xmlns:a="http://schemas.openxmlformats.org/drawingml/2006/main">
            <a:off x="603504"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7" name="Text 5">
            <a:extLst xmlns:a="http://schemas.openxmlformats.org/drawingml/2006/main">
              <a:ext uri="{FF2B5EF4-FFF2-40B4-BE49-F238E27FC236}">
                <a16:creationId xmlns:a16="http://schemas.microsoft.com/office/drawing/2014/main" id="{A2DED683-6B46-4BC0-8C72-EE12B496AC39}"/>
              </a:ext>
            </a:extLst>
          </p:cNvPr>
          <p:cNvSpPr>
            <a:spLocks xmlns:a="http://schemas.openxmlformats.org/drawingml/2006/main" noGrp="1"/>
          </p:cNvSpPr>
          <p:nvPr/>
        </p:nvSpPr>
        <p:spPr>
          <a:xfrm xmlns:a="http://schemas.openxmlformats.org/drawingml/2006/main">
            <a:off x="603504"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8" name="Text 6">
            <a:extLst xmlns:a="http://schemas.openxmlformats.org/drawingml/2006/main">
              <a:ext uri="{FF2B5EF4-FFF2-40B4-BE49-F238E27FC236}">
                <a16:creationId xmlns:a16="http://schemas.microsoft.com/office/drawing/2014/main" id="{B4FAB551-81F6-4649-9622-1A3717E2AAB5}"/>
              </a:ext>
            </a:extLst>
          </p:cNvPr>
          <p:cNvSpPr>
            <a:spLocks xmlns:a="http://schemas.openxmlformats.org/drawingml/2006/main" noGrp="1"/>
          </p:cNvSpPr>
          <p:nvPr/>
        </p:nvSpPr>
        <p:spPr>
          <a:xfrm xmlns:a="http://schemas.openxmlformats.org/drawingml/2006/main">
            <a:off x="603504"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Historical Battery Dataset</a:t>
            </a:r>
            <a:endParaRPr sz="1250"/>
          </a:p>
        </p:txBody>
      </p:sp>
      <p:sp>
        <p:nvSpPr>
          <p:cNvPr id="9" name="Text 7">
            <a:extLst xmlns:a="http://schemas.openxmlformats.org/drawingml/2006/main">
              <a:ext uri="{FF2B5EF4-FFF2-40B4-BE49-F238E27FC236}">
                <a16:creationId xmlns:a16="http://schemas.microsoft.com/office/drawing/2014/main" id="{914FC478-30E0-4F1A-A0AB-2FC7C1D2552A}"/>
              </a:ext>
            </a:extLst>
          </p:cNvPr>
          <p:cNvSpPr>
            <a:spLocks xmlns:a="http://schemas.openxmlformats.org/drawingml/2006/main" noGrp="1"/>
          </p:cNvSpPr>
          <p:nvPr/>
        </p:nvSpPr>
        <p:spPr>
          <a:xfrm xmlns:a="http://schemas.openxmlformats.org/drawingml/2006/main">
            <a:off x="603504"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Voltage, current, temperature and cycling history feed the pipeline.</a:t>
            </a:r>
            <a:endParaRPr sz="1000"/>
          </a:p>
        </p:txBody>
      </p:sp>
      <p:sp>
        <p:nvSpPr>
          <p:cNvPr id="10" name="Shape 8">
            <a:extLst xmlns:a="http://schemas.openxmlformats.org/drawingml/2006/main">
              <a:ext uri="{FF2B5EF4-FFF2-40B4-BE49-F238E27FC236}">
                <a16:creationId xmlns:a16="http://schemas.microsoft.com/office/drawing/2014/main" id="{78642815-3CE5-4744-A00C-80345C489C4E}"/>
              </a:ext>
            </a:extLst>
          </p:cNvPr>
          <p:cNvSpPr>
            <a:spLocks xmlns:a="http://schemas.openxmlformats.org/drawingml/2006/main" noGrp="1"/>
          </p:cNvSpPr>
          <p:nvPr/>
        </p:nvSpPr>
        <p:spPr>
          <a:xfrm xmlns:a="http://schemas.openxmlformats.org/drawingml/2006/main">
            <a:off x="2347265" y="3415284"/>
            <a:ext cx="292608" cy="256032"/>
          </a:xfrm>
          <a:prstGeom xmlns:a="http://schemas.openxmlformats.org/drawingml/2006/main" prst="chevron">
            <a:avLst/>
          </a:prstGeom>
          <a:solidFill xmlns:a="http://schemas.openxmlformats.org/drawingml/2006/main">
            <a:srgbClr val="00A896"/>
          </a:solidFill>
        </p:spPr>
      </p:sp>
      <p:sp>
        <p:nvSpPr>
          <p:cNvPr id="11" name="Shape 9">
            <a:extLst xmlns:a="http://schemas.openxmlformats.org/drawingml/2006/main">
              <a:ext uri="{FF2B5EF4-FFF2-40B4-BE49-F238E27FC236}">
                <a16:creationId xmlns:a16="http://schemas.microsoft.com/office/drawing/2014/main" id="{0FA1D812-99C4-44C7-BFCD-368A19F7F53A}"/>
              </a:ext>
            </a:extLst>
          </p:cNvPr>
          <p:cNvSpPr>
            <a:spLocks xmlns:a="http://schemas.openxmlformats.org/drawingml/2006/main" noGrp="1"/>
          </p:cNvSpPr>
          <p:nvPr/>
        </p:nvSpPr>
        <p:spPr>
          <a:xfrm xmlns:a="http://schemas.openxmlformats.org/drawingml/2006/main">
            <a:off x="2810866"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12" name="Shape 10">
            <a:extLst xmlns:a="http://schemas.openxmlformats.org/drawingml/2006/main">
              <a:ext uri="{FF2B5EF4-FFF2-40B4-BE49-F238E27FC236}">
                <a16:creationId xmlns:a16="http://schemas.microsoft.com/office/drawing/2014/main" id="{CE641658-35B1-4EE9-850C-1FFA7CE9171F}"/>
              </a:ext>
            </a:extLst>
          </p:cNvPr>
          <p:cNvSpPr>
            <a:spLocks xmlns:a="http://schemas.openxmlformats.org/drawingml/2006/main" noGrp="1"/>
          </p:cNvSpPr>
          <p:nvPr/>
        </p:nvSpPr>
        <p:spPr>
          <a:xfrm xmlns:a="http://schemas.openxmlformats.org/drawingml/2006/main">
            <a:off x="2957170"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3" name="Text 11">
            <a:extLst xmlns:a="http://schemas.openxmlformats.org/drawingml/2006/main">
              <a:ext uri="{FF2B5EF4-FFF2-40B4-BE49-F238E27FC236}">
                <a16:creationId xmlns:a16="http://schemas.microsoft.com/office/drawing/2014/main" id="{85DC2B77-6F83-4F6A-B15D-DE16DE28435A}"/>
              </a:ext>
            </a:extLst>
          </p:cNvPr>
          <p:cNvSpPr>
            <a:spLocks xmlns:a="http://schemas.openxmlformats.org/drawingml/2006/main" noGrp="1"/>
          </p:cNvSpPr>
          <p:nvPr/>
        </p:nvSpPr>
        <p:spPr>
          <a:xfrm xmlns:a="http://schemas.openxmlformats.org/drawingml/2006/main">
            <a:off x="2957170"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4" name="Text 12">
            <a:extLst xmlns:a="http://schemas.openxmlformats.org/drawingml/2006/main">
              <a:ext uri="{FF2B5EF4-FFF2-40B4-BE49-F238E27FC236}">
                <a16:creationId xmlns:a16="http://schemas.microsoft.com/office/drawing/2014/main" id="{E7BFF22C-E1A0-4FA1-9BCD-B98D64202CC6}"/>
              </a:ext>
            </a:extLst>
          </p:cNvPr>
          <p:cNvSpPr>
            <a:spLocks xmlns:a="http://schemas.openxmlformats.org/drawingml/2006/main" noGrp="1"/>
          </p:cNvSpPr>
          <p:nvPr/>
        </p:nvSpPr>
        <p:spPr>
          <a:xfrm xmlns:a="http://schemas.openxmlformats.org/drawingml/2006/main">
            <a:off x="2957170"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Transformer Encoder</a:t>
            </a:r>
            <a:endParaRPr sz="1250"/>
          </a:p>
        </p:txBody>
      </p:sp>
      <p:sp>
        <p:nvSpPr>
          <p:cNvPr id="15" name="Text 13">
            <a:extLst xmlns:a="http://schemas.openxmlformats.org/drawingml/2006/main">
              <a:ext uri="{FF2B5EF4-FFF2-40B4-BE49-F238E27FC236}">
                <a16:creationId xmlns:a16="http://schemas.microsoft.com/office/drawing/2014/main" id="{E10372DE-C9C2-4AAC-A234-113AF3F30734}"/>
              </a:ext>
            </a:extLst>
          </p:cNvPr>
          <p:cNvSpPr>
            <a:spLocks xmlns:a="http://schemas.openxmlformats.org/drawingml/2006/main" noGrp="1"/>
          </p:cNvSpPr>
          <p:nvPr/>
        </p:nvSpPr>
        <p:spPr>
          <a:xfrm xmlns:a="http://schemas.openxmlformats.org/drawingml/2006/main">
            <a:off x="2957170"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Learns long-term degradation patterns across sensor streams.</a:t>
            </a:r>
            <a:endParaRPr sz="1000"/>
          </a:p>
        </p:txBody>
      </p:sp>
      <p:sp>
        <p:nvSpPr>
          <p:cNvPr id="16" name="Shape 14">
            <a:extLst xmlns:a="http://schemas.openxmlformats.org/drawingml/2006/main">
              <a:ext uri="{FF2B5EF4-FFF2-40B4-BE49-F238E27FC236}">
                <a16:creationId xmlns:a16="http://schemas.microsoft.com/office/drawing/2014/main" id="{FC9FB6A3-C286-43D4-A40C-E2377526A864}"/>
              </a:ext>
            </a:extLst>
          </p:cNvPr>
          <p:cNvSpPr>
            <a:spLocks xmlns:a="http://schemas.openxmlformats.org/drawingml/2006/main" noGrp="1"/>
          </p:cNvSpPr>
          <p:nvPr/>
        </p:nvSpPr>
        <p:spPr>
          <a:xfrm xmlns:a="http://schemas.openxmlformats.org/drawingml/2006/main">
            <a:off x="4700930" y="3415284"/>
            <a:ext cx="292608" cy="256032"/>
          </a:xfrm>
          <a:prstGeom xmlns:a="http://schemas.openxmlformats.org/drawingml/2006/main" prst="chevron">
            <a:avLst/>
          </a:prstGeom>
          <a:solidFill xmlns:a="http://schemas.openxmlformats.org/drawingml/2006/main">
            <a:srgbClr val="00A896"/>
          </a:solidFill>
        </p:spPr>
      </p:sp>
      <p:sp>
        <p:nvSpPr>
          <p:cNvPr id="17" name="Shape 15">
            <a:extLst xmlns:a="http://schemas.openxmlformats.org/drawingml/2006/main">
              <a:ext uri="{FF2B5EF4-FFF2-40B4-BE49-F238E27FC236}">
                <a16:creationId xmlns:a16="http://schemas.microsoft.com/office/drawing/2014/main" id="{CA451785-2A1A-4B06-AE53-E72D38672593}"/>
              </a:ext>
            </a:extLst>
          </p:cNvPr>
          <p:cNvSpPr>
            <a:spLocks xmlns:a="http://schemas.openxmlformats.org/drawingml/2006/main" noGrp="1"/>
          </p:cNvSpPr>
          <p:nvPr/>
        </p:nvSpPr>
        <p:spPr>
          <a:xfrm xmlns:a="http://schemas.openxmlformats.org/drawingml/2006/main">
            <a:off x="5164531"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18" name="Shape 16">
            <a:extLst xmlns:a="http://schemas.openxmlformats.org/drawingml/2006/main">
              <a:ext uri="{FF2B5EF4-FFF2-40B4-BE49-F238E27FC236}">
                <a16:creationId xmlns:a16="http://schemas.microsoft.com/office/drawing/2014/main" id="{B5465E8E-4940-4EF9-A182-86DC9A3103D1}"/>
              </a:ext>
            </a:extLst>
          </p:cNvPr>
          <p:cNvSpPr>
            <a:spLocks xmlns:a="http://schemas.openxmlformats.org/drawingml/2006/main" noGrp="1"/>
          </p:cNvSpPr>
          <p:nvPr/>
        </p:nvSpPr>
        <p:spPr>
          <a:xfrm xmlns:a="http://schemas.openxmlformats.org/drawingml/2006/main">
            <a:off x="5310835"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9" name="Text 17">
            <a:extLst xmlns:a="http://schemas.openxmlformats.org/drawingml/2006/main">
              <a:ext uri="{FF2B5EF4-FFF2-40B4-BE49-F238E27FC236}">
                <a16:creationId xmlns:a16="http://schemas.microsoft.com/office/drawing/2014/main" id="{C8FA3267-1810-4B2C-AB98-BFAAEB7A958A}"/>
              </a:ext>
            </a:extLst>
          </p:cNvPr>
          <p:cNvSpPr>
            <a:spLocks xmlns:a="http://schemas.openxmlformats.org/drawingml/2006/main" noGrp="1"/>
          </p:cNvSpPr>
          <p:nvPr/>
        </p:nvSpPr>
        <p:spPr>
          <a:xfrm xmlns:a="http://schemas.openxmlformats.org/drawingml/2006/main">
            <a:off x="5310835"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20" name="Text 18">
            <a:extLst xmlns:a="http://schemas.openxmlformats.org/drawingml/2006/main">
              <a:ext uri="{FF2B5EF4-FFF2-40B4-BE49-F238E27FC236}">
                <a16:creationId xmlns:a16="http://schemas.microsoft.com/office/drawing/2014/main" id="{8E6C3800-5C2C-40A5-82FA-AA5F03AC4C46}"/>
              </a:ext>
            </a:extLst>
          </p:cNvPr>
          <p:cNvSpPr>
            <a:spLocks xmlns:a="http://schemas.openxmlformats.org/drawingml/2006/main" noGrp="1"/>
          </p:cNvSpPr>
          <p:nvPr/>
        </p:nvSpPr>
        <p:spPr>
          <a:xfrm xmlns:a="http://schemas.openxmlformats.org/drawingml/2006/main">
            <a:off x="5310835"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PINN Layer</a:t>
            </a:r>
            <a:endParaRPr sz="1250"/>
          </a:p>
        </p:txBody>
      </p:sp>
      <p:sp>
        <p:nvSpPr>
          <p:cNvPr id="21" name="Text 19">
            <a:extLst xmlns:a="http://schemas.openxmlformats.org/drawingml/2006/main">
              <a:ext uri="{FF2B5EF4-FFF2-40B4-BE49-F238E27FC236}">
                <a16:creationId xmlns:a16="http://schemas.microsoft.com/office/drawing/2014/main" id="{FE6719E2-CA9D-42AF-9714-574222A61427}"/>
              </a:ext>
            </a:extLst>
          </p:cNvPr>
          <p:cNvSpPr>
            <a:spLocks xmlns:a="http://schemas.openxmlformats.org/drawingml/2006/main" noGrp="1"/>
          </p:cNvSpPr>
          <p:nvPr/>
        </p:nvSpPr>
        <p:spPr>
          <a:xfrm xmlns:a="http://schemas.openxmlformats.org/drawingml/2006/main">
            <a:off x="5310835"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Embeds electrochemical physics so outputs stay physically consistent.</a:t>
            </a:r>
            <a:endParaRPr sz="1000"/>
          </a:p>
        </p:txBody>
      </p:sp>
      <p:sp>
        <p:nvSpPr>
          <p:cNvPr id="22" name="Shape 20">
            <a:extLst xmlns:a="http://schemas.openxmlformats.org/drawingml/2006/main">
              <a:ext uri="{FF2B5EF4-FFF2-40B4-BE49-F238E27FC236}">
                <a16:creationId xmlns:a16="http://schemas.microsoft.com/office/drawing/2014/main" id="{1A04588F-8800-4BB9-B54F-8D0CC7D30D8F}"/>
              </a:ext>
            </a:extLst>
          </p:cNvPr>
          <p:cNvSpPr>
            <a:spLocks xmlns:a="http://schemas.openxmlformats.org/drawingml/2006/main" noGrp="1"/>
          </p:cNvSpPr>
          <p:nvPr/>
        </p:nvSpPr>
        <p:spPr>
          <a:xfrm xmlns:a="http://schemas.openxmlformats.org/drawingml/2006/main">
            <a:off x="7054596" y="3415284"/>
            <a:ext cx="292608" cy="256032"/>
          </a:xfrm>
          <a:prstGeom xmlns:a="http://schemas.openxmlformats.org/drawingml/2006/main" prst="chevron">
            <a:avLst/>
          </a:prstGeom>
          <a:solidFill xmlns:a="http://schemas.openxmlformats.org/drawingml/2006/main">
            <a:srgbClr val="00A896"/>
          </a:solidFill>
        </p:spPr>
      </p:sp>
      <p:sp>
        <p:nvSpPr>
          <p:cNvPr id="23" name="Shape 21">
            <a:extLst xmlns:a="http://schemas.openxmlformats.org/drawingml/2006/main">
              <a:ext uri="{FF2B5EF4-FFF2-40B4-BE49-F238E27FC236}">
                <a16:creationId xmlns:a16="http://schemas.microsoft.com/office/drawing/2014/main" id="{28F6A879-8F0E-44E7-90BF-38D7A8FC4BAA}"/>
              </a:ext>
            </a:extLst>
          </p:cNvPr>
          <p:cNvSpPr>
            <a:spLocks xmlns:a="http://schemas.openxmlformats.org/drawingml/2006/main" noGrp="1"/>
          </p:cNvSpPr>
          <p:nvPr/>
        </p:nvSpPr>
        <p:spPr>
          <a:xfrm xmlns:a="http://schemas.openxmlformats.org/drawingml/2006/main">
            <a:off x="7518197" y="2377440"/>
            <a:ext cx="1859890" cy="2331720"/>
          </a:xfrm>
          <a:prstGeom xmlns:a="http://schemas.openxmlformats.org/drawingml/2006/main" prst="roundRect">
            <a:avLst>
              <a:gd name="adj" fmla="val 3441"/>
            </a:avLst>
          </a:prstGeom>
          <a:solidFill xmlns:a="http://schemas.openxmlformats.org/drawingml/2006/main">
            <a:srgbClr val="F2F6F8"/>
          </a:solidFill>
        </p:spPr>
      </p:sp>
      <p:sp>
        <p:nvSpPr>
          <p:cNvPr id="24" name="Shape 22">
            <a:extLst xmlns:a="http://schemas.openxmlformats.org/drawingml/2006/main">
              <a:ext uri="{FF2B5EF4-FFF2-40B4-BE49-F238E27FC236}">
                <a16:creationId xmlns:a16="http://schemas.microsoft.com/office/drawing/2014/main" id="{E8683BD7-EEC2-45C9-828E-155E495CDEB3}"/>
              </a:ext>
            </a:extLst>
          </p:cNvPr>
          <p:cNvSpPr>
            <a:spLocks xmlns:a="http://schemas.openxmlformats.org/drawingml/2006/main" noGrp="1"/>
          </p:cNvSpPr>
          <p:nvPr/>
        </p:nvSpPr>
        <p:spPr>
          <a:xfrm xmlns:a="http://schemas.openxmlformats.org/drawingml/2006/main">
            <a:off x="7664501"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25" name="Text 23">
            <a:extLst xmlns:a="http://schemas.openxmlformats.org/drawingml/2006/main">
              <a:ext uri="{FF2B5EF4-FFF2-40B4-BE49-F238E27FC236}">
                <a16:creationId xmlns:a16="http://schemas.microsoft.com/office/drawing/2014/main" id="{16920A0D-1ED7-4877-ADDD-96FA95662EAE}"/>
              </a:ext>
            </a:extLst>
          </p:cNvPr>
          <p:cNvSpPr>
            <a:spLocks xmlns:a="http://schemas.openxmlformats.org/drawingml/2006/main" noGrp="1"/>
          </p:cNvSpPr>
          <p:nvPr/>
        </p:nvSpPr>
        <p:spPr>
          <a:xfrm xmlns:a="http://schemas.openxmlformats.org/drawingml/2006/main">
            <a:off x="7664501"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26" name="Text 24">
            <a:extLst xmlns:a="http://schemas.openxmlformats.org/drawingml/2006/main">
              <a:ext uri="{FF2B5EF4-FFF2-40B4-BE49-F238E27FC236}">
                <a16:creationId xmlns:a16="http://schemas.microsoft.com/office/drawing/2014/main" id="{764D7045-8A46-4555-9B08-E5D73930DE89}"/>
              </a:ext>
            </a:extLst>
          </p:cNvPr>
          <p:cNvSpPr>
            <a:spLocks xmlns:a="http://schemas.openxmlformats.org/drawingml/2006/main" noGrp="1"/>
          </p:cNvSpPr>
          <p:nvPr/>
        </p:nvSpPr>
        <p:spPr>
          <a:xfrm xmlns:a="http://schemas.openxmlformats.org/drawingml/2006/main">
            <a:off x="7664501"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0B2545"/>
                </a:solidFill>
                <a:latin typeface="Cambria"/>
                <a:ea typeface="Cambria"/>
                <a:cs typeface="Cambria"/>
              </a:rPr>
              <a:t>Feedforward NN</a:t>
            </a:r>
            <a:endParaRPr sz="1250"/>
          </a:p>
        </p:txBody>
      </p:sp>
      <p:sp>
        <p:nvSpPr>
          <p:cNvPr id="27" name="Text 25">
            <a:extLst xmlns:a="http://schemas.openxmlformats.org/drawingml/2006/main">
              <a:ext uri="{FF2B5EF4-FFF2-40B4-BE49-F238E27FC236}">
                <a16:creationId xmlns:a16="http://schemas.microsoft.com/office/drawing/2014/main" id="{88D62B66-BC16-4E3D-83AE-3499BCB3C544}"/>
              </a:ext>
            </a:extLst>
          </p:cNvPr>
          <p:cNvSpPr>
            <a:spLocks xmlns:a="http://schemas.openxmlformats.org/drawingml/2006/main" noGrp="1"/>
          </p:cNvSpPr>
          <p:nvPr/>
        </p:nvSpPr>
        <p:spPr>
          <a:xfrm xmlns:a="http://schemas.openxmlformats.org/drawingml/2006/main">
            <a:off x="7664501"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5B6B79"/>
                </a:solidFill>
                <a:latin typeface="Calibri"/>
                <a:ea typeface="Calibri"/>
                <a:cs typeface="Calibri"/>
              </a:rPr>
              <a:t>Produces final SOH and RUL predictions.</a:t>
            </a:r>
            <a:endParaRPr sz="1000"/>
          </a:p>
        </p:txBody>
      </p:sp>
      <p:sp>
        <p:nvSpPr>
          <p:cNvPr id="28" name="Shape 26">
            <a:extLst xmlns:a="http://schemas.openxmlformats.org/drawingml/2006/main">
              <a:ext uri="{FF2B5EF4-FFF2-40B4-BE49-F238E27FC236}">
                <a16:creationId xmlns:a16="http://schemas.microsoft.com/office/drawing/2014/main" id="{5B1B5767-0437-4BF2-8FB9-990520435CF8}"/>
              </a:ext>
            </a:extLst>
          </p:cNvPr>
          <p:cNvSpPr>
            <a:spLocks xmlns:a="http://schemas.openxmlformats.org/drawingml/2006/main" noGrp="1"/>
          </p:cNvSpPr>
          <p:nvPr/>
        </p:nvSpPr>
        <p:spPr>
          <a:xfrm xmlns:a="http://schemas.openxmlformats.org/drawingml/2006/main">
            <a:off x="9408262" y="3415284"/>
            <a:ext cx="292608" cy="256032"/>
          </a:xfrm>
          <a:prstGeom xmlns:a="http://schemas.openxmlformats.org/drawingml/2006/main" prst="chevron">
            <a:avLst/>
          </a:prstGeom>
          <a:solidFill xmlns:a="http://schemas.openxmlformats.org/drawingml/2006/main">
            <a:srgbClr val="00A896"/>
          </a:solidFill>
        </p:spPr>
      </p:sp>
      <p:sp>
        <p:nvSpPr>
          <p:cNvPr id="29" name="Shape 27">
            <a:extLst xmlns:a="http://schemas.openxmlformats.org/drawingml/2006/main">
              <a:ext uri="{FF2B5EF4-FFF2-40B4-BE49-F238E27FC236}">
                <a16:creationId xmlns:a16="http://schemas.microsoft.com/office/drawing/2014/main" id="{2CEDEEA9-7EF0-4018-92BB-7A4A2874CA1C}"/>
              </a:ext>
            </a:extLst>
          </p:cNvPr>
          <p:cNvSpPr>
            <a:spLocks xmlns:a="http://schemas.openxmlformats.org/drawingml/2006/main" noGrp="1"/>
          </p:cNvSpPr>
          <p:nvPr/>
        </p:nvSpPr>
        <p:spPr>
          <a:xfrm xmlns:a="http://schemas.openxmlformats.org/drawingml/2006/main">
            <a:off x="9871862" y="2377440"/>
            <a:ext cx="1859890" cy="2331720"/>
          </a:xfrm>
          <a:prstGeom xmlns:a="http://schemas.openxmlformats.org/drawingml/2006/main" prst="roundRect">
            <a:avLst>
              <a:gd name="adj" fmla="val 3441"/>
            </a:avLst>
          </a:prstGeom>
          <a:solidFill xmlns:a="http://schemas.openxmlformats.org/drawingml/2006/main">
            <a:srgbClr val="0B2545"/>
          </a:solidFill>
        </p:spPr>
      </p:sp>
      <p:sp>
        <p:nvSpPr>
          <p:cNvPr id="30" name="Shape 28">
            <a:extLst xmlns:a="http://schemas.openxmlformats.org/drawingml/2006/main">
              <a:ext uri="{FF2B5EF4-FFF2-40B4-BE49-F238E27FC236}">
                <a16:creationId xmlns:a16="http://schemas.microsoft.com/office/drawing/2014/main" id="{BE4CC0EE-E612-43FF-8C96-18CB7DBD251B}"/>
              </a:ext>
            </a:extLst>
          </p:cNvPr>
          <p:cNvSpPr>
            <a:spLocks xmlns:a="http://schemas.openxmlformats.org/drawingml/2006/main" noGrp="1"/>
          </p:cNvSpPr>
          <p:nvPr/>
        </p:nvSpPr>
        <p:spPr>
          <a:xfrm xmlns:a="http://schemas.openxmlformats.org/drawingml/2006/main">
            <a:off x="10018166" y="256032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31" name="Text 29">
            <a:extLst xmlns:a="http://schemas.openxmlformats.org/drawingml/2006/main">
              <a:ext uri="{FF2B5EF4-FFF2-40B4-BE49-F238E27FC236}">
                <a16:creationId xmlns:a16="http://schemas.microsoft.com/office/drawing/2014/main" id="{598C48CC-BE8F-45E0-AA12-4CD5F5D8BA25}"/>
              </a:ext>
            </a:extLst>
          </p:cNvPr>
          <p:cNvSpPr>
            <a:spLocks xmlns:a="http://schemas.openxmlformats.org/drawingml/2006/main" noGrp="1"/>
          </p:cNvSpPr>
          <p:nvPr/>
        </p:nvSpPr>
        <p:spPr>
          <a:xfrm xmlns:a="http://schemas.openxmlformats.org/drawingml/2006/main">
            <a:off x="10018166" y="256032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32" name="Text 30">
            <a:extLst xmlns:a="http://schemas.openxmlformats.org/drawingml/2006/main">
              <a:ext uri="{FF2B5EF4-FFF2-40B4-BE49-F238E27FC236}">
                <a16:creationId xmlns:a16="http://schemas.microsoft.com/office/drawing/2014/main" id="{F41DF1B9-52B8-41F1-BFD1-CE660CECC411}"/>
              </a:ext>
            </a:extLst>
          </p:cNvPr>
          <p:cNvSpPr>
            <a:spLocks xmlns:a="http://schemas.openxmlformats.org/drawingml/2006/main" noGrp="1"/>
          </p:cNvSpPr>
          <p:nvPr/>
        </p:nvSpPr>
        <p:spPr>
          <a:xfrm xmlns:a="http://schemas.openxmlformats.org/drawingml/2006/main">
            <a:off x="10018166" y="2999232"/>
            <a:ext cx="1567282"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50" b="1">
                <a:solidFill>
                  <a:srgbClr val="FFFFFF"/>
                </a:solidFill>
                <a:latin typeface="Cambria"/>
                <a:ea typeface="Cambria"/>
                <a:cs typeface="Cambria"/>
              </a:rPr>
              <a:t>Adaptive Learning Module</a:t>
            </a:r>
            <a:endParaRPr sz="1250"/>
          </a:p>
        </p:txBody>
      </p:sp>
      <p:sp>
        <p:nvSpPr>
          <p:cNvPr id="33" name="Text 31">
            <a:extLst xmlns:a="http://schemas.openxmlformats.org/drawingml/2006/main">
              <a:ext uri="{FF2B5EF4-FFF2-40B4-BE49-F238E27FC236}">
                <a16:creationId xmlns:a16="http://schemas.microsoft.com/office/drawing/2014/main" id="{86CE6737-3729-4C3F-9852-10FE828AB54F}"/>
              </a:ext>
            </a:extLst>
          </p:cNvPr>
          <p:cNvSpPr>
            <a:spLocks xmlns:a="http://schemas.openxmlformats.org/drawingml/2006/main" noGrp="1"/>
          </p:cNvSpPr>
          <p:nvPr/>
        </p:nvSpPr>
        <p:spPr>
          <a:xfrm xmlns:a="http://schemas.openxmlformats.org/drawingml/2006/main">
            <a:off x="10018166" y="3584448"/>
            <a:ext cx="1567282"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1000">
                <a:solidFill>
                  <a:srgbClr val="CBDCE8"/>
                </a:solidFill>
                <a:latin typeface="Calibri"/>
                <a:ea typeface="Calibri"/>
                <a:cs typeface="Calibri"/>
              </a:rPr>
              <a:t>Detects behaviour shifts and updates the twin incrementally.</a:t>
            </a:r>
            <a:endParaRPr sz="1000"/>
          </a:p>
        </p:txBody>
      </p:sp>
      <p:sp>
        <p:nvSpPr>
          <p:cNvPr id="34" name="Text 32">
            <a:extLst xmlns:a="http://schemas.openxmlformats.org/drawingml/2006/main">
              <a:ext uri="{FF2B5EF4-FFF2-40B4-BE49-F238E27FC236}">
                <a16:creationId xmlns:a16="http://schemas.microsoft.com/office/drawing/2014/main" id="{39B2FE03-9850-4BE0-8977-BAEC7A8A48E7}"/>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35" name="Text 33">
            <a:extLst xmlns:a="http://schemas.openxmlformats.org/drawingml/2006/main">
              <a:ext uri="{FF2B5EF4-FFF2-40B4-BE49-F238E27FC236}">
                <a16:creationId xmlns:a16="http://schemas.microsoft.com/office/drawing/2014/main" id="{F61177A6-54F6-48A4-A6EB-8518552D0151}"/>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4 / 10</a:t>
            </a:r>
            <a:endParaRPr sz="900"/>
          </a:p>
        </p:txBody>
      </p:sp>
    </p:spTree>
    <p:extLst>
      <p:ext uri="{BB962C8B-B14F-4D97-AF65-F5344CB8AC3E}">
        <p14:creationId xmlns:p14="http://schemas.microsoft.com/office/powerpoint/2010/main" val="1774034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7E37F1-E5E4-4B07-8461-8458A910656D}"/>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FOUNDATION REFERENCE</a:t>
            </a:r>
            <a:endParaRPr sz="1200"/>
          </a:p>
        </p:txBody>
      </p:sp>
      <p:sp>
        <p:nvSpPr>
          <p:cNvPr id="3" name="Text 1">
            <a:extLst xmlns:a="http://schemas.openxmlformats.org/drawingml/2006/main">
              <a:ext uri="{FF2B5EF4-FFF2-40B4-BE49-F238E27FC236}">
                <a16:creationId xmlns:a16="http://schemas.microsoft.com/office/drawing/2014/main" id="{C13DD0F2-6A05-4C08-91E9-1405DF08DFA4}"/>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Base Paper</a:t>
            </a:r>
            <a:endParaRPr sz="2800"/>
          </a:p>
        </p:txBody>
      </p:sp>
      <p:sp>
        <p:nvSpPr>
          <p:cNvPr id="4" name="Shape 2">
            <a:extLst xmlns:a="http://schemas.openxmlformats.org/drawingml/2006/main">
              <a:ext uri="{FF2B5EF4-FFF2-40B4-BE49-F238E27FC236}">
                <a16:creationId xmlns:a16="http://schemas.microsoft.com/office/drawing/2014/main" id="{3605857E-6868-4619-8316-E6DEEEBC269F}"/>
              </a:ext>
            </a:extLst>
          </p:cNvPr>
          <p:cNvSpPr>
            <a:spLocks xmlns:a="http://schemas.openxmlformats.org/drawingml/2006/main" noGrp="1"/>
          </p:cNvSpPr>
          <p:nvPr/>
        </p:nvSpPr>
        <p:spPr>
          <a:xfrm xmlns:a="http://schemas.openxmlformats.org/drawingml/2006/main">
            <a:off x="457200" y="1417320"/>
            <a:ext cx="11274552" cy="1417320"/>
          </a:xfrm>
          <a:prstGeom xmlns:a="http://schemas.openxmlformats.org/drawingml/2006/main" prst="roundRect">
            <a:avLst>
              <a:gd name="adj" fmla="val 5161"/>
            </a:avLst>
          </a:prstGeom>
          <a:solidFill xmlns:a="http://schemas.openxmlformats.org/drawingml/2006/main">
            <a:srgbClr val="0B2545"/>
          </a:solidFill>
        </p:spPr>
      </p:sp>
      <p:sp>
        <p:nvSpPr>
          <p:cNvPr id="5" name="Text 3">
            <a:extLst xmlns:a="http://schemas.openxmlformats.org/drawingml/2006/main">
              <a:ext uri="{FF2B5EF4-FFF2-40B4-BE49-F238E27FC236}">
                <a16:creationId xmlns:a16="http://schemas.microsoft.com/office/drawing/2014/main" id="{B6BE735F-4BF6-48FC-9FFC-520D9D9F2CFB}"/>
              </a:ext>
            </a:extLst>
          </p:cNvPr>
          <p:cNvSpPr>
            <a:spLocks xmlns:a="http://schemas.openxmlformats.org/drawingml/2006/main" noGrp="1"/>
          </p:cNvSpPr>
          <p:nvPr/>
        </p:nvSpPr>
        <p:spPr>
          <a:xfrm xmlns:a="http://schemas.openxmlformats.org/drawingml/2006/main">
            <a:off x="822960" y="1600200"/>
            <a:ext cx="1054303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2200"/>
              </a:lnSpc>
              <a:buNone/>
            </a:pPr>
            <a:r>
              <a:rPr sz="1800" b="1" i="1">
                <a:solidFill>
                  <a:srgbClr val="FFFFFF"/>
                </a:solidFill>
                <a:latin typeface="Cambria"/>
                <a:ea typeface="Cambria"/>
                <a:cs typeface="Cambria"/>
              </a:rPr>
              <a:t>Physics-Informed Neural Networks for Battery Modeling and State Estimation: A Methodological Review</a:t>
            </a:r>
            <a:endParaRPr sz="1800"/>
          </a:p>
        </p:txBody>
      </p:sp>
      <p:sp>
        <p:nvSpPr>
          <p:cNvPr id="6" name="Text 4">
            <a:extLst xmlns:a="http://schemas.openxmlformats.org/drawingml/2006/main">
              <a:ext uri="{FF2B5EF4-FFF2-40B4-BE49-F238E27FC236}">
                <a16:creationId xmlns:a16="http://schemas.microsoft.com/office/drawing/2014/main" id="{335E4484-4702-4600-9129-79587D43C295}"/>
              </a:ext>
            </a:extLst>
          </p:cNvPr>
          <p:cNvSpPr>
            <a:spLocks xmlns:a="http://schemas.openxmlformats.org/drawingml/2006/main" noGrp="1"/>
          </p:cNvSpPr>
          <p:nvPr/>
        </p:nvSpPr>
        <p:spPr>
          <a:xfrm xmlns:a="http://schemas.openxmlformats.org/drawingml/2006/main">
            <a:off x="822960" y="2423160"/>
            <a:ext cx="10543032"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00A896"/>
                </a:solidFill>
                <a:latin typeface="Calibri"/>
                <a:ea typeface="Calibri"/>
                <a:cs typeface="Calibri"/>
              </a:rPr>
              <a:t>Renewable and Sustainable Energy Reviews, 2026</a:t>
            </a:r>
            <a:endParaRPr sz="1200"/>
          </a:p>
        </p:txBody>
      </p:sp>
      <p:sp>
        <p:nvSpPr>
          <p:cNvPr id="7" name="Text 5">
            <a:extLst xmlns:a="http://schemas.openxmlformats.org/drawingml/2006/main">
              <a:ext uri="{FF2B5EF4-FFF2-40B4-BE49-F238E27FC236}">
                <a16:creationId xmlns:a16="http://schemas.microsoft.com/office/drawing/2014/main" id="{E83D33A6-AC79-4891-9B35-E4A079AD8DD0}"/>
              </a:ext>
            </a:extLst>
          </p:cNvPr>
          <p:cNvSpPr>
            <a:spLocks xmlns:a="http://schemas.openxmlformats.org/drawingml/2006/main" noGrp="1"/>
          </p:cNvSpPr>
          <p:nvPr/>
        </p:nvSpPr>
        <p:spPr>
          <a:xfrm xmlns:a="http://schemas.openxmlformats.org/drawingml/2006/main">
            <a:off x="457200" y="320040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WHY THIS PAPER WAS SELECTED</a:t>
            </a:r>
            <a:endParaRPr sz="1100"/>
          </a:p>
        </p:txBody>
      </p:sp>
      <p:sp>
        <p:nvSpPr>
          <p:cNvPr id="8" name="Shape 6">
            <a:extLst xmlns:a="http://schemas.openxmlformats.org/drawingml/2006/main">
              <a:ext uri="{FF2B5EF4-FFF2-40B4-BE49-F238E27FC236}">
                <a16:creationId xmlns:a16="http://schemas.microsoft.com/office/drawing/2014/main" id="{155599D7-52C8-45BC-AA23-542658C66779}"/>
              </a:ext>
            </a:extLst>
          </p:cNvPr>
          <p:cNvSpPr>
            <a:spLocks xmlns:a="http://schemas.openxmlformats.org/drawingml/2006/main" noGrp="1"/>
          </p:cNvSpPr>
          <p:nvPr/>
        </p:nvSpPr>
        <p:spPr>
          <a:xfrm xmlns:a="http://schemas.openxmlformats.org/drawingml/2006/main">
            <a:off x="457200" y="3621024"/>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9" name="Text 7">
            <a:extLst xmlns:a="http://schemas.openxmlformats.org/drawingml/2006/main">
              <a:ext uri="{FF2B5EF4-FFF2-40B4-BE49-F238E27FC236}">
                <a16:creationId xmlns:a16="http://schemas.microsoft.com/office/drawing/2014/main" id="{23701FDF-3BDF-4F52-870D-8F3A3C1C224F}"/>
              </a:ext>
            </a:extLst>
          </p:cNvPr>
          <p:cNvSpPr>
            <a:spLocks xmlns:a="http://schemas.openxmlformats.org/drawingml/2006/main" noGrp="1"/>
          </p:cNvSpPr>
          <p:nvPr/>
        </p:nvSpPr>
        <p:spPr>
          <a:xfrm xmlns:a="http://schemas.openxmlformats.org/drawingml/2006/main">
            <a:off x="777240" y="3520440"/>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Comprehensive review of Physics-Informed Neural Networks (PINNs) for battery applications</a:t>
            </a:r>
            <a:endParaRPr sz="1300"/>
          </a:p>
        </p:txBody>
      </p:sp>
      <p:sp>
        <p:nvSpPr>
          <p:cNvPr id="10" name="Shape 8">
            <a:extLst xmlns:a="http://schemas.openxmlformats.org/drawingml/2006/main">
              <a:ext uri="{FF2B5EF4-FFF2-40B4-BE49-F238E27FC236}">
                <a16:creationId xmlns:a16="http://schemas.microsoft.com/office/drawing/2014/main" id="{7B9776CF-9276-43EE-B6F0-2707106C73D4}"/>
              </a:ext>
            </a:extLst>
          </p:cNvPr>
          <p:cNvSpPr>
            <a:spLocks xmlns:a="http://schemas.openxmlformats.org/drawingml/2006/main" noGrp="1"/>
          </p:cNvSpPr>
          <p:nvPr/>
        </p:nvSpPr>
        <p:spPr>
          <a:xfrm xmlns:a="http://schemas.openxmlformats.org/drawingml/2006/main">
            <a:off x="457200" y="4133088"/>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9EBD2360-C0FD-4656-9DF9-3B2F4F0C77CB}"/>
              </a:ext>
            </a:extLst>
          </p:cNvPr>
          <p:cNvSpPr>
            <a:spLocks xmlns:a="http://schemas.openxmlformats.org/drawingml/2006/main" noGrp="1"/>
          </p:cNvSpPr>
          <p:nvPr/>
        </p:nvSpPr>
        <p:spPr>
          <a:xfrm xmlns:a="http://schemas.openxmlformats.org/drawingml/2006/main">
            <a:off x="777240" y="4032504"/>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Covers SOH, RUL, SOC, Digital Twins, thermal diagnosis and internal state reconstruction</a:t>
            </a:r>
            <a:endParaRPr sz="1300"/>
          </a:p>
        </p:txBody>
      </p:sp>
      <p:sp>
        <p:nvSpPr>
          <p:cNvPr id="12" name="Shape 10">
            <a:extLst xmlns:a="http://schemas.openxmlformats.org/drawingml/2006/main">
              <a:ext uri="{FF2B5EF4-FFF2-40B4-BE49-F238E27FC236}">
                <a16:creationId xmlns:a16="http://schemas.microsoft.com/office/drawing/2014/main" id="{C845584A-FE6B-4EFD-8511-107D08EDEC3B}"/>
              </a:ext>
            </a:extLst>
          </p:cNvPr>
          <p:cNvSpPr>
            <a:spLocks xmlns:a="http://schemas.openxmlformats.org/drawingml/2006/main" noGrp="1"/>
          </p:cNvSpPr>
          <p:nvPr/>
        </p:nvSpPr>
        <p:spPr>
          <a:xfrm xmlns:a="http://schemas.openxmlformats.org/drawingml/2006/main">
            <a:off x="457200" y="4645152"/>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3" name="Text 11">
            <a:extLst xmlns:a="http://schemas.openxmlformats.org/drawingml/2006/main">
              <a:ext uri="{FF2B5EF4-FFF2-40B4-BE49-F238E27FC236}">
                <a16:creationId xmlns:a16="http://schemas.microsoft.com/office/drawing/2014/main" id="{DF3843E1-F39F-4004-A5B1-B0C6F126B063}"/>
              </a:ext>
            </a:extLst>
          </p:cNvPr>
          <p:cNvSpPr>
            <a:spLocks xmlns:a="http://schemas.openxmlformats.org/drawingml/2006/main" noGrp="1"/>
          </p:cNvSpPr>
          <p:nvPr/>
        </p:nvSpPr>
        <p:spPr>
          <a:xfrm xmlns:a="http://schemas.openxmlformats.org/drawingml/2006/main">
            <a:off x="777240" y="4544568"/>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Explains multiple methods for embedding battery physics into neural networks</a:t>
            </a:r>
            <a:endParaRPr sz="1300"/>
          </a:p>
        </p:txBody>
      </p:sp>
      <p:sp>
        <p:nvSpPr>
          <p:cNvPr id="14" name="Shape 12">
            <a:extLst xmlns:a="http://schemas.openxmlformats.org/drawingml/2006/main">
              <a:ext uri="{FF2B5EF4-FFF2-40B4-BE49-F238E27FC236}">
                <a16:creationId xmlns:a16="http://schemas.microsoft.com/office/drawing/2014/main" id="{2209556B-F43A-4F64-A1BA-8FD3E78A64AC}"/>
              </a:ext>
            </a:extLst>
          </p:cNvPr>
          <p:cNvSpPr>
            <a:spLocks xmlns:a="http://schemas.openxmlformats.org/drawingml/2006/main" noGrp="1"/>
          </p:cNvSpPr>
          <p:nvPr/>
        </p:nvSpPr>
        <p:spPr>
          <a:xfrm xmlns:a="http://schemas.openxmlformats.org/drawingml/2006/main">
            <a:off x="457200" y="5157216"/>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5" name="Text 13">
            <a:extLst xmlns:a="http://schemas.openxmlformats.org/drawingml/2006/main">
              <a:ext uri="{FF2B5EF4-FFF2-40B4-BE49-F238E27FC236}">
                <a16:creationId xmlns:a16="http://schemas.microsoft.com/office/drawing/2014/main" id="{5C754340-0DA7-4E52-B11B-2AA4B5A85F2D}"/>
              </a:ext>
            </a:extLst>
          </p:cNvPr>
          <p:cNvSpPr>
            <a:spLocks xmlns:a="http://schemas.openxmlformats.org/drawingml/2006/main" noGrp="1"/>
          </p:cNvSpPr>
          <p:nvPr/>
        </p:nvSpPr>
        <p:spPr>
          <a:xfrm xmlns:a="http://schemas.openxmlformats.org/drawingml/2006/main">
            <a:off x="777240" y="5056632"/>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Discusses training stability, domain generalization, uncertainty quantification and interpretability</a:t>
            </a:r>
            <a:endParaRPr sz="1300"/>
          </a:p>
        </p:txBody>
      </p:sp>
      <p:sp>
        <p:nvSpPr>
          <p:cNvPr id="16" name="Shape 14">
            <a:extLst xmlns:a="http://schemas.openxmlformats.org/drawingml/2006/main">
              <a:ext uri="{FF2B5EF4-FFF2-40B4-BE49-F238E27FC236}">
                <a16:creationId xmlns:a16="http://schemas.microsoft.com/office/drawing/2014/main" id="{A23E9ABD-1F1F-46A9-8849-AC95F1A065BC}"/>
              </a:ext>
            </a:extLst>
          </p:cNvPr>
          <p:cNvSpPr>
            <a:spLocks xmlns:a="http://schemas.openxmlformats.org/drawingml/2006/main" noGrp="1"/>
          </p:cNvSpPr>
          <p:nvPr/>
        </p:nvSpPr>
        <p:spPr>
          <a:xfrm xmlns:a="http://schemas.openxmlformats.org/drawingml/2006/main">
            <a:off x="457200" y="5669280"/>
            <a:ext cx="146304" cy="146304"/>
          </a:xfrm>
          <a:prstGeom xmlns:a="http://schemas.openxmlformats.org/drawingml/2006/main" prst="roundRect">
            <a:avLst>
              <a:gd name="adj" fmla="val 50000"/>
            </a:avLst>
          </a:prstGeom>
          <a:solidFill xmlns:a="http://schemas.openxmlformats.org/drawingml/2006/main">
            <a:srgbClr val="00A896"/>
          </a:solidFill>
        </p:spPr>
      </p:sp>
      <p:sp>
        <p:nvSpPr>
          <p:cNvPr id="17" name="Text 15">
            <a:extLst xmlns:a="http://schemas.openxmlformats.org/drawingml/2006/main">
              <a:ext uri="{FF2B5EF4-FFF2-40B4-BE49-F238E27FC236}">
                <a16:creationId xmlns:a16="http://schemas.microsoft.com/office/drawing/2014/main" id="{0D066397-40AA-4C1C-807F-C7A5904FDA36}"/>
              </a:ext>
            </a:extLst>
          </p:cNvPr>
          <p:cNvSpPr>
            <a:spLocks xmlns:a="http://schemas.openxmlformats.org/drawingml/2006/main" noGrp="1"/>
          </p:cNvSpPr>
          <p:nvPr/>
        </p:nvSpPr>
        <p:spPr>
          <a:xfrm xmlns:a="http://schemas.openxmlformats.org/drawingml/2006/main">
            <a:off x="777240" y="5568696"/>
            <a:ext cx="10954512"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300">
                <a:solidFill>
                  <a:srgbClr val="222B33"/>
                </a:solidFill>
                <a:latin typeface="Calibri"/>
                <a:ea typeface="Calibri"/>
                <a:cs typeface="Calibri"/>
              </a:rPr>
              <a:t>Lays out future research directions for intelligent Battery Management Systems</a:t>
            </a:r>
            <a:endParaRPr sz="1300"/>
          </a:p>
        </p:txBody>
      </p:sp>
      <p:sp>
        <p:nvSpPr>
          <p:cNvPr id="18" name="Text 16">
            <a:extLst xmlns:a="http://schemas.openxmlformats.org/drawingml/2006/main">
              <a:ext uri="{FF2B5EF4-FFF2-40B4-BE49-F238E27FC236}">
                <a16:creationId xmlns:a16="http://schemas.microsoft.com/office/drawing/2014/main" id="{65D814F5-226E-4484-82B4-B4FD1EBB61D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9" name="Text 17">
            <a:extLst xmlns:a="http://schemas.openxmlformats.org/drawingml/2006/main">
              <a:ext uri="{FF2B5EF4-FFF2-40B4-BE49-F238E27FC236}">
                <a16:creationId xmlns:a16="http://schemas.microsoft.com/office/drawing/2014/main" id="{CE3CA154-D8A0-4674-9DB8-C5C6B9CCF5D1}"/>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5 / 10</a:t>
            </a:r>
            <a:endParaRPr sz="900"/>
          </a:p>
        </p:txBody>
      </p:sp>
    </p:spTree>
    <p:extLst>
      <p:ext uri="{BB962C8B-B14F-4D97-AF65-F5344CB8AC3E}">
        <p14:creationId xmlns:p14="http://schemas.microsoft.com/office/powerpoint/2010/main" val="18573419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F39D73-EE7B-40D4-99A6-8FA723356006}"/>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POSITIONING OUR WORK</a:t>
            </a:r>
            <a:endParaRPr sz="1200"/>
          </a:p>
        </p:txBody>
      </p:sp>
      <p:sp>
        <p:nvSpPr>
          <p:cNvPr id="3" name="Text 1">
            <a:extLst xmlns:a="http://schemas.openxmlformats.org/drawingml/2006/main">
              <a:ext uri="{FF2B5EF4-FFF2-40B4-BE49-F238E27FC236}">
                <a16:creationId xmlns:a16="http://schemas.microsoft.com/office/drawing/2014/main" id="{8730B749-BEF2-4EFC-AB69-E4B487085D78}"/>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Literature Review &amp; Research Gap</a:t>
            </a:r>
            <a:endParaRPr sz="2800"/>
          </a:p>
        </p:txBody>
      </p:sp>
      <p:sp>
        <p:nvSpPr>
          <p:cNvPr id="4" name="Text 2">
            <a:extLst xmlns:a="http://schemas.openxmlformats.org/drawingml/2006/main">
              <a:ext uri="{FF2B5EF4-FFF2-40B4-BE49-F238E27FC236}">
                <a16:creationId xmlns:a16="http://schemas.microsoft.com/office/drawing/2014/main" id="{6AF75834-5202-47F4-BDB7-37228171BCDD}"/>
              </a:ext>
            </a:extLst>
          </p:cNvPr>
          <p:cNvSpPr>
            <a:spLocks xmlns:a="http://schemas.openxmlformats.org/drawingml/2006/main" noGrp="1"/>
          </p:cNvSpPr>
          <p:nvPr/>
        </p:nvSpPr>
        <p:spPr>
          <a:xfrm xmlns:a="http://schemas.openxmlformats.org/drawingml/2006/main">
            <a:off x="457200" y="1371600"/>
            <a:ext cx="7315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RESEARCH GAP</a:t>
            </a:r>
            <a:endParaRPr sz="1100"/>
          </a:p>
        </p:txBody>
      </p:sp>
      <p:sp>
        <p:nvSpPr>
          <p:cNvPr id="5" name="Text 3">
            <a:extLst xmlns:a="http://schemas.openxmlformats.org/drawingml/2006/main">
              <a:ext uri="{FF2B5EF4-FFF2-40B4-BE49-F238E27FC236}">
                <a16:creationId xmlns:a16="http://schemas.microsoft.com/office/drawing/2014/main" id="{E02E651F-37AE-4A19-9CAB-0B3A7FC5541B}"/>
              </a:ext>
            </a:extLst>
          </p:cNvPr>
          <p:cNvSpPr>
            <a:spLocks xmlns:a="http://schemas.openxmlformats.org/drawingml/2006/main" noGrp="1"/>
          </p:cNvSpPr>
          <p:nvPr/>
        </p:nvSpPr>
        <p:spPr>
          <a:xfrm xmlns:a="http://schemas.openxmlformats.org/drawingml/2006/main">
            <a:off x="457200" y="1627632"/>
            <a:ext cx="1127455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Existing PINN models are trained offline, adapt poorly to changing battery behaviour, and remain difficult to deploy in real-time BMS. Lightweight, continual-learning methods are still an open problem.</a:t>
            </a:r>
            <a:endParaRPr sz="1200"/>
          </a:p>
        </p:txBody>
      </p:sp>
      <p:graphicFrame>
        <p:nvGraphicFramePr>
          <p:cNvPr id="14" name="Table 0"/>
          <p:cNvGraphicFramePr/>
          <p:nvPr/>
        </p:nvGraphicFramePr>
        <p:xfrm>
          <a:off xmlns:a="http://schemas.openxmlformats.org/drawingml/2006/main" x="457200" y="2240280"/>
          <a:ext xmlns:a="http://schemas.openxmlformats.org/drawingml/2006/main" cx="11274552" cy="914400"/>
        </p:xfrm>
        <a:graphic xmlns:a="http://schemas.openxmlformats.org/drawingml/2006/main">
          <a:graphicData uri="http://schemas.openxmlformats.org/drawingml/2006/table">
            <a:tbl>
              <a:tblPr/>
              <a:tblGrid>
                <a:gridCol w="1783080"/>
                <a:gridCol w="3246120"/>
                <a:gridCol w="2651760"/>
                <a:gridCol w="2770632"/>
              </a:tblGrid>
              <a:tr h="310896">
                <a:tc>
                  <a:txBody>
                    <a:bodyPr/>
                    <a:lstStyle/>
                    <a:p>
                      <a:pPr marL="0" indent="0">
                        <a:buNone/>
                      </a:pPr>
                      <a:r>
                        <a:rPr sz="1050" b="1">
                          <a:solidFill>
                            <a:srgbClr val="FFFFFF"/>
                          </a:solidFill>
                          <a:latin typeface="Calibri"/>
                          <a:ea typeface="Calibri"/>
                          <a:cs typeface="Calibri"/>
                        </a:rPr>
                        <a:t>Paper</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Key Contribution</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Limitation</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Our Improvement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777240">
                <a:tc>
                  <a:txBody>
                    <a:bodyPr/>
                    <a:lstStyle/>
                    <a:p>
                      <a:pPr marL="0" indent="0">
                        <a:buNone/>
                      </a:pPr>
                      <a:r>
                        <a:rPr sz="950" b="1">
                          <a:solidFill>
                            <a:srgbClr val="222B33"/>
                          </a:solidFill>
                          <a:latin typeface="Calibri"/>
                          <a:ea typeface="Calibri"/>
                          <a:cs typeface="Calibri"/>
                        </a:rPr>
                        <a:t>Applied Energy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PINN + Transformer + multi-task learning predicts SOH, RUL and degradation path</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Offline training; adapting to new behaviour needs retraining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Adaptive Digital Twin with incremental fine-tuning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Energy (2026)</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EM-PINN integrates SEI growth physics for accurate SOH estimation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SOH-only; no Digital Twin or continual adaptation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Combines PINN with a Digital Twin predicting SOH and RUL</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222B33"/>
                          </a:solidFill>
                          <a:latin typeface="Calibri"/>
                          <a:ea typeface="Calibri"/>
                          <a:cs typeface="Calibri"/>
                        </a:rPr>
                        <a:t>Scientific Reports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Cycle-aware physics-informed framework for RUL prediction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Offline; limited personalization per battery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Continuously updates predictions with new operational data</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Complex &amp; Intelligent Systems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PINN + contrastive learning for low-label SOH estimation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Train-then-deploy workflow; no post-deployment adaptation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Supports incremental learning without full retraining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FFFFFF"/>
                          </a:solidFill>
                          <a:latin typeface="Calibri"/>
                          <a:ea typeface="Calibri"/>
                          <a:cs typeface="Calibri"/>
                        </a:rPr>
                        <a:t>Proposed Work</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Transformer + PINN + Feedforward DNN + Digital Twin + Adaptive Learning</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a:solidFill>
                            <a:srgbClr val="FFFFFF"/>
                          </a:solidFill>
                          <a:latin typeface="Calibri"/>
                          <a:ea typeface="Calibri"/>
                          <a:cs typeface="Calibri"/>
                        </a:rPr>
                        <a: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Incremental fine-tuning on new battery behaviour, preserving physics constraints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r>
            </a:tbl>
          </a:graphicData>
        </a:graphic>
      </p:graphicFrame>
      <p:sp>
        <p:nvSpPr>
          <p:cNvPr id="7" name="Text 4">
            <a:extLst xmlns:a="http://schemas.openxmlformats.org/drawingml/2006/main">
              <a:ext uri="{FF2B5EF4-FFF2-40B4-BE49-F238E27FC236}">
                <a16:creationId xmlns:a16="http://schemas.microsoft.com/office/drawing/2014/main" id="{B301B0E3-93B1-490F-A880-AA27300B018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8" name="Text 5">
            <a:extLst xmlns:a="http://schemas.openxmlformats.org/drawingml/2006/main">
              <a:ext uri="{FF2B5EF4-FFF2-40B4-BE49-F238E27FC236}">
                <a16:creationId xmlns:a16="http://schemas.microsoft.com/office/drawing/2014/main" id="{9E049BE4-2F90-4F94-A8EF-BF1A847AF040}"/>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6 / 10</a:t>
            </a:r>
            <a:endParaRPr sz="900"/>
          </a:p>
        </p:txBody>
      </p:sp>
    </p:spTree>
    <p:extLst>
      <p:ext uri="{BB962C8B-B14F-4D97-AF65-F5344CB8AC3E}">
        <p14:creationId xmlns:p14="http://schemas.microsoft.com/office/powerpoint/2010/main" val="5576645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09B6E7-5AF8-4B02-8D63-F4B2717A7B3D}"/>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FOUNDATION FOR TRAINING</a:t>
            </a:r>
            <a:endParaRPr sz="1200"/>
          </a:p>
        </p:txBody>
      </p:sp>
      <p:sp>
        <p:nvSpPr>
          <p:cNvPr id="3" name="Text 1">
            <a:extLst xmlns:a="http://schemas.openxmlformats.org/drawingml/2006/main">
              <a:ext uri="{FF2B5EF4-FFF2-40B4-BE49-F238E27FC236}">
                <a16:creationId xmlns:a16="http://schemas.microsoft.com/office/drawing/2014/main" id="{F2A5353E-C257-4A7D-A91A-D620F0617953}"/>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Datasets Used &amp; Rationale</a:t>
            </a:r>
            <a:endParaRPr sz="2800"/>
          </a:p>
        </p:txBody>
      </p:sp>
      <p:sp>
        <p:nvSpPr>
          <p:cNvPr id="4" name="Text 2">
            <a:extLst xmlns:a="http://schemas.openxmlformats.org/drawingml/2006/main">
              <a:ext uri="{FF2B5EF4-FFF2-40B4-BE49-F238E27FC236}">
                <a16:creationId xmlns:a16="http://schemas.microsoft.com/office/drawing/2014/main" id="{EA4F8D67-E77D-436A-8419-27C44AF943D1}"/>
              </a:ext>
            </a:extLst>
          </p:cNvPr>
          <p:cNvSpPr>
            <a:spLocks xmlns:a="http://schemas.openxmlformats.org/drawingml/2006/main" noGrp="1"/>
          </p:cNvSpPr>
          <p:nvPr/>
        </p:nvSpPr>
        <p:spPr>
          <a:xfrm xmlns:a="http://schemas.openxmlformats.org/drawingml/2006/main">
            <a:off x="457200" y="1371600"/>
            <a:ext cx="7315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SELECTED DATASETS</a:t>
            </a:r>
            <a:endParaRPr sz="1100"/>
          </a:p>
        </p:txBody>
      </p:sp>
      <p:sp>
        <p:nvSpPr>
          <p:cNvPr id="5" name="Text 3">
            <a:extLst xmlns:a="http://schemas.openxmlformats.org/drawingml/2006/main">
              <a:ext uri="{FF2B5EF4-FFF2-40B4-BE49-F238E27FC236}">
                <a16:creationId xmlns:a16="http://schemas.microsoft.com/office/drawing/2014/main" id="{EBDAF778-EFAF-4CEA-8F09-227A8E522485}"/>
              </a:ext>
            </a:extLst>
          </p:cNvPr>
          <p:cNvSpPr>
            <a:spLocks xmlns:a="http://schemas.openxmlformats.org/drawingml/2006/main" noGrp="1"/>
          </p:cNvSpPr>
          <p:nvPr/>
        </p:nvSpPr>
        <p:spPr>
          <a:xfrm xmlns:a="http://schemas.openxmlformats.org/drawingml/2006/main">
            <a:off x="457200" y="1627632"/>
            <a:ext cx="11274552"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Public benchmark battery datasets cited across the reviewed papers, spanning lab-aged, second-life, and vehicle-field conditions, chosen to validate SOH/RUL estimation under diverse chemistries and operating regimes.</a:t>
            </a:r>
            <a:endParaRPr sz="1200"/>
          </a:p>
        </p:txBody>
      </p:sp>
      <p:graphicFrame>
        <p:nvGraphicFramePr>
          <p:cNvPr id="14" name="Table 0"/>
          <p:cNvGraphicFramePr/>
          <p:nvPr/>
        </p:nvGraphicFramePr>
        <p:xfrm>
          <a:off xmlns:a="http://schemas.openxmlformats.org/drawingml/2006/main" x="457200" y="2240280"/>
          <a:ext xmlns:a="http://schemas.openxmlformats.org/drawingml/2006/main" cx="11274552" cy="914400"/>
        </p:xfrm>
        <a:graphic xmlns:a="http://schemas.openxmlformats.org/drawingml/2006/main">
          <a:graphicData uri="http://schemas.openxmlformats.org/drawingml/2006/table">
            <a:tbl>
              <a:tblPr/>
              <a:tblGrid>
                <a:gridCol w="1783080"/>
                <a:gridCol w="3246120"/>
                <a:gridCol w="2651760"/>
                <a:gridCol w="2770632"/>
              </a:tblGrid>
              <a:tr h="310896">
                <a:tc>
                  <a:txBody>
                    <a:bodyPr/>
                    <a:lstStyle/>
                    <a:p>
                      <a:pPr marL="0" indent="0">
                        <a:buNone/>
                      </a:pPr>
                      <a:r>
                        <a:rPr sz="1050" b="1">
                          <a:solidFill>
                            <a:srgbClr val="FFFFFF"/>
                          </a:solidFill>
                          <a:latin typeface="Calibri"/>
                          <a:ea typeface="Calibri"/>
                          <a:cs typeface="Calibri"/>
                        </a:rPr>
                        <a:t>Dataset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Scope</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Link</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c>
                  <a:txBody>
                    <a:bodyPr/>
                    <a:lstStyle/>
                    <a:p>
                      <a:pPr marL="0" indent="0">
                        <a:buNone/>
                      </a:pPr>
                      <a:r>
                        <a:rPr sz="1050" b="1">
                          <a:solidFill>
                            <a:srgbClr val="FFFFFF"/>
                          </a:solidFill>
                          <a:latin typeface="Calibri"/>
                          <a:ea typeface="Calibri"/>
                          <a:cs typeface="Calibri"/>
                        </a:rPr>
                        <a:t>Why This Dataset</a:t>
                      </a:r>
                      <a:endParaRPr sz="10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B2545"/>
                    </a:solidFill>
                  </a:tcPr>
                </a:tc>
              </a:tr>
              <a:tr h="777240">
                <a:tc>
                  <a:txBody>
                    <a:bodyPr/>
                    <a:lstStyle/>
                    <a:p>
                      <a:pPr marL="0" indent="0">
                        <a:buNone/>
                      </a:pPr>
                      <a:r>
                        <a:rPr sz="950" b="1">
                          <a:solidFill>
                            <a:srgbClr val="222B33"/>
                          </a:solidFill>
                          <a:latin typeface="Calibri"/>
                          <a:ea typeface="Calibri"/>
                          <a:cs typeface="Calibri"/>
                        </a:rPr>
                        <a:t>NASA &amp; Oxford Battery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Lab-aged Li-ion cells; narrow current/temperature range; classic PINN-SOH benchmark</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028090"/>
                          </a:solidFill>
                          <a:latin typeface="Calibri"/>
                          <a:ea typeface="Calibri"/>
                          <a:cs typeface="Calibri"/>
                        </a:rPr>
                        <a:t>data.nasa.gov (PCoE)</a:t>
                      </a:r>
                      <a:r>
                        <a:rPr sz="950">
                          <a:solidFill>
                            <a:srgbClr val="5B6B79"/>
                          </a:solidFill>
                          <a:latin typeface="Calibri"/>
                          <a:ea typeface="Calibri"/>
                          <a:cs typeface="Calibri"/>
                        </a:rPr>
                        <a:t> / </a:t>
                      </a:r>
                      <a:r>
                        <a:rPr sz="950">
                          <a:solidFill>
                            <a:srgbClr val="028090"/>
                          </a:solidFill>
                          <a:latin typeface="Calibri"/>
                          <a:ea typeface="Calibri"/>
                          <a:cs typeface="Calibri"/>
                        </a:rPr>
                        <a:t>howey-lab Oxford Battery Degradation Dataset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[0] </a:t>
                      </a:r>
                      <a:r>
                        <a:rPr sz="950" b="1">
                          <a:solidFill>
                            <a:srgbClr val="028090"/>
                          </a:solidFill>
                          <a:latin typeface="Calibri"/>
                          <a:ea typeface="Calibri"/>
                          <a:cs typeface="Calibri"/>
                        </a:rPr>
                        <a:t>Standard reference set used by our base-paper PINN methodology review to validate degradation-physics constraints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Stanford-MIT-Toyota (Severson)</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124 LFP/graphite cells, 72 fast-charging policies, cycled to end-of-life</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028090"/>
                          </a:solidFill>
                          <a:latin typeface="Calibri"/>
                          <a:ea typeface="Calibri"/>
                          <a:cs typeface="Calibri"/>
                        </a:rPr>
                        <a:t>data.matr.io (Battery Evaluation and Early Prediction project)</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[1] </a:t>
                      </a:r>
                      <a:r>
                        <a:rPr sz="950" b="1">
                          <a:solidFill>
                            <a:srgbClr val="028090"/>
                          </a:solidFill>
                          <a:latin typeface="Calibri"/>
                          <a:ea typeface="Calibri"/>
                          <a:cs typeface="Calibri"/>
                        </a:rPr>
                        <a:t>Used by the RUL-focused papers for early-cycle degradation trajectories and fast-charging diversity</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222B33"/>
                          </a:solidFill>
                          <a:latin typeface="Calibri"/>
                          <a:ea typeface="Calibri"/>
                          <a:cs typeface="Calibri"/>
                        </a:rPr>
                        <a:t>TJU &amp; XJTU</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Multi-chemistry aging data with IC-curve health features across varied cycling protocols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a:solidFill>
                            <a:srgbClr val="5B6B79"/>
                          </a:solidFill>
                          <a:latin typeface="Calibri"/>
                          <a:ea typeface="Calibri"/>
                          <a:cs typeface="Calibri"/>
                        </a:rPr>
                        <a:t>Tianjin University / </a:t>
                      </a:r>
                      <a:r>
                        <a:rPr sz="950">
                          <a:solidFill>
                            <a:srgbClr val="028090"/>
                          </a:solidFill>
                          <a:latin typeface="Calibri"/>
                          <a:ea typeface="Calibri"/>
                          <a:cs typeface="Calibri"/>
                        </a:rPr>
                        <a:t>Xi'an Jiaotong University battery aging repositories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c>
                  <a:txBody>
                    <a:bodyPr/>
                    <a:lstStyle/>
                    <a:p>
                      <a:pPr marL="0" indent="0">
                        <a:buNone/>
                      </a:pPr>
                      <a:r>
                        <a:rPr sz="950" b="1">
                          <a:solidFill>
                            <a:srgbClr val="028090"/>
                          </a:solidFill>
                          <a:latin typeface="Calibri"/>
                          <a:ea typeface="Calibri"/>
                          <a:cs typeface="Calibri"/>
                        </a:rPr>
                        <a:t>[2] </a:t>
                      </a:r>
                      <a:r>
                        <a:rPr sz="950" b="1">
                          <a:solidFill>
                            <a:srgbClr val="028090"/>
                          </a:solidFill>
                          <a:latin typeface="Calibri"/>
                          <a:ea typeface="Calibri"/>
                          <a:cs typeface="Calibri"/>
                        </a:rPr>
                        <a:t>Referenced by the time-series PINN-SOH literature to test cross-dataset transfer of the Adaptive Learning module</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FFFFF"/>
                    </a:solidFill>
                  </a:tcPr>
                </a:tc>
              </a:tr>
              <a:tr h="658368">
                <a:tc>
                  <a:txBody>
                    <a:bodyPr/>
                    <a:lstStyle/>
                    <a:p>
                      <a:pPr marL="0" indent="0">
                        <a:buNone/>
                      </a:pPr>
                      <a:r>
                        <a:rPr sz="950" b="1">
                          <a:solidFill>
                            <a:srgbClr val="222B33"/>
                          </a:solidFill>
                          <a:latin typeface="Calibri"/>
                          <a:ea typeface="Calibri"/>
                          <a:cs typeface="Calibri"/>
                        </a:rPr>
                        <a:t>CALCE &amp; Panasonic 18650PF</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5B6B79"/>
                          </a:solidFill>
                          <a:latin typeface="Calibri"/>
                          <a:ea typeface="Calibri"/>
                          <a:cs typeface="Calibri"/>
                        </a:rPr>
                        <a:t>Dynamic charge/discharge cycles, -10°C to 20°C, multi-temperature conditions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a:solidFill>
                            <a:srgbClr val="028090"/>
                          </a:solidFill>
                          <a:latin typeface="Calibri"/>
                          <a:ea typeface="Calibri"/>
                          <a:cs typeface="Calibri"/>
                        </a:rPr>
                        <a:t>calce.umd.edu (Battery Research Group)</a:t>
                      </a:r>
                      <a:r>
                        <a:rPr sz="950">
                          <a:solidFill>
                            <a:srgbClr val="5B6B79"/>
                          </a:solidFill>
                          <a:latin typeface="Calibri"/>
                          <a:ea typeface="Calibri"/>
                          <a:cs typeface="Calibri"/>
                        </a:rPr>
                        <a:t> / </a:t>
                      </a:r>
                      <a:r>
                        <a:rPr sz="950">
                          <a:solidFill>
                            <a:srgbClr val="028090"/>
                          </a:solidFill>
                          <a:latin typeface="Calibri"/>
                          <a:ea typeface="Calibri"/>
                          <a:cs typeface="Calibri"/>
                        </a:rPr>
                        <a:t>NASA Ames Prognostics Center</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c>
                  <a:txBody>
                    <a:bodyPr/>
                    <a:lstStyle/>
                    <a:p>
                      <a:pPr marL="0" indent="0">
                        <a:buNone/>
                      </a:pPr>
                      <a:r>
                        <a:rPr sz="950" b="1">
                          <a:solidFill>
                            <a:srgbClr val="028090"/>
                          </a:solidFill>
                          <a:latin typeface="Calibri"/>
                          <a:ea typeface="Calibri"/>
                          <a:cs typeface="Calibri"/>
                        </a:rPr>
                        <a:t>[3] </a:t>
                      </a:r>
                      <a:r>
                        <a:rPr sz="950" b="1">
                          <a:solidFill>
                            <a:srgbClr val="028090"/>
                          </a:solidFill>
                          <a:latin typeface="Calibri"/>
                          <a:ea typeface="Calibri"/>
                          <a:cs typeface="Calibri"/>
                        </a:rPr>
                        <a:t>Provides low-temperature, condition-diverse cycles to stress-test physics-informed robustness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F2F6F8"/>
                    </a:solidFill>
                  </a:tcPr>
                </a:tc>
              </a:tr>
              <a:tr h="658368">
                <a:tc>
                  <a:txBody>
                    <a:bodyPr/>
                    <a:lstStyle/>
                    <a:p>
                      <a:pPr marL="0" indent="0">
                        <a:buNone/>
                      </a:pPr>
                      <a:r>
                        <a:rPr sz="950" b="1">
                          <a:solidFill>
                            <a:srgbClr val="FFFFFF"/>
                          </a:solidFill>
                          <a:latin typeface="Calibri"/>
                          <a:ea typeface="Calibri"/>
                          <a:cs typeface="Calibri"/>
                        </a:rPr>
                        <a:t>Second-Life LIB (SL-LIB)</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84 retired batteries, 21 working conditions, real second-life usage patterns</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a:solidFill>
                            <a:srgbClr val="FFFFFF"/>
                          </a:solidFill>
                          <a:latin typeface="Calibri"/>
                          <a:ea typeface="Calibri"/>
                          <a:cs typeface="Calibri"/>
                        </a:rPr>
                        <a:t>Self-designed dataset (Bayesian PINN, Applied Energy 2025)</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c>
                  <a:txBody>
                    <a:bodyPr/>
                    <a:lstStyle/>
                    <a:p>
                      <a:pPr marL="0" indent="0">
                        <a:buNone/>
                      </a:pPr>
                      <a:r>
                        <a:rPr sz="950" b="1">
                          <a:solidFill>
                            <a:srgbClr val="FFFFFF"/>
                          </a:solidFill>
                          <a:latin typeface="Calibri"/>
                          <a:ea typeface="Calibri"/>
                          <a:cs typeface="Calibri"/>
                        </a:rPr>
                        <a:t>[4] </a:t>
                      </a:r>
                      <a:r>
                        <a:rPr sz="950" b="1">
                          <a:solidFill>
                            <a:srgbClr val="FFFFFF"/>
                          </a:solidFill>
                          <a:latin typeface="Calibri"/>
                          <a:ea typeface="Calibri"/>
                          <a:cs typeface="Calibri"/>
                        </a:rPr>
                        <a:t>Real-world retired-battery data supports validating adaptive learning on genuinely shifting degradation behaviour</a:t>
                      </a:r>
                      <a:endParaRPr sz="950">
                        <a:latin typeface="Calibri"/>
                        <a:ea typeface="Calibri"/>
                        <a:cs typeface="Calibri"/>
                      </a:endParaRPr>
                    </a:p>
                  </a:txBody>
                  <a:tcPr marL="91440" marR="91440" marT="45720" marB="45720" anchor="ctr">
                    <a:lnL w="9525" cmpd="sng">
                      <a:solidFill>
                        <a:srgbClr val="D7E0E6"/>
                      </a:solidFill>
                      <a:prstDash val="solid"/>
                    </a:lnL>
                    <a:lnR w="9525" cmpd="sng">
                      <a:solidFill>
                        <a:srgbClr val="D7E0E6"/>
                      </a:solidFill>
                      <a:prstDash val="solid"/>
                    </a:lnR>
                    <a:lnT w="9525" cmpd="sng">
                      <a:solidFill>
                        <a:srgbClr val="D7E0E6"/>
                      </a:solidFill>
                      <a:prstDash val="solid"/>
                    </a:lnT>
                    <a:lnB w="9525" cmpd="sng">
                      <a:solidFill>
                        <a:srgbClr val="D7E0E6"/>
                      </a:solidFill>
                      <a:prstDash val="solid"/>
                    </a:lnB>
                    <a:solidFill>
                      <a:srgbClr val="028090"/>
                    </a:solidFill>
                  </a:tcPr>
                </a:tc>
              </a:tr>
            </a:tbl>
          </a:graphicData>
        </a:graphic>
      </p:graphicFrame>
      <p:sp>
        <p:nvSpPr>
          <p:cNvPr id="7" name="Text 4">
            <a:extLst xmlns:a="http://schemas.openxmlformats.org/drawingml/2006/main">
              <a:ext uri="{FF2B5EF4-FFF2-40B4-BE49-F238E27FC236}">
                <a16:creationId xmlns:a16="http://schemas.microsoft.com/office/drawing/2014/main" id="{7F9F0DD5-41F1-48F2-BC7B-4C2122639982}"/>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Datasets Used &amp; Rationale</a:t>
            </a:r>
            <a:endParaRPr sz="900"/>
          </a:p>
        </p:txBody>
      </p:sp>
      <p:sp>
        <p:nvSpPr>
          <p:cNvPr id="8" name="Text 5">
            <a:extLst xmlns:a="http://schemas.openxmlformats.org/drawingml/2006/main">
              <a:ext uri="{FF2B5EF4-FFF2-40B4-BE49-F238E27FC236}">
                <a16:creationId xmlns:a16="http://schemas.microsoft.com/office/drawing/2014/main" id="{3CEAE3CF-B71A-4F07-B4A5-5C360CBC376C}"/>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7 / 11</a:t>
            </a:r>
            <a:endParaRPr sz="900"/>
          </a:p>
        </p:txBody>
      </p:sp>
    </p:spTree>
    <p:extLst>
      <p:ext uri="{BB962C8B-B14F-4D97-AF65-F5344CB8AC3E}">
        <p14:creationId xmlns:p14="http://schemas.microsoft.com/office/powerpoint/2010/main" val="10998945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43846E-B2C1-4F72-B5DC-94D32D28FB15}"/>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WHAT SETS THIS WORK APART</a:t>
            </a:r>
            <a:endParaRPr sz="1200"/>
          </a:p>
        </p:txBody>
      </p:sp>
      <p:sp>
        <p:nvSpPr>
          <p:cNvPr id="3" name="Text 1">
            <a:extLst xmlns:a="http://schemas.openxmlformats.org/drawingml/2006/main">
              <a:ext uri="{FF2B5EF4-FFF2-40B4-BE49-F238E27FC236}">
                <a16:creationId xmlns:a16="http://schemas.microsoft.com/office/drawing/2014/main" id="{92F656DD-D2E1-4DB5-BDD8-145E6AFE75C7}"/>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Novel Contribution: Adaptive Incremental Learning</a:t>
            </a:r>
            <a:endParaRPr sz="2800"/>
          </a:p>
        </p:txBody>
      </p:sp>
      <p:sp>
        <p:nvSpPr>
          <p:cNvPr id="4" name="Text 2">
            <a:extLst xmlns:a="http://schemas.openxmlformats.org/drawingml/2006/main">
              <a:ext uri="{FF2B5EF4-FFF2-40B4-BE49-F238E27FC236}">
                <a16:creationId xmlns:a16="http://schemas.microsoft.com/office/drawing/2014/main" id="{29F70BB2-3596-4295-A7B0-A39DC23FB97E}"/>
              </a:ext>
            </a:extLst>
          </p:cNvPr>
          <p:cNvSpPr>
            <a:spLocks xmlns:a="http://schemas.openxmlformats.org/drawingml/2006/main" noGrp="1"/>
          </p:cNvSpPr>
          <p:nvPr/>
        </p:nvSpPr>
        <p:spPr>
          <a:xfrm xmlns:a="http://schemas.openxmlformats.org/drawingml/2006/main">
            <a:off x="457200" y="1353312"/>
            <a:ext cx="112745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200">
                <a:solidFill>
                  <a:srgbClr val="222B33"/>
                </a:solidFill>
                <a:latin typeface="Calibri"/>
                <a:ea typeface="Calibri"/>
                <a:cs typeface="Calibri"/>
              </a:rPr>
              <a:t>Traditional models are trained once on historical data. When battery behaviour shifts with aging, temperature or charging patterns, the whole model must often be retrained — expensive and impractical for real-time BMS.</a:t>
            </a:r>
            <a:endParaRPr sz="1200"/>
          </a:p>
        </p:txBody>
      </p:sp>
      <p:sp>
        <p:nvSpPr>
          <p:cNvPr id="5" name="Shape 3">
            <a:extLst xmlns:a="http://schemas.openxmlformats.org/drawingml/2006/main">
              <a:ext uri="{FF2B5EF4-FFF2-40B4-BE49-F238E27FC236}">
                <a16:creationId xmlns:a16="http://schemas.microsoft.com/office/drawing/2014/main" id="{369CDD3A-F73A-4B37-A96C-EEFF460E477D}"/>
              </a:ext>
            </a:extLst>
          </p:cNvPr>
          <p:cNvSpPr>
            <a:spLocks xmlns:a="http://schemas.openxmlformats.org/drawingml/2006/main" noGrp="1"/>
          </p:cNvSpPr>
          <p:nvPr/>
        </p:nvSpPr>
        <p:spPr>
          <a:xfrm xmlns:a="http://schemas.openxmlformats.org/drawingml/2006/main">
            <a:off x="457200" y="2011680"/>
            <a:ext cx="5454396" cy="1234440"/>
          </a:xfrm>
          <a:prstGeom xmlns:a="http://schemas.openxmlformats.org/drawingml/2006/main" prst="roundRect">
            <a:avLst>
              <a:gd name="adj" fmla="val 5185"/>
            </a:avLst>
          </a:prstGeom>
          <a:solidFill xmlns:a="http://schemas.openxmlformats.org/drawingml/2006/main">
            <a:srgbClr val="0B2545"/>
          </a:solidFill>
        </p:spPr>
      </p:sp>
      <p:sp>
        <p:nvSpPr>
          <p:cNvPr id="6" name="Text 4">
            <a:extLst xmlns:a="http://schemas.openxmlformats.org/drawingml/2006/main">
              <a:ext uri="{FF2B5EF4-FFF2-40B4-BE49-F238E27FC236}">
                <a16:creationId xmlns:a16="http://schemas.microsoft.com/office/drawing/2014/main" id="{A2ED891E-54F6-4AE9-89D2-B78FC0BD67B7}"/>
              </a:ext>
            </a:extLst>
          </p:cNvPr>
          <p:cNvSpPr>
            <a:spLocks xmlns:a="http://schemas.openxmlformats.org/drawingml/2006/main" noGrp="1"/>
          </p:cNvSpPr>
          <p:nvPr/>
        </p:nvSpPr>
        <p:spPr>
          <a:xfrm xmlns:a="http://schemas.openxmlformats.org/drawingml/2006/main">
            <a:off x="685800" y="2121408"/>
            <a:ext cx="499719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00A896"/>
                </a:solidFill>
                <a:latin typeface="Calibri"/>
                <a:ea typeface="Calibri"/>
                <a:cs typeface="Calibri"/>
              </a:rPr>
              <a:t>WITHOUT ADAPTIVE LEARNING</a:t>
            </a:r>
            <a:endParaRPr sz="1050"/>
          </a:p>
        </p:txBody>
      </p:sp>
      <p:sp>
        <p:nvSpPr>
          <p:cNvPr id="7" name="Shape 5">
            <a:extLst xmlns:a="http://schemas.openxmlformats.org/drawingml/2006/main">
              <a:ext uri="{FF2B5EF4-FFF2-40B4-BE49-F238E27FC236}">
                <a16:creationId xmlns:a16="http://schemas.microsoft.com/office/drawing/2014/main" id="{5BE5D7FD-96FA-4B9E-A651-483A6DD18E31}"/>
              </a:ext>
            </a:extLst>
          </p:cNvPr>
          <p:cNvSpPr>
            <a:spLocks xmlns:a="http://schemas.openxmlformats.org/drawingml/2006/main" noGrp="1"/>
          </p:cNvSpPr>
          <p:nvPr/>
        </p:nvSpPr>
        <p:spPr>
          <a:xfrm xmlns:a="http://schemas.openxmlformats.org/drawingml/2006/main">
            <a:off x="685800"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sp>
      <p:sp>
        <p:nvSpPr>
          <p:cNvPr id="8" name="Text 6">
            <a:extLst xmlns:a="http://schemas.openxmlformats.org/drawingml/2006/main">
              <a:ext uri="{FF2B5EF4-FFF2-40B4-BE49-F238E27FC236}">
                <a16:creationId xmlns:a16="http://schemas.microsoft.com/office/drawing/2014/main" id="{371049F3-4B6E-416C-A979-660BB580FFC8}"/>
              </a:ext>
            </a:extLst>
          </p:cNvPr>
          <p:cNvSpPr>
            <a:spLocks xmlns:a="http://schemas.openxmlformats.org/drawingml/2006/main" noGrp="1"/>
          </p:cNvSpPr>
          <p:nvPr/>
        </p:nvSpPr>
        <p:spPr>
          <a:xfrm xmlns:a="http://schemas.openxmlformats.org/drawingml/2006/main">
            <a:off x="731520"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Old + New</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Dataset</a:t>
            </a:r>
            <a:endParaRPr sz="900"/>
          </a:p>
        </p:txBody>
      </p:sp>
      <p:sp>
        <p:nvSpPr>
          <p:cNvPr id="9" name="Shape 7">
            <a:extLst xmlns:a="http://schemas.openxmlformats.org/drawingml/2006/main">
              <a:ext uri="{FF2B5EF4-FFF2-40B4-BE49-F238E27FC236}">
                <a16:creationId xmlns:a16="http://schemas.microsoft.com/office/drawing/2014/main" id="{977F11E2-65C2-47EB-9F4F-880FDC70A168}"/>
              </a:ext>
            </a:extLst>
          </p:cNvPr>
          <p:cNvSpPr>
            <a:spLocks xmlns:a="http://schemas.openxmlformats.org/drawingml/2006/main" noGrp="1"/>
          </p:cNvSpPr>
          <p:nvPr/>
        </p:nvSpPr>
        <p:spPr>
          <a:xfrm xmlns:a="http://schemas.openxmlformats.org/drawingml/2006/main">
            <a:off x="2124151" y="2660904"/>
            <a:ext cx="201168" cy="256032"/>
          </a:xfrm>
          <a:prstGeom xmlns:a="http://schemas.openxmlformats.org/drawingml/2006/main" prst="chevron">
            <a:avLst/>
          </a:prstGeom>
          <a:solidFill xmlns:a="http://schemas.openxmlformats.org/drawingml/2006/main">
            <a:srgbClr val="5B6B79"/>
          </a:solidFill>
        </p:spPr>
      </p:sp>
      <p:sp>
        <p:nvSpPr>
          <p:cNvPr id="10" name="Shape 8">
            <a:extLst xmlns:a="http://schemas.openxmlformats.org/drawingml/2006/main">
              <a:ext uri="{FF2B5EF4-FFF2-40B4-BE49-F238E27FC236}">
                <a16:creationId xmlns:a16="http://schemas.microsoft.com/office/drawing/2014/main" id="{C03005AE-AF52-4F8B-94C9-F6C7BD017DC8}"/>
              </a:ext>
            </a:extLst>
          </p:cNvPr>
          <p:cNvSpPr>
            <a:spLocks xmlns:a="http://schemas.openxmlformats.org/drawingml/2006/main" noGrp="1"/>
          </p:cNvSpPr>
          <p:nvPr/>
        </p:nvSpPr>
        <p:spPr>
          <a:xfrm xmlns:a="http://schemas.openxmlformats.org/drawingml/2006/main">
            <a:off x="2473452"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sp>
      <p:sp>
        <p:nvSpPr>
          <p:cNvPr id="11" name="Text 9">
            <a:extLst xmlns:a="http://schemas.openxmlformats.org/drawingml/2006/main">
              <a:ext uri="{FF2B5EF4-FFF2-40B4-BE49-F238E27FC236}">
                <a16:creationId xmlns:a16="http://schemas.microsoft.com/office/drawing/2014/main" id="{85D696FB-92DD-4AEB-AC1B-140E1F3882E3}"/>
              </a:ext>
            </a:extLst>
          </p:cNvPr>
          <p:cNvSpPr>
            <a:spLocks xmlns:a="http://schemas.openxmlformats.org/drawingml/2006/main" noGrp="1"/>
          </p:cNvSpPr>
          <p:nvPr/>
        </p:nvSpPr>
        <p:spPr>
          <a:xfrm xmlns:a="http://schemas.openxmlformats.org/drawingml/2006/main">
            <a:off x="2519172"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Retrain</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Everything</a:t>
            </a:r>
            <a:endParaRPr sz="900"/>
          </a:p>
        </p:txBody>
      </p:sp>
      <p:sp>
        <p:nvSpPr>
          <p:cNvPr id="12" name="Shape 10">
            <a:extLst xmlns:a="http://schemas.openxmlformats.org/drawingml/2006/main">
              <a:ext uri="{FF2B5EF4-FFF2-40B4-BE49-F238E27FC236}">
                <a16:creationId xmlns:a16="http://schemas.microsoft.com/office/drawing/2014/main" id="{E503F26F-79B5-4B29-9B97-978CC9653DD9}"/>
              </a:ext>
            </a:extLst>
          </p:cNvPr>
          <p:cNvSpPr>
            <a:spLocks xmlns:a="http://schemas.openxmlformats.org/drawingml/2006/main" noGrp="1"/>
          </p:cNvSpPr>
          <p:nvPr/>
        </p:nvSpPr>
        <p:spPr>
          <a:xfrm xmlns:a="http://schemas.openxmlformats.org/drawingml/2006/main">
            <a:off x="3911803" y="2660904"/>
            <a:ext cx="201168" cy="256032"/>
          </a:xfrm>
          <a:prstGeom xmlns:a="http://schemas.openxmlformats.org/drawingml/2006/main" prst="chevron">
            <a:avLst/>
          </a:prstGeom>
          <a:solidFill xmlns:a="http://schemas.openxmlformats.org/drawingml/2006/main">
            <a:srgbClr val="5B6B79"/>
          </a:solidFill>
        </p:spPr>
      </p:sp>
      <p:sp>
        <p:nvSpPr>
          <p:cNvPr id="13" name="Shape 11">
            <a:extLst xmlns:a="http://schemas.openxmlformats.org/drawingml/2006/main">
              <a:ext uri="{FF2B5EF4-FFF2-40B4-BE49-F238E27FC236}">
                <a16:creationId xmlns:a16="http://schemas.microsoft.com/office/drawing/2014/main" id="{480DDC21-441D-4A32-AA3E-4D94242A2FFC}"/>
              </a:ext>
            </a:extLst>
          </p:cNvPr>
          <p:cNvSpPr>
            <a:spLocks xmlns:a="http://schemas.openxmlformats.org/drawingml/2006/main" noGrp="1"/>
          </p:cNvSpPr>
          <p:nvPr/>
        </p:nvSpPr>
        <p:spPr>
          <a:xfrm xmlns:a="http://schemas.openxmlformats.org/drawingml/2006/main">
            <a:off x="4261104" y="2514600"/>
            <a:ext cx="1421892" cy="548640"/>
          </a:xfrm>
          <a:prstGeom xmlns:a="http://schemas.openxmlformats.org/drawingml/2006/main" prst="roundRect">
            <a:avLst>
              <a:gd name="adj" fmla="val 8333"/>
            </a:avLst>
          </a:prstGeom>
          <a:solidFill xmlns:a="http://schemas.openxmlformats.org/drawingml/2006/main">
            <a:srgbClr val="13355E"/>
          </a:solidFill>
          <a:ln xmlns:a="http://schemas.openxmlformats.org/drawingml/2006/main" w="9525">
            <a:solidFill>
              <a:srgbClr val="2E6C99"/>
            </a:solidFill>
            <a:prstDash val="solid"/>
          </a:ln>
        </p:spPr>
      </p:sp>
      <p:sp>
        <p:nvSpPr>
          <p:cNvPr id="14" name="Text 12">
            <a:extLst xmlns:a="http://schemas.openxmlformats.org/drawingml/2006/main">
              <a:ext uri="{FF2B5EF4-FFF2-40B4-BE49-F238E27FC236}">
                <a16:creationId xmlns:a16="http://schemas.microsoft.com/office/drawing/2014/main" id="{FC2E9521-983E-476B-840F-F9362BE166B3}"/>
              </a:ext>
            </a:extLst>
          </p:cNvPr>
          <p:cNvSpPr>
            <a:spLocks xmlns:a="http://schemas.openxmlformats.org/drawingml/2006/main" noGrp="1"/>
          </p:cNvSpPr>
          <p:nvPr/>
        </p:nvSpPr>
        <p:spPr>
          <a:xfrm xmlns:a="http://schemas.openxmlformats.org/drawingml/2006/main">
            <a:off x="4306824"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FFFFFF"/>
                </a:solidFill>
                <a:latin typeface="Calibri"/>
                <a:ea typeface="Calibri"/>
                <a:cs typeface="Calibri"/>
              </a:rPr>
              <a:t>Deploy New</a:t>
            </a:r>
            <a:endParaRPr sz="900"/>
          </a:p>
          <a:p xmlns:a="http://schemas.openxmlformats.org/drawingml/2006/main">
            <a:pPr marL="0" indent="0" algn="ctr">
              <a:lnSpc>
                <a:spcPts val="1000"/>
              </a:lnSpc>
              <a:buNone/>
            </a:pPr>
            <a:r>
              <a:rPr sz="900" b="1">
                <a:solidFill>
                  <a:srgbClr val="FFFFFF"/>
                </a:solidFill>
                <a:latin typeface="Calibri"/>
                <a:ea typeface="Calibri"/>
                <a:cs typeface="Calibri"/>
              </a:rPr>
              <a:t>Model</a:t>
            </a:r>
            <a:endParaRPr sz="900"/>
          </a:p>
        </p:txBody>
      </p:sp>
      <p:sp>
        <p:nvSpPr>
          <p:cNvPr id="15" name="Shape 13">
            <a:extLst xmlns:a="http://schemas.openxmlformats.org/drawingml/2006/main">
              <a:ext uri="{FF2B5EF4-FFF2-40B4-BE49-F238E27FC236}">
                <a16:creationId xmlns:a16="http://schemas.microsoft.com/office/drawing/2014/main" id="{93848841-78B3-4308-B6FD-7D9485BC1DC6}"/>
              </a:ext>
            </a:extLst>
          </p:cNvPr>
          <p:cNvSpPr>
            <a:spLocks xmlns:a="http://schemas.openxmlformats.org/drawingml/2006/main" noGrp="1"/>
          </p:cNvSpPr>
          <p:nvPr/>
        </p:nvSpPr>
        <p:spPr>
          <a:xfrm xmlns:a="http://schemas.openxmlformats.org/drawingml/2006/main">
            <a:off x="6277356" y="2011680"/>
            <a:ext cx="5454396" cy="1234440"/>
          </a:xfrm>
          <a:prstGeom xmlns:a="http://schemas.openxmlformats.org/drawingml/2006/main" prst="roundRect">
            <a:avLst>
              <a:gd name="adj" fmla="val 5185"/>
            </a:avLst>
          </a:prstGeom>
          <a:solidFill xmlns:a="http://schemas.openxmlformats.org/drawingml/2006/main">
            <a:srgbClr val="F2F6F8"/>
          </a:solidFill>
        </p:spPr>
      </p:sp>
      <p:sp>
        <p:nvSpPr>
          <p:cNvPr id="16" name="Text 14">
            <a:extLst xmlns:a="http://schemas.openxmlformats.org/drawingml/2006/main">
              <a:ext uri="{FF2B5EF4-FFF2-40B4-BE49-F238E27FC236}">
                <a16:creationId xmlns:a16="http://schemas.microsoft.com/office/drawing/2014/main" id="{1DA48CEB-BDEB-4197-8BFA-5D46E0C543CA}"/>
              </a:ext>
            </a:extLst>
          </p:cNvPr>
          <p:cNvSpPr>
            <a:spLocks xmlns:a="http://schemas.openxmlformats.org/drawingml/2006/main" noGrp="1"/>
          </p:cNvSpPr>
          <p:nvPr/>
        </p:nvSpPr>
        <p:spPr>
          <a:xfrm xmlns:a="http://schemas.openxmlformats.org/drawingml/2006/main">
            <a:off x="6505956" y="2121408"/>
            <a:ext cx="499719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028090"/>
                </a:solidFill>
                <a:latin typeface="Calibri"/>
                <a:ea typeface="Calibri"/>
                <a:cs typeface="Calibri"/>
              </a:rPr>
              <a:t>WITH ADAPTIVE LEARNING (PROPOSED)</a:t>
            </a:r>
            <a:endParaRPr sz="1050"/>
          </a:p>
        </p:txBody>
      </p:sp>
      <p:sp>
        <p:nvSpPr>
          <p:cNvPr id="17" name="Shape 15">
            <a:extLst xmlns:a="http://schemas.openxmlformats.org/drawingml/2006/main">
              <a:ext uri="{FF2B5EF4-FFF2-40B4-BE49-F238E27FC236}">
                <a16:creationId xmlns:a16="http://schemas.microsoft.com/office/drawing/2014/main" id="{1F16FF94-6A37-4EEC-93A0-9F77B86C1965}"/>
              </a:ext>
            </a:extLst>
          </p:cNvPr>
          <p:cNvSpPr>
            <a:spLocks xmlns:a="http://schemas.openxmlformats.org/drawingml/2006/main" noGrp="1"/>
          </p:cNvSpPr>
          <p:nvPr/>
        </p:nvSpPr>
        <p:spPr>
          <a:xfrm xmlns:a="http://schemas.openxmlformats.org/drawingml/2006/main">
            <a:off x="6505956"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sp>
      <p:sp>
        <p:nvSpPr>
          <p:cNvPr id="18" name="Text 16">
            <a:extLst xmlns:a="http://schemas.openxmlformats.org/drawingml/2006/main">
              <a:ext uri="{FF2B5EF4-FFF2-40B4-BE49-F238E27FC236}">
                <a16:creationId xmlns:a16="http://schemas.microsoft.com/office/drawing/2014/main" id="{6EF01983-923C-4D3D-B356-03A4F34DA80F}"/>
              </a:ext>
            </a:extLst>
          </p:cNvPr>
          <p:cNvSpPr>
            <a:spLocks xmlns:a="http://schemas.openxmlformats.org/drawingml/2006/main" noGrp="1"/>
          </p:cNvSpPr>
          <p:nvPr/>
        </p:nvSpPr>
        <p:spPr>
          <a:xfrm xmlns:a="http://schemas.openxmlformats.org/drawingml/2006/main">
            <a:off x="6551676"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Existing Model</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 New Data</a:t>
            </a:r>
            <a:endParaRPr sz="900"/>
          </a:p>
        </p:txBody>
      </p:sp>
      <p:sp>
        <p:nvSpPr>
          <p:cNvPr id="19" name="Shape 17">
            <a:extLst xmlns:a="http://schemas.openxmlformats.org/drawingml/2006/main">
              <a:ext uri="{FF2B5EF4-FFF2-40B4-BE49-F238E27FC236}">
                <a16:creationId xmlns:a16="http://schemas.microsoft.com/office/drawing/2014/main" id="{38CB3347-5118-47CA-9EBC-5214042ACABE}"/>
              </a:ext>
            </a:extLst>
          </p:cNvPr>
          <p:cNvSpPr>
            <a:spLocks xmlns:a="http://schemas.openxmlformats.org/drawingml/2006/main" noGrp="1"/>
          </p:cNvSpPr>
          <p:nvPr/>
        </p:nvSpPr>
        <p:spPr>
          <a:xfrm xmlns:a="http://schemas.openxmlformats.org/drawingml/2006/main">
            <a:off x="7944307" y="2660904"/>
            <a:ext cx="201168" cy="256032"/>
          </a:xfrm>
          <a:prstGeom xmlns:a="http://schemas.openxmlformats.org/drawingml/2006/main" prst="chevron">
            <a:avLst/>
          </a:prstGeom>
          <a:solidFill xmlns:a="http://schemas.openxmlformats.org/drawingml/2006/main">
            <a:srgbClr val="00A896"/>
          </a:solidFill>
        </p:spPr>
      </p:sp>
      <p:sp>
        <p:nvSpPr>
          <p:cNvPr id="20" name="Shape 18">
            <a:extLst xmlns:a="http://schemas.openxmlformats.org/drawingml/2006/main">
              <a:ext uri="{FF2B5EF4-FFF2-40B4-BE49-F238E27FC236}">
                <a16:creationId xmlns:a16="http://schemas.microsoft.com/office/drawing/2014/main" id="{672455E6-706E-4935-8005-B9F304778F4D}"/>
              </a:ext>
            </a:extLst>
          </p:cNvPr>
          <p:cNvSpPr>
            <a:spLocks xmlns:a="http://schemas.openxmlformats.org/drawingml/2006/main" noGrp="1"/>
          </p:cNvSpPr>
          <p:nvPr/>
        </p:nvSpPr>
        <p:spPr>
          <a:xfrm xmlns:a="http://schemas.openxmlformats.org/drawingml/2006/main">
            <a:off x="8293608"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sp>
      <p:sp>
        <p:nvSpPr>
          <p:cNvPr id="21" name="Text 19">
            <a:extLst xmlns:a="http://schemas.openxmlformats.org/drawingml/2006/main">
              <a:ext uri="{FF2B5EF4-FFF2-40B4-BE49-F238E27FC236}">
                <a16:creationId xmlns:a16="http://schemas.microsoft.com/office/drawing/2014/main" id="{70963D9A-91B4-4759-9289-A2F26A8E2389}"/>
              </a:ext>
            </a:extLst>
          </p:cNvPr>
          <p:cNvSpPr>
            <a:spLocks xmlns:a="http://schemas.openxmlformats.org/drawingml/2006/main" noGrp="1"/>
          </p:cNvSpPr>
          <p:nvPr/>
        </p:nvSpPr>
        <p:spPr>
          <a:xfrm xmlns:a="http://schemas.openxmlformats.org/drawingml/2006/main">
            <a:off x="8339328"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Fine-Tune</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Only</a:t>
            </a:r>
            <a:endParaRPr sz="900"/>
          </a:p>
        </p:txBody>
      </p:sp>
      <p:sp>
        <p:nvSpPr>
          <p:cNvPr id="22" name="Shape 20">
            <a:extLst xmlns:a="http://schemas.openxmlformats.org/drawingml/2006/main">
              <a:ext uri="{FF2B5EF4-FFF2-40B4-BE49-F238E27FC236}">
                <a16:creationId xmlns:a16="http://schemas.microsoft.com/office/drawing/2014/main" id="{CFD71AFF-D6BC-4052-BEB9-937B0004C4E3}"/>
              </a:ext>
            </a:extLst>
          </p:cNvPr>
          <p:cNvSpPr>
            <a:spLocks xmlns:a="http://schemas.openxmlformats.org/drawingml/2006/main" noGrp="1"/>
          </p:cNvSpPr>
          <p:nvPr/>
        </p:nvSpPr>
        <p:spPr>
          <a:xfrm xmlns:a="http://schemas.openxmlformats.org/drawingml/2006/main">
            <a:off x="9731959" y="2660904"/>
            <a:ext cx="201168" cy="256032"/>
          </a:xfrm>
          <a:prstGeom xmlns:a="http://schemas.openxmlformats.org/drawingml/2006/main" prst="chevron">
            <a:avLst/>
          </a:prstGeom>
          <a:solidFill xmlns:a="http://schemas.openxmlformats.org/drawingml/2006/main">
            <a:srgbClr val="00A896"/>
          </a:solidFill>
        </p:spPr>
      </p:sp>
      <p:sp>
        <p:nvSpPr>
          <p:cNvPr id="23" name="Shape 21">
            <a:extLst xmlns:a="http://schemas.openxmlformats.org/drawingml/2006/main">
              <a:ext uri="{FF2B5EF4-FFF2-40B4-BE49-F238E27FC236}">
                <a16:creationId xmlns:a16="http://schemas.microsoft.com/office/drawing/2014/main" id="{97A831B0-80A5-4F42-A4F6-34E2ED54AF66}"/>
              </a:ext>
            </a:extLst>
          </p:cNvPr>
          <p:cNvSpPr>
            <a:spLocks xmlns:a="http://schemas.openxmlformats.org/drawingml/2006/main" noGrp="1"/>
          </p:cNvSpPr>
          <p:nvPr/>
        </p:nvSpPr>
        <p:spPr>
          <a:xfrm xmlns:a="http://schemas.openxmlformats.org/drawingml/2006/main">
            <a:off x="10081260" y="2514600"/>
            <a:ext cx="1421892" cy="54864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7E0E6"/>
            </a:solidFill>
            <a:prstDash val="solid"/>
          </a:ln>
        </p:spPr>
      </p:sp>
      <p:sp>
        <p:nvSpPr>
          <p:cNvPr id="24" name="Text 22">
            <a:extLst xmlns:a="http://schemas.openxmlformats.org/drawingml/2006/main">
              <a:ext uri="{FF2B5EF4-FFF2-40B4-BE49-F238E27FC236}">
                <a16:creationId xmlns:a16="http://schemas.microsoft.com/office/drawing/2014/main" id="{82D549EE-A665-4F55-B323-2F2059DD07C0}"/>
              </a:ext>
            </a:extLst>
          </p:cNvPr>
          <p:cNvSpPr>
            <a:spLocks xmlns:a="http://schemas.openxmlformats.org/drawingml/2006/main" noGrp="1"/>
          </p:cNvSpPr>
          <p:nvPr/>
        </p:nvSpPr>
        <p:spPr>
          <a:xfrm xmlns:a="http://schemas.openxmlformats.org/drawingml/2006/main">
            <a:off x="10126980" y="2514600"/>
            <a:ext cx="13304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ts val="1000"/>
              </a:lnSpc>
              <a:buNone/>
            </a:pPr>
            <a:r>
              <a:rPr sz="900" b="1">
                <a:solidFill>
                  <a:srgbClr val="222B33"/>
                </a:solidFill>
                <a:latin typeface="Calibri"/>
                <a:ea typeface="Calibri"/>
                <a:cs typeface="Calibri"/>
              </a:rPr>
              <a:t>Updated</a:t>
            </a:r>
            <a:endParaRPr sz="900"/>
          </a:p>
          <a:p xmlns:a="http://schemas.openxmlformats.org/drawingml/2006/main">
            <a:pPr marL="0" indent="0" algn="ctr">
              <a:lnSpc>
                <a:spcPts val="1000"/>
              </a:lnSpc>
              <a:buNone/>
            </a:pPr>
            <a:r>
              <a:rPr sz="900" b="1">
                <a:solidFill>
                  <a:srgbClr val="222B33"/>
                </a:solidFill>
                <a:latin typeface="Calibri"/>
                <a:ea typeface="Calibri"/>
                <a:cs typeface="Calibri"/>
              </a:rPr>
              <a:t>Model</a:t>
            </a:r>
            <a:endParaRPr sz="900"/>
          </a:p>
        </p:txBody>
      </p:sp>
      <p:sp>
        <p:nvSpPr>
          <p:cNvPr id="25" name="Text 23">
            <a:extLst xmlns:a="http://schemas.openxmlformats.org/drawingml/2006/main">
              <a:ext uri="{FF2B5EF4-FFF2-40B4-BE49-F238E27FC236}">
                <a16:creationId xmlns:a16="http://schemas.microsoft.com/office/drawing/2014/main" id="{5A21E390-3265-48E9-B3E1-321A5C826537}"/>
              </a:ext>
            </a:extLst>
          </p:cNvPr>
          <p:cNvSpPr>
            <a:spLocks xmlns:a="http://schemas.openxmlformats.org/drawingml/2006/main" noGrp="1"/>
          </p:cNvSpPr>
          <p:nvPr/>
        </p:nvSpPr>
        <p:spPr>
          <a:xfrm xmlns:a="http://schemas.openxmlformats.org/drawingml/2006/main">
            <a:off x="457200" y="3611880"/>
            <a:ext cx="540867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HOW IT WORKS</a:t>
            </a:r>
            <a:endParaRPr sz="1100"/>
          </a:p>
        </p:txBody>
      </p:sp>
      <p:sp>
        <p:nvSpPr>
          <p:cNvPr id="26" name="Shape 24">
            <a:extLst xmlns:a="http://schemas.openxmlformats.org/drawingml/2006/main">
              <a:ext uri="{FF2B5EF4-FFF2-40B4-BE49-F238E27FC236}">
                <a16:creationId xmlns:a16="http://schemas.microsoft.com/office/drawing/2014/main" id="{D5B0193B-336E-4121-8C72-7114404776EE}"/>
              </a:ext>
            </a:extLst>
          </p:cNvPr>
          <p:cNvSpPr>
            <a:spLocks xmlns:a="http://schemas.openxmlformats.org/drawingml/2006/main" noGrp="1"/>
          </p:cNvSpPr>
          <p:nvPr/>
        </p:nvSpPr>
        <p:spPr>
          <a:xfrm xmlns:a="http://schemas.openxmlformats.org/drawingml/2006/main">
            <a:off x="457200" y="3931920"/>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27" name="Text 25">
            <a:extLst xmlns:a="http://schemas.openxmlformats.org/drawingml/2006/main">
              <a:ext uri="{FF2B5EF4-FFF2-40B4-BE49-F238E27FC236}">
                <a16:creationId xmlns:a16="http://schemas.microsoft.com/office/drawing/2014/main" id="{FD5A7DA2-DD20-4B1F-8643-B89A3C5D8591}"/>
              </a:ext>
            </a:extLst>
          </p:cNvPr>
          <p:cNvSpPr>
            <a:spLocks xmlns:a="http://schemas.openxmlformats.org/drawingml/2006/main" noGrp="1"/>
          </p:cNvSpPr>
          <p:nvPr/>
        </p:nvSpPr>
        <p:spPr>
          <a:xfrm xmlns:a="http://schemas.openxmlformats.org/drawingml/2006/main">
            <a:off x="457200" y="3931920"/>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1</a:t>
            </a:r>
            <a:endParaRPr sz="1100"/>
          </a:p>
        </p:txBody>
      </p:sp>
      <p:sp>
        <p:nvSpPr>
          <p:cNvPr id="28" name="Text 26">
            <a:extLst xmlns:a="http://schemas.openxmlformats.org/drawingml/2006/main">
              <a:ext uri="{FF2B5EF4-FFF2-40B4-BE49-F238E27FC236}">
                <a16:creationId xmlns:a16="http://schemas.microsoft.com/office/drawing/2014/main" id="{73370148-03C3-4751-9907-8EE543C90CCE}"/>
              </a:ext>
            </a:extLst>
          </p:cNvPr>
          <p:cNvSpPr>
            <a:spLocks xmlns:a="http://schemas.openxmlformats.org/drawingml/2006/main" noGrp="1"/>
          </p:cNvSpPr>
          <p:nvPr/>
        </p:nvSpPr>
        <p:spPr>
          <a:xfrm xmlns:a="http://schemas.openxmlformats.org/drawingml/2006/main">
            <a:off x="868680" y="3913632"/>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Monitor real-time sensor data (V, I, temperature, SOC, cycle count)</a:t>
            </a:r>
            <a:endParaRPr sz="1100"/>
          </a:p>
        </p:txBody>
      </p:sp>
      <p:sp>
        <p:nvSpPr>
          <p:cNvPr id="29" name="Shape 27">
            <a:extLst xmlns:a="http://schemas.openxmlformats.org/drawingml/2006/main">
              <a:ext uri="{FF2B5EF4-FFF2-40B4-BE49-F238E27FC236}">
                <a16:creationId xmlns:a16="http://schemas.microsoft.com/office/drawing/2014/main" id="{31ABC1D4-6468-47ED-9E31-F95DDC4D3D00}"/>
              </a:ext>
            </a:extLst>
          </p:cNvPr>
          <p:cNvSpPr>
            <a:spLocks xmlns:a="http://schemas.openxmlformats.org/drawingml/2006/main" noGrp="1"/>
          </p:cNvSpPr>
          <p:nvPr/>
        </p:nvSpPr>
        <p:spPr>
          <a:xfrm xmlns:a="http://schemas.openxmlformats.org/drawingml/2006/main">
            <a:off x="457200" y="4352544"/>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0" name="Text 28">
            <a:extLst xmlns:a="http://schemas.openxmlformats.org/drawingml/2006/main">
              <a:ext uri="{FF2B5EF4-FFF2-40B4-BE49-F238E27FC236}">
                <a16:creationId xmlns:a16="http://schemas.microsoft.com/office/drawing/2014/main" id="{C29B384C-9E1E-4BD4-A7F5-DD42CB7C4284}"/>
              </a:ext>
            </a:extLst>
          </p:cNvPr>
          <p:cNvSpPr>
            <a:spLocks xmlns:a="http://schemas.openxmlformats.org/drawingml/2006/main" noGrp="1"/>
          </p:cNvSpPr>
          <p:nvPr/>
        </p:nvSpPr>
        <p:spPr>
          <a:xfrm xmlns:a="http://schemas.openxmlformats.org/drawingml/2006/main">
            <a:off x="457200" y="4352544"/>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2</a:t>
            </a:r>
            <a:endParaRPr sz="1100"/>
          </a:p>
        </p:txBody>
      </p:sp>
      <p:sp>
        <p:nvSpPr>
          <p:cNvPr id="31" name="Text 29">
            <a:extLst xmlns:a="http://schemas.openxmlformats.org/drawingml/2006/main">
              <a:ext uri="{FF2B5EF4-FFF2-40B4-BE49-F238E27FC236}">
                <a16:creationId xmlns:a16="http://schemas.microsoft.com/office/drawing/2014/main" id="{41CA5C48-CD6E-48C3-A7E1-E84907200AEA}"/>
              </a:ext>
            </a:extLst>
          </p:cNvPr>
          <p:cNvSpPr>
            <a:spLocks xmlns:a="http://schemas.openxmlformats.org/drawingml/2006/main" noGrp="1"/>
          </p:cNvSpPr>
          <p:nvPr/>
        </p:nvSpPr>
        <p:spPr>
          <a:xfrm xmlns:a="http://schemas.openxmlformats.org/drawingml/2006/main">
            <a:off x="868680" y="4334256"/>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Detect changes in degradation behaviour</a:t>
            </a:r>
            <a:endParaRPr sz="1100"/>
          </a:p>
        </p:txBody>
      </p:sp>
      <p:sp>
        <p:nvSpPr>
          <p:cNvPr id="32" name="Shape 30">
            <a:extLst xmlns:a="http://schemas.openxmlformats.org/drawingml/2006/main">
              <a:ext uri="{FF2B5EF4-FFF2-40B4-BE49-F238E27FC236}">
                <a16:creationId xmlns:a16="http://schemas.microsoft.com/office/drawing/2014/main" id="{909F8A9C-76DC-4A53-ADBA-070990EDCF46}"/>
              </a:ext>
            </a:extLst>
          </p:cNvPr>
          <p:cNvSpPr>
            <a:spLocks xmlns:a="http://schemas.openxmlformats.org/drawingml/2006/main" noGrp="1"/>
          </p:cNvSpPr>
          <p:nvPr/>
        </p:nvSpPr>
        <p:spPr>
          <a:xfrm xmlns:a="http://schemas.openxmlformats.org/drawingml/2006/main">
            <a:off x="457200" y="4773168"/>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3" name="Text 31">
            <a:extLst xmlns:a="http://schemas.openxmlformats.org/drawingml/2006/main">
              <a:ext uri="{FF2B5EF4-FFF2-40B4-BE49-F238E27FC236}">
                <a16:creationId xmlns:a16="http://schemas.microsoft.com/office/drawing/2014/main" id="{CBE726B2-9280-43E1-A289-B2A9DB5786B4}"/>
              </a:ext>
            </a:extLst>
          </p:cNvPr>
          <p:cNvSpPr>
            <a:spLocks xmlns:a="http://schemas.openxmlformats.org/drawingml/2006/main" noGrp="1"/>
          </p:cNvSpPr>
          <p:nvPr/>
        </p:nvSpPr>
        <p:spPr>
          <a:xfrm xmlns:a="http://schemas.openxmlformats.org/drawingml/2006/main">
            <a:off x="457200" y="4773168"/>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3</a:t>
            </a:r>
            <a:endParaRPr sz="1100"/>
          </a:p>
        </p:txBody>
      </p:sp>
      <p:sp>
        <p:nvSpPr>
          <p:cNvPr id="34" name="Text 32">
            <a:extLst xmlns:a="http://schemas.openxmlformats.org/drawingml/2006/main">
              <a:ext uri="{FF2B5EF4-FFF2-40B4-BE49-F238E27FC236}">
                <a16:creationId xmlns:a16="http://schemas.microsoft.com/office/drawing/2014/main" id="{6CAB0A87-FFF9-437D-A4E5-463A1B693044}"/>
              </a:ext>
            </a:extLst>
          </p:cNvPr>
          <p:cNvSpPr>
            <a:spLocks xmlns:a="http://schemas.openxmlformats.org/drawingml/2006/main" noGrp="1"/>
          </p:cNvSpPr>
          <p:nvPr/>
        </p:nvSpPr>
        <p:spPr>
          <a:xfrm xmlns:a="http://schemas.openxmlformats.org/drawingml/2006/main">
            <a:off x="868680" y="4754880"/>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Store important new data in a replay buffer</a:t>
            </a:r>
            <a:endParaRPr sz="1100"/>
          </a:p>
        </p:txBody>
      </p:sp>
      <p:sp>
        <p:nvSpPr>
          <p:cNvPr id="35" name="Shape 33">
            <a:extLst xmlns:a="http://schemas.openxmlformats.org/drawingml/2006/main">
              <a:ext uri="{FF2B5EF4-FFF2-40B4-BE49-F238E27FC236}">
                <a16:creationId xmlns:a16="http://schemas.microsoft.com/office/drawing/2014/main" id="{E23CB4D9-3AA3-4FAE-9763-6DC67FD70323}"/>
              </a:ext>
            </a:extLst>
          </p:cNvPr>
          <p:cNvSpPr>
            <a:spLocks xmlns:a="http://schemas.openxmlformats.org/drawingml/2006/main" noGrp="1"/>
          </p:cNvSpPr>
          <p:nvPr/>
        </p:nvSpPr>
        <p:spPr>
          <a:xfrm xmlns:a="http://schemas.openxmlformats.org/drawingml/2006/main">
            <a:off x="457200" y="5193792"/>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6" name="Text 34">
            <a:extLst xmlns:a="http://schemas.openxmlformats.org/drawingml/2006/main">
              <a:ext uri="{FF2B5EF4-FFF2-40B4-BE49-F238E27FC236}">
                <a16:creationId xmlns:a16="http://schemas.microsoft.com/office/drawing/2014/main" id="{29700237-8E8A-434C-9BFE-49D41A892FC0}"/>
              </a:ext>
            </a:extLst>
          </p:cNvPr>
          <p:cNvSpPr>
            <a:spLocks xmlns:a="http://schemas.openxmlformats.org/drawingml/2006/main" noGrp="1"/>
          </p:cNvSpPr>
          <p:nvPr/>
        </p:nvSpPr>
        <p:spPr>
          <a:xfrm xmlns:a="http://schemas.openxmlformats.org/drawingml/2006/main">
            <a:off x="457200" y="5193792"/>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4</a:t>
            </a:r>
            <a:endParaRPr sz="1100"/>
          </a:p>
        </p:txBody>
      </p:sp>
      <p:sp>
        <p:nvSpPr>
          <p:cNvPr id="37" name="Text 35">
            <a:extLst xmlns:a="http://schemas.openxmlformats.org/drawingml/2006/main">
              <a:ext uri="{FF2B5EF4-FFF2-40B4-BE49-F238E27FC236}">
                <a16:creationId xmlns:a16="http://schemas.microsoft.com/office/drawing/2014/main" id="{C8A393BF-FADD-41F7-8293-E6BE4C9263FF}"/>
              </a:ext>
            </a:extLst>
          </p:cNvPr>
          <p:cNvSpPr>
            <a:spLocks xmlns:a="http://schemas.openxmlformats.org/drawingml/2006/main" noGrp="1"/>
          </p:cNvSpPr>
          <p:nvPr/>
        </p:nvSpPr>
        <p:spPr>
          <a:xfrm xmlns:a="http://schemas.openxmlformats.org/drawingml/2006/main">
            <a:off x="868680" y="5175504"/>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Incrementally fine-tune the existing model</a:t>
            </a:r>
            <a:endParaRPr sz="1100"/>
          </a:p>
        </p:txBody>
      </p:sp>
      <p:sp>
        <p:nvSpPr>
          <p:cNvPr id="38" name="Shape 36">
            <a:extLst xmlns:a="http://schemas.openxmlformats.org/drawingml/2006/main">
              <a:ext uri="{FF2B5EF4-FFF2-40B4-BE49-F238E27FC236}">
                <a16:creationId xmlns:a16="http://schemas.microsoft.com/office/drawing/2014/main" id="{0E7ED745-7F0E-44BB-BC74-9944DC77C247}"/>
              </a:ext>
            </a:extLst>
          </p:cNvPr>
          <p:cNvSpPr>
            <a:spLocks xmlns:a="http://schemas.openxmlformats.org/drawingml/2006/main" noGrp="1"/>
          </p:cNvSpPr>
          <p:nvPr/>
        </p:nvSpPr>
        <p:spPr>
          <a:xfrm xmlns:a="http://schemas.openxmlformats.org/drawingml/2006/main">
            <a:off x="457200" y="5614416"/>
            <a:ext cx="292608" cy="292608"/>
          </a:xfrm>
          <a:prstGeom xmlns:a="http://schemas.openxmlformats.org/drawingml/2006/main" prst="roundRect">
            <a:avLst>
              <a:gd name="adj" fmla="val 50000"/>
            </a:avLst>
          </a:prstGeom>
          <a:solidFill xmlns:a="http://schemas.openxmlformats.org/drawingml/2006/main">
            <a:srgbClr val="0B2545"/>
          </a:solidFill>
        </p:spPr>
      </p:sp>
      <p:sp>
        <p:nvSpPr>
          <p:cNvPr id="39" name="Text 37">
            <a:extLst xmlns:a="http://schemas.openxmlformats.org/drawingml/2006/main">
              <a:ext uri="{FF2B5EF4-FFF2-40B4-BE49-F238E27FC236}">
                <a16:creationId xmlns:a16="http://schemas.microsoft.com/office/drawing/2014/main" id="{880594D3-8999-4ADA-9CCE-666A286617DA}"/>
              </a:ext>
            </a:extLst>
          </p:cNvPr>
          <p:cNvSpPr>
            <a:spLocks xmlns:a="http://schemas.openxmlformats.org/drawingml/2006/main" noGrp="1"/>
          </p:cNvSpPr>
          <p:nvPr/>
        </p:nvSpPr>
        <p:spPr>
          <a:xfrm xmlns:a="http://schemas.openxmlformats.org/drawingml/2006/main">
            <a:off x="457200" y="5614416"/>
            <a:ext cx="292608"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5</a:t>
            </a:r>
            <a:endParaRPr sz="1100"/>
          </a:p>
        </p:txBody>
      </p:sp>
      <p:sp>
        <p:nvSpPr>
          <p:cNvPr id="40" name="Text 38">
            <a:extLst xmlns:a="http://schemas.openxmlformats.org/drawingml/2006/main">
              <a:ext uri="{FF2B5EF4-FFF2-40B4-BE49-F238E27FC236}">
                <a16:creationId xmlns:a16="http://schemas.microsoft.com/office/drawing/2014/main" id="{69272BCA-9EEE-4E83-BB35-48E5E81BE086}"/>
              </a:ext>
            </a:extLst>
          </p:cNvPr>
          <p:cNvSpPr>
            <a:spLocks xmlns:a="http://schemas.openxmlformats.org/drawingml/2006/main" noGrp="1"/>
          </p:cNvSpPr>
          <p:nvPr/>
        </p:nvSpPr>
        <p:spPr>
          <a:xfrm xmlns:a="http://schemas.openxmlformats.org/drawingml/2006/main">
            <a:off x="868680" y="5596128"/>
            <a:ext cx="499719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Update the Digital Twin — no full retraining</a:t>
            </a:r>
            <a:endParaRPr sz="1100"/>
          </a:p>
        </p:txBody>
      </p:sp>
      <p:sp>
        <p:nvSpPr>
          <p:cNvPr id="41" name="Text 39">
            <a:extLst xmlns:a="http://schemas.openxmlformats.org/drawingml/2006/main">
              <a:ext uri="{FF2B5EF4-FFF2-40B4-BE49-F238E27FC236}">
                <a16:creationId xmlns:a16="http://schemas.microsoft.com/office/drawing/2014/main" id="{ABDD6F1C-74A1-4ADD-B2D3-8C8473AC2653}"/>
              </a:ext>
            </a:extLst>
          </p:cNvPr>
          <p:cNvSpPr>
            <a:spLocks xmlns:a="http://schemas.openxmlformats.org/drawingml/2006/main" noGrp="1"/>
          </p:cNvSpPr>
          <p:nvPr/>
        </p:nvSpPr>
        <p:spPr>
          <a:xfrm xmlns:a="http://schemas.openxmlformats.org/drawingml/2006/main">
            <a:off x="6323076" y="3611880"/>
            <a:ext cx="5408676"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028090"/>
                </a:solidFill>
                <a:latin typeface="Calibri"/>
                <a:ea typeface="Calibri"/>
                <a:cs typeface="Calibri"/>
              </a:rPr>
              <a:t>ADVANTAGES</a:t>
            </a:r>
            <a:endParaRPr sz="1100"/>
          </a:p>
        </p:txBody>
      </p:sp>
      <p:sp>
        <p:nvSpPr>
          <p:cNvPr id="42" name="Shape 40">
            <a:extLst xmlns:a="http://schemas.openxmlformats.org/drawingml/2006/main">
              <a:ext uri="{FF2B5EF4-FFF2-40B4-BE49-F238E27FC236}">
                <a16:creationId xmlns:a16="http://schemas.microsoft.com/office/drawing/2014/main" id="{2C68150A-A4C0-4622-832D-7FAFB7CDF093}"/>
              </a:ext>
            </a:extLst>
          </p:cNvPr>
          <p:cNvSpPr>
            <a:spLocks xmlns:a="http://schemas.openxmlformats.org/drawingml/2006/main" noGrp="1"/>
          </p:cNvSpPr>
          <p:nvPr/>
        </p:nvSpPr>
        <p:spPr>
          <a:xfrm xmlns:a="http://schemas.openxmlformats.org/drawingml/2006/main">
            <a:off x="6323076" y="3977640"/>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3" name="Text 41">
            <a:extLst xmlns:a="http://schemas.openxmlformats.org/drawingml/2006/main">
              <a:ext uri="{FF2B5EF4-FFF2-40B4-BE49-F238E27FC236}">
                <a16:creationId xmlns:a16="http://schemas.microsoft.com/office/drawing/2014/main" id="{02741859-1181-4372-808E-D0745781D167}"/>
              </a:ext>
            </a:extLst>
          </p:cNvPr>
          <p:cNvSpPr>
            <a:spLocks xmlns:a="http://schemas.openxmlformats.org/drawingml/2006/main" noGrp="1"/>
          </p:cNvSpPr>
          <p:nvPr/>
        </p:nvSpPr>
        <p:spPr>
          <a:xfrm xmlns:a="http://schemas.openxmlformats.org/drawingml/2006/main">
            <a:off x="6643116" y="3913632"/>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Eliminates full model retraining</a:t>
            </a:r>
            <a:endParaRPr sz="1100"/>
          </a:p>
        </p:txBody>
      </p:sp>
      <p:sp>
        <p:nvSpPr>
          <p:cNvPr id="44" name="Shape 42">
            <a:extLst xmlns:a="http://schemas.openxmlformats.org/drawingml/2006/main">
              <a:ext uri="{FF2B5EF4-FFF2-40B4-BE49-F238E27FC236}">
                <a16:creationId xmlns:a16="http://schemas.microsoft.com/office/drawing/2014/main" id="{3BECD449-4621-4FFD-87E0-B35E259FE625}"/>
              </a:ext>
            </a:extLst>
          </p:cNvPr>
          <p:cNvSpPr>
            <a:spLocks xmlns:a="http://schemas.openxmlformats.org/drawingml/2006/main" noGrp="1"/>
          </p:cNvSpPr>
          <p:nvPr/>
        </p:nvSpPr>
        <p:spPr>
          <a:xfrm xmlns:a="http://schemas.openxmlformats.org/drawingml/2006/main">
            <a:off x="6323076" y="4398264"/>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5" name="Text 43">
            <a:extLst xmlns:a="http://schemas.openxmlformats.org/drawingml/2006/main">
              <a:ext uri="{FF2B5EF4-FFF2-40B4-BE49-F238E27FC236}">
                <a16:creationId xmlns:a16="http://schemas.microsoft.com/office/drawing/2014/main" id="{0CFDD964-91F4-4D8C-BF27-FC10A62377CA}"/>
              </a:ext>
            </a:extLst>
          </p:cNvPr>
          <p:cNvSpPr>
            <a:spLocks xmlns:a="http://schemas.openxmlformats.org/drawingml/2006/main" noGrp="1"/>
          </p:cNvSpPr>
          <p:nvPr/>
        </p:nvSpPr>
        <p:spPr>
          <a:xfrm xmlns:a="http://schemas.openxmlformats.org/drawingml/2006/main">
            <a:off x="6643116" y="4334256"/>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Adapts to changing battery behaviour</a:t>
            </a:r>
            <a:endParaRPr sz="1100"/>
          </a:p>
        </p:txBody>
      </p:sp>
      <p:sp>
        <p:nvSpPr>
          <p:cNvPr id="46" name="Shape 44">
            <a:extLst xmlns:a="http://schemas.openxmlformats.org/drawingml/2006/main">
              <a:ext uri="{FF2B5EF4-FFF2-40B4-BE49-F238E27FC236}">
                <a16:creationId xmlns:a16="http://schemas.microsoft.com/office/drawing/2014/main" id="{F09ACB98-EB0C-487E-A12D-D5D0F34D3CF2}"/>
              </a:ext>
            </a:extLst>
          </p:cNvPr>
          <p:cNvSpPr>
            <a:spLocks xmlns:a="http://schemas.openxmlformats.org/drawingml/2006/main" noGrp="1"/>
          </p:cNvSpPr>
          <p:nvPr/>
        </p:nvSpPr>
        <p:spPr>
          <a:xfrm xmlns:a="http://schemas.openxmlformats.org/drawingml/2006/main">
            <a:off x="6323076" y="481888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7" name="Text 45">
            <a:extLst xmlns:a="http://schemas.openxmlformats.org/drawingml/2006/main">
              <a:ext uri="{FF2B5EF4-FFF2-40B4-BE49-F238E27FC236}">
                <a16:creationId xmlns:a16="http://schemas.microsoft.com/office/drawing/2014/main" id="{5904333B-3906-4649-AB0C-85FF1E5B9C57}"/>
              </a:ext>
            </a:extLst>
          </p:cNvPr>
          <p:cNvSpPr>
            <a:spLocks xmlns:a="http://schemas.openxmlformats.org/drawingml/2006/main" noGrp="1"/>
          </p:cNvSpPr>
          <p:nvPr/>
        </p:nvSpPr>
        <p:spPr>
          <a:xfrm xmlns:a="http://schemas.openxmlformats.org/drawingml/2006/main">
            <a:off x="6643116" y="4754880"/>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Personalized prediction per battery</a:t>
            </a:r>
            <a:endParaRPr sz="1100"/>
          </a:p>
        </p:txBody>
      </p:sp>
      <p:sp>
        <p:nvSpPr>
          <p:cNvPr id="48" name="Shape 46">
            <a:extLst xmlns:a="http://schemas.openxmlformats.org/drawingml/2006/main">
              <a:ext uri="{FF2B5EF4-FFF2-40B4-BE49-F238E27FC236}">
                <a16:creationId xmlns:a16="http://schemas.microsoft.com/office/drawing/2014/main" id="{3E5B102D-673B-4845-BA1E-02E707B3D002}"/>
              </a:ext>
            </a:extLst>
          </p:cNvPr>
          <p:cNvSpPr>
            <a:spLocks xmlns:a="http://schemas.openxmlformats.org/drawingml/2006/main" noGrp="1"/>
          </p:cNvSpPr>
          <p:nvPr/>
        </p:nvSpPr>
        <p:spPr>
          <a:xfrm xmlns:a="http://schemas.openxmlformats.org/drawingml/2006/main">
            <a:off x="6323076" y="5239512"/>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49" name="Text 47">
            <a:extLst xmlns:a="http://schemas.openxmlformats.org/drawingml/2006/main">
              <a:ext uri="{FF2B5EF4-FFF2-40B4-BE49-F238E27FC236}">
                <a16:creationId xmlns:a16="http://schemas.microsoft.com/office/drawing/2014/main" id="{6921307F-7FF2-413B-AFF6-A35C1C14F9B8}"/>
              </a:ext>
            </a:extLst>
          </p:cNvPr>
          <p:cNvSpPr>
            <a:spLocks xmlns:a="http://schemas.openxmlformats.org/drawingml/2006/main" noGrp="1"/>
          </p:cNvSpPr>
          <p:nvPr/>
        </p:nvSpPr>
        <p:spPr>
          <a:xfrm xmlns:a="http://schemas.openxmlformats.org/drawingml/2006/main">
            <a:off x="6643116" y="5175504"/>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Physics-consistent predictions via PINN</a:t>
            </a:r>
            <a:endParaRPr sz="1100"/>
          </a:p>
        </p:txBody>
      </p:sp>
      <p:sp>
        <p:nvSpPr>
          <p:cNvPr id="50" name="Shape 48">
            <a:extLst xmlns:a="http://schemas.openxmlformats.org/drawingml/2006/main">
              <a:ext uri="{FF2B5EF4-FFF2-40B4-BE49-F238E27FC236}">
                <a16:creationId xmlns:a16="http://schemas.microsoft.com/office/drawing/2014/main" id="{974D769B-AC3B-4F3D-9DD1-4D6AEC1A2C3D}"/>
              </a:ext>
            </a:extLst>
          </p:cNvPr>
          <p:cNvSpPr>
            <a:spLocks xmlns:a="http://schemas.openxmlformats.org/drawingml/2006/main" noGrp="1"/>
          </p:cNvSpPr>
          <p:nvPr/>
        </p:nvSpPr>
        <p:spPr>
          <a:xfrm xmlns:a="http://schemas.openxmlformats.org/drawingml/2006/main">
            <a:off x="6323076" y="5660136"/>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51" name="Text 49">
            <a:extLst xmlns:a="http://schemas.openxmlformats.org/drawingml/2006/main">
              <a:ext uri="{FF2B5EF4-FFF2-40B4-BE49-F238E27FC236}">
                <a16:creationId xmlns:a16="http://schemas.microsoft.com/office/drawing/2014/main" id="{648B729C-F859-4953-ABB4-208F8A8D6580}"/>
              </a:ext>
            </a:extLst>
          </p:cNvPr>
          <p:cNvSpPr>
            <a:spLocks xmlns:a="http://schemas.openxmlformats.org/drawingml/2006/main" noGrp="1"/>
          </p:cNvSpPr>
          <p:nvPr/>
        </p:nvSpPr>
        <p:spPr>
          <a:xfrm xmlns:a="http://schemas.openxmlformats.org/drawingml/2006/main">
            <a:off x="6643116" y="5596128"/>
            <a:ext cx="5088636"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100">
                <a:solidFill>
                  <a:srgbClr val="222B33"/>
                </a:solidFill>
                <a:latin typeface="Calibri"/>
                <a:ea typeface="Calibri"/>
                <a:cs typeface="Calibri"/>
              </a:rPr>
              <a:t>Fit for real-time BMS deployment</a:t>
            </a:r>
            <a:endParaRPr sz="1100"/>
          </a:p>
        </p:txBody>
      </p:sp>
      <p:sp>
        <p:nvSpPr>
          <p:cNvPr id="52" name="Text 50">
            <a:extLst xmlns:a="http://schemas.openxmlformats.org/drawingml/2006/main">
              <a:ext uri="{FF2B5EF4-FFF2-40B4-BE49-F238E27FC236}">
                <a16:creationId xmlns:a16="http://schemas.microsoft.com/office/drawing/2014/main" id="{222BAFE7-D355-4DAE-9ABA-43FA0B9B0610}"/>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53" name="Text 51">
            <a:extLst xmlns:a="http://schemas.openxmlformats.org/drawingml/2006/main">
              <a:ext uri="{FF2B5EF4-FFF2-40B4-BE49-F238E27FC236}">
                <a16:creationId xmlns:a16="http://schemas.microsoft.com/office/drawing/2014/main" id="{944B346C-2EBA-4B1F-B111-5709CE5E0F7B}"/>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8 / 11</a:t>
            </a:r>
            <a:endParaRPr sz="900"/>
          </a:p>
        </p:txBody>
      </p:sp>
    </p:spTree>
    <p:extLst>
      <p:ext uri="{BB962C8B-B14F-4D97-AF65-F5344CB8AC3E}">
        <p14:creationId xmlns:p14="http://schemas.microsoft.com/office/powerpoint/2010/main" val="9950104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D80C08-6EE2-43F7-8441-3B4E6508965C}"/>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REAL-WORLD IMPACT</a:t>
            </a:r>
            <a:endParaRPr sz="1200"/>
          </a:p>
        </p:txBody>
      </p:sp>
      <p:sp>
        <p:nvSpPr>
          <p:cNvPr id="3" name="Text 1">
            <a:extLst xmlns:a="http://schemas.openxmlformats.org/drawingml/2006/main">
              <a:ext uri="{FF2B5EF4-FFF2-40B4-BE49-F238E27FC236}">
                <a16:creationId xmlns:a16="http://schemas.microsoft.com/office/drawing/2014/main" id="{10D97BE2-5DCE-4C5A-BAA9-421D9B14B586}"/>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Applications</a:t>
            </a:r>
            <a:endParaRPr sz="2800"/>
          </a:p>
        </p:txBody>
      </p:sp>
      <p:sp>
        <p:nvSpPr>
          <p:cNvPr id="4" name="Shape 2">
            <a:extLst xmlns:a="http://schemas.openxmlformats.org/drawingml/2006/main">
              <a:ext uri="{FF2B5EF4-FFF2-40B4-BE49-F238E27FC236}">
                <a16:creationId xmlns:a16="http://schemas.microsoft.com/office/drawing/2014/main" id="{46C7FFD0-2F5D-4C84-A1B3-B38DF74CC0CB}"/>
              </a:ext>
            </a:extLst>
          </p:cNvPr>
          <p:cNvSpPr>
            <a:spLocks xmlns:a="http://schemas.openxmlformats.org/drawingml/2006/main" noGrp="1"/>
          </p:cNvSpPr>
          <p:nvPr/>
        </p:nvSpPr>
        <p:spPr>
          <a:xfrm xmlns:a="http://schemas.openxmlformats.org/drawingml/2006/main">
            <a:off x="457200" y="1508760"/>
            <a:ext cx="3544824" cy="1828800"/>
          </a:xfrm>
          <a:prstGeom xmlns:a="http://schemas.openxmlformats.org/drawingml/2006/main" prst="roundRect">
            <a:avLst>
              <a:gd name="adj" fmla="val 4000"/>
            </a:avLst>
          </a:prstGeom>
          <a:solidFill xmlns:a="http://schemas.openxmlformats.org/drawingml/2006/main">
            <a:srgbClr val="0B2545"/>
          </a:solidFill>
        </p:spPr>
      </p:sp>
      <p:sp>
        <p:nvSpPr>
          <p:cNvPr id="5" name="Shape 3">
            <a:extLst xmlns:a="http://schemas.openxmlformats.org/drawingml/2006/main">
              <a:ext uri="{FF2B5EF4-FFF2-40B4-BE49-F238E27FC236}">
                <a16:creationId xmlns:a16="http://schemas.microsoft.com/office/drawing/2014/main" id="{87B23850-2E5F-42E5-ADD8-EB58B1088B52}"/>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6" name="Text 4">
            <a:extLst xmlns:a="http://schemas.openxmlformats.org/drawingml/2006/main">
              <a:ext uri="{FF2B5EF4-FFF2-40B4-BE49-F238E27FC236}">
                <a16:creationId xmlns:a16="http://schemas.microsoft.com/office/drawing/2014/main" id="{329D0B86-BE56-4EE7-A8C9-F8877A204A55}"/>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1</a:t>
            </a:r>
            <a:endParaRPr sz="1400"/>
          </a:p>
        </p:txBody>
      </p:sp>
      <p:sp>
        <p:nvSpPr>
          <p:cNvPr id="7" name="Text 5">
            <a:extLst xmlns:a="http://schemas.openxmlformats.org/drawingml/2006/main">
              <a:ext uri="{FF2B5EF4-FFF2-40B4-BE49-F238E27FC236}">
                <a16:creationId xmlns:a16="http://schemas.microsoft.com/office/drawing/2014/main" id="{7533CA77-FB6A-4159-B5C6-A80F3BFF6B71}"/>
              </a:ext>
            </a:extLst>
          </p:cNvPr>
          <p:cNvSpPr>
            <a:spLocks xmlns:a="http://schemas.openxmlformats.org/drawingml/2006/main" noGrp="1"/>
          </p:cNvSpPr>
          <p:nvPr/>
        </p:nvSpPr>
        <p:spPr>
          <a:xfrm xmlns:a="http://schemas.openxmlformats.org/drawingml/2006/main">
            <a:off x="685800"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FFFFFF"/>
                </a:solidFill>
                <a:latin typeface="Cambria"/>
                <a:ea typeface="Cambria"/>
                <a:cs typeface="Cambria"/>
              </a:rPr>
              <a:t>Electric Vehicles</a:t>
            </a:r>
            <a:endParaRPr sz="1450"/>
          </a:p>
        </p:txBody>
      </p:sp>
      <p:sp>
        <p:nvSpPr>
          <p:cNvPr id="8" name="Text 6">
            <a:extLst xmlns:a="http://schemas.openxmlformats.org/drawingml/2006/main">
              <a:ext uri="{FF2B5EF4-FFF2-40B4-BE49-F238E27FC236}">
                <a16:creationId xmlns:a16="http://schemas.microsoft.com/office/drawing/2014/main" id="{BBDF3B80-AF24-43FC-B6A7-8C41B66B49FE}"/>
              </a:ext>
            </a:extLst>
          </p:cNvPr>
          <p:cNvSpPr>
            <a:spLocks xmlns:a="http://schemas.openxmlformats.org/drawingml/2006/main" noGrp="1"/>
          </p:cNvSpPr>
          <p:nvPr/>
        </p:nvSpPr>
        <p:spPr>
          <a:xfrm xmlns:a="http://schemas.openxmlformats.org/drawingml/2006/main">
            <a:off x="685800"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CBDCE8"/>
                </a:solidFill>
                <a:latin typeface="Calibri"/>
                <a:ea typeface="Calibri"/>
                <a:cs typeface="Calibri"/>
              </a:rPr>
              <a:t>Predict battery replacement before failure occurs.</a:t>
            </a:r>
            <a:endParaRPr sz="1050"/>
          </a:p>
        </p:txBody>
      </p:sp>
      <p:sp>
        <p:nvSpPr>
          <p:cNvPr id="9" name="Shape 7">
            <a:extLst xmlns:a="http://schemas.openxmlformats.org/drawingml/2006/main">
              <a:ext uri="{FF2B5EF4-FFF2-40B4-BE49-F238E27FC236}">
                <a16:creationId xmlns:a16="http://schemas.microsoft.com/office/drawing/2014/main" id="{0980624B-9B78-43CE-A5E3-C63A07D22745}"/>
              </a:ext>
            </a:extLst>
          </p:cNvPr>
          <p:cNvSpPr>
            <a:spLocks xmlns:a="http://schemas.openxmlformats.org/drawingml/2006/main" noGrp="1"/>
          </p:cNvSpPr>
          <p:nvPr/>
        </p:nvSpPr>
        <p:spPr>
          <a:xfrm xmlns:a="http://schemas.openxmlformats.org/drawingml/2006/main">
            <a:off x="4322064" y="150876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10" name="Shape 8">
            <a:extLst xmlns:a="http://schemas.openxmlformats.org/drawingml/2006/main">
              <a:ext uri="{FF2B5EF4-FFF2-40B4-BE49-F238E27FC236}">
                <a16:creationId xmlns:a16="http://schemas.microsoft.com/office/drawing/2014/main" id="{9A7E25AE-1ABD-4434-95D1-870735D55D09}"/>
              </a:ext>
            </a:extLst>
          </p:cNvPr>
          <p:cNvSpPr>
            <a:spLocks xmlns:a="http://schemas.openxmlformats.org/drawingml/2006/main" noGrp="1"/>
          </p:cNvSpPr>
          <p:nvPr/>
        </p:nvSpPr>
        <p:spPr>
          <a:xfrm xmlns:a="http://schemas.openxmlformats.org/drawingml/2006/main">
            <a:off x="4550664" y="173736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4B973B9B-10A0-43D6-AA97-08E7BE01531E}"/>
              </a:ext>
            </a:extLst>
          </p:cNvPr>
          <p:cNvSpPr>
            <a:spLocks xmlns:a="http://schemas.openxmlformats.org/drawingml/2006/main" noGrp="1"/>
          </p:cNvSpPr>
          <p:nvPr/>
        </p:nvSpPr>
        <p:spPr>
          <a:xfrm xmlns:a="http://schemas.openxmlformats.org/drawingml/2006/main">
            <a:off x="4550664"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2</a:t>
            </a:r>
            <a:endParaRPr sz="1400"/>
          </a:p>
        </p:txBody>
      </p:sp>
      <p:sp>
        <p:nvSpPr>
          <p:cNvPr id="12" name="Text 10">
            <a:extLst xmlns:a="http://schemas.openxmlformats.org/drawingml/2006/main">
              <a:ext uri="{FF2B5EF4-FFF2-40B4-BE49-F238E27FC236}">
                <a16:creationId xmlns:a16="http://schemas.microsoft.com/office/drawing/2014/main" id="{59435857-0101-4AFB-AE06-C1D48E0078B6}"/>
              </a:ext>
            </a:extLst>
          </p:cNvPr>
          <p:cNvSpPr>
            <a:spLocks xmlns:a="http://schemas.openxmlformats.org/drawingml/2006/main" noGrp="1"/>
          </p:cNvSpPr>
          <p:nvPr/>
        </p:nvSpPr>
        <p:spPr>
          <a:xfrm xmlns:a="http://schemas.openxmlformats.org/drawingml/2006/main">
            <a:off x="4550664"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Solar Storage</a:t>
            </a:r>
            <a:endParaRPr sz="1450"/>
          </a:p>
        </p:txBody>
      </p:sp>
      <p:sp>
        <p:nvSpPr>
          <p:cNvPr id="13" name="Text 11">
            <a:extLst xmlns:a="http://schemas.openxmlformats.org/drawingml/2006/main">
              <a:ext uri="{FF2B5EF4-FFF2-40B4-BE49-F238E27FC236}">
                <a16:creationId xmlns:a16="http://schemas.microsoft.com/office/drawing/2014/main" id="{494895CC-4A32-495B-B658-CEB1980884F9}"/>
              </a:ext>
            </a:extLst>
          </p:cNvPr>
          <p:cNvSpPr>
            <a:spLocks xmlns:a="http://schemas.openxmlformats.org/drawingml/2006/main" noGrp="1"/>
          </p:cNvSpPr>
          <p:nvPr/>
        </p:nvSpPr>
        <p:spPr>
          <a:xfrm xmlns:a="http://schemas.openxmlformats.org/drawingml/2006/main">
            <a:off x="4550664"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Monitor home batteries and predict maintenance needs.</a:t>
            </a:r>
            <a:endParaRPr sz="1050"/>
          </a:p>
        </p:txBody>
      </p:sp>
      <p:sp>
        <p:nvSpPr>
          <p:cNvPr id="14" name="Shape 12">
            <a:extLst xmlns:a="http://schemas.openxmlformats.org/drawingml/2006/main">
              <a:ext uri="{FF2B5EF4-FFF2-40B4-BE49-F238E27FC236}">
                <a16:creationId xmlns:a16="http://schemas.microsoft.com/office/drawing/2014/main" id="{92B49411-8F4A-4B5D-97A1-DCDC02296D61}"/>
              </a:ext>
            </a:extLst>
          </p:cNvPr>
          <p:cNvSpPr>
            <a:spLocks xmlns:a="http://schemas.openxmlformats.org/drawingml/2006/main" noGrp="1"/>
          </p:cNvSpPr>
          <p:nvPr/>
        </p:nvSpPr>
        <p:spPr>
          <a:xfrm xmlns:a="http://schemas.openxmlformats.org/drawingml/2006/main">
            <a:off x="8186928" y="150876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15" name="Shape 13">
            <a:extLst xmlns:a="http://schemas.openxmlformats.org/drawingml/2006/main">
              <a:ext uri="{FF2B5EF4-FFF2-40B4-BE49-F238E27FC236}">
                <a16:creationId xmlns:a16="http://schemas.microsoft.com/office/drawing/2014/main" id="{B4887858-90CF-4AAE-AD43-397C484C91F3}"/>
              </a:ext>
            </a:extLst>
          </p:cNvPr>
          <p:cNvSpPr>
            <a:spLocks xmlns:a="http://schemas.openxmlformats.org/drawingml/2006/main" noGrp="1"/>
          </p:cNvSpPr>
          <p:nvPr/>
        </p:nvSpPr>
        <p:spPr>
          <a:xfrm xmlns:a="http://schemas.openxmlformats.org/drawingml/2006/main">
            <a:off x="8415528" y="173736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16" name="Text 14">
            <a:extLst xmlns:a="http://schemas.openxmlformats.org/drawingml/2006/main">
              <a:ext uri="{FF2B5EF4-FFF2-40B4-BE49-F238E27FC236}">
                <a16:creationId xmlns:a16="http://schemas.microsoft.com/office/drawing/2014/main" id="{48E74F32-FF80-4D15-A855-95963A278C1B}"/>
              </a:ext>
            </a:extLst>
          </p:cNvPr>
          <p:cNvSpPr>
            <a:spLocks xmlns:a="http://schemas.openxmlformats.org/drawingml/2006/main" noGrp="1"/>
          </p:cNvSpPr>
          <p:nvPr/>
        </p:nvSpPr>
        <p:spPr>
          <a:xfrm xmlns:a="http://schemas.openxmlformats.org/drawingml/2006/main">
            <a:off x="8415528" y="1737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3</a:t>
            </a:r>
            <a:endParaRPr sz="1400"/>
          </a:p>
        </p:txBody>
      </p:sp>
      <p:sp>
        <p:nvSpPr>
          <p:cNvPr id="17" name="Text 15">
            <a:extLst xmlns:a="http://schemas.openxmlformats.org/drawingml/2006/main">
              <a:ext uri="{FF2B5EF4-FFF2-40B4-BE49-F238E27FC236}">
                <a16:creationId xmlns:a16="http://schemas.microsoft.com/office/drawing/2014/main" id="{0E323874-0A86-4428-932A-5B368B426770}"/>
              </a:ext>
            </a:extLst>
          </p:cNvPr>
          <p:cNvSpPr>
            <a:spLocks xmlns:a="http://schemas.openxmlformats.org/drawingml/2006/main" noGrp="1"/>
          </p:cNvSpPr>
          <p:nvPr/>
        </p:nvSpPr>
        <p:spPr>
          <a:xfrm xmlns:a="http://schemas.openxmlformats.org/drawingml/2006/main">
            <a:off x="8415528" y="225856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Smart Grids</a:t>
            </a:r>
            <a:endParaRPr sz="1450"/>
          </a:p>
        </p:txBody>
      </p:sp>
      <p:sp>
        <p:nvSpPr>
          <p:cNvPr id="18" name="Text 16">
            <a:extLst xmlns:a="http://schemas.openxmlformats.org/drawingml/2006/main">
              <a:ext uri="{FF2B5EF4-FFF2-40B4-BE49-F238E27FC236}">
                <a16:creationId xmlns:a16="http://schemas.microsoft.com/office/drawing/2014/main" id="{10296BE6-D997-4B88-B2A3-9F433423E282}"/>
              </a:ext>
            </a:extLst>
          </p:cNvPr>
          <p:cNvSpPr>
            <a:spLocks xmlns:a="http://schemas.openxmlformats.org/drawingml/2006/main" noGrp="1"/>
          </p:cNvSpPr>
          <p:nvPr/>
        </p:nvSpPr>
        <p:spPr>
          <a:xfrm xmlns:a="http://schemas.openxmlformats.org/drawingml/2006/main">
            <a:off x="8415528" y="271576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Avoid sudden, costly battery failures at scale.</a:t>
            </a:r>
            <a:endParaRPr sz="1050"/>
          </a:p>
        </p:txBody>
      </p:sp>
      <p:sp>
        <p:nvSpPr>
          <p:cNvPr id="19" name="Shape 17">
            <a:extLst xmlns:a="http://schemas.openxmlformats.org/drawingml/2006/main">
              <a:ext uri="{FF2B5EF4-FFF2-40B4-BE49-F238E27FC236}">
                <a16:creationId xmlns:a16="http://schemas.microsoft.com/office/drawing/2014/main" id="{51051130-8FEB-4FB0-AD18-47B112BD0D3D}"/>
              </a:ext>
            </a:extLst>
          </p:cNvPr>
          <p:cNvSpPr>
            <a:spLocks xmlns:a="http://schemas.openxmlformats.org/drawingml/2006/main" noGrp="1"/>
          </p:cNvSpPr>
          <p:nvPr/>
        </p:nvSpPr>
        <p:spPr>
          <a:xfrm xmlns:a="http://schemas.openxmlformats.org/drawingml/2006/main">
            <a:off x="2229612" y="365760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20" name="Shape 18">
            <a:extLst xmlns:a="http://schemas.openxmlformats.org/drawingml/2006/main">
              <a:ext uri="{FF2B5EF4-FFF2-40B4-BE49-F238E27FC236}">
                <a16:creationId xmlns:a16="http://schemas.microsoft.com/office/drawing/2014/main" id="{A1F53486-D63C-4E7A-8C47-0A21905BA143}"/>
              </a:ext>
            </a:extLst>
          </p:cNvPr>
          <p:cNvSpPr>
            <a:spLocks xmlns:a="http://schemas.openxmlformats.org/drawingml/2006/main" noGrp="1"/>
          </p:cNvSpPr>
          <p:nvPr/>
        </p:nvSpPr>
        <p:spPr>
          <a:xfrm xmlns:a="http://schemas.openxmlformats.org/drawingml/2006/main">
            <a:off x="2458212" y="388620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21" name="Text 19">
            <a:extLst xmlns:a="http://schemas.openxmlformats.org/drawingml/2006/main">
              <a:ext uri="{FF2B5EF4-FFF2-40B4-BE49-F238E27FC236}">
                <a16:creationId xmlns:a16="http://schemas.microsoft.com/office/drawing/2014/main" id="{F32F939B-7FF5-4498-A9C0-96BC49E09773}"/>
              </a:ext>
            </a:extLst>
          </p:cNvPr>
          <p:cNvSpPr>
            <a:spLocks xmlns:a="http://schemas.openxmlformats.org/drawingml/2006/main" noGrp="1"/>
          </p:cNvSpPr>
          <p:nvPr/>
        </p:nvSpPr>
        <p:spPr>
          <a:xfrm xmlns:a="http://schemas.openxmlformats.org/drawingml/2006/main">
            <a:off x="2458212" y="3886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4</a:t>
            </a:r>
            <a:endParaRPr sz="1400"/>
          </a:p>
        </p:txBody>
      </p:sp>
      <p:sp>
        <p:nvSpPr>
          <p:cNvPr id="22" name="Text 20">
            <a:extLst xmlns:a="http://schemas.openxmlformats.org/drawingml/2006/main">
              <a:ext uri="{FF2B5EF4-FFF2-40B4-BE49-F238E27FC236}">
                <a16:creationId xmlns:a16="http://schemas.microsoft.com/office/drawing/2014/main" id="{2B31239C-2618-43BB-8C41-AA961C11318E}"/>
              </a:ext>
            </a:extLst>
          </p:cNvPr>
          <p:cNvSpPr>
            <a:spLocks xmlns:a="http://schemas.openxmlformats.org/drawingml/2006/main" noGrp="1"/>
          </p:cNvSpPr>
          <p:nvPr/>
        </p:nvSpPr>
        <p:spPr>
          <a:xfrm xmlns:a="http://schemas.openxmlformats.org/drawingml/2006/main">
            <a:off x="2458212" y="440740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Drones</a:t>
            </a:r>
            <a:endParaRPr sz="1450"/>
          </a:p>
        </p:txBody>
      </p:sp>
      <p:sp>
        <p:nvSpPr>
          <p:cNvPr id="23" name="Text 21">
            <a:extLst xmlns:a="http://schemas.openxmlformats.org/drawingml/2006/main">
              <a:ext uri="{FF2B5EF4-FFF2-40B4-BE49-F238E27FC236}">
                <a16:creationId xmlns:a16="http://schemas.microsoft.com/office/drawing/2014/main" id="{939565AE-B55F-41D2-9014-5602D402E4AC}"/>
              </a:ext>
            </a:extLst>
          </p:cNvPr>
          <p:cNvSpPr>
            <a:spLocks xmlns:a="http://schemas.openxmlformats.org/drawingml/2006/main" noGrp="1"/>
          </p:cNvSpPr>
          <p:nvPr/>
        </p:nvSpPr>
        <p:spPr>
          <a:xfrm xmlns:a="http://schemas.openxmlformats.org/drawingml/2006/main">
            <a:off x="2458212" y="486460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Estimate safe remaining flying time in-flight.</a:t>
            </a:r>
            <a:endParaRPr sz="1050"/>
          </a:p>
        </p:txBody>
      </p:sp>
      <p:sp>
        <p:nvSpPr>
          <p:cNvPr id="24" name="Shape 22">
            <a:extLst xmlns:a="http://schemas.openxmlformats.org/drawingml/2006/main">
              <a:ext uri="{FF2B5EF4-FFF2-40B4-BE49-F238E27FC236}">
                <a16:creationId xmlns:a16="http://schemas.microsoft.com/office/drawing/2014/main" id="{D6BBB71B-F77C-48E5-9080-FDA109F876D6}"/>
              </a:ext>
            </a:extLst>
          </p:cNvPr>
          <p:cNvSpPr>
            <a:spLocks xmlns:a="http://schemas.openxmlformats.org/drawingml/2006/main" noGrp="1"/>
          </p:cNvSpPr>
          <p:nvPr/>
        </p:nvSpPr>
        <p:spPr>
          <a:xfrm xmlns:a="http://schemas.openxmlformats.org/drawingml/2006/main">
            <a:off x="6094476" y="3657600"/>
            <a:ext cx="3544824" cy="1828800"/>
          </a:xfrm>
          <a:prstGeom xmlns:a="http://schemas.openxmlformats.org/drawingml/2006/main" prst="roundRect">
            <a:avLst>
              <a:gd name="adj" fmla="val 4000"/>
            </a:avLst>
          </a:prstGeom>
          <a:solidFill xmlns:a="http://schemas.openxmlformats.org/drawingml/2006/main">
            <a:srgbClr val="F2F6F8"/>
          </a:solidFill>
        </p:spPr>
      </p:sp>
      <p:sp>
        <p:nvSpPr>
          <p:cNvPr id="25" name="Shape 23">
            <a:extLst xmlns:a="http://schemas.openxmlformats.org/drawingml/2006/main">
              <a:ext uri="{FF2B5EF4-FFF2-40B4-BE49-F238E27FC236}">
                <a16:creationId xmlns:a16="http://schemas.microsoft.com/office/drawing/2014/main" id="{9AD42205-9BA9-4142-8665-ADCDAFF79C76}"/>
              </a:ext>
            </a:extLst>
          </p:cNvPr>
          <p:cNvSpPr>
            <a:spLocks xmlns:a="http://schemas.openxmlformats.org/drawingml/2006/main" noGrp="1"/>
          </p:cNvSpPr>
          <p:nvPr/>
        </p:nvSpPr>
        <p:spPr>
          <a:xfrm xmlns:a="http://schemas.openxmlformats.org/drawingml/2006/main">
            <a:off x="6323076" y="3886200"/>
            <a:ext cx="384048" cy="384048"/>
          </a:xfrm>
          <a:prstGeom xmlns:a="http://schemas.openxmlformats.org/drawingml/2006/main" prst="roundRect">
            <a:avLst>
              <a:gd name="adj" fmla="val 50000"/>
            </a:avLst>
          </a:prstGeom>
          <a:solidFill xmlns:a="http://schemas.openxmlformats.org/drawingml/2006/main">
            <a:srgbClr val="00A896"/>
          </a:solidFill>
        </p:spPr>
      </p:sp>
      <p:sp>
        <p:nvSpPr>
          <p:cNvPr id="26" name="Text 24">
            <a:extLst xmlns:a="http://schemas.openxmlformats.org/drawingml/2006/main">
              <a:ext uri="{FF2B5EF4-FFF2-40B4-BE49-F238E27FC236}">
                <a16:creationId xmlns:a16="http://schemas.microsoft.com/office/drawing/2014/main" id="{8A156864-17FA-4390-9237-ED0C1717B475}"/>
              </a:ext>
            </a:extLst>
          </p:cNvPr>
          <p:cNvSpPr>
            <a:spLocks xmlns:a="http://schemas.openxmlformats.org/drawingml/2006/main" noGrp="1"/>
          </p:cNvSpPr>
          <p:nvPr/>
        </p:nvSpPr>
        <p:spPr>
          <a:xfrm xmlns:a="http://schemas.openxmlformats.org/drawingml/2006/main">
            <a:off x="6323076" y="388620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5</a:t>
            </a:r>
            <a:endParaRPr sz="1400"/>
          </a:p>
        </p:txBody>
      </p:sp>
      <p:sp>
        <p:nvSpPr>
          <p:cNvPr id="27" name="Text 25">
            <a:extLst xmlns:a="http://schemas.openxmlformats.org/drawingml/2006/main">
              <a:ext uri="{FF2B5EF4-FFF2-40B4-BE49-F238E27FC236}">
                <a16:creationId xmlns:a16="http://schemas.microsoft.com/office/drawing/2014/main" id="{FC53E16B-F15B-4BD5-A109-D623D50AF2AE}"/>
              </a:ext>
            </a:extLst>
          </p:cNvPr>
          <p:cNvSpPr>
            <a:spLocks xmlns:a="http://schemas.openxmlformats.org/drawingml/2006/main" noGrp="1"/>
          </p:cNvSpPr>
          <p:nvPr/>
        </p:nvSpPr>
        <p:spPr>
          <a:xfrm xmlns:a="http://schemas.openxmlformats.org/drawingml/2006/main">
            <a:off x="6323076" y="4407408"/>
            <a:ext cx="3087624"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450" b="1">
                <a:solidFill>
                  <a:srgbClr val="0B2545"/>
                </a:solidFill>
                <a:latin typeface="Cambria"/>
                <a:ea typeface="Cambria"/>
                <a:cs typeface="Cambria"/>
              </a:rPr>
              <a:t>Laptops &amp; Smartphones</a:t>
            </a:r>
            <a:endParaRPr sz="1450"/>
          </a:p>
        </p:txBody>
      </p:sp>
      <p:sp>
        <p:nvSpPr>
          <p:cNvPr id="28" name="Text 26">
            <a:extLst xmlns:a="http://schemas.openxmlformats.org/drawingml/2006/main">
              <a:ext uri="{FF2B5EF4-FFF2-40B4-BE49-F238E27FC236}">
                <a16:creationId xmlns:a16="http://schemas.microsoft.com/office/drawing/2014/main" id="{DAF1765B-FDD2-4C21-B735-F9C274D44C36}"/>
              </a:ext>
            </a:extLst>
          </p:cNvPr>
          <p:cNvSpPr>
            <a:spLocks xmlns:a="http://schemas.openxmlformats.org/drawingml/2006/main" noGrp="1"/>
          </p:cNvSpPr>
          <p:nvPr/>
        </p:nvSpPr>
        <p:spPr>
          <a:xfrm xmlns:a="http://schemas.openxmlformats.org/drawingml/2006/main">
            <a:off x="6323076" y="4864608"/>
            <a:ext cx="308762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B6B79"/>
                </a:solidFill>
                <a:latin typeface="Calibri"/>
                <a:ea typeface="Calibri"/>
                <a:cs typeface="Calibri"/>
              </a:rPr>
              <a:t>More accurate battery degradation estimates.</a:t>
            </a:r>
            <a:endParaRPr sz="1050"/>
          </a:p>
        </p:txBody>
      </p:sp>
      <p:sp>
        <p:nvSpPr>
          <p:cNvPr id="29" name="Text 27">
            <a:extLst xmlns:a="http://schemas.openxmlformats.org/drawingml/2006/main">
              <a:ext uri="{FF2B5EF4-FFF2-40B4-BE49-F238E27FC236}">
                <a16:creationId xmlns:a16="http://schemas.microsoft.com/office/drawing/2014/main" id="{56969FC1-A741-465C-8669-A5DEB2495684}"/>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30" name="Text 28">
            <a:extLst xmlns:a="http://schemas.openxmlformats.org/drawingml/2006/main">
              <a:ext uri="{FF2B5EF4-FFF2-40B4-BE49-F238E27FC236}">
                <a16:creationId xmlns:a16="http://schemas.microsoft.com/office/drawing/2014/main" id="{585E6FF5-1ABC-47F8-BF74-CBEDAFFA276F}"/>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9 / 11</a:t>
            </a:r>
            <a:endParaRPr sz="900"/>
          </a:p>
        </p:txBody>
      </p:sp>
    </p:spTree>
    <p:extLst>
      <p:ext uri="{BB962C8B-B14F-4D97-AF65-F5344CB8AC3E}">
        <p14:creationId xmlns:p14="http://schemas.microsoft.com/office/powerpoint/2010/main" val="969214341"/>
      </p:ext>
    </p:extLst>
  </p:cSld>
</p:sld>
</file>

<file path=ppt/slides/slide10.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5B3D4B-B305-4B9E-A205-27ACA8E1F21E}"/>
              </a:ext>
            </a:extLst>
          </p:cNvPr>
          <p:cNvSpPr>
            <a:spLocks xmlns:a="http://schemas.openxmlformats.org/drawingml/2006/main" noGrp="1"/>
          </p:cNvSpPr>
          <p:nvPr/>
        </p:nvSpPr>
        <p:spPr>
          <a:xfrm xmlns:a="http://schemas.openxmlformats.org/drawingml/2006/main">
            <a:off x="457200" y="502920"/>
            <a:ext cx="91440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0A896"/>
                </a:solidFill>
                <a:latin typeface="Calibri"/>
                <a:ea typeface="Calibri"/>
                <a:cs typeface="Calibri"/>
              </a:rPr>
              <a:t>CONCLUSION</a:t>
            </a:r>
            <a:endParaRPr sz="1200"/>
          </a:p>
        </p:txBody>
      </p:sp>
      <p:sp>
        <p:nvSpPr>
          <p:cNvPr id="3" name="Text 1">
            <a:extLst xmlns:a="http://schemas.openxmlformats.org/drawingml/2006/main">
              <a:ext uri="{FF2B5EF4-FFF2-40B4-BE49-F238E27FC236}">
                <a16:creationId xmlns:a16="http://schemas.microsoft.com/office/drawing/2014/main" id="{18153D1D-4507-4BD8-A7DA-2247AF2B5855}"/>
              </a:ext>
            </a:extLst>
          </p:cNvPr>
          <p:cNvSpPr>
            <a:spLocks xmlns:a="http://schemas.openxmlformats.org/drawingml/2006/main" noGrp="1"/>
          </p:cNvSpPr>
          <p:nvPr/>
        </p:nvSpPr>
        <p:spPr>
          <a:xfrm xmlns:a="http://schemas.openxmlformats.org/drawingml/2006/main">
            <a:off x="457200" y="777240"/>
            <a:ext cx="11274552"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Cambria"/>
                <a:ea typeface="Cambria"/>
                <a:cs typeface="Cambria"/>
              </a:rPr>
              <a:t>Project Summary</a:t>
            </a:r>
            <a:endParaRPr sz="2600"/>
          </a:p>
        </p:txBody>
      </p:sp>
      <p:sp>
        <p:nvSpPr>
          <p:cNvPr id="4" name="Shape 2">
            <a:extLst xmlns:a="http://schemas.openxmlformats.org/drawingml/2006/main">
              <a:ext uri="{FF2B5EF4-FFF2-40B4-BE49-F238E27FC236}">
                <a16:creationId xmlns:a16="http://schemas.microsoft.com/office/drawing/2014/main" id="{957E4F58-58F7-49BC-8B8E-9C1FEFD200D3}"/>
              </a:ext>
            </a:extLst>
          </p:cNvPr>
          <p:cNvSpPr>
            <a:spLocks xmlns:a="http://schemas.openxmlformats.org/drawingml/2006/main" noGrp="1"/>
          </p:cNvSpPr>
          <p:nvPr/>
        </p:nvSpPr>
        <p:spPr>
          <a:xfrm xmlns:a="http://schemas.openxmlformats.org/drawingml/2006/main">
            <a:off x="457200" y="17556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5" name="Text 3">
            <a:extLst xmlns:a="http://schemas.openxmlformats.org/drawingml/2006/main">
              <a:ext uri="{FF2B5EF4-FFF2-40B4-BE49-F238E27FC236}">
                <a16:creationId xmlns:a16="http://schemas.microsoft.com/office/drawing/2014/main" id="{C758D417-BE86-460F-849E-5664A9247C6C}"/>
              </a:ext>
            </a:extLst>
          </p:cNvPr>
          <p:cNvSpPr>
            <a:spLocks xmlns:a="http://schemas.openxmlformats.org/drawingml/2006/main" noGrp="1"/>
          </p:cNvSpPr>
          <p:nvPr/>
        </p:nvSpPr>
        <p:spPr>
          <a:xfrm xmlns:a="http://schemas.openxmlformats.org/drawingml/2006/main">
            <a:off x="822960" y="16459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Proposed an Adaptive Physics-Informed Battery Digital Twin for accurate SOH and RUL estimation.</a:t>
            </a:r>
            <a:endParaRPr sz="1350"/>
          </a:p>
        </p:txBody>
      </p:sp>
      <p:sp>
        <p:nvSpPr>
          <p:cNvPr id="6" name="Shape 4">
            <a:extLst xmlns:a="http://schemas.openxmlformats.org/drawingml/2006/main">
              <a:ext uri="{FF2B5EF4-FFF2-40B4-BE49-F238E27FC236}">
                <a16:creationId xmlns:a16="http://schemas.microsoft.com/office/drawing/2014/main" id="{8F0DD347-84E5-48C2-AC33-3E1692FC4376}"/>
              </a:ext>
            </a:extLst>
          </p:cNvPr>
          <p:cNvSpPr>
            <a:spLocks xmlns:a="http://schemas.openxmlformats.org/drawingml/2006/main" noGrp="1"/>
          </p:cNvSpPr>
          <p:nvPr/>
        </p:nvSpPr>
        <p:spPr>
          <a:xfrm xmlns:a="http://schemas.openxmlformats.org/drawingml/2006/main">
            <a:off x="457200" y="24414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7" name="Text 5">
            <a:extLst xmlns:a="http://schemas.openxmlformats.org/drawingml/2006/main">
              <a:ext uri="{FF2B5EF4-FFF2-40B4-BE49-F238E27FC236}">
                <a16:creationId xmlns:a16="http://schemas.microsoft.com/office/drawing/2014/main" id="{7DCFB2D0-2686-47E5-A2D9-CBEE05C06430}"/>
              </a:ext>
            </a:extLst>
          </p:cNvPr>
          <p:cNvSpPr>
            <a:spLocks xmlns:a="http://schemas.openxmlformats.org/drawingml/2006/main" noGrp="1"/>
          </p:cNvSpPr>
          <p:nvPr/>
        </p:nvSpPr>
        <p:spPr>
          <a:xfrm xmlns:a="http://schemas.openxmlformats.org/drawingml/2006/main">
            <a:off x="822960" y="23317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Integrated Transformer Encoder, PINN and Feedforward DNN to combine data-driven learning with battery physics.</a:t>
            </a:r>
            <a:endParaRPr sz="1350"/>
          </a:p>
        </p:txBody>
      </p:sp>
      <p:sp>
        <p:nvSpPr>
          <p:cNvPr id="8" name="Shape 6">
            <a:extLst xmlns:a="http://schemas.openxmlformats.org/drawingml/2006/main">
              <a:ext uri="{FF2B5EF4-FFF2-40B4-BE49-F238E27FC236}">
                <a16:creationId xmlns:a16="http://schemas.microsoft.com/office/drawing/2014/main" id="{70372BE7-B72B-4499-BD1B-D22859F13129}"/>
              </a:ext>
            </a:extLst>
          </p:cNvPr>
          <p:cNvSpPr>
            <a:spLocks xmlns:a="http://schemas.openxmlformats.org/drawingml/2006/main" noGrp="1"/>
          </p:cNvSpPr>
          <p:nvPr/>
        </p:nvSpPr>
        <p:spPr>
          <a:xfrm xmlns:a="http://schemas.openxmlformats.org/drawingml/2006/main">
            <a:off x="457200" y="31272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9" name="Text 7">
            <a:extLst xmlns:a="http://schemas.openxmlformats.org/drawingml/2006/main">
              <a:ext uri="{FF2B5EF4-FFF2-40B4-BE49-F238E27FC236}">
                <a16:creationId xmlns:a16="http://schemas.microsoft.com/office/drawing/2014/main" id="{4C815130-194C-44EA-A286-0C967908309D}"/>
              </a:ext>
            </a:extLst>
          </p:cNvPr>
          <p:cNvSpPr>
            <a:spLocks xmlns:a="http://schemas.openxmlformats.org/drawingml/2006/main" noGrp="1"/>
          </p:cNvSpPr>
          <p:nvPr/>
        </p:nvSpPr>
        <p:spPr>
          <a:xfrm xmlns:a="http://schemas.openxmlformats.org/drawingml/2006/main">
            <a:off x="822960" y="30175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Introduced incremental adaptive learning to keep the Digital Twin current without full model retraining.</a:t>
            </a:r>
            <a:endParaRPr sz="1350"/>
          </a:p>
        </p:txBody>
      </p:sp>
      <p:sp>
        <p:nvSpPr>
          <p:cNvPr id="10" name="Shape 8">
            <a:extLst xmlns:a="http://schemas.openxmlformats.org/drawingml/2006/main">
              <a:ext uri="{FF2B5EF4-FFF2-40B4-BE49-F238E27FC236}">
                <a16:creationId xmlns:a16="http://schemas.microsoft.com/office/drawing/2014/main" id="{05A3074E-33EC-4F18-97B4-C1FCC0F8E1B4}"/>
              </a:ext>
            </a:extLst>
          </p:cNvPr>
          <p:cNvSpPr>
            <a:spLocks xmlns:a="http://schemas.openxmlformats.org/drawingml/2006/main" noGrp="1"/>
          </p:cNvSpPr>
          <p:nvPr/>
        </p:nvSpPr>
        <p:spPr>
          <a:xfrm xmlns:a="http://schemas.openxmlformats.org/drawingml/2006/main">
            <a:off x="457200" y="3813048"/>
            <a:ext cx="164592" cy="164592"/>
          </a:xfrm>
          <a:prstGeom xmlns:a="http://schemas.openxmlformats.org/drawingml/2006/main" prst="roundRect">
            <a:avLst>
              <a:gd name="adj" fmla="val 50000"/>
            </a:avLst>
          </a:prstGeom>
          <a:solidFill xmlns:a="http://schemas.openxmlformats.org/drawingml/2006/main">
            <a:srgbClr val="00A896"/>
          </a:solidFill>
        </p:spPr>
      </p:sp>
      <p:sp>
        <p:nvSpPr>
          <p:cNvPr id="11" name="Text 9">
            <a:extLst xmlns:a="http://schemas.openxmlformats.org/drawingml/2006/main">
              <a:ext uri="{FF2B5EF4-FFF2-40B4-BE49-F238E27FC236}">
                <a16:creationId xmlns:a16="http://schemas.microsoft.com/office/drawing/2014/main" id="{6B410E2A-7977-44E4-B5C1-33B505A85968}"/>
              </a:ext>
            </a:extLst>
          </p:cNvPr>
          <p:cNvSpPr>
            <a:spLocks xmlns:a="http://schemas.openxmlformats.org/drawingml/2006/main" noGrp="1"/>
          </p:cNvSpPr>
          <p:nvPr/>
        </p:nvSpPr>
        <p:spPr>
          <a:xfrm xmlns:a="http://schemas.openxmlformats.org/drawingml/2006/main">
            <a:off x="822960" y="3703320"/>
            <a:ext cx="1090879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350">
                <a:solidFill>
                  <a:srgbClr val="E7EEF3"/>
                </a:solidFill>
                <a:latin typeface="Calibri"/>
                <a:ea typeface="Calibri"/>
                <a:cs typeface="Calibri"/>
              </a:rPr>
              <a:t>Overcomes key limits of pure deep-learning and pure physics-based models with real-time, physically consistent predictions.</a:t>
            </a:r>
            <a:endParaRPr sz="1350"/>
          </a:p>
        </p:txBody>
      </p:sp>
      <p:sp>
        <p:nvSpPr>
          <p:cNvPr id="12" name="Shape 10">
            <a:extLst xmlns:a="http://schemas.openxmlformats.org/drawingml/2006/main">
              <a:ext uri="{FF2B5EF4-FFF2-40B4-BE49-F238E27FC236}">
                <a16:creationId xmlns:a16="http://schemas.microsoft.com/office/drawing/2014/main" id="{313AA430-1EC5-4EA3-A101-C26D41E20515}"/>
              </a:ext>
            </a:extLst>
          </p:cNvPr>
          <p:cNvSpPr>
            <a:spLocks xmlns:a="http://schemas.openxmlformats.org/drawingml/2006/main" noGrp="1"/>
          </p:cNvSpPr>
          <p:nvPr/>
        </p:nvSpPr>
        <p:spPr>
          <a:xfrm xmlns:a="http://schemas.openxmlformats.org/drawingml/2006/main">
            <a:off x="457200" y="4572000"/>
            <a:ext cx="11274552" cy="777240"/>
          </a:xfrm>
          <a:prstGeom xmlns:a="http://schemas.openxmlformats.org/drawingml/2006/main" prst="roundRect">
            <a:avLst>
              <a:gd name="adj" fmla="val 9412"/>
            </a:avLst>
          </a:prstGeom>
          <a:solidFill xmlns:a="http://schemas.openxmlformats.org/drawingml/2006/main">
            <a:srgbClr val="13355E"/>
          </a:solidFill>
        </p:spPr>
      </p:sp>
      <p:sp>
        <p:nvSpPr>
          <p:cNvPr id="13" name="Text 11">
            <a:extLst xmlns:a="http://schemas.openxmlformats.org/drawingml/2006/main">
              <a:ext uri="{FF2B5EF4-FFF2-40B4-BE49-F238E27FC236}">
                <a16:creationId xmlns:a16="http://schemas.microsoft.com/office/drawing/2014/main" id="{06ED84B3-27C2-4A64-B735-8C10B9365966}"/>
              </a:ext>
            </a:extLst>
          </p:cNvPr>
          <p:cNvSpPr>
            <a:spLocks xmlns:a="http://schemas.openxmlformats.org/drawingml/2006/main" noGrp="1"/>
          </p:cNvSpPr>
          <p:nvPr/>
        </p:nvSpPr>
        <p:spPr>
          <a:xfrm xmlns:a="http://schemas.openxmlformats.org/drawingml/2006/main">
            <a:off x="731520" y="4572000"/>
            <a:ext cx="1072591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600"/>
              </a:lnSpc>
              <a:buNone/>
            </a:pPr>
            <a:r>
              <a:rPr sz="1250" b="1">
                <a:solidFill>
                  <a:srgbClr val="00A896"/>
                </a:solidFill>
                <a:latin typeface="Calibri"/>
                <a:ea typeface="Calibri"/>
                <a:cs typeface="Calibri"/>
              </a:rPr>
              <a:t>Potential impact:  </a:t>
            </a:r>
            <a:r>
              <a:rPr sz="1250">
                <a:solidFill>
                  <a:srgbClr val="E7EEF3"/>
                </a:solidFill>
                <a:latin typeface="Calibri"/>
                <a:ea typeface="Calibri"/>
                <a:cs typeface="Calibri"/>
              </a:rPr>
              <a:t>Electric Vehicles, Battery Management Systems, Renewable Energy Storage, Smart Grids, Drones and Consumer Electronics.</a:t>
            </a:r>
            <a:endParaRPr sz="1250"/>
          </a:p>
        </p:txBody>
      </p:sp>
      <p:sp>
        <p:nvSpPr>
          <p:cNvPr id="14" name="Text 12">
            <a:extLst xmlns:a="http://schemas.openxmlformats.org/drawingml/2006/main">
              <a:ext uri="{FF2B5EF4-FFF2-40B4-BE49-F238E27FC236}">
                <a16:creationId xmlns:a16="http://schemas.microsoft.com/office/drawing/2014/main" id="{E7C27152-9DBF-4FD2-907A-F18E51595B63}"/>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15" name="Text 13">
            <a:extLst xmlns:a="http://schemas.openxmlformats.org/drawingml/2006/main">
              <a:ext uri="{FF2B5EF4-FFF2-40B4-BE49-F238E27FC236}">
                <a16:creationId xmlns:a16="http://schemas.microsoft.com/office/drawing/2014/main" id="{B48011B1-EB73-4ED0-89CD-EF2EA4707593}"/>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10 / 11</a:t>
            </a:r>
            <a:endParaRPr sz="900"/>
          </a:p>
        </p:txBody>
      </p:sp>
      <p:sp>
        <p:nvSpPr>
          <p:cNvPr id="16" name="Text 14">
            <a:extLst xmlns:a="http://schemas.openxmlformats.org/drawingml/2006/main">
              <a:ext uri="{FF2B5EF4-FFF2-40B4-BE49-F238E27FC236}">
                <a16:creationId xmlns:a16="http://schemas.microsoft.com/office/drawing/2014/main" id="{EF29CB1C-7CD0-41D2-A3E4-DA0EF854668A}"/>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7C93A6"/>
                </a:solidFill>
                <a:latin typeface="Calibri"/>
                <a:ea typeface="Calibri"/>
                <a:cs typeface="Calibri"/>
              </a:rPr>
              <a:t>Adaptive PINN Battery Digital Twin</a:t>
            </a:r>
            <a:endParaRPr sz="900"/>
          </a:p>
        </p:txBody>
      </p:sp>
      <p:sp>
        <p:nvSpPr>
          <p:cNvPr id="17" name="Text 15">
            <a:extLst xmlns:a="http://schemas.openxmlformats.org/drawingml/2006/main">
              <a:ext uri="{FF2B5EF4-FFF2-40B4-BE49-F238E27FC236}">
                <a16:creationId xmlns:a16="http://schemas.microsoft.com/office/drawing/2014/main" id="{E5001EAC-6C91-4E51-8C7B-EAC770E3E4F4}"/>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7C93A6"/>
                </a:solidFill>
                <a:latin typeface="Calibri"/>
                <a:ea typeface="Calibri"/>
                <a:cs typeface="Calibri"/>
              </a:rPr>
              <a:t>9 / 10</a:t>
            </a:r>
            <a:endParaRPr sz="900"/>
          </a:p>
        </p:txBody>
      </p:sp>
    </p:spTree>
    <p:extLst>
      <p:ext uri="{BB962C8B-B14F-4D97-AF65-F5344CB8AC3E}">
        <p14:creationId xmlns:p14="http://schemas.microsoft.com/office/powerpoint/2010/main" val="4632650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64021E-0B38-402A-B66F-681E0E8ECAC6}"/>
              </a:ext>
            </a:extLst>
          </p:cNvPr>
          <p:cNvSpPr>
            <a:spLocks xmlns:a="http://schemas.openxmlformats.org/drawingml/2006/main" noGrp="1"/>
          </p:cNvSpPr>
          <p:nvPr/>
        </p:nvSpPr>
        <p:spPr>
          <a:xfrm xmlns:a="http://schemas.openxmlformats.org/drawingml/2006/main">
            <a:off x="457200" y="32004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028090"/>
                </a:solidFill>
                <a:latin typeface="Calibri"/>
                <a:ea typeface="Calibri"/>
                <a:cs typeface="Calibri"/>
              </a:rPr>
              <a:t>SOURCES</a:t>
            </a:r>
            <a:endParaRPr sz="1200"/>
          </a:p>
        </p:txBody>
      </p:sp>
      <p:sp>
        <p:nvSpPr>
          <p:cNvPr id="3" name="Text 1">
            <a:extLst xmlns:a="http://schemas.openxmlformats.org/drawingml/2006/main">
              <a:ext uri="{FF2B5EF4-FFF2-40B4-BE49-F238E27FC236}">
                <a16:creationId xmlns:a16="http://schemas.microsoft.com/office/drawing/2014/main" id="{C8E24AE7-FF90-4C60-BC70-B7C1D11245CF}"/>
              </a:ext>
            </a:extLst>
          </p:cNvPr>
          <p:cNvSpPr>
            <a:spLocks xmlns:a="http://schemas.openxmlformats.org/drawingml/2006/main" noGrp="1"/>
          </p:cNvSpPr>
          <p:nvPr/>
        </p:nvSpPr>
        <p:spPr>
          <a:xfrm xmlns:a="http://schemas.openxmlformats.org/drawingml/2006/main">
            <a:off x="457200" y="566928"/>
            <a:ext cx="1127455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800" b="1">
                <a:solidFill>
                  <a:srgbClr val="0B2545"/>
                </a:solidFill>
                <a:latin typeface="Cambria"/>
                <a:ea typeface="Cambria"/>
                <a:cs typeface="Cambria"/>
              </a:rPr>
              <a:t>References</a:t>
            </a:r>
            <a:endParaRPr sz="2800"/>
          </a:p>
        </p:txBody>
      </p:sp>
      <p:sp>
        <p:nvSpPr>
          <p:cNvPr id="4" name="Shape 2">
            <a:extLst xmlns:a="http://schemas.openxmlformats.org/drawingml/2006/main">
              <a:ext uri="{FF2B5EF4-FFF2-40B4-BE49-F238E27FC236}">
                <a16:creationId xmlns:a16="http://schemas.microsoft.com/office/drawing/2014/main" id="{6E2CDBC2-6739-47BE-8B2B-E7C01BD00ACD}"/>
              </a:ext>
            </a:extLst>
          </p:cNvPr>
          <p:cNvSpPr>
            <a:spLocks xmlns:a="http://schemas.openxmlformats.org/drawingml/2006/main" noGrp="1"/>
          </p:cNvSpPr>
          <p:nvPr/>
        </p:nvSpPr>
        <p:spPr>
          <a:xfrm xmlns:a="http://schemas.openxmlformats.org/drawingml/2006/main">
            <a:off x="457200" y="1463040"/>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5" name="Text 3">
            <a:extLst xmlns:a="http://schemas.openxmlformats.org/drawingml/2006/main">
              <a:ext uri="{FF2B5EF4-FFF2-40B4-BE49-F238E27FC236}">
                <a16:creationId xmlns:a16="http://schemas.microsoft.com/office/drawing/2014/main" id="{807200E1-0A6D-4516-B2C3-854120C28C08}"/>
              </a:ext>
            </a:extLst>
          </p:cNvPr>
          <p:cNvSpPr>
            <a:spLocks xmlns:a="http://schemas.openxmlformats.org/drawingml/2006/main" noGrp="1"/>
          </p:cNvSpPr>
          <p:nvPr/>
        </p:nvSpPr>
        <p:spPr>
          <a:xfrm xmlns:a="http://schemas.openxmlformats.org/drawingml/2006/main">
            <a:off x="457200" y="1463040"/>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1</a:t>
            </a:r>
            <a:endParaRPr sz="1200"/>
          </a:p>
        </p:txBody>
      </p:sp>
      <p:sp>
        <p:nvSpPr>
          <p:cNvPr id="6" name="Text 4">
            <a:extLst xmlns:a="http://schemas.openxmlformats.org/drawingml/2006/main">
              <a:ext uri="{FF2B5EF4-FFF2-40B4-BE49-F238E27FC236}">
                <a16:creationId xmlns:a16="http://schemas.microsoft.com/office/drawing/2014/main" id="{71F12AA8-C205-41BA-B5FA-6534850DCD9E}"/>
              </a:ext>
            </a:extLst>
          </p:cNvPr>
          <p:cNvSpPr>
            <a:spLocks xmlns:a="http://schemas.openxmlformats.org/drawingml/2006/main" noGrp="1"/>
          </p:cNvSpPr>
          <p:nvPr/>
        </p:nvSpPr>
        <p:spPr>
          <a:xfrm xmlns:a="http://schemas.openxmlformats.org/drawingml/2006/main">
            <a:off x="914400" y="1417320"/>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networks for battery modeling and state estimation: A methodological review</a:t>
            </a:r>
            <a:endParaRPr sz="1200"/>
          </a:p>
        </p:txBody>
      </p:sp>
      <p:sp>
        <p:nvSpPr>
          <p:cNvPr id="7" name="Text 5">
            <a:extLst xmlns:a="http://schemas.openxmlformats.org/drawingml/2006/main">
              <a:ext uri="{FF2B5EF4-FFF2-40B4-BE49-F238E27FC236}">
                <a16:creationId xmlns:a16="http://schemas.microsoft.com/office/drawing/2014/main" id="{C4681360-0611-4AF4-A936-7271CD26F5E6}"/>
              </a:ext>
            </a:extLst>
          </p:cNvPr>
          <p:cNvSpPr>
            <a:spLocks xmlns:a="http://schemas.openxmlformats.org/drawingml/2006/main" noGrp="1"/>
          </p:cNvSpPr>
          <p:nvPr/>
        </p:nvSpPr>
        <p:spPr>
          <a:xfrm xmlns:a="http://schemas.openxmlformats.org/drawingml/2006/main">
            <a:off x="914400" y="1810512"/>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Renewable and Sustainable Energy Reviews, 2026   </a:t>
            </a:r>
            <a:r>
              <a:rPr sz="950" u="sng">
                <a:solidFill>
                  <a:srgbClr val="5B6B79"/>
                </a:solidFill>
                <a:latin typeface="Calibri"/>
                <a:ea typeface="Calibri"/>
                <a:cs typeface="Calibri"/>
                <a:hlinkClick xmlns:r="http://schemas.openxmlformats.org/officeDocument/2006/relationships" r:id="R1e999a0ad3e84c03"/>
              </a:rPr>
              <a:t>https://www.sciencedirect.com/science/article/pii/S1364032126005253</a:t>
            </a:r>
            <a:endParaRPr sz="950"/>
          </a:p>
        </p:txBody>
      </p:sp>
      <p:sp>
        <p:nvSpPr>
          <p:cNvPr id="8" name="Shape 6">
            <a:extLst xmlns:a="http://schemas.openxmlformats.org/drawingml/2006/main">
              <a:ext uri="{FF2B5EF4-FFF2-40B4-BE49-F238E27FC236}">
                <a16:creationId xmlns:a16="http://schemas.microsoft.com/office/drawing/2014/main" id="{70F588CD-23E1-4DDA-9810-465AD5C4286D}"/>
              </a:ext>
            </a:extLst>
          </p:cNvPr>
          <p:cNvSpPr>
            <a:spLocks xmlns:a="http://schemas.openxmlformats.org/drawingml/2006/main" noGrp="1"/>
          </p:cNvSpPr>
          <p:nvPr/>
        </p:nvSpPr>
        <p:spPr>
          <a:xfrm xmlns:a="http://schemas.openxmlformats.org/drawingml/2006/main">
            <a:off x="457200" y="2395728"/>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9" name="Text 7">
            <a:extLst xmlns:a="http://schemas.openxmlformats.org/drawingml/2006/main">
              <a:ext uri="{FF2B5EF4-FFF2-40B4-BE49-F238E27FC236}">
                <a16:creationId xmlns:a16="http://schemas.microsoft.com/office/drawing/2014/main" id="{496C3A11-0605-41CB-8B23-468014EDBA9D}"/>
              </a:ext>
            </a:extLst>
          </p:cNvPr>
          <p:cNvSpPr>
            <a:spLocks xmlns:a="http://schemas.openxmlformats.org/drawingml/2006/main" noGrp="1"/>
          </p:cNvSpPr>
          <p:nvPr/>
        </p:nvSpPr>
        <p:spPr>
          <a:xfrm xmlns:a="http://schemas.openxmlformats.org/drawingml/2006/main">
            <a:off x="457200" y="2395728"/>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2</a:t>
            </a:r>
            <a:endParaRPr sz="1200"/>
          </a:p>
        </p:txBody>
      </p:sp>
      <p:sp>
        <p:nvSpPr>
          <p:cNvPr id="10" name="Text 8">
            <a:extLst xmlns:a="http://schemas.openxmlformats.org/drawingml/2006/main">
              <a:ext uri="{FF2B5EF4-FFF2-40B4-BE49-F238E27FC236}">
                <a16:creationId xmlns:a16="http://schemas.microsoft.com/office/drawing/2014/main" id="{AD5D3927-0952-418D-B1B3-553A4F8B2CF7}"/>
              </a:ext>
            </a:extLst>
          </p:cNvPr>
          <p:cNvSpPr>
            <a:spLocks xmlns:a="http://schemas.openxmlformats.org/drawingml/2006/main" noGrp="1"/>
          </p:cNvSpPr>
          <p:nvPr/>
        </p:nvSpPr>
        <p:spPr>
          <a:xfrm xmlns:a="http://schemas.openxmlformats.org/drawingml/2006/main">
            <a:off x="914400" y="2350008"/>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 for co-estimation of state of health, remaining useful life, and short-term degradation path in Lithium-ion batteries</a:t>
            </a:r>
            <a:endParaRPr sz="1200"/>
          </a:p>
        </p:txBody>
      </p:sp>
      <p:sp>
        <p:nvSpPr>
          <p:cNvPr id="11" name="Text 9">
            <a:extLst xmlns:a="http://schemas.openxmlformats.org/drawingml/2006/main">
              <a:ext uri="{FF2B5EF4-FFF2-40B4-BE49-F238E27FC236}">
                <a16:creationId xmlns:a16="http://schemas.microsoft.com/office/drawing/2014/main" id="{C64FB341-7853-4D30-8622-E64CEDD4319E}"/>
              </a:ext>
            </a:extLst>
          </p:cNvPr>
          <p:cNvSpPr>
            <a:spLocks xmlns:a="http://schemas.openxmlformats.org/drawingml/2006/main" noGrp="1"/>
          </p:cNvSpPr>
          <p:nvPr/>
        </p:nvSpPr>
        <p:spPr>
          <a:xfrm xmlns:a="http://schemas.openxmlformats.org/drawingml/2006/main">
            <a:off x="914400" y="2743200"/>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Applied Energy, 2025   </a:t>
            </a:r>
            <a:r>
              <a:rPr sz="950" u="sng">
                <a:solidFill>
                  <a:srgbClr val="5B6B79"/>
                </a:solidFill>
                <a:latin typeface="Calibri"/>
                <a:ea typeface="Calibri"/>
                <a:cs typeface="Calibri"/>
                <a:hlinkClick xmlns:r="http://schemas.openxmlformats.org/officeDocument/2006/relationships" r:id="R5eef0ec8b21440ad"/>
              </a:rPr>
              <a:t>https://www.sciencedirect.com/science/article/pii/S0306261925011572</a:t>
            </a:r>
            <a:endParaRPr sz="950"/>
          </a:p>
        </p:txBody>
      </p:sp>
      <p:sp>
        <p:nvSpPr>
          <p:cNvPr id="12" name="Shape 10">
            <a:extLst xmlns:a="http://schemas.openxmlformats.org/drawingml/2006/main">
              <a:ext uri="{FF2B5EF4-FFF2-40B4-BE49-F238E27FC236}">
                <a16:creationId xmlns:a16="http://schemas.microsoft.com/office/drawing/2014/main" id="{06708623-6352-4AA9-86C9-205E799BBF52}"/>
              </a:ext>
            </a:extLst>
          </p:cNvPr>
          <p:cNvSpPr>
            <a:spLocks xmlns:a="http://schemas.openxmlformats.org/drawingml/2006/main" noGrp="1"/>
          </p:cNvSpPr>
          <p:nvPr/>
        </p:nvSpPr>
        <p:spPr>
          <a:xfrm xmlns:a="http://schemas.openxmlformats.org/drawingml/2006/main">
            <a:off x="457200" y="3328416"/>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3" name="Text 11">
            <a:extLst xmlns:a="http://schemas.openxmlformats.org/drawingml/2006/main">
              <a:ext uri="{FF2B5EF4-FFF2-40B4-BE49-F238E27FC236}">
                <a16:creationId xmlns:a16="http://schemas.microsoft.com/office/drawing/2014/main" id="{E28E3D40-5D2E-4E42-8553-A6F8661041C9}"/>
              </a:ext>
            </a:extLst>
          </p:cNvPr>
          <p:cNvSpPr>
            <a:spLocks xmlns:a="http://schemas.openxmlformats.org/drawingml/2006/main" noGrp="1"/>
          </p:cNvSpPr>
          <p:nvPr/>
        </p:nvSpPr>
        <p:spPr>
          <a:xfrm xmlns:a="http://schemas.openxmlformats.org/drawingml/2006/main">
            <a:off x="457200" y="3328416"/>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3</a:t>
            </a:r>
            <a:endParaRPr sz="1200"/>
          </a:p>
        </p:txBody>
      </p:sp>
      <p:sp>
        <p:nvSpPr>
          <p:cNvPr id="14" name="Text 12">
            <a:extLst xmlns:a="http://schemas.openxmlformats.org/drawingml/2006/main">
              <a:ext uri="{FF2B5EF4-FFF2-40B4-BE49-F238E27FC236}">
                <a16:creationId xmlns:a16="http://schemas.microsoft.com/office/drawing/2014/main" id="{6999B076-2A21-4FEC-A74D-0EC98AB47FF1}"/>
              </a:ext>
            </a:extLst>
          </p:cNvPr>
          <p:cNvSpPr>
            <a:spLocks xmlns:a="http://schemas.openxmlformats.org/drawingml/2006/main" noGrp="1"/>
          </p:cNvSpPr>
          <p:nvPr/>
        </p:nvSpPr>
        <p:spPr>
          <a:xfrm xmlns:a="http://schemas.openxmlformats.org/drawingml/2006/main">
            <a:off x="914400" y="3282696"/>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Physical informed neural network for SOH estimation of Lithium-ion battery with electrochemical mechanism</a:t>
            </a:r>
            <a:endParaRPr sz="1200"/>
          </a:p>
        </p:txBody>
      </p:sp>
      <p:sp>
        <p:nvSpPr>
          <p:cNvPr id="15" name="Text 13">
            <a:extLst xmlns:a="http://schemas.openxmlformats.org/drawingml/2006/main">
              <a:ext uri="{FF2B5EF4-FFF2-40B4-BE49-F238E27FC236}">
                <a16:creationId xmlns:a16="http://schemas.microsoft.com/office/drawing/2014/main" id="{9C7BE2D7-7008-4373-A37C-7ED88726A649}"/>
              </a:ext>
            </a:extLst>
          </p:cNvPr>
          <p:cNvSpPr>
            <a:spLocks xmlns:a="http://schemas.openxmlformats.org/drawingml/2006/main" noGrp="1"/>
          </p:cNvSpPr>
          <p:nvPr/>
        </p:nvSpPr>
        <p:spPr>
          <a:xfrm xmlns:a="http://schemas.openxmlformats.org/drawingml/2006/main">
            <a:off x="914400" y="3675888"/>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Energy, 2026   </a:t>
            </a:r>
            <a:r>
              <a:rPr sz="950" u="sng">
                <a:solidFill>
                  <a:srgbClr val="5B6B79"/>
                </a:solidFill>
                <a:latin typeface="Calibri"/>
                <a:ea typeface="Calibri"/>
                <a:cs typeface="Calibri"/>
                <a:hlinkClick xmlns:r="http://schemas.openxmlformats.org/officeDocument/2006/relationships" r:id="Re4dce5fe7bd94ffe"/>
              </a:rPr>
              <a:t>https://www.sciencedirect.com/science/article/pii/S0360544225053964</a:t>
            </a:r>
            <a:endParaRPr sz="950"/>
          </a:p>
        </p:txBody>
      </p:sp>
      <p:sp>
        <p:nvSpPr>
          <p:cNvPr id="16" name="Shape 14">
            <a:extLst xmlns:a="http://schemas.openxmlformats.org/drawingml/2006/main">
              <a:ext uri="{FF2B5EF4-FFF2-40B4-BE49-F238E27FC236}">
                <a16:creationId xmlns:a16="http://schemas.microsoft.com/office/drawing/2014/main" id="{AA0A4C8D-55E6-4D6E-9D0F-4FED993D9549}"/>
              </a:ext>
            </a:extLst>
          </p:cNvPr>
          <p:cNvSpPr>
            <a:spLocks xmlns:a="http://schemas.openxmlformats.org/drawingml/2006/main" noGrp="1"/>
          </p:cNvSpPr>
          <p:nvPr/>
        </p:nvSpPr>
        <p:spPr>
          <a:xfrm xmlns:a="http://schemas.openxmlformats.org/drawingml/2006/main">
            <a:off x="457200" y="4261104"/>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17" name="Text 15">
            <a:extLst xmlns:a="http://schemas.openxmlformats.org/drawingml/2006/main">
              <a:ext uri="{FF2B5EF4-FFF2-40B4-BE49-F238E27FC236}">
                <a16:creationId xmlns:a16="http://schemas.microsoft.com/office/drawing/2014/main" id="{86816727-974E-4A9E-98DA-F81D88BE98FD}"/>
              </a:ext>
            </a:extLst>
          </p:cNvPr>
          <p:cNvSpPr>
            <a:spLocks xmlns:a="http://schemas.openxmlformats.org/drawingml/2006/main" noGrp="1"/>
          </p:cNvSpPr>
          <p:nvPr/>
        </p:nvSpPr>
        <p:spPr>
          <a:xfrm xmlns:a="http://schemas.openxmlformats.org/drawingml/2006/main">
            <a:off x="457200" y="4261104"/>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4</a:t>
            </a:r>
            <a:endParaRPr sz="1200"/>
          </a:p>
        </p:txBody>
      </p:sp>
      <p:sp>
        <p:nvSpPr>
          <p:cNvPr id="18" name="Text 16">
            <a:extLst xmlns:a="http://schemas.openxmlformats.org/drawingml/2006/main">
              <a:ext uri="{FF2B5EF4-FFF2-40B4-BE49-F238E27FC236}">
                <a16:creationId xmlns:a16="http://schemas.microsoft.com/office/drawing/2014/main" id="{F2FAE98D-3F3C-4B1A-ABC6-4B563EBF6B30}"/>
              </a:ext>
            </a:extLst>
          </p:cNvPr>
          <p:cNvSpPr>
            <a:spLocks xmlns:a="http://schemas.openxmlformats.org/drawingml/2006/main" noGrp="1"/>
          </p:cNvSpPr>
          <p:nvPr/>
        </p:nvSpPr>
        <p:spPr>
          <a:xfrm xmlns:a="http://schemas.openxmlformats.org/drawingml/2006/main">
            <a:off x="914400" y="4215384"/>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A cycle-aware and physics-informed framework for battery remaining useful life prediction</a:t>
            </a:r>
            <a:endParaRPr sz="1200"/>
          </a:p>
        </p:txBody>
      </p:sp>
      <p:sp>
        <p:nvSpPr>
          <p:cNvPr id="19" name="Text 17">
            <a:extLst xmlns:a="http://schemas.openxmlformats.org/drawingml/2006/main">
              <a:ext uri="{FF2B5EF4-FFF2-40B4-BE49-F238E27FC236}">
                <a16:creationId xmlns:a16="http://schemas.microsoft.com/office/drawing/2014/main" id="{BBB69424-FE1B-4573-85F7-0B9342BB2F99}"/>
              </a:ext>
            </a:extLst>
          </p:cNvPr>
          <p:cNvSpPr>
            <a:spLocks xmlns:a="http://schemas.openxmlformats.org/drawingml/2006/main" noGrp="1"/>
          </p:cNvSpPr>
          <p:nvPr/>
        </p:nvSpPr>
        <p:spPr>
          <a:xfrm xmlns:a="http://schemas.openxmlformats.org/drawingml/2006/main">
            <a:off x="914400" y="4608576"/>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Scientific Reports, 2025   </a:t>
            </a:r>
            <a:r>
              <a:rPr sz="950" u="sng">
                <a:solidFill>
                  <a:srgbClr val="5B6B79"/>
                </a:solidFill>
                <a:latin typeface="Calibri"/>
                <a:ea typeface="Calibri"/>
                <a:cs typeface="Calibri"/>
                <a:hlinkClick xmlns:r="http://schemas.openxmlformats.org/officeDocument/2006/relationships" r:id="R745220c0baa34ef5"/>
              </a:rPr>
              <a:t>https://www.researchgate.net/publication/399255851_A_cycle-aware_and_physics-informed_framework_for_battery_remaining_useful_life_prediction</a:t>
            </a:r>
            <a:endParaRPr sz="950"/>
          </a:p>
        </p:txBody>
      </p:sp>
      <p:sp>
        <p:nvSpPr>
          <p:cNvPr id="20" name="Shape 18">
            <a:extLst xmlns:a="http://schemas.openxmlformats.org/drawingml/2006/main">
              <a:ext uri="{FF2B5EF4-FFF2-40B4-BE49-F238E27FC236}">
                <a16:creationId xmlns:a16="http://schemas.microsoft.com/office/drawing/2014/main" id="{EE1CEFAF-7EAA-4373-840F-B51C5799DB3D}"/>
              </a:ext>
            </a:extLst>
          </p:cNvPr>
          <p:cNvSpPr>
            <a:spLocks xmlns:a="http://schemas.openxmlformats.org/drawingml/2006/main" noGrp="1"/>
          </p:cNvSpPr>
          <p:nvPr/>
        </p:nvSpPr>
        <p:spPr>
          <a:xfrm xmlns:a="http://schemas.openxmlformats.org/drawingml/2006/main">
            <a:off x="457200" y="5193792"/>
            <a:ext cx="310896" cy="310896"/>
          </a:xfrm>
          <a:prstGeom xmlns:a="http://schemas.openxmlformats.org/drawingml/2006/main" prst="roundRect">
            <a:avLst>
              <a:gd name="adj" fmla="val 50000"/>
            </a:avLst>
          </a:prstGeom>
          <a:solidFill xmlns:a="http://schemas.openxmlformats.org/drawingml/2006/main">
            <a:srgbClr val="00A896"/>
          </a:solidFill>
        </p:spPr>
      </p:sp>
      <p:sp>
        <p:nvSpPr>
          <p:cNvPr id="21" name="Text 19">
            <a:extLst xmlns:a="http://schemas.openxmlformats.org/drawingml/2006/main">
              <a:ext uri="{FF2B5EF4-FFF2-40B4-BE49-F238E27FC236}">
                <a16:creationId xmlns:a16="http://schemas.microsoft.com/office/drawing/2014/main" id="{EFD24182-81A4-4380-8B37-6F713887F3F1}"/>
              </a:ext>
            </a:extLst>
          </p:cNvPr>
          <p:cNvSpPr>
            <a:spLocks xmlns:a="http://schemas.openxmlformats.org/drawingml/2006/main" noGrp="1"/>
          </p:cNvSpPr>
          <p:nvPr/>
        </p:nvSpPr>
        <p:spPr>
          <a:xfrm xmlns:a="http://schemas.openxmlformats.org/drawingml/2006/main">
            <a:off x="457200" y="5193792"/>
            <a:ext cx="310896"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5</a:t>
            </a:r>
            <a:endParaRPr sz="1200"/>
          </a:p>
        </p:txBody>
      </p:sp>
      <p:sp>
        <p:nvSpPr>
          <p:cNvPr id="22" name="Text 20">
            <a:extLst xmlns:a="http://schemas.openxmlformats.org/drawingml/2006/main">
              <a:ext uri="{FF2B5EF4-FFF2-40B4-BE49-F238E27FC236}">
                <a16:creationId xmlns:a16="http://schemas.microsoft.com/office/drawing/2014/main" id="{7E39F259-431C-45D2-B5B1-2DDFFAB9CE00}"/>
              </a:ext>
            </a:extLst>
          </p:cNvPr>
          <p:cNvSpPr>
            <a:spLocks xmlns:a="http://schemas.openxmlformats.org/drawingml/2006/main" noGrp="1"/>
          </p:cNvSpPr>
          <p:nvPr/>
        </p:nvSpPr>
        <p:spPr>
          <a:xfrm xmlns:a="http://schemas.openxmlformats.org/drawingml/2006/main">
            <a:off x="914400" y="5148072"/>
            <a:ext cx="10817352"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200" b="1">
                <a:solidFill>
                  <a:srgbClr val="0B2545"/>
                </a:solidFill>
                <a:latin typeface="Calibri"/>
                <a:ea typeface="Calibri"/>
                <a:cs typeface="Calibri"/>
              </a:rPr>
              <a:t>Physics-informed neural network and momentum contrastive learning for battery state of health estimation</a:t>
            </a:r>
            <a:endParaRPr sz="1200"/>
          </a:p>
        </p:txBody>
      </p:sp>
      <p:sp>
        <p:nvSpPr>
          <p:cNvPr id="23" name="Text 21">
            <a:extLst xmlns:a="http://schemas.openxmlformats.org/drawingml/2006/main">
              <a:ext uri="{FF2B5EF4-FFF2-40B4-BE49-F238E27FC236}">
                <a16:creationId xmlns:a16="http://schemas.microsoft.com/office/drawing/2014/main" id="{582D51CD-B1F2-448C-A3A1-C5DEA8F91C1D}"/>
              </a:ext>
            </a:extLst>
          </p:cNvPr>
          <p:cNvSpPr>
            <a:spLocks xmlns:a="http://schemas.openxmlformats.org/drawingml/2006/main" noGrp="1"/>
          </p:cNvSpPr>
          <p:nvPr/>
        </p:nvSpPr>
        <p:spPr>
          <a:xfrm xmlns:a="http://schemas.openxmlformats.org/drawingml/2006/main">
            <a:off x="914400" y="5541264"/>
            <a:ext cx="1081735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028090"/>
                </a:solidFill>
                <a:latin typeface="Calibri"/>
                <a:ea typeface="Calibri"/>
                <a:cs typeface="Calibri"/>
              </a:rPr>
              <a:t>Complex &amp; Intelligent Systems, 2025   </a:t>
            </a:r>
            <a:r>
              <a:rPr sz="950" u="sng">
                <a:solidFill>
                  <a:srgbClr val="5B6B79"/>
                </a:solidFill>
                <a:latin typeface="Calibri"/>
                <a:ea typeface="Calibri"/>
                <a:cs typeface="Calibri"/>
                <a:hlinkClick xmlns:r="http://schemas.openxmlformats.org/officeDocument/2006/relationships" r:id="Re7ac09e1c86246da"/>
              </a:rPr>
              <a:t>https://www.researchgate.net/publication/398786756_Physics-informed_neural_network_and_momentum_contrastive_learning_for_battery_state_of_health_estimation</a:t>
            </a:r>
            <a:endParaRPr sz="950"/>
          </a:p>
        </p:txBody>
      </p:sp>
      <p:sp>
        <p:nvSpPr>
          <p:cNvPr id="24" name="Text 22">
            <a:extLst xmlns:a="http://schemas.openxmlformats.org/drawingml/2006/main">
              <a:ext uri="{FF2B5EF4-FFF2-40B4-BE49-F238E27FC236}">
                <a16:creationId xmlns:a16="http://schemas.microsoft.com/office/drawing/2014/main" id="{0D967B44-DFB9-40D4-8E66-EABA3F86B11E}"/>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B6B79"/>
                </a:solidFill>
                <a:latin typeface="Calibri"/>
                <a:ea typeface="Calibri"/>
                <a:cs typeface="Calibri"/>
              </a:rPr>
              <a:t>Adaptive PINN Battery Digital Twin</a:t>
            </a:r>
            <a:endParaRPr sz="900"/>
          </a:p>
        </p:txBody>
      </p:sp>
      <p:sp>
        <p:nvSpPr>
          <p:cNvPr id="25" name="Text 23">
            <a:extLst xmlns:a="http://schemas.openxmlformats.org/drawingml/2006/main">
              <a:ext uri="{FF2B5EF4-FFF2-40B4-BE49-F238E27FC236}">
                <a16:creationId xmlns:a16="http://schemas.microsoft.com/office/drawing/2014/main" id="{09F766EA-2CF9-4B0C-AE73-8A90B84D4692}"/>
              </a:ext>
            </a:extLst>
          </p:cNvPr>
          <p:cNvSpPr>
            <a:spLocks xmlns:a="http://schemas.openxmlformats.org/drawingml/2006/main" noGrp="1"/>
          </p:cNvSpPr>
          <p:nvPr/>
        </p:nvSpPr>
        <p:spPr>
          <a:xfrm xmlns:a="http://schemas.openxmlformats.org/drawingml/2006/main">
            <a:off x="11000232" y="6492240"/>
            <a:ext cx="7315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B6B79"/>
                </a:solidFill>
                <a:latin typeface="Calibri"/>
                <a:ea typeface="Calibri"/>
                <a:cs typeface="Calibri"/>
              </a:rPr>
              <a:t>11 / 11</a:t>
            </a:r>
            <a:endParaRPr sz="900"/>
          </a:p>
        </p:txBody>
      </p:sp>
    </p:spTree>
    <p:extLst>
      <p:ext uri="{BB962C8B-B14F-4D97-AF65-F5344CB8AC3E}">
        <p14:creationId xmlns:p14="http://schemas.microsoft.com/office/powerpoint/2010/main" val="2145433530"/>
      </p:ext>
    </p:extLst>
  </p:cSld>
</p:sld>
</file>

<file path=ppt/slides/slide12.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95383E-7F76-4600-91FB-E616FA88C0E4}"/>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0A896"/>
                </a:solidFill>
                <a:latin typeface="Calibri"/>
                <a:ea typeface="Calibri"/>
                <a:cs typeface="Calibri"/>
              </a:defRPr>
            </a:pPr>
            <a:r>
              <a:rPr sz="900" b="1" i="0">
                <a:solidFill>
                  <a:srgbClr val="00A896"/>
                </a:solidFill>
                <a:latin typeface="Calibri"/>
                <a:ea typeface="Calibri"/>
                <a:cs typeface="Calibri"/>
              </a:rPr>
              <a:t>PHASE II · REVIEW 2</a:t>
            </a:r>
          </a:p>
        </p:txBody>
      </p:sp>
      <p:sp>
        <p:nvSpPr>
          <p:cNvPr id="2" name="">
            <a:extLst xmlns:a="http://schemas.openxmlformats.org/drawingml/2006/main">
              <a:ext uri="{FF2B5EF4-FFF2-40B4-BE49-F238E27FC236}">
                <a16:creationId xmlns:a16="http://schemas.microsoft.com/office/drawing/2014/main" id="{DBF327C1-A153-4F50-ACF6-5A504AF71C4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FFFFFF"/>
                </a:solidFill>
                <a:latin typeface="Cambria"/>
                <a:ea typeface="Cambria"/>
                <a:cs typeface="Cambria"/>
              </a:defRPr>
            </a:pPr>
            <a:r>
              <a:rPr sz="2325" b="1" i="0">
                <a:solidFill>
                  <a:srgbClr val="FFFFFF"/>
                </a:solidFill>
                <a:latin typeface="Cambria"/>
                <a:ea typeface="Cambria"/>
                <a:cs typeface="Cambria"/>
              </a:rPr>
              <a:t>Model Design &amp; Experimental Study</a:t>
            </a:r>
          </a:p>
        </p:txBody>
      </p:sp>
      <p:sp>
        <p:nvSpPr>
          <p:cNvPr id="3" name="">
            <a:extLst xmlns:a="http://schemas.openxmlformats.org/drawingml/2006/main">
              <a:ext uri="{FF2B5EF4-FFF2-40B4-BE49-F238E27FC236}">
                <a16:creationId xmlns:a16="http://schemas.microsoft.com/office/drawing/2014/main" id="{41549C7C-4431-4404-A62E-BEE7A83F7EDF}"/>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C7D8E5"/>
                </a:solidFill>
                <a:latin typeface="Calibri"/>
                <a:ea typeface="Calibri"/>
                <a:cs typeface="Calibri"/>
              </a:defRPr>
            </a:pPr>
            <a:r>
              <a:rPr sz="1125" b="0" i="0">
                <a:solidFill>
                  <a:srgbClr val="C7D8E5"/>
                </a:solidFill>
                <a:latin typeface="Calibri"/>
                <a:ea typeface="Calibri"/>
                <a:cs typeface="Calibri"/>
              </a:rPr>
              <a:t>Completed implementation, evaluation evidence, and faculty-ready proof of concept</a:t>
            </a:r>
          </a:p>
        </p:txBody>
      </p:sp>
      <p:sp>
        <p:nvSpPr>
          <p:cNvPr id="4" name="">
            <a:extLst xmlns:a="http://schemas.openxmlformats.org/drawingml/2006/main">
              <a:ext uri="{FF2B5EF4-FFF2-40B4-BE49-F238E27FC236}">
                <a16:creationId xmlns:a16="http://schemas.microsoft.com/office/drawing/2014/main" id="{8A00AA8F-39D3-4CFE-8410-FF73CCE41D43}"/>
              </a:ext>
            </a:extLst>
          </p:cNvPr>
          <p:cNvSpPr>
            <a:spLocks xmlns:a="http://schemas.openxmlformats.org/drawingml/2006/main" noGrp="1"/>
          </p:cNvSpPr>
          <p:nvPr/>
        </p:nvSpPr>
        <p:spPr>
          <a:xfrm xmlns:a="http://schemas.openxmlformats.org/drawingml/2006/main">
            <a:off x="552450" y="2238375"/>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i="0">
                <a:solidFill>
                  <a:srgbClr val="00A896"/>
                </a:solidFill>
                <a:latin typeface="Calibri"/>
                <a:ea typeface="Calibri"/>
                <a:cs typeface="Calibri"/>
              </a:defRPr>
            </a:pPr>
            <a:r>
              <a:rPr sz="1350" b="1" i="0">
                <a:solidFill>
                  <a:srgbClr val="00A896"/>
                </a:solidFill>
                <a:latin typeface="Calibri"/>
                <a:ea typeface="Calibri"/>
                <a:cs typeface="Calibri"/>
              </a:rPr>
              <a:t>NASA-first evidence bundle</a:t>
            </a:r>
          </a:p>
        </p:txBody>
      </p:sp>
      <p:sp>
        <p:nvSpPr>
          <p:cNvPr id="5" name="">
            <a:extLst xmlns:a="http://schemas.openxmlformats.org/drawingml/2006/main">
              <a:ext uri="{FF2B5EF4-FFF2-40B4-BE49-F238E27FC236}">
                <a16:creationId xmlns:a16="http://schemas.microsoft.com/office/drawing/2014/main" id="{E5FD7B98-5E2B-43DE-919C-EA9E20152EDB}"/>
              </a:ext>
            </a:extLst>
          </p:cNvPr>
          <p:cNvSpPr>
            <a:spLocks xmlns:a="http://schemas.openxmlformats.org/drawingml/2006/main" noGrp="1"/>
          </p:cNvSpPr>
          <p:nvPr/>
        </p:nvSpPr>
        <p:spPr>
          <a:xfrm xmlns:a="http://schemas.openxmlformats.org/drawingml/2006/main">
            <a:off x="552450" y="2571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0" i="0">
                <a:solidFill>
                  <a:srgbClr val="FFFFFF"/>
                </a:solidFill>
                <a:latin typeface="Calibri"/>
                <a:ea typeface="Calibri"/>
                <a:cs typeface="Calibri"/>
              </a:defRPr>
            </a:pPr>
            <a:r>
              <a:rPr sz="1425" b="0" i="0">
                <a:solidFill>
                  <a:srgbClr val="FFFFFF"/>
                </a:solidFill>
                <a:latin typeface="Calibri"/>
                <a:ea typeface="Calibri"/>
                <a:cs typeface="Calibri"/>
              </a:rPr>
              <a:t>54 hyperparameter combinations · 3 random seeds · 18 ablation rows · 12 robustness rows</a:t>
            </a:r>
          </a:p>
        </p:txBody>
      </p:sp>
      <p:sp>
        <p:nvSpPr>
          <p:cNvPr id="6" name="">
            <a:extLst xmlns:a="http://schemas.openxmlformats.org/drawingml/2006/main">
              <a:ext uri="{FF2B5EF4-FFF2-40B4-BE49-F238E27FC236}">
                <a16:creationId xmlns:a16="http://schemas.microsoft.com/office/drawing/2014/main" id="{06C12D10-A59E-437D-8D02-D2DFA63631F5}"/>
              </a:ext>
            </a:extLst>
          </p:cNvPr>
          <p:cNvSpPr>
            <a:spLocks xmlns:a="http://schemas.openxmlformats.org/drawingml/2006/main" noGrp="1"/>
          </p:cNvSpPr>
          <p:nvPr/>
        </p:nvSpPr>
        <p:spPr>
          <a:xfrm xmlns:a="http://schemas.openxmlformats.org/drawingml/2006/main">
            <a:off x="552450" y="3381375"/>
            <a:ext cx="10382250" cy="28575"/>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7" name="">
            <a:extLst xmlns:a="http://schemas.openxmlformats.org/drawingml/2006/main">
              <a:ext uri="{FF2B5EF4-FFF2-40B4-BE49-F238E27FC236}">
                <a16:creationId xmlns:a16="http://schemas.microsoft.com/office/drawing/2014/main" id="{30407D9D-E5CF-4EFC-B5FE-36E89336CF94}"/>
              </a:ext>
            </a:extLst>
          </p:cNvPr>
          <p:cNvSpPr>
            <a:spLocks xmlns:a="http://schemas.openxmlformats.org/drawingml/2006/main" noGrp="1"/>
          </p:cNvSpPr>
          <p:nvPr/>
        </p:nvSpPr>
        <p:spPr>
          <a:xfrm xmlns:a="http://schemas.openxmlformats.org/drawingml/2006/main">
            <a:off x="552450" y="3857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1" i="0">
                <a:solidFill>
                  <a:srgbClr val="9FC6E0"/>
                </a:solidFill>
                <a:latin typeface="Calibri"/>
                <a:ea typeface="Calibri"/>
                <a:cs typeface="Calibri"/>
              </a:defRPr>
            </a:pPr>
            <a:r>
              <a:rPr sz="1050" b="1" i="0">
                <a:solidFill>
                  <a:srgbClr val="9FC6E0"/>
                </a:solidFill>
                <a:latin typeface="Calibri"/>
                <a:ea typeface="Calibri"/>
                <a:cs typeface="Calibri"/>
              </a:rPr>
              <a:t>Course rubric focus</a:t>
            </a:r>
          </a:p>
        </p:txBody>
      </p:sp>
      <p:sp>
        <p:nvSpPr>
          <p:cNvPr id="8" name="">
            <a:extLst xmlns:a="http://schemas.openxmlformats.org/drawingml/2006/main">
              <a:ext uri="{FF2B5EF4-FFF2-40B4-BE49-F238E27FC236}">
                <a16:creationId xmlns:a16="http://schemas.microsoft.com/office/drawing/2014/main" id="{E97A007A-D360-49F9-979A-3964EE67B74F}"/>
              </a:ext>
            </a:extLst>
          </p:cNvPr>
          <p:cNvSpPr>
            <a:spLocks xmlns:a="http://schemas.openxmlformats.org/drawingml/2006/main" noGrp="1"/>
          </p:cNvSpPr>
          <p:nvPr/>
        </p:nvSpPr>
        <p:spPr>
          <a:xfrm xmlns:a="http://schemas.openxmlformats.org/drawingml/2006/main">
            <a:off x="552450" y="4171950"/>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i="0">
                <a:solidFill>
                  <a:srgbClr val="FFFFFF"/>
                </a:solidFill>
                <a:latin typeface="Calibri"/>
                <a:ea typeface="Calibri"/>
                <a:cs typeface="Calibri"/>
              </a:defRPr>
            </a:pPr>
            <a:r>
              <a:rPr sz="1350" b="0" i="0">
                <a:solidFill>
                  <a:srgbClr val="FFFFFF"/>
                </a:solidFill>
                <a:latin typeface="Calibri"/>
                <a:ea typeface="Calibri"/>
                <a:cs typeface="Calibri"/>
              </a:rPr>
              <a:t>Model architecture · Multiple models · Hyperparameter tuning · Experimental analysis · Presentation and AI reflection</a:t>
            </a:r>
          </a:p>
        </p:txBody>
      </p:sp>
      <p:sp>
        <p:nvSpPr>
          <p:cNvPr id="9" name="">
            <a:extLst xmlns:a="http://schemas.openxmlformats.org/drawingml/2006/main">
              <a:ext uri="{FF2B5EF4-FFF2-40B4-BE49-F238E27FC236}">
                <a16:creationId xmlns:a16="http://schemas.microsoft.com/office/drawing/2014/main" id="{10FDD1B4-6059-4123-9AF0-6F0FC2411E22}"/>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3BA0801D-CE7A-4951-9014-0DB0CE65EA7B}"/>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12 / 21</a:t>
            </a:r>
          </a:p>
        </p:txBody>
      </p:sp>
    </p:spTree>
    <p:extLst>
      <p:ext uri="{BB962C8B-B14F-4D97-AF65-F5344CB8AC3E}">
        <p14:creationId xmlns:p14="http://schemas.microsoft.com/office/powerpoint/2010/main" val="18132674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E81366-5D5B-43B2-82CE-B3622B7F9813}"/>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DELIVERABLE</a:t>
            </a:r>
          </a:p>
        </p:txBody>
      </p:sp>
      <p:sp>
        <p:nvSpPr>
          <p:cNvPr id="2" name="">
            <a:extLst xmlns:a="http://schemas.openxmlformats.org/drawingml/2006/main">
              <a:ext uri="{FF2B5EF4-FFF2-40B4-BE49-F238E27FC236}">
                <a16:creationId xmlns:a16="http://schemas.microsoft.com/office/drawing/2014/main" id="{20EC3F83-36DE-45AF-9C19-48D81331997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Phase II focus: DL model design and hyperparameter tuning</a:t>
            </a:r>
          </a:p>
        </p:txBody>
      </p:sp>
      <p:sp>
        <p:nvSpPr>
          <p:cNvPr id="3" name="">
            <a:extLst xmlns:a="http://schemas.openxmlformats.org/drawingml/2006/main">
              <a:ext uri="{FF2B5EF4-FFF2-40B4-BE49-F238E27FC236}">
                <a16:creationId xmlns:a16="http://schemas.microsoft.com/office/drawing/2014/main" id="{B23280A9-4366-4A0A-ADBA-5A24B8636747}"/>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required work is explicit: design the DL models, tune their hyperparameters, deploy multiple models, and compare results.</a:t>
            </a:r>
          </a:p>
        </p:txBody>
      </p:sp>
      <p:sp>
        <p:nvSpPr>
          <p:cNvPr id="4" name="">
            <a:extLst xmlns:a="http://schemas.openxmlformats.org/drawingml/2006/main">
              <a:ext uri="{FF2B5EF4-FFF2-40B4-BE49-F238E27FC236}">
                <a16:creationId xmlns:a16="http://schemas.microsoft.com/office/drawing/2014/main" id="{2AA80E88-89D9-4142-AE97-66E5358596AD}"/>
              </a:ext>
            </a:extLst>
          </p:cNvPr>
          <p:cNvSpPr>
            <a:spLocks xmlns:a="http://schemas.openxmlformats.org/drawingml/2006/main" noGrp="1"/>
          </p:cNvSpPr>
          <p:nvPr/>
        </p:nvSpPr>
        <p:spPr>
          <a:xfrm xmlns:a="http://schemas.openxmlformats.org/drawingml/2006/main">
            <a:off x="666750" y="2114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5" name="">
            <a:extLst xmlns:a="http://schemas.openxmlformats.org/drawingml/2006/main">
              <a:ext uri="{FF2B5EF4-FFF2-40B4-BE49-F238E27FC236}">
                <a16:creationId xmlns:a16="http://schemas.microsoft.com/office/drawing/2014/main" id="{4F20C1E0-EF21-47F8-ACFA-FFF5D971940E}"/>
              </a:ext>
            </a:extLst>
          </p:cNvPr>
          <p:cNvSpPr>
            <a:spLocks xmlns:a="http://schemas.openxmlformats.org/drawingml/2006/main" noGrp="1"/>
          </p:cNvSpPr>
          <p:nvPr/>
        </p:nvSpPr>
        <p:spPr>
          <a:xfrm xmlns:a="http://schemas.openxmlformats.org/drawingml/2006/main">
            <a:off x="733425" y="2133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1</a:t>
            </a:r>
          </a:p>
        </p:txBody>
      </p:sp>
      <p:sp>
        <p:nvSpPr>
          <p:cNvPr id="6" name="">
            <a:extLst xmlns:a="http://schemas.openxmlformats.org/drawingml/2006/main">
              <a:ext uri="{FF2B5EF4-FFF2-40B4-BE49-F238E27FC236}">
                <a16:creationId xmlns:a16="http://schemas.microsoft.com/office/drawing/2014/main" id="{34D7D573-D3F3-4BEC-864F-00BB813A3AC5}"/>
              </a:ext>
            </a:extLst>
          </p:cNvPr>
          <p:cNvSpPr>
            <a:spLocks xmlns:a="http://schemas.openxmlformats.org/drawingml/2006/main" noGrp="1"/>
          </p:cNvSpPr>
          <p:nvPr/>
        </p:nvSpPr>
        <p:spPr>
          <a:xfrm xmlns:a="http://schemas.openxmlformats.org/drawingml/2006/main">
            <a:off x="1047750" y="2095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Data contract</a:t>
            </a:r>
          </a:p>
        </p:txBody>
      </p:sp>
      <p:sp>
        <p:nvSpPr>
          <p:cNvPr id="7" name="">
            <a:extLst xmlns:a="http://schemas.openxmlformats.org/drawingml/2006/main">
              <a:ext uri="{FF2B5EF4-FFF2-40B4-BE49-F238E27FC236}">
                <a16:creationId xmlns:a16="http://schemas.microsoft.com/office/drawing/2014/main" id="{EE460204-4DDA-40C1-930A-DE9A587F7C35}"/>
              </a:ext>
            </a:extLst>
          </p:cNvPr>
          <p:cNvSpPr>
            <a:spLocks xmlns:a="http://schemas.openxmlformats.org/drawingml/2006/main" noGrp="1"/>
          </p:cNvSpPr>
          <p:nvPr/>
        </p:nvSpPr>
        <p:spPr>
          <a:xfrm xmlns:a="http://schemas.openxmlformats.org/drawingml/2006/main">
            <a:off x="1047750" y="2362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NASA B0005, B0006, B0007, and B0018 are parsed into ordered discharge-cycle records with voltage, current, temperature, time-gap, and capacity.</a:t>
            </a:r>
          </a:p>
        </p:txBody>
      </p:sp>
      <p:sp>
        <p:nvSpPr>
          <p:cNvPr id="8" name="">
            <a:extLst xmlns:a="http://schemas.openxmlformats.org/drawingml/2006/main">
              <a:ext uri="{FF2B5EF4-FFF2-40B4-BE49-F238E27FC236}">
                <a16:creationId xmlns:a16="http://schemas.microsoft.com/office/drawing/2014/main" id="{4BD275EF-6469-4D04-9D96-9D91EEFA6920}"/>
              </a:ext>
            </a:extLst>
          </p:cNvPr>
          <p:cNvSpPr>
            <a:spLocks xmlns:a="http://schemas.openxmlformats.org/drawingml/2006/main" noGrp="1"/>
          </p:cNvSpPr>
          <p:nvPr/>
        </p:nvSpPr>
        <p:spPr>
          <a:xfrm xmlns:a="http://schemas.openxmlformats.org/drawingml/2006/main">
            <a:off x="666750" y="3257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9" name="">
            <a:extLst xmlns:a="http://schemas.openxmlformats.org/drawingml/2006/main">
              <a:ext uri="{FF2B5EF4-FFF2-40B4-BE49-F238E27FC236}">
                <a16:creationId xmlns:a16="http://schemas.microsoft.com/office/drawing/2014/main" id="{6AEFCEF6-0997-4BAA-AB46-E9E13ED4AEC9}"/>
              </a:ext>
            </a:extLst>
          </p:cNvPr>
          <p:cNvSpPr>
            <a:spLocks xmlns:a="http://schemas.openxmlformats.org/drawingml/2006/main" noGrp="1"/>
          </p:cNvSpPr>
          <p:nvPr/>
        </p:nvSpPr>
        <p:spPr>
          <a:xfrm xmlns:a="http://schemas.openxmlformats.org/drawingml/2006/main">
            <a:off x="733425" y="3276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CF2CBEF7-1EA7-4854-A228-1C0986A26AE5}"/>
              </a:ext>
            </a:extLst>
          </p:cNvPr>
          <p:cNvSpPr>
            <a:spLocks xmlns:a="http://schemas.openxmlformats.org/drawingml/2006/main" noGrp="1"/>
          </p:cNvSpPr>
          <p:nvPr/>
        </p:nvSpPr>
        <p:spPr>
          <a:xfrm xmlns:a="http://schemas.openxmlformats.org/drawingml/2006/main">
            <a:off x="1047750" y="3238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Model stack</a:t>
            </a:r>
          </a:p>
        </p:txBody>
      </p:sp>
      <p:sp>
        <p:nvSpPr>
          <p:cNvPr id="11" name="">
            <a:extLst xmlns:a="http://schemas.openxmlformats.org/drawingml/2006/main">
              <a:ext uri="{FF2B5EF4-FFF2-40B4-BE49-F238E27FC236}">
                <a16:creationId xmlns:a16="http://schemas.microsoft.com/office/drawing/2014/main" id="{3C3B0E83-F72B-40FF-99A1-1C60B154B43D}"/>
              </a:ext>
            </a:extLst>
          </p:cNvPr>
          <p:cNvSpPr>
            <a:spLocks xmlns:a="http://schemas.openxmlformats.org/drawingml/2006/main" noGrp="1"/>
          </p:cNvSpPr>
          <p:nvPr/>
        </p:nvSpPr>
        <p:spPr>
          <a:xfrm xmlns:a="http://schemas.openxmlformats.org/drawingml/2006/main">
            <a:off x="1047750" y="3505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DNN, GRU, Transformer-only, PINN, and adaptive Transformer-plus-physics models run under the same held-out-cell protocol.</a:t>
            </a:r>
          </a:p>
        </p:txBody>
      </p:sp>
      <p:sp>
        <p:nvSpPr>
          <p:cNvPr id="12" name="">
            <a:extLst xmlns:a="http://schemas.openxmlformats.org/drawingml/2006/main">
              <a:ext uri="{FF2B5EF4-FFF2-40B4-BE49-F238E27FC236}">
                <a16:creationId xmlns:a16="http://schemas.microsoft.com/office/drawing/2014/main" id="{51E73005-8B24-4436-8707-E2C8DA4D5B17}"/>
              </a:ext>
            </a:extLst>
          </p:cNvPr>
          <p:cNvSpPr>
            <a:spLocks xmlns:a="http://schemas.openxmlformats.org/drawingml/2006/main" noGrp="1"/>
          </p:cNvSpPr>
          <p:nvPr/>
        </p:nvSpPr>
        <p:spPr>
          <a:xfrm xmlns:a="http://schemas.openxmlformats.org/drawingml/2006/main">
            <a:off x="666750" y="4400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13" name="">
            <a:extLst xmlns:a="http://schemas.openxmlformats.org/drawingml/2006/main">
              <a:ext uri="{FF2B5EF4-FFF2-40B4-BE49-F238E27FC236}">
                <a16:creationId xmlns:a16="http://schemas.microsoft.com/office/drawing/2014/main" id="{A665C9E3-D889-4838-8362-49400D6CDB89}"/>
              </a:ext>
            </a:extLst>
          </p:cNvPr>
          <p:cNvSpPr>
            <a:spLocks xmlns:a="http://schemas.openxmlformats.org/drawingml/2006/main" noGrp="1"/>
          </p:cNvSpPr>
          <p:nvPr/>
        </p:nvSpPr>
        <p:spPr>
          <a:xfrm xmlns:a="http://schemas.openxmlformats.org/drawingml/2006/main">
            <a:off x="733425" y="4419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3</a:t>
            </a:r>
          </a:p>
        </p:txBody>
      </p:sp>
      <p:sp>
        <p:nvSpPr>
          <p:cNvPr id="14" name="">
            <a:extLst xmlns:a="http://schemas.openxmlformats.org/drawingml/2006/main">
              <a:ext uri="{FF2B5EF4-FFF2-40B4-BE49-F238E27FC236}">
                <a16:creationId xmlns:a16="http://schemas.microsoft.com/office/drawing/2014/main" id="{52AA96F4-DCC0-46C2-A1EB-6E591FA79E94}"/>
              </a:ext>
            </a:extLst>
          </p:cNvPr>
          <p:cNvSpPr>
            <a:spLocks xmlns:a="http://schemas.openxmlformats.org/drawingml/2006/main" noGrp="1"/>
          </p:cNvSpPr>
          <p:nvPr/>
        </p:nvSpPr>
        <p:spPr>
          <a:xfrm xmlns:a="http://schemas.openxmlformats.org/drawingml/2006/main">
            <a:off x="1047750" y="4381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Online learning</a:t>
            </a:r>
          </a:p>
        </p:txBody>
      </p:sp>
      <p:sp>
        <p:nvSpPr>
          <p:cNvPr id="15" name="">
            <a:extLst xmlns:a="http://schemas.openxmlformats.org/drawingml/2006/main">
              <a:ext uri="{FF2B5EF4-FFF2-40B4-BE49-F238E27FC236}">
                <a16:creationId xmlns:a16="http://schemas.microsoft.com/office/drawing/2014/main" id="{D88FA996-D57B-47A6-AEE6-E04295648B65}"/>
              </a:ext>
            </a:extLst>
          </p:cNvPr>
          <p:cNvSpPr>
            <a:spLocks xmlns:a="http://schemas.openxmlformats.org/drawingml/2006/main" noGrp="1"/>
          </p:cNvSpPr>
          <p:nvPr/>
        </p:nvSpPr>
        <p:spPr>
          <a:xfrm xmlns:a="http://schemas.openxmlformats.org/drawingml/2006/main">
            <a:off x="1047750"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A drift detector triggers low-cost replay-buffer updates as the held-out stream arrives in time order.</a:t>
            </a:r>
          </a:p>
        </p:txBody>
      </p:sp>
      <p:sp>
        <p:nvSpPr>
          <p:cNvPr id="16" name="">
            <a:extLst xmlns:a="http://schemas.openxmlformats.org/drawingml/2006/main">
              <a:ext uri="{FF2B5EF4-FFF2-40B4-BE49-F238E27FC236}">
                <a16:creationId xmlns:a16="http://schemas.microsoft.com/office/drawing/2014/main" id="{1E1398D5-2B64-44E4-A32E-C4DD3353CE0C}"/>
              </a:ext>
            </a:extLst>
          </p:cNvPr>
          <p:cNvSpPr>
            <a:spLocks xmlns:a="http://schemas.openxmlformats.org/drawingml/2006/main" noGrp="1"/>
          </p:cNvSpPr>
          <p:nvPr/>
        </p:nvSpPr>
        <p:spPr>
          <a:xfrm xmlns:a="http://schemas.openxmlformats.org/drawingml/2006/main">
            <a:off x="6334125" y="2114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17" name="">
            <a:extLst xmlns:a="http://schemas.openxmlformats.org/drawingml/2006/main">
              <a:ext uri="{FF2B5EF4-FFF2-40B4-BE49-F238E27FC236}">
                <a16:creationId xmlns:a16="http://schemas.microsoft.com/office/drawing/2014/main" id="{8331020F-106B-4D83-A0DB-54FBB0CAED72}"/>
              </a:ext>
            </a:extLst>
          </p:cNvPr>
          <p:cNvSpPr>
            <a:spLocks xmlns:a="http://schemas.openxmlformats.org/drawingml/2006/main" noGrp="1"/>
          </p:cNvSpPr>
          <p:nvPr/>
        </p:nvSpPr>
        <p:spPr>
          <a:xfrm xmlns:a="http://schemas.openxmlformats.org/drawingml/2006/main">
            <a:off x="6400800" y="2133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4</a:t>
            </a:r>
          </a:p>
        </p:txBody>
      </p:sp>
      <p:sp>
        <p:nvSpPr>
          <p:cNvPr id="18" name="">
            <a:extLst xmlns:a="http://schemas.openxmlformats.org/drawingml/2006/main">
              <a:ext uri="{FF2B5EF4-FFF2-40B4-BE49-F238E27FC236}">
                <a16:creationId xmlns:a16="http://schemas.microsoft.com/office/drawing/2014/main" id="{CD74868F-C01C-425F-AFA6-102B09A3D367}"/>
              </a:ext>
            </a:extLst>
          </p:cNvPr>
          <p:cNvSpPr>
            <a:spLocks xmlns:a="http://schemas.openxmlformats.org/drawingml/2006/main" noGrp="1"/>
          </p:cNvSpPr>
          <p:nvPr/>
        </p:nvSpPr>
        <p:spPr>
          <a:xfrm xmlns:a="http://schemas.openxmlformats.org/drawingml/2006/main">
            <a:off x="6715125" y="2095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Faculty evidence</a:t>
            </a:r>
          </a:p>
        </p:txBody>
      </p:sp>
      <p:sp>
        <p:nvSpPr>
          <p:cNvPr id="19" name="">
            <a:extLst xmlns:a="http://schemas.openxmlformats.org/drawingml/2006/main">
              <a:ext uri="{FF2B5EF4-FFF2-40B4-BE49-F238E27FC236}">
                <a16:creationId xmlns:a16="http://schemas.microsoft.com/office/drawing/2014/main" id="{93C2A2B5-DD40-4004-805F-5D443F4AEB61}"/>
              </a:ext>
            </a:extLst>
          </p:cNvPr>
          <p:cNvSpPr>
            <a:spLocks xmlns:a="http://schemas.openxmlformats.org/drawingml/2006/main" noGrp="1"/>
          </p:cNvSpPr>
          <p:nvPr/>
        </p:nvSpPr>
        <p:spPr>
          <a:xfrm xmlns:a="http://schemas.openxmlformats.org/drawingml/2006/main">
            <a:off x="6715125" y="2362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The run exports final comparison tables, ablations, robustness results, physical diagnostics, figures, and a reflection script.</a:t>
            </a:r>
          </a:p>
        </p:txBody>
      </p:sp>
      <p:sp>
        <p:nvSpPr>
          <p:cNvPr id="20" name="">
            <a:extLst xmlns:a="http://schemas.openxmlformats.org/drawingml/2006/main">
              <a:ext uri="{FF2B5EF4-FFF2-40B4-BE49-F238E27FC236}">
                <a16:creationId xmlns:a16="http://schemas.microsoft.com/office/drawing/2014/main" id="{1F66ACD2-26D5-4CAC-AA5A-FDE0D2DF6A5E}"/>
              </a:ext>
            </a:extLst>
          </p:cNvPr>
          <p:cNvSpPr>
            <a:spLocks xmlns:a="http://schemas.openxmlformats.org/drawingml/2006/main" noGrp="1"/>
          </p:cNvSpPr>
          <p:nvPr/>
        </p:nvSpPr>
        <p:spPr>
          <a:xfrm xmlns:a="http://schemas.openxmlformats.org/drawingml/2006/main">
            <a:off x="6334125" y="3257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21" name="">
            <a:extLst xmlns:a="http://schemas.openxmlformats.org/drawingml/2006/main">
              <a:ext uri="{FF2B5EF4-FFF2-40B4-BE49-F238E27FC236}">
                <a16:creationId xmlns:a16="http://schemas.microsoft.com/office/drawing/2014/main" id="{FE944805-70EA-45DC-AD66-8E077F5BE9D2}"/>
              </a:ext>
            </a:extLst>
          </p:cNvPr>
          <p:cNvSpPr>
            <a:spLocks xmlns:a="http://schemas.openxmlformats.org/drawingml/2006/main" noGrp="1"/>
          </p:cNvSpPr>
          <p:nvPr/>
        </p:nvSpPr>
        <p:spPr>
          <a:xfrm xmlns:a="http://schemas.openxmlformats.org/drawingml/2006/main">
            <a:off x="6400800" y="3276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5</a:t>
            </a:r>
          </a:p>
        </p:txBody>
      </p:sp>
      <p:sp>
        <p:nvSpPr>
          <p:cNvPr id="22" name="">
            <a:extLst xmlns:a="http://schemas.openxmlformats.org/drawingml/2006/main">
              <a:ext uri="{FF2B5EF4-FFF2-40B4-BE49-F238E27FC236}">
                <a16:creationId xmlns:a16="http://schemas.microsoft.com/office/drawing/2014/main" id="{1C78315D-12E8-47D1-B7BB-3B79FE3F914D}"/>
              </a:ext>
            </a:extLst>
          </p:cNvPr>
          <p:cNvSpPr>
            <a:spLocks xmlns:a="http://schemas.openxmlformats.org/drawingml/2006/main" noGrp="1"/>
          </p:cNvSpPr>
          <p:nvPr/>
        </p:nvSpPr>
        <p:spPr>
          <a:xfrm xmlns:a="http://schemas.openxmlformats.org/drawingml/2006/main">
            <a:off x="6715125" y="3238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What remains a proposal</a:t>
            </a:r>
          </a:p>
        </p:txBody>
      </p:sp>
      <p:sp>
        <p:nvSpPr>
          <p:cNvPr id="23" name="">
            <a:extLst xmlns:a="http://schemas.openxmlformats.org/drawingml/2006/main">
              <a:ext uri="{FF2B5EF4-FFF2-40B4-BE49-F238E27FC236}">
                <a16:creationId xmlns:a16="http://schemas.microsoft.com/office/drawing/2014/main" id="{756AFCE1-A5E9-46F0-8887-88C79F06441B}"/>
              </a:ext>
            </a:extLst>
          </p:cNvPr>
          <p:cNvSpPr>
            <a:spLocks xmlns:a="http://schemas.openxmlformats.org/drawingml/2006/main" noGrp="1"/>
          </p:cNvSpPr>
          <p:nvPr/>
        </p:nvSpPr>
        <p:spPr>
          <a:xfrm xmlns:a="http://schemas.openxmlformats.org/drawingml/2006/main">
            <a:off x="6715125" y="3505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SEI-PDE physics and broad multi-chemistry validation remain extensions because the NASA POC does not expose every required electrochemical variable.</a:t>
            </a:r>
          </a:p>
        </p:txBody>
      </p:sp>
      <p:sp>
        <p:nvSpPr>
          <p:cNvPr id="24" name="">
            <a:extLst xmlns:a="http://schemas.openxmlformats.org/drawingml/2006/main">
              <a:ext uri="{FF2B5EF4-FFF2-40B4-BE49-F238E27FC236}">
                <a16:creationId xmlns:a16="http://schemas.microsoft.com/office/drawing/2014/main" id="{F187827F-1A21-41C2-954E-F5C532552534}"/>
              </a:ext>
            </a:extLst>
          </p:cNvPr>
          <p:cNvSpPr>
            <a:spLocks xmlns:a="http://schemas.openxmlformats.org/drawingml/2006/main" noGrp="1"/>
          </p:cNvSpPr>
          <p:nvPr/>
        </p:nvSpPr>
        <p:spPr>
          <a:xfrm xmlns:a="http://schemas.openxmlformats.org/drawingml/2006/main">
            <a:off x="6334125" y="44005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25" name="">
            <a:extLst xmlns:a="http://schemas.openxmlformats.org/drawingml/2006/main">
              <a:ext uri="{FF2B5EF4-FFF2-40B4-BE49-F238E27FC236}">
                <a16:creationId xmlns:a16="http://schemas.microsoft.com/office/drawing/2014/main" id="{E7DC9236-BDF1-4498-8A82-08620EB5A70E}"/>
              </a:ext>
            </a:extLst>
          </p:cNvPr>
          <p:cNvSpPr>
            <a:spLocks xmlns:a="http://schemas.openxmlformats.org/drawingml/2006/main" noGrp="1"/>
          </p:cNvSpPr>
          <p:nvPr/>
        </p:nvSpPr>
        <p:spPr>
          <a:xfrm xmlns:a="http://schemas.openxmlformats.org/drawingml/2006/main">
            <a:off x="6400800" y="44196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6</a:t>
            </a:r>
          </a:p>
        </p:txBody>
      </p:sp>
      <p:sp>
        <p:nvSpPr>
          <p:cNvPr id="26" name="">
            <a:extLst xmlns:a="http://schemas.openxmlformats.org/drawingml/2006/main">
              <a:ext uri="{FF2B5EF4-FFF2-40B4-BE49-F238E27FC236}">
                <a16:creationId xmlns:a16="http://schemas.microsoft.com/office/drawing/2014/main" id="{2B28013C-4D2D-4F1A-8212-D97CDC8E1A5C}"/>
              </a:ext>
            </a:extLst>
          </p:cNvPr>
          <p:cNvSpPr>
            <a:spLocks xmlns:a="http://schemas.openxmlformats.org/drawingml/2006/main" noGrp="1"/>
          </p:cNvSpPr>
          <p:nvPr/>
        </p:nvSpPr>
        <p:spPr>
          <a:xfrm xmlns:a="http://schemas.openxmlformats.org/drawingml/2006/main">
            <a:off x="6715125" y="438150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Evidence discipline</a:t>
            </a:r>
          </a:p>
        </p:txBody>
      </p:sp>
      <p:sp>
        <p:nvSpPr>
          <p:cNvPr id="27" name="">
            <a:extLst xmlns:a="http://schemas.openxmlformats.org/drawingml/2006/main">
              <a:ext uri="{FF2B5EF4-FFF2-40B4-BE49-F238E27FC236}">
                <a16:creationId xmlns:a16="http://schemas.microsoft.com/office/drawing/2014/main" id="{25A52FA7-7FFF-4485-9953-F5962E1CAD45}"/>
              </a:ext>
            </a:extLst>
          </p:cNvPr>
          <p:cNvSpPr>
            <a:spLocks xmlns:a="http://schemas.openxmlformats.org/drawingml/2006/main" noGrp="1"/>
          </p:cNvSpPr>
          <p:nvPr/>
        </p:nvSpPr>
        <p:spPr>
          <a:xfrm xmlns:a="http://schemas.openxmlformats.org/drawingml/2006/main">
            <a:off x="6715125"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5B6B79"/>
                </a:solidFill>
                <a:latin typeface="Calibri"/>
                <a:ea typeface="Calibri"/>
                <a:cs typeface="Calibri"/>
              </a:defRPr>
            </a:pPr>
            <a:r>
              <a:rPr sz="1050" b="0" i="0">
                <a:solidFill>
                  <a:srgbClr val="5B6B79"/>
                </a:solidFill>
                <a:latin typeface="Calibri"/>
                <a:ea typeface="Calibri"/>
                <a:cs typeface="Calibri"/>
              </a:rPr>
              <a:t>Reported paper metrics stay separate from new project metrics. The project claims only what the executed protocol measures.</a:t>
            </a:r>
          </a:p>
        </p:txBody>
      </p:sp>
      <p:sp>
        <p:nvSpPr>
          <p:cNvPr id="28" name="">
            <a:extLst xmlns:a="http://schemas.openxmlformats.org/drawingml/2006/main">
              <a:ext uri="{FF2B5EF4-FFF2-40B4-BE49-F238E27FC236}">
                <a16:creationId xmlns:a16="http://schemas.microsoft.com/office/drawing/2014/main" id="{54BAB9C9-1DB9-4FC2-B24A-69AB6EAE4E53}"/>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9" name="">
            <a:extLst xmlns:a="http://schemas.openxmlformats.org/drawingml/2006/main">
              <a:ext uri="{FF2B5EF4-FFF2-40B4-BE49-F238E27FC236}">
                <a16:creationId xmlns:a16="http://schemas.microsoft.com/office/drawing/2014/main" id="{729B7498-804A-4566-A2D7-17FE09129C9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13 / 21</a:t>
            </a:r>
          </a:p>
        </p:txBody>
      </p:sp>
    </p:spTree>
    <p:extLst>
      <p:ext uri="{BB962C8B-B14F-4D97-AF65-F5344CB8AC3E}">
        <p14:creationId xmlns:p14="http://schemas.microsoft.com/office/powerpoint/2010/main" val="164927459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D501287-CD87-4A30-ADF3-45F5266150E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DATASET</a:t>
            </a:r>
          </a:p>
        </p:txBody>
      </p:sp>
      <p:sp>
        <p:nvSpPr>
          <p:cNvPr id="2" name="">
            <a:extLst xmlns:a="http://schemas.openxmlformats.org/drawingml/2006/main">
              <a:ext uri="{FF2B5EF4-FFF2-40B4-BE49-F238E27FC236}">
                <a16:creationId xmlns:a16="http://schemas.microsoft.com/office/drawing/2014/main" id="{3AE1D7F1-2C4A-4711-A310-E57C3696F5B9}"/>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NASA cells and a leakage-safe evaluation protocol</a:t>
            </a:r>
          </a:p>
        </p:txBody>
      </p:sp>
      <p:sp>
        <p:nvSpPr>
          <p:cNvPr id="3" name="">
            <a:extLst xmlns:a="http://schemas.openxmlformats.org/drawingml/2006/main">
              <a:ext uri="{FF2B5EF4-FFF2-40B4-BE49-F238E27FC236}">
                <a16:creationId xmlns:a16="http://schemas.microsoft.com/office/drawing/2014/main" id="{DF509F74-19FB-4ACF-850A-89DA8A27A751}"/>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official NASA PCoE repository provides the first committed dataset for this proof of concept.</a:t>
            </a:r>
          </a:p>
        </p:txBody>
      </p:sp>
      <p:graphicFrame>
        <p:nvGraphicFramePr>
          <p:cNvPr id="27" name=""/>
          <p:cNvGraphicFramePr/>
          <p:nvPr/>
        </p:nvGraphicFramePr>
        <p:xfrm>
          <a:off xmlns:a="http://schemas.openxmlformats.org/drawingml/2006/main" x="552450" y="1952625"/>
          <a:ext xmlns:a="http://schemas.openxmlformats.org/drawingml/2006/main" cx="11096625" cy="2571750"/>
        </p:xfrm>
        <a:graphic xmlns:a="http://schemas.openxmlformats.org/drawingml/2006/main">
          <a:graphicData uri="http://schemas.openxmlformats.org/drawingml/2006/table">
            <a:tbl>
              <a:tblPr firstRow="1" bandRow="1"/>
              <a:tblGrid>
                <a:gridCol w="1619250"/>
                <a:gridCol w="4095750"/>
                <a:gridCol w="5381625"/>
              </a:tblGrid>
              <a:tr h="428625">
                <a:tc>
                  <a:txBody>
                    <a:bodyPr>
                      <a:normAutofit/>
                    </a:bodyPr>
                    <a:lstStyle/>
                    <a:p>
                      <a:r>
                        <a:rPr sz="900" b="1">
                          <a:solidFill>
                            <a:srgbClr val="FFFFFF"/>
                          </a:solidFill>
                          <a:latin typeface="Calibri"/>
                          <a:ea typeface="Calibri"/>
                          <a:cs typeface="Calibri"/>
                        </a:rPr>
                        <a:t>Item</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Project choice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Why it matters</a:t>
                      </a:r>
                    </a:p>
                  </a:txBody>
                  <a:tcPr marL="91440" marR="91440" marT="45720" marB="45720">
                    <a:solidFill>
                      <a:srgbClr val="13355E"/>
                    </a:solidFill>
                  </a:tcPr>
                </a:tc>
              </a:tr>
              <a:tr h="428625">
                <a:tc>
                  <a:txBody>
                    <a:bodyPr>
                      <a:normAutofit/>
                    </a:bodyPr>
                    <a:lstStyle/>
                    <a:p>
                      <a:r>
                        <a:rPr sz="900" b="1">
                          <a:solidFill>
                            <a:srgbClr val="0B2545"/>
                          </a:solidFill>
                          <a:latin typeface="Calibri"/>
                          <a:ea typeface="Calibri"/>
                          <a:cs typeface="Calibri"/>
                        </a:rPr>
                        <a:t>Cells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B0005 / B0006 / B0007 train · B0018 held out</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Battery-level separation tests transfer to a new cell.</a:t>
                      </a:r>
                    </a:p>
                  </a:txBody>
                  <a:tcPr marL="91440" marR="91440" marT="45720" marB="45720">
                    <a:solidFill>
                      <a:srgbClr val="FFFFFF"/>
                    </a:solidFill>
                  </a:tcPr>
                </a:tc>
              </a:tr>
              <a:tr h="428625">
                <a:tc>
                  <a:txBody>
                    <a:bodyPr>
                      <a:normAutofit/>
                    </a:bodyPr>
                    <a:lstStyle/>
                    <a:p>
                      <a:r>
                        <a:rPr sz="900" b="1">
                          <a:solidFill>
                            <a:srgbClr val="0B2545"/>
                          </a:solidFill>
                          <a:latin typeface="Calibri"/>
                          <a:ea typeface="Calibri"/>
                          <a:cs typeface="Calibri"/>
                        </a:rPr>
                        <a:t>Labels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SOH = capacity / nominal capacity × 100 · EOL = 70% SOH</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RUL = EOL cycle − current cycle.</a:t>
                      </a:r>
                    </a:p>
                  </a:txBody>
                  <a:tcPr marL="91440" marR="91440" marT="45720" marB="45720">
                    <a:solidFill>
                      <a:srgbClr val="F4F8FA"/>
                    </a:solidFill>
                  </a:tcPr>
                </a:tc>
              </a:tr>
              <a:tr h="428625">
                <a:tc>
                  <a:txBody>
                    <a:bodyPr>
                      <a:normAutofit/>
                    </a:bodyPr>
                    <a:lstStyle/>
                    <a:p>
                      <a:r>
                        <a:rPr sz="900" b="1">
                          <a:solidFill>
                            <a:srgbClr val="0B2545"/>
                          </a:solidFill>
                          <a:latin typeface="Calibri"/>
                          <a:ea typeface="Calibri"/>
                          <a:cs typeface="Calibri"/>
                        </a:rPr>
                        <a:t>Inputs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Voltage · current · temperature · delta_t · cycle index</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Measured timing is retained with masks.</a:t>
                      </a:r>
                    </a:p>
                  </a:txBody>
                  <a:tcPr marL="91440" marR="91440" marT="45720" marB="45720">
                    <a:solidFill>
                      <a:srgbClr val="FFFFFF"/>
                    </a:solidFill>
                  </a:tcPr>
                </a:tc>
              </a:tr>
              <a:tr h="428625">
                <a:tc>
                  <a:txBody>
                    <a:bodyPr>
                      <a:normAutofit/>
                    </a:bodyPr>
                    <a:lstStyle/>
                    <a:p>
                      <a:r>
                        <a:rPr sz="900" b="1">
                          <a:solidFill>
                            <a:srgbClr val="0B2545"/>
                          </a:solidFill>
                          <a:latin typeface="Calibri"/>
                          <a:ea typeface="Calibri"/>
                          <a:cs typeface="Calibri"/>
                        </a:rPr>
                        <a:t>Protocol</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504 train windows · 132 test windows · 33 initial · 99 stream</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Later cycles arrive sequentially for adaptation.</a:t>
                      </a:r>
                    </a:p>
                  </a:txBody>
                  <a:tcPr marL="91440" marR="91440" marT="45720" marB="45720">
                    <a:solidFill>
                      <a:srgbClr val="F4F8FA"/>
                    </a:solidFill>
                  </a:tcPr>
                </a:tc>
              </a:tr>
              <a:tr h="428625">
                <a:tc>
                  <a:txBody>
                    <a:bodyPr>
                      <a:normAutofit/>
                    </a:bodyPr>
                    <a:lstStyle/>
                    <a:p>
                      <a:r>
                        <a:rPr sz="900" b="1">
                          <a:solidFill>
                            <a:srgbClr val="0B2545"/>
                          </a:solidFill>
                          <a:latin typeface="Calibri"/>
                          <a:ea typeface="Calibri"/>
                          <a:cs typeface="Calibri"/>
                        </a:rPr>
                        <a:t>Seeds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 · 17 · 27</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Final tables report mean ± standard deviation.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09F9DEE-BEA4-43F0-A0B6-D3F6B3455D6C}"/>
              </a:ext>
            </a:extLst>
          </p:cNvPr>
          <p:cNvSpPr>
            <a:spLocks xmlns:a="http://schemas.openxmlformats.org/drawingml/2006/main" noGrp="1"/>
          </p:cNvSpPr>
          <p:nvPr/>
        </p:nvSpPr>
        <p:spPr>
          <a:xfrm xmlns:a="http://schemas.openxmlformats.org/drawingml/2006/main">
            <a:off x="55245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6" name="">
            <a:extLst xmlns:a="http://schemas.openxmlformats.org/drawingml/2006/main">
              <a:ext uri="{FF2B5EF4-FFF2-40B4-BE49-F238E27FC236}">
                <a16:creationId xmlns:a16="http://schemas.microsoft.com/office/drawing/2014/main" id="{863CDFF5-3C46-41EE-9092-2E13EBAA7AF6}"/>
              </a:ext>
            </a:extLst>
          </p:cNvPr>
          <p:cNvSpPr>
            <a:spLocks xmlns:a="http://schemas.openxmlformats.org/drawingml/2006/main" noGrp="1"/>
          </p:cNvSpPr>
          <p:nvPr/>
        </p:nvSpPr>
        <p:spPr>
          <a:xfrm xmlns:a="http://schemas.openxmlformats.org/drawingml/2006/main">
            <a:off x="70485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EOL RULE</a:t>
            </a:r>
          </a:p>
        </p:txBody>
      </p:sp>
      <p:sp>
        <p:nvSpPr>
          <p:cNvPr id="7" name="">
            <a:extLst xmlns:a="http://schemas.openxmlformats.org/drawingml/2006/main">
              <a:ext uri="{FF2B5EF4-FFF2-40B4-BE49-F238E27FC236}">
                <a16:creationId xmlns:a16="http://schemas.microsoft.com/office/drawing/2014/main" id="{4DE97B28-5FCA-4277-88E8-95AB1701471D}"/>
              </a:ext>
            </a:extLst>
          </p:cNvPr>
          <p:cNvSpPr>
            <a:spLocks xmlns:a="http://schemas.openxmlformats.org/drawingml/2006/main" noGrp="1"/>
          </p:cNvSpPr>
          <p:nvPr/>
        </p:nvSpPr>
        <p:spPr>
          <a:xfrm xmlns:a="http://schemas.openxmlformats.org/drawingml/2006/main">
            <a:off x="70485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70% SOH</a:t>
            </a:r>
          </a:p>
        </p:txBody>
      </p:sp>
      <p:sp>
        <p:nvSpPr>
          <p:cNvPr id="8" name="">
            <a:extLst xmlns:a="http://schemas.openxmlformats.org/drawingml/2006/main">
              <a:ext uri="{FF2B5EF4-FFF2-40B4-BE49-F238E27FC236}">
                <a16:creationId xmlns:a16="http://schemas.microsoft.com/office/drawing/2014/main" id="{B80F6030-86DC-45EA-A508-E850D8EF0312}"/>
              </a:ext>
            </a:extLst>
          </p:cNvPr>
          <p:cNvSpPr>
            <a:spLocks xmlns:a="http://schemas.openxmlformats.org/drawingml/2006/main" noGrp="1"/>
          </p:cNvSpPr>
          <p:nvPr/>
        </p:nvSpPr>
        <p:spPr>
          <a:xfrm xmlns:a="http://schemas.openxmlformats.org/drawingml/2006/main">
            <a:off x="266700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9" name="">
            <a:extLst xmlns:a="http://schemas.openxmlformats.org/drawingml/2006/main">
              <a:ext uri="{FF2B5EF4-FFF2-40B4-BE49-F238E27FC236}">
                <a16:creationId xmlns:a16="http://schemas.microsoft.com/office/drawing/2014/main" id="{5F8794BD-BDFD-4920-B62E-D7AA80D6ED87}"/>
              </a:ext>
            </a:extLst>
          </p:cNvPr>
          <p:cNvSpPr>
            <a:spLocks xmlns:a="http://schemas.openxmlformats.org/drawingml/2006/main" noGrp="1"/>
          </p:cNvSpPr>
          <p:nvPr/>
        </p:nvSpPr>
        <p:spPr>
          <a:xfrm xmlns:a="http://schemas.openxmlformats.org/drawingml/2006/main">
            <a:off x="281940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HELD-OUT CELL</a:t>
            </a:r>
          </a:p>
        </p:txBody>
      </p:sp>
      <p:sp>
        <p:nvSpPr>
          <p:cNvPr id="10" name="">
            <a:extLst xmlns:a="http://schemas.openxmlformats.org/drawingml/2006/main">
              <a:ext uri="{FF2B5EF4-FFF2-40B4-BE49-F238E27FC236}">
                <a16:creationId xmlns:a16="http://schemas.microsoft.com/office/drawing/2014/main" id="{EADD41DE-2C79-41DF-903B-4E24181C4DEC}"/>
              </a:ext>
            </a:extLst>
          </p:cNvPr>
          <p:cNvSpPr>
            <a:spLocks xmlns:a="http://schemas.openxmlformats.org/drawingml/2006/main" noGrp="1"/>
          </p:cNvSpPr>
          <p:nvPr/>
        </p:nvSpPr>
        <p:spPr>
          <a:xfrm xmlns:a="http://schemas.openxmlformats.org/drawingml/2006/main">
            <a:off x="281940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B0018</a:t>
            </a:r>
          </a:p>
        </p:txBody>
      </p:sp>
      <p:sp>
        <p:nvSpPr>
          <p:cNvPr id="11" name="">
            <a:extLst xmlns:a="http://schemas.openxmlformats.org/drawingml/2006/main">
              <a:ext uri="{FF2B5EF4-FFF2-40B4-BE49-F238E27FC236}">
                <a16:creationId xmlns:a16="http://schemas.microsoft.com/office/drawing/2014/main" id="{61E84F5E-A6E6-4DA6-8ACA-14F47501AC93}"/>
              </a:ext>
            </a:extLst>
          </p:cNvPr>
          <p:cNvSpPr>
            <a:spLocks xmlns:a="http://schemas.openxmlformats.org/drawingml/2006/main" noGrp="1"/>
          </p:cNvSpPr>
          <p:nvPr/>
        </p:nvSpPr>
        <p:spPr>
          <a:xfrm xmlns:a="http://schemas.openxmlformats.org/drawingml/2006/main">
            <a:off x="478155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2" name="">
            <a:extLst xmlns:a="http://schemas.openxmlformats.org/drawingml/2006/main">
              <a:ext uri="{FF2B5EF4-FFF2-40B4-BE49-F238E27FC236}">
                <a16:creationId xmlns:a16="http://schemas.microsoft.com/office/drawing/2014/main" id="{D8E27291-D8CA-491C-946F-51500F363030}"/>
              </a:ext>
            </a:extLst>
          </p:cNvPr>
          <p:cNvSpPr>
            <a:spLocks xmlns:a="http://schemas.openxmlformats.org/drawingml/2006/main" noGrp="1"/>
          </p:cNvSpPr>
          <p:nvPr/>
        </p:nvSpPr>
        <p:spPr>
          <a:xfrm xmlns:a="http://schemas.openxmlformats.org/drawingml/2006/main">
            <a:off x="493395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CYCLES PARSED</a:t>
            </a:r>
          </a:p>
        </p:txBody>
      </p:sp>
      <p:sp>
        <p:nvSpPr>
          <p:cNvPr id="13" name="">
            <a:extLst xmlns:a="http://schemas.openxmlformats.org/drawingml/2006/main">
              <a:ext uri="{FF2B5EF4-FFF2-40B4-BE49-F238E27FC236}">
                <a16:creationId xmlns:a16="http://schemas.microsoft.com/office/drawing/2014/main" id="{818B80B6-1F06-45B8-8B83-163A1A22916A}"/>
              </a:ext>
            </a:extLst>
          </p:cNvPr>
          <p:cNvSpPr>
            <a:spLocks xmlns:a="http://schemas.openxmlformats.org/drawingml/2006/main" noGrp="1"/>
          </p:cNvSpPr>
          <p:nvPr/>
        </p:nvSpPr>
        <p:spPr>
          <a:xfrm xmlns:a="http://schemas.openxmlformats.org/drawingml/2006/main">
            <a:off x="493395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636 total</a:t>
            </a:r>
          </a:p>
        </p:txBody>
      </p:sp>
      <p:sp>
        <p:nvSpPr>
          <p:cNvPr id="14" name="">
            <a:extLst xmlns:a="http://schemas.openxmlformats.org/drawingml/2006/main">
              <a:ext uri="{FF2B5EF4-FFF2-40B4-BE49-F238E27FC236}">
                <a16:creationId xmlns:a16="http://schemas.microsoft.com/office/drawing/2014/main" id="{B82DB5F3-0EE4-4774-9C16-EE1180E73180}"/>
              </a:ext>
            </a:extLst>
          </p:cNvPr>
          <p:cNvSpPr>
            <a:spLocks xmlns:a="http://schemas.openxmlformats.org/drawingml/2006/main" noGrp="1"/>
          </p:cNvSpPr>
          <p:nvPr/>
        </p:nvSpPr>
        <p:spPr>
          <a:xfrm xmlns:a="http://schemas.openxmlformats.org/drawingml/2006/main">
            <a:off x="6896100" y="4953000"/>
            <a:ext cx="19050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5" name="">
            <a:extLst xmlns:a="http://schemas.openxmlformats.org/drawingml/2006/main">
              <a:ext uri="{FF2B5EF4-FFF2-40B4-BE49-F238E27FC236}">
                <a16:creationId xmlns:a16="http://schemas.microsoft.com/office/drawing/2014/main" id="{BD5A0D0A-DF6B-4F05-839A-3D6F580DA9F9}"/>
              </a:ext>
            </a:extLst>
          </p:cNvPr>
          <p:cNvSpPr>
            <a:spLocks xmlns:a="http://schemas.openxmlformats.org/drawingml/2006/main" noGrp="1"/>
          </p:cNvSpPr>
          <p:nvPr/>
        </p:nvSpPr>
        <p:spPr>
          <a:xfrm xmlns:a="http://schemas.openxmlformats.org/drawingml/2006/main">
            <a:off x="7048500" y="5067300"/>
            <a:ext cx="1600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ORDER</a:t>
            </a:r>
          </a:p>
        </p:txBody>
      </p:sp>
      <p:sp>
        <p:nvSpPr>
          <p:cNvPr id="16" name="">
            <a:extLst xmlns:a="http://schemas.openxmlformats.org/drawingml/2006/main">
              <a:ext uri="{FF2B5EF4-FFF2-40B4-BE49-F238E27FC236}">
                <a16:creationId xmlns:a16="http://schemas.microsoft.com/office/drawing/2014/main" id="{17AB6E04-029A-4E7E-9000-2BC1D58B6994}"/>
              </a:ext>
            </a:extLst>
          </p:cNvPr>
          <p:cNvSpPr>
            <a:spLocks xmlns:a="http://schemas.openxmlformats.org/drawingml/2006/main" noGrp="1"/>
          </p:cNvSpPr>
          <p:nvPr/>
        </p:nvSpPr>
        <p:spPr>
          <a:xfrm xmlns:a="http://schemas.openxmlformats.org/drawingml/2006/main">
            <a:off x="7048500" y="52578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Time-aware</a:t>
            </a:r>
          </a:p>
        </p:txBody>
      </p:sp>
      <p:sp>
        <p:nvSpPr>
          <p:cNvPr id="17" name="">
            <a:extLst xmlns:a="http://schemas.openxmlformats.org/drawingml/2006/main">
              <a:ext uri="{FF2B5EF4-FFF2-40B4-BE49-F238E27FC236}">
                <a16:creationId xmlns:a16="http://schemas.microsoft.com/office/drawing/2014/main" id="{EA7D3F9E-8E38-4EFF-921D-698BFED42B38}"/>
              </a:ext>
            </a:extLst>
          </p:cNvPr>
          <p:cNvSpPr>
            <a:spLocks xmlns:a="http://schemas.openxmlformats.org/drawingml/2006/main" noGrp="1"/>
          </p:cNvSpPr>
          <p:nvPr/>
        </p:nvSpPr>
        <p:spPr>
          <a:xfrm xmlns:a="http://schemas.openxmlformats.org/drawingml/2006/main">
            <a:off x="9010650" y="49530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8" name="">
            <a:extLst xmlns:a="http://schemas.openxmlformats.org/drawingml/2006/main">
              <a:ext uri="{FF2B5EF4-FFF2-40B4-BE49-F238E27FC236}">
                <a16:creationId xmlns:a16="http://schemas.microsoft.com/office/drawing/2014/main" id="{40D7A154-058E-49F2-8C59-A49CF0B5FDA4}"/>
              </a:ext>
            </a:extLst>
          </p:cNvPr>
          <p:cNvSpPr>
            <a:spLocks xmlns:a="http://schemas.openxmlformats.org/drawingml/2006/main" noGrp="1"/>
          </p:cNvSpPr>
          <p:nvPr/>
        </p:nvSpPr>
        <p:spPr>
          <a:xfrm xmlns:a="http://schemas.openxmlformats.org/drawingml/2006/main">
            <a:off x="9163050" y="50673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METRIC UNIT</a:t>
            </a:r>
          </a:p>
        </p:txBody>
      </p:sp>
      <p:sp>
        <p:nvSpPr>
          <p:cNvPr id="19" name="">
            <a:extLst xmlns:a="http://schemas.openxmlformats.org/drawingml/2006/main">
              <a:ext uri="{FF2B5EF4-FFF2-40B4-BE49-F238E27FC236}">
                <a16:creationId xmlns:a16="http://schemas.microsoft.com/office/drawing/2014/main" id="{9E6C8DF5-D53F-48A1-86C8-5890ED955906}"/>
              </a:ext>
            </a:extLst>
          </p:cNvPr>
          <p:cNvSpPr>
            <a:spLocks xmlns:a="http://schemas.openxmlformats.org/drawingml/2006/main" noGrp="1"/>
          </p:cNvSpPr>
          <p:nvPr/>
        </p:nvSpPr>
        <p:spPr>
          <a:xfrm xmlns:a="http://schemas.openxmlformats.org/drawingml/2006/main">
            <a:off x="9163050" y="52578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RUL in cycles</a:t>
            </a:r>
          </a:p>
        </p:txBody>
      </p:sp>
      <p:sp>
        <p:nvSpPr>
          <p:cNvPr id="20" name="">
            <a:extLst xmlns:a="http://schemas.openxmlformats.org/drawingml/2006/main">
              <a:ext uri="{FF2B5EF4-FFF2-40B4-BE49-F238E27FC236}">
                <a16:creationId xmlns:a16="http://schemas.microsoft.com/office/drawing/2014/main" id="{A70E9FA1-8C2E-433A-909C-D1C4884DCB6D}"/>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1" name="">
            <a:extLst xmlns:a="http://schemas.openxmlformats.org/drawingml/2006/main">
              <a:ext uri="{FF2B5EF4-FFF2-40B4-BE49-F238E27FC236}">
                <a16:creationId xmlns:a16="http://schemas.microsoft.com/office/drawing/2014/main" id="{E83660EF-0B5D-4164-A1F6-E3D71C266047}"/>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14 / 21</a:t>
            </a:r>
          </a:p>
        </p:txBody>
      </p:sp>
    </p:spTree>
    <p:extLst>
      <p:ext uri="{BB962C8B-B14F-4D97-AF65-F5344CB8AC3E}">
        <p14:creationId xmlns:p14="http://schemas.microsoft.com/office/powerpoint/2010/main" val="20061905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A6879B5-7B61-450D-832E-41C70A90EBAD}"/>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ARCHITECTURE</a:t>
            </a:r>
          </a:p>
        </p:txBody>
      </p:sp>
      <p:sp>
        <p:nvSpPr>
          <p:cNvPr id="2" name="">
            <a:extLst xmlns:a="http://schemas.openxmlformats.org/drawingml/2006/main">
              <a:ext uri="{FF2B5EF4-FFF2-40B4-BE49-F238E27FC236}">
                <a16:creationId xmlns:a16="http://schemas.microsoft.com/office/drawing/2014/main" id="{D751719A-D262-42AE-8DB8-B7E8C30ABC3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From measured cycle to adaptive digital-twin state</a:t>
            </a:r>
          </a:p>
        </p:txBody>
      </p:sp>
      <p:sp>
        <p:nvSpPr>
          <p:cNvPr id="3" name="">
            <a:extLst xmlns:a="http://schemas.openxmlformats.org/drawingml/2006/main">
              <a:ext uri="{FF2B5EF4-FFF2-40B4-BE49-F238E27FC236}">
                <a16:creationId xmlns:a16="http://schemas.microsoft.com/office/drawing/2014/main" id="{B4C2559D-3EE5-46B4-9BDA-F152D3B28F42}"/>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first-stage physics model uses relationships supported by the NASA measurements.</a:t>
            </a:r>
          </a:p>
        </p:txBody>
      </p:sp>
      <p:sp>
        <p:nvSpPr>
          <p:cNvPr id="4" name="">
            <a:extLst xmlns:a="http://schemas.openxmlformats.org/drawingml/2006/main">
              <a:ext uri="{FF2B5EF4-FFF2-40B4-BE49-F238E27FC236}">
                <a16:creationId xmlns:a16="http://schemas.microsoft.com/office/drawing/2014/main" id="{11C01F62-750C-4EA7-B360-96AEFD26C37C}"/>
              </a:ext>
            </a:extLst>
          </p:cNvPr>
          <p:cNvSpPr>
            <a:spLocks xmlns:a="http://schemas.openxmlformats.org/drawingml/2006/main" noGrp="1"/>
          </p:cNvSpPr>
          <p:nvPr/>
        </p:nvSpPr>
        <p:spPr>
          <a:xfrm xmlns:a="http://schemas.openxmlformats.org/drawingml/2006/main">
            <a:off x="5524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5" name="">
            <a:extLst xmlns:a="http://schemas.openxmlformats.org/drawingml/2006/main">
              <a:ext uri="{FF2B5EF4-FFF2-40B4-BE49-F238E27FC236}">
                <a16:creationId xmlns:a16="http://schemas.microsoft.com/office/drawing/2014/main" id="{529ECC5F-81AE-48BA-ADE4-F169D596FDB4}"/>
              </a:ext>
            </a:extLst>
          </p:cNvPr>
          <p:cNvSpPr>
            <a:spLocks xmlns:a="http://schemas.openxmlformats.org/drawingml/2006/main" noGrp="1"/>
          </p:cNvSpPr>
          <p:nvPr/>
        </p:nvSpPr>
        <p:spPr>
          <a:xfrm xmlns:a="http://schemas.openxmlformats.org/drawingml/2006/main">
            <a:off x="6953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6" name="">
            <a:extLst xmlns:a="http://schemas.openxmlformats.org/drawingml/2006/main">
              <a:ext uri="{FF2B5EF4-FFF2-40B4-BE49-F238E27FC236}">
                <a16:creationId xmlns:a16="http://schemas.microsoft.com/office/drawing/2014/main" id="{AD0059F9-32F1-4444-82A3-EC98E67B8ADE}"/>
              </a:ext>
            </a:extLst>
          </p:cNvPr>
          <p:cNvSpPr>
            <a:spLocks xmlns:a="http://schemas.openxmlformats.org/drawingml/2006/main" noGrp="1"/>
          </p:cNvSpPr>
          <p:nvPr/>
        </p:nvSpPr>
        <p:spPr>
          <a:xfrm xmlns:a="http://schemas.openxmlformats.org/drawingml/2006/main">
            <a:off x="7715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7" name="">
            <a:extLst xmlns:a="http://schemas.openxmlformats.org/drawingml/2006/main">
              <a:ext uri="{FF2B5EF4-FFF2-40B4-BE49-F238E27FC236}">
                <a16:creationId xmlns:a16="http://schemas.microsoft.com/office/drawing/2014/main" id="{EF49CE0C-831A-4449-93C4-F73376F60743}"/>
              </a:ext>
            </a:extLst>
          </p:cNvPr>
          <p:cNvSpPr>
            <a:spLocks xmlns:a="http://schemas.openxmlformats.org/drawingml/2006/main" noGrp="1"/>
          </p:cNvSpPr>
          <p:nvPr/>
        </p:nvSpPr>
        <p:spPr>
          <a:xfrm xmlns:a="http://schemas.openxmlformats.org/drawingml/2006/main">
            <a:off x="6953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NASA records</a:t>
            </a:r>
          </a:p>
        </p:txBody>
      </p:sp>
      <p:sp>
        <p:nvSpPr>
          <p:cNvPr id="8" name="">
            <a:extLst xmlns:a="http://schemas.openxmlformats.org/drawingml/2006/main">
              <a:ext uri="{FF2B5EF4-FFF2-40B4-BE49-F238E27FC236}">
                <a16:creationId xmlns:a16="http://schemas.microsoft.com/office/drawing/2014/main" id="{116339A2-D50F-4780-94DB-9E81F022DD48}"/>
              </a:ext>
            </a:extLst>
          </p:cNvPr>
          <p:cNvSpPr>
            <a:spLocks xmlns:a="http://schemas.openxmlformats.org/drawingml/2006/main" noGrp="1"/>
          </p:cNvSpPr>
          <p:nvPr/>
        </p:nvSpPr>
        <p:spPr>
          <a:xfrm xmlns:a="http://schemas.openxmlformats.org/drawingml/2006/main">
            <a:off x="6953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Cycle-level voltage, current, temperature, time, capacity</a:t>
            </a:r>
          </a:p>
        </p:txBody>
      </p:sp>
      <p:sp>
        <p:nvSpPr>
          <p:cNvPr id="9" name="">
            <a:extLst xmlns:a="http://schemas.openxmlformats.org/drawingml/2006/main">
              <a:ext uri="{FF2B5EF4-FFF2-40B4-BE49-F238E27FC236}">
                <a16:creationId xmlns:a16="http://schemas.microsoft.com/office/drawing/2014/main" id="{0FA13BB4-54B7-4905-8C7D-94ED316B4706}"/>
              </a:ext>
            </a:extLst>
          </p:cNvPr>
          <p:cNvSpPr>
            <a:spLocks xmlns:a="http://schemas.openxmlformats.org/drawingml/2006/main" noGrp="1"/>
          </p:cNvSpPr>
          <p:nvPr/>
        </p:nvSpPr>
        <p:spPr>
          <a:xfrm xmlns:a="http://schemas.openxmlformats.org/drawingml/2006/main">
            <a:off x="22860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10" name="">
            <a:extLst xmlns:a="http://schemas.openxmlformats.org/drawingml/2006/main">
              <a:ext uri="{FF2B5EF4-FFF2-40B4-BE49-F238E27FC236}">
                <a16:creationId xmlns:a16="http://schemas.microsoft.com/office/drawing/2014/main" id="{71E651AD-5CCC-4D5B-AF41-1170170CC0D6}"/>
              </a:ext>
            </a:extLst>
          </p:cNvPr>
          <p:cNvSpPr>
            <a:spLocks xmlns:a="http://schemas.openxmlformats.org/drawingml/2006/main" noGrp="1"/>
          </p:cNvSpPr>
          <p:nvPr/>
        </p:nvSpPr>
        <p:spPr>
          <a:xfrm xmlns:a="http://schemas.openxmlformats.org/drawingml/2006/main">
            <a:off x="24193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11" name="">
            <a:extLst xmlns:a="http://schemas.openxmlformats.org/drawingml/2006/main">
              <a:ext uri="{FF2B5EF4-FFF2-40B4-BE49-F238E27FC236}">
                <a16:creationId xmlns:a16="http://schemas.microsoft.com/office/drawing/2014/main" id="{4E6043FE-D483-4523-84A7-4E76DCFBBE89}"/>
              </a:ext>
            </a:extLst>
          </p:cNvPr>
          <p:cNvSpPr>
            <a:spLocks xmlns:a="http://schemas.openxmlformats.org/drawingml/2006/main" noGrp="1"/>
          </p:cNvSpPr>
          <p:nvPr/>
        </p:nvSpPr>
        <p:spPr>
          <a:xfrm xmlns:a="http://schemas.openxmlformats.org/drawingml/2006/main">
            <a:off x="25622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12" name="">
            <a:extLst xmlns:a="http://schemas.openxmlformats.org/drawingml/2006/main">
              <a:ext uri="{FF2B5EF4-FFF2-40B4-BE49-F238E27FC236}">
                <a16:creationId xmlns:a16="http://schemas.microsoft.com/office/drawing/2014/main" id="{018E691F-F7E8-416B-955B-813FF48D07A9}"/>
              </a:ext>
            </a:extLst>
          </p:cNvPr>
          <p:cNvSpPr>
            <a:spLocks xmlns:a="http://schemas.openxmlformats.org/drawingml/2006/main" noGrp="1"/>
          </p:cNvSpPr>
          <p:nvPr/>
        </p:nvSpPr>
        <p:spPr>
          <a:xfrm xmlns:a="http://schemas.openxmlformats.org/drawingml/2006/main">
            <a:off x="26384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13" name="">
            <a:extLst xmlns:a="http://schemas.openxmlformats.org/drawingml/2006/main">
              <a:ext uri="{FF2B5EF4-FFF2-40B4-BE49-F238E27FC236}">
                <a16:creationId xmlns:a16="http://schemas.microsoft.com/office/drawing/2014/main" id="{473526F4-0328-4D24-94A1-F151C38C049B}"/>
              </a:ext>
            </a:extLst>
          </p:cNvPr>
          <p:cNvSpPr>
            <a:spLocks xmlns:a="http://schemas.openxmlformats.org/drawingml/2006/main" noGrp="1"/>
          </p:cNvSpPr>
          <p:nvPr/>
        </p:nvSpPr>
        <p:spPr>
          <a:xfrm xmlns:a="http://schemas.openxmlformats.org/drawingml/2006/main">
            <a:off x="25622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Masked encoder</a:t>
            </a:r>
          </a:p>
        </p:txBody>
      </p:sp>
      <p:sp>
        <p:nvSpPr>
          <p:cNvPr id="14" name="">
            <a:extLst xmlns:a="http://schemas.openxmlformats.org/drawingml/2006/main">
              <a:ext uri="{FF2B5EF4-FFF2-40B4-BE49-F238E27FC236}">
                <a16:creationId xmlns:a16="http://schemas.microsoft.com/office/drawing/2014/main" id="{B499F632-1EE2-4CD9-9F5F-2F90DE4D1160}"/>
              </a:ext>
            </a:extLst>
          </p:cNvPr>
          <p:cNvSpPr>
            <a:spLocks xmlns:a="http://schemas.openxmlformats.org/drawingml/2006/main" noGrp="1"/>
          </p:cNvSpPr>
          <p:nvPr/>
        </p:nvSpPr>
        <p:spPr>
          <a:xfrm xmlns:a="http://schemas.openxmlformats.org/drawingml/2006/main">
            <a:off x="25622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Measured points + delta_t, no blind interpolation</a:t>
            </a:r>
          </a:p>
        </p:txBody>
      </p:sp>
      <p:sp>
        <p:nvSpPr>
          <p:cNvPr id="15" name="">
            <a:extLst xmlns:a="http://schemas.openxmlformats.org/drawingml/2006/main">
              <a:ext uri="{FF2B5EF4-FFF2-40B4-BE49-F238E27FC236}">
                <a16:creationId xmlns:a16="http://schemas.microsoft.com/office/drawing/2014/main" id="{CCDCE86B-F9B8-4C09-A9B9-EFC40F4DDF8A}"/>
              </a:ext>
            </a:extLst>
          </p:cNvPr>
          <p:cNvSpPr>
            <a:spLocks xmlns:a="http://schemas.openxmlformats.org/drawingml/2006/main" noGrp="1"/>
          </p:cNvSpPr>
          <p:nvPr/>
        </p:nvSpPr>
        <p:spPr>
          <a:xfrm xmlns:a="http://schemas.openxmlformats.org/drawingml/2006/main">
            <a:off x="41529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16" name="">
            <a:extLst xmlns:a="http://schemas.openxmlformats.org/drawingml/2006/main">
              <a:ext uri="{FF2B5EF4-FFF2-40B4-BE49-F238E27FC236}">
                <a16:creationId xmlns:a16="http://schemas.microsoft.com/office/drawing/2014/main" id="{1089240C-8C4C-4613-B4FC-26F8FBC20F08}"/>
              </a:ext>
            </a:extLst>
          </p:cNvPr>
          <p:cNvSpPr>
            <a:spLocks xmlns:a="http://schemas.openxmlformats.org/drawingml/2006/main" noGrp="1"/>
          </p:cNvSpPr>
          <p:nvPr/>
        </p:nvSpPr>
        <p:spPr>
          <a:xfrm xmlns:a="http://schemas.openxmlformats.org/drawingml/2006/main">
            <a:off x="42862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17" name="">
            <a:extLst xmlns:a="http://schemas.openxmlformats.org/drawingml/2006/main">
              <a:ext uri="{FF2B5EF4-FFF2-40B4-BE49-F238E27FC236}">
                <a16:creationId xmlns:a16="http://schemas.microsoft.com/office/drawing/2014/main" id="{54CF7D1D-4CD9-47CB-9C06-7BFD7BFA16FE}"/>
              </a:ext>
            </a:extLst>
          </p:cNvPr>
          <p:cNvSpPr>
            <a:spLocks xmlns:a="http://schemas.openxmlformats.org/drawingml/2006/main" noGrp="1"/>
          </p:cNvSpPr>
          <p:nvPr/>
        </p:nvSpPr>
        <p:spPr>
          <a:xfrm xmlns:a="http://schemas.openxmlformats.org/drawingml/2006/main">
            <a:off x="44291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18" name="">
            <a:extLst xmlns:a="http://schemas.openxmlformats.org/drawingml/2006/main">
              <a:ext uri="{FF2B5EF4-FFF2-40B4-BE49-F238E27FC236}">
                <a16:creationId xmlns:a16="http://schemas.microsoft.com/office/drawing/2014/main" id="{0A34F650-6D9C-45C5-B4AF-8046E55DA210}"/>
              </a:ext>
            </a:extLst>
          </p:cNvPr>
          <p:cNvSpPr>
            <a:spLocks xmlns:a="http://schemas.openxmlformats.org/drawingml/2006/main" noGrp="1"/>
          </p:cNvSpPr>
          <p:nvPr/>
        </p:nvSpPr>
        <p:spPr>
          <a:xfrm xmlns:a="http://schemas.openxmlformats.org/drawingml/2006/main">
            <a:off x="45053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19" name="">
            <a:extLst xmlns:a="http://schemas.openxmlformats.org/drawingml/2006/main">
              <a:ext uri="{FF2B5EF4-FFF2-40B4-BE49-F238E27FC236}">
                <a16:creationId xmlns:a16="http://schemas.microsoft.com/office/drawing/2014/main" id="{AC43CB28-CA28-4AD8-B48A-CFA6604D9BCF}"/>
              </a:ext>
            </a:extLst>
          </p:cNvPr>
          <p:cNvSpPr>
            <a:spLocks xmlns:a="http://schemas.openxmlformats.org/drawingml/2006/main" noGrp="1"/>
          </p:cNvSpPr>
          <p:nvPr/>
        </p:nvSpPr>
        <p:spPr>
          <a:xfrm xmlns:a="http://schemas.openxmlformats.org/drawingml/2006/main">
            <a:off x="44291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Temporal model</a:t>
            </a:r>
          </a:p>
        </p:txBody>
      </p:sp>
      <p:sp>
        <p:nvSpPr>
          <p:cNvPr id="20" name="">
            <a:extLst xmlns:a="http://schemas.openxmlformats.org/drawingml/2006/main">
              <a:ext uri="{FF2B5EF4-FFF2-40B4-BE49-F238E27FC236}">
                <a16:creationId xmlns:a16="http://schemas.microsoft.com/office/drawing/2014/main" id="{227C8468-FE9E-4C4F-B6B6-99C66D816F65}"/>
              </a:ext>
            </a:extLst>
          </p:cNvPr>
          <p:cNvSpPr>
            <a:spLocks xmlns:a="http://schemas.openxmlformats.org/drawingml/2006/main" noGrp="1"/>
          </p:cNvSpPr>
          <p:nvPr/>
        </p:nvSpPr>
        <p:spPr>
          <a:xfrm xmlns:a="http://schemas.openxmlformats.org/drawingml/2006/main">
            <a:off x="44291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History across cycles with Transformer context</a:t>
            </a:r>
          </a:p>
        </p:txBody>
      </p:sp>
      <p:sp>
        <p:nvSpPr>
          <p:cNvPr id="21" name="">
            <a:extLst xmlns:a="http://schemas.openxmlformats.org/drawingml/2006/main">
              <a:ext uri="{FF2B5EF4-FFF2-40B4-BE49-F238E27FC236}">
                <a16:creationId xmlns:a16="http://schemas.microsoft.com/office/drawing/2014/main" id="{EECE67C2-1820-4F40-94AF-A8C875155D07}"/>
              </a:ext>
            </a:extLst>
          </p:cNvPr>
          <p:cNvSpPr>
            <a:spLocks xmlns:a="http://schemas.openxmlformats.org/drawingml/2006/main" noGrp="1"/>
          </p:cNvSpPr>
          <p:nvPr/>
        </p:nvSpPr>
        <p:spPr>
          <a:xfrm xmlns:a="http://schemas.openxmlformats.org/drawingml/2006/main">
            <a:off x="60198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22" name="">
            <a:extLst xmlns:a="http://schemas.openxmlformats.org/drawingml/2006/main">
              <a:ext uri="{FF2B5EF4-FFF2-40B4-BE49-F238E27FC236}">
                <a16:creationId xmlns:a16="http://schemas.microsoft.com/office/drawing/2014/main" id="{0F4A988D-2247-4FE1-B769-6AA19CA966F6}"/>
              </a:ext>
            </a:extLst>
          </p:cNvPr>
          <p:cNvSpPr>
            <a:spLocks xmlns:a="http://schemas.openxmlformats.org/drawingml/2006/main" noGrp="1"/>
          </p:cNvSpPr>
          <p:nvPr/>
        </p:nvSpPr>
        <p:spPr>
          <a:xfrm xmlns:a="http://schemas.openxmlformats.org/drawingml/2006/main">
            <a:off x="61531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23" name="">
            <a:extLst xmlns:a="http://schemas.openxmlformats.org/drawingml/2006/main">
              <a:ext uri="{FF2B5EF4-FFF2-40B4-BE49-F238E27FC236}">
                <a16:creationId xmlns:a16="http://schemas.microsoft.com/office/drawing/2014/main" id="{9EE6FCE7-7CBE-410B-979E-AD15662AF2A5}"/>
              </a:ext>
            </a:extLst>
          </p:cNvPr>
          <p:cNvSpPr>
            <a:spLocks xmlns:a="http://schemas.openxmlformats.org/drawingml/2006/main" noGrp="1"/>
          </p:cNvSpPr>
          <p:nvPr/>
        </p:nvSpPr>
        <p:spPr>
          <a:xfrm xmlns:a="http://schemas.openxmlformats.org/drawingml/2006/main">
            <a:off x="62960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24" name="">
            <a:extLst xmlns:a="http://schemas.openxmlformats.org/drawingml/2006/main">
              <a:ext uri="{FF2B5EF4-FFF2-40B4-BE49-F238E27FC236}">
                <a16:creationId xmlns:a16="http://schemas.microsoft.com/office/drawing/2014/main" id="{B19E935A-846D-495B-9647-28CBAE17BF02}"/>
              </a:ext>
            </a:extLst>
          </p:cNvPr>
          <p:cNvSpPr>
            <a:spLocks xmlns:a="http://schemas.openxmlformats.org/drawingml/2006/main" noGrp="1"/>
          </p:cNvSpPr>
          <p:nvPr/>
        </p:nvSpPr>
        <p:spPr>
          <a:xfrm xmlns:a="http://schemas.openxmlformats.org/drawingml/2006/main">
            <a:off x="63722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25" name="">
            <a:extLst xmlns:a="http://schemas.openxmlformats.org/drawingml/2006/main">
              <a:ext uri="{FF2B5EF4-FFF2-40B4-BE49-F238E27FC236}">
                <a16:creationId xmlns:a16="http://schemas.microsoft.com/office/drawing/2014/main" id="{F8A4525B-3478-4A05-985F-248007737FB9}"/>
              </a:ext>
            </a:extLst>
          </p:cNvPr>
          <p:cNvSpPr>
            <a:spLocks xmlns:a="http://schemas.openxmlformats.org/drawingml/2006/main" noGrp="1"/>
          </p:cNvSpPr>
          <p:nvPr/>
        </p:nvSpPr>
        <p:spPr>
          <a:xfrm xmlns:a="http://schemas.openxmlformats.org/drawingml/2006/main">
            <a:off x="62960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SOH / RUL heads</a:t>
            </a:r>
          </a:p>
        </p:txBody>
      </p:sp>
      <p:sp>
        <p:nvSpPr>
          <p:cNvPr id="26" name="">
            <a:extLst xmlns:a="http://schemas.openxmlformats.org/drawingml/2006/main">
              <a:ext uri="{FF2B5EF4-FFF2-40B4-BE49-F238E27FC236}">
                <a16:creationId xmlns:a16="http://schemas.microsoft.com/office/drawing/2014/main" id="{AF3FEFD0-151C-4921-B9F8-66F7ACA96C99}"/>
              </a:ext>
            </a:extLst>
          </p:cNvPr>
          <p:cNvSpPr>
            <a:spLocks xmlns:a="http://schemas.openxmlformats.org/drawingml/2006/main" noGrp="1"/>
          </p:cNvSpPr>
          <p:nvPr/>
        </p:nvSpPr>
        <p:spPr>
          <a:xfrm xmlns:a="http://schemas.openxmlformats.org/drawingml/2006/main">
            <a:off x="62960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Bounded SOH 0–100 and non-negative RUL</a:t>
            </a:r>
          </a:p>
        </p:txBody>
      </p:sp>
      <p:sp>
        <p:nvSpPr>
          <p:cNvPr id="27" name="">
            <a:extLst xmlns:a="http://schemas.openxmlformats.org/drawingml/2006/main">
              <a:ext uri="{FF2B5EF4-FFF2-40B4-BE49-F238E27FC236}">
                <a16:creationId xmlns:a16="http://schemas.microsoft.com/office/drawing/2014/main" id="{0A9F046F-364B-4350-A3D5-D28EF378A618}"/>
              </a:ext>
            </a:extLst>
          </p:cNvPr>
          <p:cNvSpPr>
            <a:spLocks xmlns:a="http://schemas.openxmlformats.org/drawingml/2006/main" noGrp="1"/>
          </p:cNvSpPr>
          <p:nvPr/>
        </p:nvSpPr>
        <p:spPr>
          <a:xfrm xmlns:a="http://schemas.openxmlformats.org/drawingml/2006/main">
            <a:off x="78867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28" name="">
            <a:extLst xmlns:a="http://schemas.openxmlformats.org/drawingml/2006/main">
              <a:ext uri="{FF2B5EF4-FFF2-40B4-BE49-F238E27FC236}">
                <a16:creationId xmlns:a16="http://schemas.microsoft.com/office/drawing/2014/main" id="{F413ED4B-CBA6-406E-9566-B4C1FAA03BAA}"/>
              </a:ext>
            </a:extLst>
          </p:cNvPr>
          <p:cNvSpPr>
            <a:spLocks xmlns:a="http://schemas.openxmlformats.org/drawingml/2006/main" noGrp="1"/>
          </p:cNvSpPr>
          <p:nvPr/>
        </p:nvSpPr>
        <p:spPr>
          <a:xfrm xmlns:a="http://schemas.openxmlformats.org/drawingml/2006/main">
            <a:off x="8020050" y="2143125"/>
            <a:ext cx="1695450" cy="1619250"/>
          </a:xfrm>
          <a:prstGeom xmlns:a="http://schemas.openxmlformats.org/drawingml/2006/main" prst="roundRect">
            <a:avLst>
              <a:gd name="adj" fmla="val 4706"/>
            </a:avLst>
          </a:prstGeom>
          <a:solidFill xmlns:a="http://schemas.openxmlformats.org/drawingml/2006/main">
            <a:srgbClr val="F4F8FA"/>
          </a:solidFill>
          <a:ln xmlns:a="http://schemas.openxmlformats.org/drawingml/2006/main" w="9525">
            <a:solidFill>
              <a:srgbClr val="D7E3E9"/>
            </a:solidFill>
          </a:ln>
        </p:spPr>
      </p:sp>
      <p:sp>
        <p:nvSpPr>
          <p:cNvPr id="29" name="">
            <a:extLst xmlns:a="http://schemas.openxmlformats.org/drawingml/2006/main">
              <a:ext uri="{FF2B5EF4-FFF2-40B4-BE49-F238E27FC236}">
                <a16:creationId xmlns:a16="http://schemas.microsoft.com/office/drawing/2014/main" id="{60E8A5F8-8803-4CBD-9123-2F72C0E992D0}"/>
              </a:ext>
            </a:extLst>
          </p:cNvPr>
          <p:cNvSpPr>
            <a:spLocks xmlns:a="http://schemas.openxmlformats.org/drawingml/2006/main" noGrp="1"/>
          </p:cNvSpPr>
          <p:nvPr/>
        </p:nvSpPr>
        <p:spPr>
          <a:xfrm xmlns:a="http://schemas.openxmlformats.org/drawingml/2006/main">
            <a:off x="8162925" y="2286000"/>
            <a:ext cx="266700" cy="266700"/>
          </a:xfrm>
          <a:prstGeom xmlns:a="http://schemas.openxmlformats.org/drawingml/2006/main" prst="roundRect">
            <a:avLst>
              <a:gd name="adj" fmla="val 28571"/>
            </a:avLst>
          </a:prstGeom>
          <a:solidFill xmlns:a="http://schemas.openxmlformats.org/drawingml/2006/main">
            <a:srgbClr val="028090"/>
          </a:solidFill>
          <a:ln xmlns:a="http://schemas.openxmlformats.org/drawingml/2006/main" w="9525">
            <a:solidFill>
              <a:srgbClr val="028090"/>
            </a:solidFill>
          </a:ln>
        </p:spPr>
      </p:sp>
      <p:sp>
        <p:nvSpPr>
          <p:cNvPr id="30" name="">
            <a:extLst xmlns:a="http://schemas.openxmlformats.org/drawingml/2006/main">
              <a:ext uri="{FF2B5EF4-FFF2-40B4-BE49-F238E27FC236}">
                <a16:creationId xmlns:a16="http://schemas.microsoft.com/office/drawing/2014/main" id="{883F7947-CC45-48AA-B390-6BC692DF4F25}"/>
              </a:ext>
            </a:extLst>
          </p:cNvPr>
          <p:cNvSpPr>
            <a:spLocks xmlns:a="http://schemas.openxmlformats.org/drawingml/2006/main" noGrp="1"/>
          </p:cNvSpPr>
          <p:nvPr/>
        </p:nvSpPr>
        <p:spPr>
          <a:xfrm xmlns:a="http://schemas.openxmlformats.org/drawingml/2006/main">
            <a:off x="82391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31" name="">
            <a:extLst xmlns:a="http://schemas.openxmlformats.org/drawingml/2006/main">
              <a:ext uri="{FF2B5EF4-FFF2-40B4-BE49-F238E27FC236}">
                <a16:creationId xmlns:a16="http://schemas.microsoft.com/office/drawing/2014/main" id="{ECBA05DD-83C6-4AC4-8051-1E0AD4843C9C}"/>
              </a:ext>
            </a:extLst>
          </p:cNvPr>
          <p:cNvSpPr>
            <a:spLocks xmlns:a="http://schemas.openxmlformats.org/drawingml/2006/main" noGrp="1"/>
          </p:cNvSpPr>
          <p:nvPr/>
        </p:nvSpPr>
        <p:spPr>
          <a:xfrm xmlns:a="http://schemas.openxmlformats.org/drawingml/2006/main">
            <a:off x="81629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B2545"/>
                </a:solidFill>
                <a:latin typeface="Calibri"/>
                <a:ea typeface="Calibri"/>
                <a:cs typeface="Calibri"/>
              </a:defRPr>
            </a:pPr>
            <a:r>
              <a:rPr sz="1125" b="1" i="0">
                <a:solidFill>
                  <a:srgbClr val="0B2545"/>
                </a:solidFill>
                <a:latin typeface="Calibri"/>
                <a:ea typeface="Calibri"/>
                <a:cs typeface="Calibri"/>
              </a:rPr>
              <a:t>Physics losses</a:t>
            </a:r>
          </a:p>
        </p:txBody>
      </p:sp>
      <p:sp>
        <p:nvSpPr>
          <p:cNvPr id="32" name="">
            <a:extLst xmlns:a="http://schemas.openxmlformats.org/drawingml/2006/main">
              <a:ext uri="{FF2B5EF4-FFF2-40B4-BE49-F238E27FC236}">
                <a16:creationId xmlns:a16="http://schemas.microsoft.com/office/drawing/2014/main" id="{52D0242B-BE88-43AE-A699-2CEE759F5701}"/>
              </a:ext>
            </a:extLst>
          </p:cNvPr>
          <p:cNvSpPr>
            <a:spLocks xmlns:a="http://schemas.openxmlformats.org/drawingml/2006/main" noGrp="1"/>
          </p:cNvSpPr>
          <p:nvPr/>
        </p:nvSpPr>
        <p:spPr>
          <a:xfrm xmlns:a="http://schemas.openxmlformats.org/drawingml/2006/main">
            <a:off x="81629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Soft degradation, RUL order, capacity-curve residual</a:t>
            </a:r>
          </a:p>
        </p:txBody>
      </p:sp>
      <p:sp>
        <p:nvSpPr>
          <p:cNvPr id="33" name="">
            <a:extLst xmlns:a="http://schemas.openxmlformats.org/drawingml/2006/main">
              <a:ext uri="{FF2B5EF4-FFF2-40B4-BE49-F238E27FC236}">
                <a16:creationId xmlns:a16="http://schemas.microsoft.com/office/drawing/2014/main" id="{A0379C4E-0B28-48C1-966E-9D10A6E82909}"/>
              </a:ext>
            </a:extLst>
          </p:cNvPr>
          <p:cNvSpPr>
            <a:spLocks xmlns:a="http://schemas.openxmlformats.org/drawingml/2006/main" noGrp="1"/>
          </p:cNvSpPr>
          <p:nvPr/>
        </p:nvSpPr>
        <p:spPr>
          <a:xfrm xmlns:a="http://schemas.openxmlformats.org/drawingml/2006/main">
            <a:off x="9753600" y="2933700"/>
            <a:ext cx="95250" cy="38100"/>
          </a:xfrm>
          <a:prstGeom xmlns:a="http://schemas.openxmlformats.org/drawingml/2006/main" prst="rect">
            <a:avLst/>
          </a:prstGeom>
          <a:solidFill xmlns:a="http://schemas.openxmlformats.org/drawingml/2006/main">
            <a:srgbClr val="00A896"/>
          </a:solidFill>
          <a:ln xmlns:a="http://schemas.openxmlformats.org/drawingml/2006/main" w="9525">
            <a:solidFill>
              <a:srgbClr val="00A896"/>
            </a:solidFill>
          </a:ln>
        </p:spPr>
      </p:sp>
      <p:sp>
        <p:nvSpPr>
          <p:cNvPr id="34" name="">
            <a:extLst xmlns:a="http://schemas.openxmlformats.org/drawingml/2006/main">
              <a:ext uri="{FF2B5EF4-FFF2-40B4-BE49-F238E27FC236}">
                <a16:creationId xmlns:a16="http://schemas.microsoft.com/office/drawing/2014/main" id="{8A4A56E8-62F1-43F2-A9F3-AD41FC78AB72}"/>
              </a:ext>
            </a:extLst>
          </p:cNvPr>
          <p:cNvSpPr>
            <a:spLocks xmlns:a="http://schemas.openxmlformats.org/drawingml/2006/main" noGrp="1"/>
          </p:cNvSpPr>
          <p:nvPr/>
        </p:nvSpPr>
        <p:spPr>
          <a:xfrm xmlns:a="http://schemas.openxmlformats.org/drawingml/2006/main">
            <a:off x="9886950" y="2143125"/>
            <a:ext cx="1695450" cy="1619250"/>
          </a:xfrm>
          <a:prstGeom xmlns:a="http://schemas.openxmlformats.org/drawingml/2006/main" prst="roundRect">
            <a:avLst>
              <a:gd name="adj" fmla="val 4706"/>
            </a:avLst>
          </a:prstGeom>
          <a:solidFill xmlns:a="http://schemas.openxmlformats.org/drawingml/2006/main">
            <a:srgbClr val="13355E"/>
          </a:solidFill>
          <a:ln xmlns:a="http://schemas.openxmlformats.org/drawingml/2006/main" w="9525">
            <a:solidFill>
              <a:srgbClr val="13355E"/>
            </a:solidFill>
          </a:ln>
        </p:spPr>
      </p:sp>
      <p:sp>
        <p:nvSpPr>
          <p:cNvPr id="35" name="">
            <a:extLst xmlns:a="http://schemas.openxmlformats.org/drawingml/2006/main">
              <a:ext uri="{FF2B5EF4-FFF2-40B4-BE49-F238E27FC236}">
                <a16:creationId xmlns:a16="http://schemas.microsoft.com/office/drawing/2014/main" id="{3E4B0840-AF52-46F3-8835-8EA9C840B9FD}"/>
              </a:ext>
            </a:extLst>
          </p:cNvPr>
          <p:cNvSpPr>
            <a:spLocks xmlns:a="http://schemas.openxmlformats.org/drawingml/2006/main" noGrp="1"/>
          </p:cNvSpPr>
          <p:nvPr/>
        </p:nvSpPr>
        <p:spPr>
          <a:xfrm xmlns:a="http://schemas.openxmlformats.org/drawingml/2006/main">
            <a:off x="10029825" y="2286000"/>
            <a:ext cx="266700" cy="266700"/>
          </a:xfrm>
          <a:prstGeom xmlns:a="http://schemas.openxmlformats.org/drawingml/2006/main" prst="roundRect">
            <a:avLst>
              <a:gd name="adj" fmla="val 28571"/>
            </a:avLst>
          </a:prstGeom>
          <a:solidFill xmlns:a="http://schemas.openxmlformats.org/drawingml/2006/main">
            <a:srgbClr val="00A896"/>
          </a:solidFill>
          <a:ln xmlns:a="http://schemas.openxmlformats.org/drawingml/2006/main" w="9525">
            <a:solidFill>
              <a:srgbClr val="00A896"/>
            </a:solidFill>
          </a:ln>
        </p:spPr>
      </p:sp>
      <p:sp>
        <p:nvSpPr>
          <p:cNvPr id="36" name="">
            <a:extLst xmlns:a="http://schemas.openxmlformats.org/drawingml/2006/main">
              <a:ext uri="{FF2B5EF4-FFF2-40B4-BE49-F238E27FC236}">
                <a16:creationId xmlns:a16="http://schemas.microsoft.com/office/drawing/2014/main" id="{F25788C1-52B7-4DF0-A24F-AB3785E7D814}"/>
              </a:ext>
            </a:extLst>
          </p:cNvPr>
          <p:cNvSpPr>
            <a:spLocks xmlns:a="http://schemas.openxmlformats.org/drawingml/2006/main" noGrp="1"/>
          </p:cNvSpPr>
          <p:nvPr/>
        </p:nvSpPr>
        <p:spPr>
          <a:xfrm xmlns:a="http://schemas.openxmlformats.org/drawingml/2006/main">
            <a:off x="10106025" y="2276475"/>
            <a:ext cx="114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1500" b="1" i="0">
                <a:solidFill>
                  <a:srgbClr val="FFFFFF"/>
                </a:solidFill>
                <a:latin typeface="Calibri"/>
                <a:ea typeface="Calibri"/>
                <a:cs typeface="Calibri"/>
              </a:defRPr>
            </a:pPr>
            <a:r>
              <a:rPr sz="1500" b="1" i="0">
                <a:solidFill>
                  <a:srgbClr val="FFFFFF"/>
                </a:solidFill>
                <a:latin typeface="Calibri"/>
                <a:ea typeface="Calibri"/>
                <a:cs typeface="Calibri"/>
              </a:rPr>
              <a:t>•</a:t>
            </a:r>
          </a:p>
        </p:txBody>
      </p:sp>
      <p:sp>
        <p:nvSpPr>
          <p:cNvPr id="37" name="">
            <a:extLst xmlns:a="http://schemas.openxmlformats.org/drawingml/2006/main">
              <a:ext uri="{FF2B5EF4-FFF2-40B4-BE49-F238E27FC236}">
                <a16:creationId xmlns:a16="http://schemas.microsoft.com/office/drawing/2014/main" id="{770B1E16-9E33-4835-87B2-D59D05994A34}"/>
              </a:ext>
            </a:extLst>
          </p:cNvPr>
          <p:cNvSpPr>
            <a:spLocks xmlns:a="http://schemas.openxmlformats.org/drawingml/2006/main" noGrp="1"/>
          </p:cNvSpPr>
          <p:nvPr/>
        </p:nvSpPr>
        <p:spPr>
          <a:xfrm xmlns:a="http://schemas.openxmlformats.org/drawingml/2006/main">
            <a:off x="10029825" y="2638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FFFFFF"/>
                </a:solidFill>
                <a:latin typeface="Calibri"/>
                <a:ea typeface="Calibri"/>
                <a:cs typeface="Calibri"/>
              </a:defRPr>
            </a:pPr>
            <a:r>
              <a:rPr sz="1125" b="1" i="0">
                <a:solidFill>
                  <a:srgbClr val="FFFFFF"/>
                </a:solidFill>
                <a:latin typeface="Calibri"/>
                <a:ea typeface="Calibri"/>
                <a:cs typeface="Calibri"/>
              </a:rPr>
              <a:t>Replay adaptation</a:t>
            </a:r>
          </a:p>
        </p:txBody>
      </p:sp>
      <p:sp>
        <p:nvSpPr>
          <p:cNvPr id="38" name="">
            <a:extLst xmlns:a="http://schemas.openxmlformats.org/drawingml/2006/main">
              <a:ext uri="{FF2B5EF4-FFF2-40B4-BE49-F238E27FC236}">
                <a16:creationId xmlns:a16="http://schemas.microsoft.com/office/drawing/2014/main" id="{9CA3A519-7FE0-4E0E-8F4A-3AA30AF69805}"/>
              </a:ext>
            </a:extLst>
          </p:cNvPr>
          <p:cNvSpPr>
            <a:spLocks xmlns:a="http://schemas.openxmlformats.org/drawingml/2006/main" noGrp="1"/>
          </p:cNvSpPr>
          <p:nvPr/>
        </p:nvSpPr>
        <p:spPr>
          <a:xfrm xmlns:a="http://schemas.openxmlformats.org/drawingml/2006/main">
            <a:off x="10029825" y="2886075"/>
            <a:ext cx="140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825" b="0" i="0">
                <a:solidFill>
                  <a:srgbClr val="C7D8E5"/>
                </a:solidFill>
                <a:latin typeface="Calibri"/>
                <a:ea typeface="Calibri"/>
                <a:cs typeface="Calibri"/>
              </a:defRPr>
            </a:pPr>
            <a:r>
              <a:rPr sz="825" b="0" i="0">
                <a:solidFill>
                  <a:srgbClr val="C7D8E5"/>
                </a:solidFill>
                <a:latin typeface="Calibri"/>
                <a:ea typeface="Calibri"/>
                <a:cs typeface="Calibri"/>
              </a:rPr>
              <a:t>Drift trigger, recent + representative history</a:t>
            </a:r>
          </a:p>
        </p:txBody>
      </p:sp>
      <p:sp>
        <p:nvSpPr>
          <p:cNvPr id="39" name="">
            <a:extLst xmlns:a="http://schemas.openxmlformats.org/drawingml/2006/main">
              <a:ext uri="{FF2B5EF4-FFF2-40B4-BE49-F238E27FC236}">
                <a16:creationId xmlns:a16="http://schemas.microsoft.com/office/drawing/2014/main" id="{93166019-09F3-42CC-B466-F44D92C91BA8}"/>
              </a:ext>
            </a:extLst>
          </p:cNvPr>
          <p:cNvSpPr>
            <a:spLocks xmlns:a="http://schemas.openxmlformats.org/drawingml/2006/main" noGrp="1"/>
          </p:cNvSpPr>
          <p:nvPr/>
        </p:nvSpPr>
        <p:spPr>
          <a:xfrm xmlns:a="http://schemas.openxmlformats.org/drawingml/2006/main">
            <a:off x="552450" y="4333875"/>
            <a:ext cx="11096625" cy="1066800"/>
          </a:xfrm>
          <a:prstGeom xmlns:a="http://schemas.openxmlformats.org/drawingml/2006/main" prst="roundRect">
            <a:avLst>
              <a:gd name="adj" fmla="val 7143"/>
            </a:avLst>
          </a:prstGeom>
          <a:solidFill xmlns:a="http://schemas.openxmlformats.org/drawingml/2006/main">
            <a:srgbClr val="0B2545"/>
          </a:solidFill>
          <a:ln xmlns:a="http://schemas.openxmlformats.org/drawingml/2006/main" w="9525">
            <a:solidFill>
              <a:srgbClr val="0B2545"/>
            </a:solidFill>
          </a:ln>
        </p:spPr>
      </p:sp>
      <p:sp>
        <p:nvSpPr>
          <p:cNvPr id="40" name="">
            <a:extLst xmlns:a="http://schemas.openxmlformats.org/drawingml/2006/main">
              <a:ext uri="{FF2B5EF4-FFF2-40B4-BE49-F238E27FC236}">
                <a16:creationId xmlns:a16="http://schemas.microsoft.com/office/drawing/2014/main" id="{1DB970F3-C996-40AC-808A-1D1806B0466F}"/>
              </a:ext>
            </a:extLst>
          </p:cNvPr>
          <p:cNvSpPr>
            <a:spLocks xmlns:a="http://schemas.openxmlformats.org/drawingml/2006/main" noGrp="1"/>
          </p:cNvSpPr>
          <p:nvPr/>
        </p:nvSpPr>
        <p:spPr>
          <a:xfrm xmlns:a="http://schemas.openxmlformats.org/drawingml/2006/main">
            <a:off x="800100" y="45529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buNone/>
              <a:defRPr sz="1125" b="1" i="0">
                <a:solidFill>
                  <a:srgbClr val="00A896"/>
                </a:solidFill>
                <a:latin typeface="Calibri"/>
                <a:ea typeface="Calibri"/>
                <a:cs typeface="Calibri"/>
              </a:defRPr>
            </a:pPr>
            <a:r>
              <a:rPr sz="1125" b="1" i="0">
                <a:solidFill>
                  <a:srgbClr val="00A896"/>
                </a:solidFill>
                <a:latin typeface="Calibri"/>
                <a:ea typeface="Calibri"/>
                <a:cs typeface="Calibri"/>
              </a:rPr>
              <a:t>Training objective</a:t>
            </a:r>
          </a:p>
        </p:txBody>
      </p:sp>
      <p:sp>
        <p:nvSpPr>
          <p:cNvPr id="41" name="">
            <a:extLst xmlns:a="http://schemas.openxmlformats.org/drawingml/2006/main">
              <a:ext uri="{FF2B5EF4-FFF2-40B4-BE49-F238E27FC236}">
                <a16:creationId xmlns:a16="http://schemas.microsoft.com/office/drawing/2014/main" id="{ACC40B75-8412-487F-A3F5-EBE0DD337780}"/>
              </a:ext>
            </a:extLst>
          </p:cNvPr>
          <p:cNvSpPr>
            <a:spLocks xmlns:a="http://schemas.openxmlformats.org/drawingml/2006/main" noGrp="1"/>
          </p:cNvSpPr>
          <p:nvPr/>
        </p:nvSpPr>
        <p:spPr>
          <a:xfrm xmlns:a="http://schemas.openxmlformats.org/drawingml/2006/main">
            <a:off x="2857500" y="44958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L_total = L_data + λ_phys L_phys + λ_cons L_cons</a:t>
            </a:r>
          </a:p>
        </p:txBody>
      </p:sp>
      <p:sp>
        <p:nvSpPr>
          <p:cNvPr id="42" name="">
            <a:extLst xmlns:a="http://schemas.openxmlformats.org/drawingml/2006/main">
              <a:ext uri="{FF2B5EF4-FFF2-40B4-BE49-F238E27FC236}">
                <a16:creationId xmlns:a16="http://schemas.microsoft.com/office/drawing/2014/main" id="{6AAE3F77-31F8-4C13-BC15-F662036FDC89}"/>
              </a:ext>
            </a:extLst>
          </p:cNvPr>
          <p:cNvSpPr>
            <a:spLocks xmlns:a="http://schemas.openxmlformats.org/drawingml/2006/main" noGrp="1"/>
          </p:cNvSpPr>
          <p:nvPr/>
        </p:nvSpPr>
        <p:spPr>
          <a:xfrm xmlns:a="http://schemas.openxmlformats.org/drawingml/2006/main">
            <a:off x="800100" y="49720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The SEI-growth PDE formulation remains a Stage 2 extension until every variable and parameter is available and verified.</a:t>
            </a:r>
          </a:p>
        </p:txBody>
      </p:sp>
      <p:sp>
        <p:nvSpPr>
          <p:cNvPr id="43" name="">
            <a:extLst xmlns:a="http://schemas.openxmlformats.org/drawingml/2006/main">
              <a:ext uri="{FF2B5EF4-FFF2-40B4-BE49-F238E27FC236}">
                <a16:creationId xmlns:a16="http://schemas.microsoft.com/office/drawing/2014/main" id="{A97FBA87-2569-421E-8BF8-2F3D99DF2D64}"/>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44" name="">
            <a:extLst xmlns:a="http://schemas.openxmlformats.org/drawingml/2006/main">
              <a:ext uri="{FF2B5EF4-FFF2-40B4-BE49-F238E27FC236}">
                <a16:creationId xmlns:a16="http://schemas.microsoft.com/office/drawing/2014/main" id="{90F1C755-419A-4C42-8CDB-27AD49C6C23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15 / 21</a:t>
            </a:r>
          </a:p>
        </p:txBody>
      </p:sp>
    </p:spTree>
    <p:extLst>
      <p:ext uri="{BB962C8B-B14F-4D97-AF65-F5344CB8AC3E}">
        <p14:creationId xmlns:p14="http://schemas.microsoft.com/office/powerpoint/2010/main" val="1953884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ED563A6-A264-4CB8-A15A-011B5B2AD1CE}"/>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TUNING</a:t>
            </a:r>
          </a:p>
        </p:txBody>
      </p:sp>
      <p:sp>
        <p:nvSpPr>
          <p:cNvPr id="2" name="">
            <a:extLst xmlns:a="http://schemas.openxmlformats.org/drawingml/2006/main">
              <a:ext uri="{FF2B5EF4-FFF2-40B4-BE49-F238E27FC236}">
                <a16:creationId xmlns:a16="http://schemas.microsoft.com/office/drawing/2014/main" id="{8210808E-CFA5-44B3-9790-41063EE7B4DD}"/>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The selected configuration came from the complete grid</a:t>
            </a:r>
          </a:p>
        </p:txBody>
      </p:sp>
      <p:sp>
        <p:nvSpPr>
          <p:cNvPr id="3" name="">
            <a:extLst xmlns:a="http://schemas.openxmlformats.org/drawingml/2006/main">
              <a:ext uri="{FF2B5EF4-FFF2-40B4-BE49-F238E27FC236}">
                <a16:creationId xmlns:a16="http://schemas.microsoft.com/office/drawing/2014/main" id="{F67584CF-9D49-4093-AADF-774AACB5C130}"/>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Every requested combination ran across seeds 7, 17, and 27 before the final evidence pass.</a:t>
            </a:r>
          </a:p>
        </p:txBody>
      </p:sp>
      <p:graphicFrame>
        <p:nvGraphicFramePr>
          <p:cNvPr id="28" name=""/>
          <p:cNvGraphicFramePr/>
          <p:nvPr/>
        </p:nvGraphicFramePr>
        <p:xfrm>
          <a:off xmlns:a="http://schemas.openxmlformats.org/drawingml/2006/main" x="552450" y="2000250"/>
          <a:ext xmlns:a="http://schemas.openxmlformats.org/drawingml/2006/main" cx="4953000" cy="2667000"/>
        </p:xfrm>
        <a:graphic xmlns:a="http://schemas.openxmlformats.org/drawingml/2006/main">
          <a:graphicData uri="http://schemas.openxmlformats.org/drawingml/2006/table">
            <a:tbl>
              <a:tblPr firstRow="1" bandRow="1"/>
              <a:tblGrid>
                <a:gridCol w="2095500"/>
                <a:gridCol w="2857500"/>
              </a:tblGrid>
              <a:tr h="444500">
                <a:tc>
                  <a:txBody>
                    <a:bodyPr>
                      <a:normAutofit/>
                    </a:bodyPr>
                    <a:lstStyle/>
                    <a:p>
                      <a:r>
                        <a:rPr sz="975" b="1">
                          <a:solidFill>
                            <a:srgbClr val="FFFFFF"/>
                          </a:solidFill>
                          <a:latin typeface="Calibri"/>
                          <a:ea typeface="Calibri"/>
                          <a:cs typeface="Calibri"/>
                        </a:rPr>
                        <a:t>Grid dimension</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Values tested</a:t>
                      </a:r>
                    </a:p>
                  </a:txBody>
                  <a:tcPr marL="91440" marR="91440" marT="45720" marB="45720">
                    <a:solidFill>
                      <a:srgbClr val="13355E"/>
                    </a:solidFill>
                  </a:tcPr>
                </a:tc>
              </a:tr>
              <a:tr h="444500">
                <a:tc>
                  <a:txBody>
                    <a:bodyPr>
                      <a:normAutofit/>
                    </a:bodyPr>
                    <a:lstStyle/>
                    <a:p>
                      <a:r>
                        <a:rPr sz="975" b="1">
                          <a:solidFill>
                            <a:srgbClr val="0B2545"/>
                          </a:solidFill>
                          <a:latin typeface="Calibri"/>
                          <a:ea typeface="Calibri"/>
                          <a:cs typeface="Calibri"/>
                        </a:rPr>
                        <a:t>Hidden size</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64 · 128</a:t>
                      </a:r>
                    </a:p>
                  </a:txBody>
                  <a:tcPr marL="91440" marR="91440" marT="45720" marB="45720">
                    <a:solidFill>
                      <a:srgbClr val="FFFFFF"/>
                    </a:solidFill>
                  </a:tcPr>
                </a:tc>
              </a:tr>
              <a:tr h="444500">
                <a:tc>
                  <a:txBody>
                    <a:bodyPr>
                      <a:normAutofit/>
                    </a:bodyPr>
                    <a:lstStyle/>
                    <a:p>
                      <a:r>
                        <a:rPr sz="975" b="1">
                          <a:solidFill>
                            <a:srgbClr val="0B2545"/>
                          </a:solidFill>
                          <a:latin typeface="Calibri"/>
                          <a:ea typeface="Calibri"/>
                          <a:cs typeface="Calibri"/>
                        </a:rPr>
                        <a:t>Learning rate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0.0001 · 0.0005 · 0.001</a:t>
                      </a:r>
                    </a:p>
                  </a:txBody>
                  <a:tcPr marL="91440" marR="91440" marT="45720" marB="45720">
                    <a:solidFill>
                      <a:srgbClr val="F4F8FA"/>
                    </a:solidFill>
                  </a:tcPr>
                </a:tc>
              </a:tr>
              <a:tr h="444500">
                <a:tc>
                  <a:txBody>
                    <a:bodyPr>
                      <a:normAutofit/>
                    </a:bodyPr>
                    <a:lstStyle/>
                    <a:p>
                      <a:r>
                        <a:rPr sz="975" b="1">
                          <a:solidFill>
                            <a:srgbClr val="0B2545"/>
                          </a:solidFill>
                          <a:latin typeface="Calibri"/>
                          <a:ea typeface="Calibri"/>
                          <a:cs typeface="Calibri"/>
                        </a:rPr>
                        <a:t>Physics weight</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0.1 · 1 · 10</a:t>
                      </a:r>
                    </a:p>
                  </a:txBody>
                  <a:tcPr marL="91440" marR="91440" marT="45720" marB="45720">
                    <a:solidFill>
                      <a:srgbClr val="FFFFFF"/>
                    </a:solidFill>
                  </a:tcPr>
                </a:tc>
              </a:tr>
              <a:tr h="444500">
                <a:tc>
                  <a:txBody>
                    <a:bodyPr>
                      <a:normAutofit/>
                    </a:bodyPr>
                    <a:lstStyle/>
                    <a:p>
                      <a:r>
                        <a:rPr sz="975" b="1">
                          <a:solidFill>
                            <a:srgbClr val="0B2545"/>
                          </a:solidFill>
                          <a:latin typeface="Calibri"/>
                          <a:ea typeface="Calibri"/>
                          <a:cs typeface="Calibri"/>
                        </a:rPr>
                        <a:t>Replay size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128 · 512 · 2048</a:t>
                      </a:r>
                    </a:p>
                  </a:txBody>
                  <a:tcPr marL="91440" marR="91440" marT="45720" marB="45720">
                    <a:solidFill>
                      <a:srgbClr val="F4F8FA"/>
                    </a:solidFill>
                  </a:tcPr>
                </a:tc>
              </a:tr>
              <a:tr h="444500">
                <a:tc>
                  <a:txBody>
                    <a:bodyPr>
                      <a:normAutofit/>
                    </a:bodyPr>
                    <a:lstStyle/>
                    <a:p>
                      <a:r>
                        <a:rPr sz="975" b="1">
                          <a:solidFill>
                            <a:srgbClr val="0B2545"/>
                          </a:solidFill>
                          <a:latin typeface="Calibri"/>
                          <a:ea typeface="Calibri"/>
                          <a:cs typeface="Calibri"/>
                        </a:rPr>
                        <a:t>Total combinations</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54 × 3 seeds = 162 runs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2A9255E-6C61-436E-AD7B-081E4FF61050}"/>
              </a:ext>
            </a:extLst>
          </p:cNvPr>
          <p:cNvSpPr>
            <a:spLocks xmlns:a="http://schemas.openxmlformats.org/drawingml/2006/main" noGrp="1"/>
          </p:cNvSpPr>
          <p:nvPr/>
        </p:nvSpPr>
        <p:spPr>
          <a:xfrm xmlns:a="http://schemas.openxmlformats.org/drawingml/2006/main">
            <a:off x="6191250" y="2000250"/>
            <a:ext cx="5457825" cy="2667000"/>
          </a:xfrm>
          <a:prstGeom xmlns:a="http://schemas.openxmlformats.org/drawingml/2006/main" prst="roundRect">
            <a:avLst>
              <a:gd name="adj" fmla="val 2857"/>
            </a:avLst>
          </a:prstGeom>
          <a:solidFill xmlns:a="http://schemas.openxmlformats.org/drawingml/2006/main">
            <a:srgbClr val="0B2545"/>
          </a:solidFill>
          <a:ln xmlns:a="http://schemas.openxmlformats.org/drawingml/2006/main" w="9525">
            <a:solidFill>
              <a:srgbClr val="0B2545"/>
            </a:solidFill>
          </a:ln>
        </p:spPr>
      </p:sp>
      <p:sp>
        <p:nvSpPr>
          <p:cNvPr id="6" name="">
            <a:extLst xmlns:a="http://schemas.openxmlformats.org/drawingml/2006/main">
              <a:ext uri="{FF2B5EF4-FFF2-40B4-BE49-F238E27FC236}">
                <a16:creationId xmlns:a16="http://schemas.microsoft.com/office/drawing/2014/main" id="{308C6FB6-7041-4282-8634-988A39D9007D}"/>
              </a:ext>
            </a:extLst>
          </p:cNvPr>
          <p:cNvSpPr>
            <a:spLocks xmlns:a="http://schemas.openxmlformats.org/drawingml/2006/main" noGrp="1"/>
          </p:cNvSpPr>
          <p:nvPr/>
        </p:nvSpPr>
        <p:spPr>
          <a:xfrm xmlns:a="http://schemas.openxmlformats.org/drawingml/2006/main">
            <a:off x="6496050" y="22383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i="0">
                <a:solidFill>
                  <a:srgbClr val="00A896"/>
                </a:solidFill>
                <a:latin typeface="Calibri"/>
                <a:ea typeface="Calibri"/>
                <a:cs typeface="Calibri"/>
              </a:defRPr>
            </a:pPr>
            <a:r>
              <a:rPr sz="1125" b="1" i="0">
                <a:solidFill>
                  <a:srgbClr val="00A896"/>
                </a:solidFill>
                <a:latin typeface="Calibri"/>
                <a:ea typeface="Calibri"/>
                <a:cs typeface="Calibri"/>
              </a:rPr>
              <a:t>Selected configuration</a:t>
            </a:r>
          </a:p>
        </p:txBody>
      </p:sp>
      <p:sp>
        <p:nvSpPr>
          <p:cNvPr id="7" name="">
            <a:extLst xmlns:a="http://schemas.openxmlformats.org/drawingml/2006/main">
              <a:ext uri="{FF2B5EF4-FFF2-40B4-BE49-F238E27FC236}">
                <a16:creationId xmlns:a16="http://schemas.microsoft.com/office/drawing/2014/main" id="{84342E6B-7512-4787-A3E1-A5A5F2EE1579}"/>
              </a:ext>
            </a:extLst>
          </p:cNvPr>
          <p:cNvSpPr>
            <a:spLocks xmlns:a="http://schemas.openxmlformats.org/drawingml/2006/main" noGrp="1"/>
          </p:cNvSpPr>
          <p:nvPr/>
        </p:nvSpPr>
        <p:spPr>
          <a:xfrm xmlns:a="http://schemas.openxmlformats.org/drawingml/2006/main">
            <a:off x="6496050" y="2667000"/>
            <a:ext cx="457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Hidden size  64</a:t>
            </a:r>
          </a:p>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Learning rate  0.001</a:t>
            </a:r>
          </a:p>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Physics weight  0.1</a:t>
            </a:r>
          </a:p>
          <a:p xmlns:a="http://schemas.openxmlformats.org/drawingml/2006/main">
            <a:pPr>
              <a:buNone/>
              <a:defRPr sz="1800" b="1" i="0">
                <a:solidFill>
                  <a:srgbClr val="FFFFFF"/>
                </a:solidFill>
                <a:latin typeface="Cambria"/>
                <a:ea typeface="Cambria"/>
                <a:cs typeface="Cambria"/>
              </a:defRPr>
            </a:pPr>
            <a:r>
              <a:rPr sz="1800" b="1" i="0">
                <a:solidFill>
                  <a:srgbClr val="FFFFFF"/>
                </a:solidFill>
                <a:latin typeface="Cambria"/>
                <a:ea typeface="Cambria"/>
                <a:cs typeface="Cambria"/>
              </a:rPr>
              <a:t>Replay size  128</a:t>
            </a:r>
          </a:p>
        </p:txBody>
      </p:sp>
      <p:sp>
        <p:nvSpPr>
          <p:cNvPr id="8" name="">
            <a:extLst xmlns:a="http://schemas.openxmlformats.org/drawingml/2006/main">
              <a:ext uri="{FF2B5EF4-FFF2-40B4-BE49-F238E27FC236}">
                <a16:creationId xmlns:a16="http://schemas.microsoft.com/office/drawing/2014/main" id="{4B11D301-A5CB-4507-B67C-E9A4B7A4A950}"/>
              </a:ext>
            </a:extLst>
          </p:cNvPr>
          <p:cNvSpPr>
            <a:spLocks xmlns:a="http://schemas.openxmlformats.org/drawingml/2006/main" noGrp="1"/>
          </p:cNvSpPr>
          <p:nvPr/>
        </p:nvSpPr>
        <p:spPr>
          <a:xfrm xmlns:a="http://schemas.openxmlformats.org/drawingml/2006/main">
            <a:off x="6496050" y="41910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996"/>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The final evidence runner then used the selected configuration on the full default cycle-window representation.</a:t>
            </a:r>
          </a:p>
        </p:txBody>
      </p:sp>
      <p:sp>
        <p:nvSpPr>
          <p:cNvPr id="9" name="">
            <a:extLst xmlns:a="http://schemas.openxmlformats.org/drawingml/2006/main">
              <a:ext uri="{FF2B5EF4-FFF2-40B4-BE49-F238E27FC236}">
                <a16:creationId xmlns:a16="http://schemas.microsoft.com/office/drawing/2014/main" id="{C339CB8E-FF4E-4D2B-B550-02840473765C}"/>
              </a:ext>
            </a:extLst>
          </p:cNvPr>
          <p:cNvSpPr>
            <a:spLocks xmlns:a="http://schemas.openxmlformats.org/drawingml/2006/main" noGrp="1"/>
          </p:cNvSpPr>
          <p:nvPr/>
        </p:nvSpPr>
        <p:spPr>
          <a:xfrm xmlns:a="http://schemas.openxmlformats.org/drawingml/2006/main">
            <a:off x="552450" y="5143500"/>
            <a:ext cx="23812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0" name="">
            <a:extLst xmlns:a="http://schemas.openxmlformats.org/drawingml/2006/main">
              <a:ext uri="{FF2B5EF4-FFF2-40B4-BE49-F238E27FC236}">
                <a16:creationId xmlns:a16="http://schemas.microsoft.com/office/drawing/2014/main" id="{BB269FE8-A0D8-4A2A-89D2-0CE1DB1E891D}"/>
              </a:ext>
            </a:extLst>
          </p:cNvPr>
          <p:cNvSpPr>
            <a:spLocks xmlns:a="http://schemas.openxmlformats.org/drawingml/2006/main" noGrp="1"/>
          </p:cNvSpPr>
          <p:nvPr/>
        </p:nvSpPr>
        <p:spPr>
          <a:xfrm xmlns:a="http://schemas.openxmlformats.org/drawingml/2006/main">
            <a:off x="704850" y="5257800"/>
            <a:ext cx="2076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GRID STATUS</a:t>
            </a:r>
          </a:p>
        </p:txBody>
      </p:sp>
      <p:sp>
        <p:nvSpPr>
          <p:cNvPr id="11" name="">
            <a:extLst xmlns:a="http://schemas.openxmlformats.org/drawingml/2006/main">
              <a:ext uri="{FF2B5EF4-FFF2-40B4-BE49-F238E27FC236}">
                <a16:creationId xmlns:a16="http://schemas.microsoft.com/office/drawing/2014/main" id="{C07809B0-81E5-4694-9C92-1035D8105CCE}"/>
              </a:ext>
            </a:extLst>
          </p:cNvPr>
          <p:cNvSpPr>
            <a:spLocks xmlns:a="http://schemas.openxmlformats.org/drawingml/2006/main" noGrp="1"/>
          </p:cNvSpPr>
          <p:nvPr/>
        </p:nvSpPr>
        <p:spPr>
          <a:xfrm xmlns:a="http://schemas.openxmlformats.org/drawingml/2006/main">
            <a:off x="704850" y="5448300"/>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54 / 54 complete</a:t>
            </a:r>
          </a:p>
        </p:txBody>
      </p:sp>
      <p:sp>
        <p:nvSpPr>
          <p:cNvPr id="12" name="">
            <a:extLst xmlns:a="http://schemas.openxmlformats.org/drawingml/2006/main">
              <a:ext uri="{FF2B5EF4-FFF2-40B4-BE49-F238E27FC236}">
                <a16:creationId xmlns:a16="http://schemas.microsoft.com/office/drawing/2014/main" id="{83699D06-5DFA-4F9D-A9BB-558A9A5695BF}"/>
              </a:ext>
            </a:extLst>
          </p:cNvPr>
          <p:cNvSpPr>
            <a:spLocks xmlns:a="http://schemas.openxmlformats.org/drawingml/2006/main" noGrp="1"/>
          </p:cNvSpPr>
          <p:nvPr/>
        </p:nvSpPr>
        <p:spPr>
          <a:xfrm xmlns:a="http://schemas.openxmlformats.org/drawingml/2006/main">
            <a:off x="3143250" y="51435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3" name="">
            <a:extLst xmlns:a="http://schemas.openxmlformats.org/drawingml/2006/main">
              <a:ext uri="{FF2B5EF4-FFF2-40B4-BE49-F238E27FC236}">
                <a16:creationId xmlns:a16="http://schemas.microsoft.com/office/drawing/2014/main" id="{5C0A1656-1B2B-4C71-BF14-A3C958A71665}"/>
              </a:ext>
            </a:extLst>
          </p:cNvPr>
          <p:cNvSpPr>
            <a:spLocks xmlns:a="http://schemas.openxmlformats.org/drawingml/2006/main" noGrp="1"/>
          </p:cNvSpPr>
          <p:nvPr/>
        </p:nvSpPr>
        <p:spPr>
          <a:xfrm xmlns:a="http://schemas.openxmlformats.org/drawingml/2006/main">
            <a:off x="3295650" y="52578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MODEL COUNT</a:t>
            </a:r>
          </a:p>
        </p:txBody>
      </p:sp>
      <p:sp>
        <p:nvSpPr>
          <p:cNvPr id="14" name="">
            <a:extLst xmlns:a="http://schemas.openxmlformats.org/drawingml/2006/main">
              <a:ext uri="{FF2B5EF4-FFF2-40B4-BE49-F238E27FC236}">
                <a16:creationId xmlns:a16="http://schemas.microsoft.com/office/drawing/2014/main" id="{9E4E2D8B-7C81-4731-97B2-BD05DAFAD5AE}"/>
              </a:ext>
            </a:extLst>
          </p:cNvPr>
          <p:cNvSpPr>
            <a:spLocks xmlns:a="http://schemas.openxmlformats.org/drawingml/2006/main" noGrp="1"/>
          </p:cNvSpPr>
          <p:nvPr/>
        </p:nvSpPr>
        <p:spPr>
          <a:xfrm xmlns:a="http://schemas.openxmlformats.org/drawingml/2006/main">
            <a:off x="3295650" y="54483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5 comparisons</a:t>
            </a:r>
          </a:p>
        </p:txBody>
      </p:sp>
      <p:sp>
        <p:nvSpPr>
          <p:cNvPr id="15" name="">
            <a:extLst xmlns:a="http://schemas.openxmlformats.org/drawingml/2006/main">
              <a:ext uri="{FF2B5EF4-FFF2-40B4-BE49-F238E27FC236}">
                <a16:creationId xmlns:a16="http://schemas.microsoft.com/office/drawing/2014/main" id="{9954A2C7-19B6-4370-8457-D1D091C9C607}"/>
              </a:ext>
            </a:extLst>
          </p:cNvPr>
          <p:cNvSpPr>
            <a:spLocks xmlns:a="http://schemas.openxmlformats.org/drawingml/2006/main" noGrp="1"/>
          </p:cNvSpPr>
          <p:nvPr/>
        </p:nvSpPr>
        <p:spPr>
          <a:xfrm xmlns:a="http://schemas.openxmlformats.org/drawingml/2006/main">
            <a:off x="5524500" y="5143500"/>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6" name="">
            <a:extLst xmlns:a="http://schemas.openxmlformats.org/drawingml/2006/main">
              <a:ext uri="{FF2B5EF4-FFF2-40B4-BE49-F238E27FC236}">
                <a16:creationId xmlns:a16="http://schemas.microsoft.com/office/drawing/2014/main" id="{7EF25432-1E02-44A0-ABF6-2458D0288F9C}"/>
              </a:ext>
            </a:extLst>
          </p:cNvPr>
          <p:cNvSpPr>
            <a:spLocks xmlns:a="http://schemas.openxmlformats.org/drawingml/2006/main" noGrp="1"/>
          </p:cNvSpPr>
          <p:nvPr/>
        </p:nvSpPr>
        <p:spPr>
          <a:xfrm xmlns:a="http://schemas.openxmlformats.org/drawingml/2006/main">
            <a:off x="5676900" y="5257800"/>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EVIDENCE MODE</a:t>
            </a:r>
          </a:p>
        </p:txBody>
      </p:sp>
      <p:sp>
        <p:nvSpPr>
          <p:cNvPr id="17" name="">
            <a:extLst xmlns:a="http://schemas.openxmlformats.org/drawingml/2006/main">
              <a:ext uri="{FF2B5EF4-FFF2-40B4-BE49-F238E27FC236}">
                <a16:creationId xmlns:a16="http://schemas.microsoft.com/office/drawing/2014/main" id="{20BACCAA-A39A-4A72-8EEF-C4175D0D9D84}"/>
              </a:ext>
            </a:extLst>
          </p:cNvPr>
          <p:cNvSpPr>
            <a:spLocks xmlns:a="http://schemas.openxmlformats.org/drawingml/2006/main" noGrp="1"/>
          </p:cNvSpPr>
          <p:nvPr/>
        </p:nvSpPr>
        <p:spPr>
          <a:xfrm xmlns:a="http://schemas.openxmlformats.org/drawingml/2006/main">
            <a:off x="5676900" y="5448300"/>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Held-out cell</a:t>
            </a:r>
          </a:p>
        </p:txBody>
      </p:sp>
      <p:sp>
        <p:nvSpPr>
          <p:cNvPr id="18" name="">
            <a:extLst xmlns:a="http://schemas.openxmlformats.org/drawingml/2006/main">
              <a:ext uri="{FF2B5EF4-FFF2-40B4-BE49-F238E27FC236}">
                <a16:creationId xmlns:a16="http://schemas.microsoft.com/office/drawing/2014/main" id="{26869356-447C-40D0-B8DB-1A2103A7C32F}"/>
              </a:ext>
            </a:extLst>
          </p:cNvPr>
          <p:cNvSpPr>
            <a:spLocks xmlns:a="http://schemas.openxmlformats.org/drawingml/2006/main" noGrp="1"/>
          </p:cNvSpPr>
          <p:nvPr/>
        </p:nvSpPr>
        <p:spPr>
          <a:xfrm xmlns:a="http://schemas.openxmlformats.org/drawingml/2006/main">
            <a:off x="7905750" y="5143500"/>
            <a:ext cx="247650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9" name="">
            <a:extLst xmlns:a="http://schemas.openxmlformats.org/drawingml/2006/main">
              <a:ext uri="{FF2B5EF4-FFF2-40B4-BE49-F238E27FC236}">
                <a16:creationId xmlns:a16="http://schemas.microsoft.com/office/drawing/2014/main" id="{BF2BBD3F-68A4-4B03-B2F3-8DE82D8CC7C1}"/>
              </a:ext>
            </a:extLst>
          </p:cNvPr>
          <p:cNvSpPr>
            <a:spLocks xmlns:a="http://schemas.openxmlformats.org/drawingml/2006/main" noGrp="1"/>
          </p:cNvSpPr>
          <p:nvPr/>
        </p:nvSpPr>
        <p:spPr>
          <a:xfrm xmlns:a="http://schemas.openxmlformats.org/drawingml/2006/main">
            <a:off x="8058150" y="5257800"/>
            <a:ext cx="2171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OUTPUT</a:t>
            </a:r>
          </a:p>
        </p:txBody>
      </p:sp>
      <p:sp>
        <p:nvSpPr>
          <p:cNvPr id="20" name="">
            <a:extLst xmlns:a="http://schemas.openxmlformats.org/drawingml/2006/main">
              <a:ext uri="{FF2B5EF4-FFF2-40B4-BE49-F238E27FC236}">
                <a16:creationId xmlns:a16="http://schemas.microsoft.com/office/drawing/2014/main" id="{8E3BA764-1E69-47AF-BACF-863C98D54C18}"/>
              </a:ext>
            </a:extLst>
          </p:cNvPr>
          <p:cNvSpPr>
            <a:spLocks xmlns:a="http://schemas.openxmlformats.org/drawingml/2006/main" noGrp="1"/>
          </p:cNvSpPr>
          <p:nvPr/>
        </p:nvSpPr>
        <p:spPr>
          <a:xfrm xmlns:a="http://schemas.openxmlformats.org/drawingml/2006/main">
            <a:off x="8058150" y="544830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028090"/>
                </a:solidFill>
                <a:latin typeface="Cambria"/>
                <a:ea typeface="Cambria"/>
                <a:cs typeface="Cambria"/>
              </a:defRPr>
            </a:pPr>
            <a:r>
              <a:rPr sz="1650" b="1" i="0">
                <a:solidFill>
                  <a:srgbClr val="028090"/>
                </a:solidFill>
                <a:latin typeface="Cambria"/>
                <a:ea typeface="Cambria"/>
                <a:cs typeface="Cambria"/>
              </a:rPr>
              <a:t>JSON + CSV + PNG</a:t>
            </a:r>
          </a:p>
        </p:txBody>
      </p:sp>
      <p:sp>
        <p:nvSpPr>
          <p:cNvPr id="21" name="">
            <a:extLst xmlns:a="http://schemas.openxmlformats.org/drawingml/2006/main">
              <a:ext uri="{FF2B5EF4-FFF2-40B4-BE49-F238E27FC236}">
                <a16:creationId xmlns:a16="http://schemas.microsoft.com/office/drawing/2014/main" id="{2F45EF16-F098-464E-A7DA-D92F175E2C9F}"/>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22" name="">
            <a:extLst xmlns:a="http://schemas.openxmlformats.org/drawingml/2006/main">
              <a:ext uri="{FF2B5EF4-FFF2-40B4-BE49-F238E27FC236}">
                <a16:creationId xmlns:a16="http://schemas.microsoft.com/office/drawing/2014/main" id="{742178D4-248A-496D-88C4-6923D474313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16 / 21</a:t>
            </a:r>
          </a:p>
        </p:txBody>
      </p:sp>
    </p:spTree>
    <p:extLst>
      <p:ext uri="{BB962C8B-B14F-4D97-AF65-F5344CB8AC3E}">
        <p14:creationId xmlns:p14="http://schemas.microsoft.com/office/powerpoint/2010/main" val="2290801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341A7F-E86D-4212-9954-4116273EEF58}"/>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MODEL COMPARISON</a:t>
            </a:r>
          </a:p>
        </p:txBody>
      </p:sp>
      <p:sp>
        <p:nvSpPr>
          <p:cNvPr id="2" name="">
            <a:extLst xmlns:a="http://schemas.openxmlformats.org/drawingml/2006/main">
              <a:ext uri="{FF2B5EF4-FFF2-40B4-BE49-F238E27FC236}">
                <a16:creationId xmlns:a16="http://schemas.microsoft.com/office/drawing/2014/main" id="{E0C70FCA-9DAD-4C5E-AF66-73C936025233}"/>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The standalone PINN led frozen SOH accuracy</a:t>
            </a:r>
          </a:p>
        </p:txBody>
      </p:sp>
      <p:sp>
        <p:nvSpPr>
          <p:cNvPr id="3" name="">
            <a:extLst xmlns:a="http://schemas.openxmlformats.org/drawingml/2006/main">
              <a:ext uri="{FF2B5EF4-FFF2-40B4-BE49-F238E27FC236}">
                <a16:creationId xmlns:a16="http://schemas.microsoft.com/office/drawing/2014/main" id="{E38CC936-080B-4535-910A-FCF5CEC227A9}"/>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All model rows use the same B0018 held-out evaluation protocol and four training epochs.</a:t>
            </a:r>
          </a:p>
        </p:txBody>
      </p:sp>
      <p:graphicFrame>
        <p:nvGraphicFramePr>
          <p:cNvPr id="18" name=""/>
          <p:cNvGraphicFramePr/>
          <p:nvPr/>
        </p:nvGraphicFramePr>
        <p:xfrm>
          <a:off xmlns:a="http://schemas.openxmlformats.org/drawingml/2006/main" x="552450" y="1952625"/>
          <a:ext xmlns:a="http://schemas.openxmlformats.org/drawingml/2006/main" cx="11096625" cy="2714625"/>
        </p:xfrm>
        <a:graphic xmlns:a="http://schemas.openxmlformats.org/drawingml/2006/main">
          <a:graphicData uri="http://schemas.openxmlformats.org/drawingml/2006/table">
            <a:tbl>
              <a:tblPr firstRow="1" bandRow="1"/>
              <a:tblGrid>
                <a:gridCol w="3429000"/>
                <a:gridCol w="2476500"/>
                <a:gridCol w="2857500"/>
                <a:gridCol w="2333625"/>
              </a:tblGrid>
              <a:tr h="452438">
                <a:tc>
                  <a:txBody>
                    <a:bodyPr>
                      <a:normAutofit/>
                    </a:bodyPr>
                    <a:lstStyle/>
                    <a:p>
                      <a:r>
                        <a:rPr sz="1050" b="1">
                          <a:solidFill>
                            <a:srgbClr val="FFFFFF"/>
                          </a:solidFill>
                          <a:latin typeface="Calibri"/>
                          <a:ea typeface="Calibri"/>
                          <a:cs typeface="Calibri"/>
                        </a:rPr>
                        <a:t>Model</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SOH MAE</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RUL MAE (cycles)</a:t>
                      </a:r>
                    </a:p>
                  </a:txBody>
                  <a:tcPr marL="91440" marR="91440" marT="45720" marB="45720">
                    <a:solidFill>
                      <a:srgbClr val="13355E"/>
                    </a:solidFill>
                  </a:tcPr>
                </a:tc>
                <a:tc>
                  <a:txBody>
                    <a:bodyPr>
                      <a:normAutofit/>
                    </a:bodyPr>
                    <a:lstStyle/>
                    <a:p>
                      <a:r>
                        <a:rPr sz="1050" b="1">
                          <a:solidFill>
                            <a:srgbClr val="FFFFFF"/>
                          </a:solidFill>
                          <a:latin typeface="Calibri"/>
                          <a:ea typeface="Calibri"/>
                          <a:cs typeface="Calibri"/>
                        </a:rPr>
                        <a:t>SOH R²</a:t>
                      </a:r>
                    </a:p>
                  </a:txBody>
                  <a:tcPr marL="91440" marR="91440" marT="45720" marB="45720">
                    <a:solidFill>
                      <a:srgbClr val="13355E"/>
                    </a:solidFill>
                  </a:tcPr>
                </a:tc>
              </a:tr>
              <a:tr h="452438">
                <a:tc>
                  <a:txBody>
                    <a:bodyPr>
                      <a:normAutofit/>
                    </a:bodyPr>
                    <a:lstStyle/>
                    <a:p>
                      <a:r>
                        <a:rPr sz="1050" b="1">
                          <a:solidFill>
                            <a:srgbClr val="0B2545"/>
                          </a:solidFill>
                          <a:latin typeface="Calibri"/>
                          <a:ea typeface="Calibri"/>
                          <a:cs typeface="Calibri"/>
                        </a:rPr>
                        <a:t>DNN</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11.05 ± 0.25</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37.04 ± 6.18</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-6.43</a:t>
                      </a:r>
                    </a:p>
                  </a:txBody>
                  <a:tcPr marL="91440" marR="91440" marT="45720" marB="45720">
                    <a:solidFill>
                      <a:srgbClr val="FFFFFF"/>
                    </a:solidFill>
                  </a:tcPr>
                </a:tc>
              </a:tr>
              <a:tr h="452438">
                <a:tc>
                  <a:txBody>
                    <a:bodyPr>
                      <a:normAutofit/>
                    </a:bodyPr>
                    <a:lstStyle/>
                    <a:p>
                      <a:r>
                        <a:rPr sz="1050" b="1">
                          <a:solidFill>
                            <a:srgbClr val="0B2545"/>
                          </a:solidFill>
                          <a:latin typeface="Calibri"/>
                          <a:ea typeface="Calibri"/>
                          <a:cs typeface="Calibri"/>
                        </a:rPr>
                        <a:t>GRU</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10.52 ± 1.03</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36.39 ± 4.95</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-1.87</a:t>
                      </a:r>
                    </a:p>
                  </a:txBody>
                  <a:tcPr marL="91440" marR="91440" marT="45720" marB="45720">
                    <a:solidFill>
                      <a:srgbClr val="F4F8FA"/>
                    </a:solidFill>
                  </a:tcPr>
                </a:tc>
              </a:tr>
              <a:tr h="452438">
                <a:tc>
                  <a:txBody>
                    <a:bodyPr>
                      <a:normAutofit/>
                    </a:bodyPr>
                    <a:lstStyle/>
                    <a:p>
                      <a:r>
                        <a:rPr sz="1050" b="1">
                          <a:solidFill>
                            <a:srgbClr val="0B2545"/>
                          </a:solidFill>
                          <a:latin typeface="Calibri"/>
                          <a:ea typeface="Calibri"/>
                          <a:cs typeface="Calibri"/>
                        </a:rPr>
                        <a:t>Transformer-only</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11.50 ± 0.56</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43.98 ± 9.94</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-6.57</a:t>
                      </a:r>
                    </a:p>
                  </a:txBody>
                  <a:tcPr marL="91440" marR="91440" marT="45720" marB="45720">
                    <a:solidFill>
                      <a:srgbClr val="FFFFFF"/>
                    </a:solidFill>
                  </a:tcPr>
                </a:tc>
              </a:tr>
              <a:tr h="452438">
                <a:tc>
                  <a:txBody>
                    <a:bodyPr>
                      <a:normAutofit/>
                    </a:bodyPr>
                    <a:lstStyle/>
                    <a:p>
                      <a:r>
                        <a:rPr sz="1050" b="1">
                          <a:solidFill>
                            <a:srgbClr val="0B2545"/>
                          </a:solidFill>
                          <a:latin typeface="Calibri"/>
                          <a:ea typeface="Calibri"/>
                          <a:cs typeface="Calibri"/>
                        </a:rPr>
                        <a:t>PINN without adaptation</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7.76 ± 1.42</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38.15 ± 4.59</a:t>
                      </a:r>
                    </a:p>
                  </a:txBody>
                  <a:tcPr marL="91440" marR="91440" marT="45720" marB="45720">
                    <a:solidFill>
                      <a:srgbClr val="F4F8FA"/>
                    </a:solidFill>
                  </a:tcPr>
                </a:tc>
                <a:tc>
                  <a:txBody>
                    <a:bodyPr>
                      <a:normAutofit/>
                    </a:bodyPr>
                    <a:lstStyle/>
                    <a:p>
                      <a:r>
                        <a:rPr sz="1050" b="0">
                          <a:solidFill>
                            <a:srgbClr val="0B2545"/>
                          </a:solidFill>
                          <a:latin typeface="Calibri"/>
                          <a:ea typeface="Calibri"/>
                          <a:cs typeface="Calibri"/>
                        </a:rPr>
                        <a:t>-3.86</a:t>
                      </a:r>
                    </a:p>
                  </a:txBody>
                  <a:tcPr marL="91440" marR="91440" marT="45720" marB="45720">
                    <a:solidFill>
                      <a:srgbClr val="F4F8FA"/>
                    </a:solidFill>
                  </a:tcPr>
                </a:tc>
              </a:tr>
              <a:tr h="452438">
                <a:tc>
                  <a:txBody>
                    <a:bodyPr>
                      <a:normAutofit/>
                    </a:bodyPr>
                    <a:lstStyle/>
                    <a:p>
                      <a:r>
                        <a:rPr sz="1050" b="1">
                          <a:solidFill>
                            <a:srgbClr val="0B2545"/>
                          </a:solidFill>
                          <a:latin typeface="Calibri"/>
                          <a:ea typeface="Calibri"/>
                          <a:cs typeface="Calibri"/>
                        </a:rPr>
                        <a:t>Adaptive twin</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10.05 ± 1.46</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38.36 ± 3.39</a:t>
                      </a:r>
                    </a:p>
                  </a:txBody>
                  <a:tcPr marL="91440" marR="91440" marT="45720" marB="45720">
                    <a:solidFill>
                      <a:srgbClr val="FFFFFF"/>
                    </a:solidFill>
                  </a:tcPr>
                </a:tc>
                <a:tc>
                  <a:txBody>
                    <a:bodyPr>
                      <a:normAutofit/>
                    </a:bodyPr>
                    <a:lstStyle/>
                    <a:p>
                      <a:r>
                        <a:rPr sz="1050" b="0">
                          <a:solidFill>
                            <a:srgbClr val="0B2545"/>
                          </a:solidFill>
                          <a:latin typeface="Calibri"/>
                          <a:ea typeface="Calibri"/>
                          <a:cs typeface="Calibri"/>
                        </a:rPr>
                        <a:t>-4.48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2C012A-F22A-4B97-9EF3-E3BA7A6CCDE3}"/>
              </a:ext>
            </a:extLst>
          </p:cNvPr>
          <p:cNvSpPr>
            <a:spLocks xmlns:a="http://schemas.openxmlformats.org/drawingml/2006/main" noGrp="1"/>
          </p:cNvSpPr>
          <p:nvPr/>
        </p:nvSpPr>
        <p:spPr>
          <a:xfrm xmlns:a="http://schemas.openxmlformats.org/drawingml/2006/main">
            <a:off x="552450" y="5000625"/>
            <a:ext cx="5334000" cy="762000"/>
          </a:xfrm>
          <a:prstGeom xmlns:a="http://schemas.openxmlformats.org/drawingml/2006/main" prst="roundRect">
            <a:avLst>
              <a:gd name="adj" fmla="val 10000"/>
            </a:avLst>
          </a:prstGeom>
          <a:solidFill xmlns:a="http://schemas.openxmlformats.org/drawingml/2006/main">
            <a:srgbClr val="0B2545"/>
          </a:solidFill>
          <a:ln xmlns:a="http://schemas.openxmlformats.org/drawingml/2006/main" w="9525">
            <a:solidFill>
              <a:srgbClr val="0B2545"/>
            </a:solidFill>
          </a:ln>
        </p:spPr>
      </p:sp>
      <p:sp>
        <p:nvSpPr>
          <p:cNvPr id="6" name="">
            <a:extLst xmlns:a="http://schemas.openxmlformats.org/drawingml/2006/main">
              <a:ext uri="{FF2B5EF4-FFF2-40B4-BE49-F238E27FC236}">
                <a16:creationId xmlns:a16="http://schemas.microsoft.com/office/drawing/2014/main" id="{AC24DDB2-B3CF-45F0-A11B-C4E2351778D0}"/>
              </a:ext>
            </a:extLst>
          </p:cNvPr>
          <p:cNvSpPr>
            <a:spLocks xmlns:a="http://schemas.openxmlformats.org/drawingml/2006/main" noGrp="1"/>
          </p:cNvSpPr>
          <p:nvPr/>
        </p:nvSpPr>
        <p:spPr>
          <a:xfrm xmlns:a="http://schemas.openxmlformats.org/drawingml/2006/main">
            <a:off x="781050" y="51911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Adaptive twin</a:t>
            </a:r>
          </a:p>
        </p:txBody>
      </p:sp>
      <p:sp>
        <p:nvSpPr>
          <p:cNvPr id="7" name="">
            <a:extLst xmlns:a="http://schemas.openxmlformats.org/drawingml/2006/main">
              <a:ext uri="{FF2B5EF4-FFF2-40B4-BE49-F238E27FC236}">
                <a16:creationId xmlns:a16="http://schemas.microsoft.com/office/drawing/2014/main" id="{D5304D59-FF9F-4144-82EA-717F33132CA0}"/>
              </a:ext>
            </a:extLst>
          </p:cNvPr>
          <p:cNvSpPr>
            <a:spLocks xmlns:a="http://schemas.openxmlformats.org/drawingml/2006/main" noGrp="1"/>
          </p:cNvSpPr>
          <p:nvPr/>
        </p:nvSpPr>
        <p:spPr>
          <a:xfrm xmlns:a="http://schemas.openxmlformats.org/drawingml/2006/main">
            <a:off x="781050" y="5429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784"/>
          </a:bodyPr>
          <a:lstStyle xmlns:a="http://schemas.openxmlformats.org/drawingml/2006/main"/>
          <a:p xmlns:a="http://schemas.openxmlformats.org/drawingml/2006/main">
            <a:pP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10.05 ± 1.46 SOH MAE  ·  38.36 ± 3.39 RUL MAE</a:t>
            </a:r>
          </a:p>
        </p:txBody>
      </p:sp>
      <p:sp>
        <p:nvSpPr>
          <p:cNvPr id="8" name="">
            <a:extLst xmlns:a="http://schemas.openxmlformats.org/drawingml/2006/main">
              <a:ext uri="{FF2B5EF4-FFF2-40B4-BE49-F238E27FC236}">
                <a16:creationId xmlns:a16="http://schemas.microsoft.com/office/drawing/2014/main" id="{D6DE2202-071A-470B-8605-C2A4B1E7193D}"/>
              </a:ext>
            </a:extLst>
          </p:cNvPr>
          <p:cNvSpPr>
            <a:spLocks xmlns:a="http://schemas.openxmlformats.org/drawingml/2006/main" noGrp="1"/>
          </p:cNvSpPr>
          <p:nvPr/>
        </p:nvSpPr>
        <p:spPr>
          <a:xfrm xmlns:a="http://schemas.openxmlformats.org/drawingml/2006/main">
            <a:off x="6191250" y="5000625"/>
            <a:ext cx="5457825" cy="762000"/>
          </a:xfrm>
          <a:prstGeom xmlns:a="http://schemas.openxmlformats.org/drawingml/2006/main" prst="roundRect">
            <a:avLst>
              <a:gd name="adj" fmla="val 10000"/>
            </a:avLst>
          </a:prstGeom>
          <a:solidFill xmlns:a="http://schemas.openxmlformats.org/drawingml/2006/main">
            <a:srgbClr val="E8F2F7"/>
          </a:solidFill>
          <a:ln xmlns:a="http://schemas.openxmlformats.org/drawingml/2006/main" w="9525">
            <a:solidFill>
              <a:srgbClr val="E8F2F7"/>
            </a:solidFill>
          </a:ln>
        </p:spPr>
      </p:sp>
      <p:sp>
        <p:nvSpPr>
          <p:cNvPr id="9" name="">
            <a:extLst xmlns:a="http://schemas.openxmlformats.org/drawingml/2006/main">
              <a:ext uri="{FF2B5EF4-FFF2-40B4-BE49-F238E27FC236}">
                <a16:creationId xmlns:a16="http://schemas.microsoft.com/office/drawing/2014/main" id="{965883BA-8D82-4655-964C-BA91A6122983}"/>
              </a:ext>
            </a:extLst>
          </p:cNvPr>
          <p:cNvSpPr>
            <a:spLocks xmlns:a="http://schemas.openxmlformats.org/drawingml/2006/main" noGrp="1"/>
          </p:cNvSpPr>
          <p:nvPr/>
        </p:nvSpPr>
        <p:spPr>
          <a:xfrm xmlns:a="http://schemas.openxmlformats.org/drawingml/2006/main">
            <a:off x="6429375" y="519112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28090"/>
                </a:solidFill>
                <a:latin typeface="Calibri"/>
                <a:ea typeface="Calibri"/>
                <a:cs typeface="Calibri"/>
              </a:defRPr>
            </a:pPr>
            <a:r>
              <a:rPr sz="1050" b="1" i="0">
                <a:solidFill>
                  <a:srgbClr val="028090"/>
                </a:solidFill>
                <a:latin typeface="Calibri"/>
                <a:ea typeface="Calibri"/>
                <a:cs typeface="Calibri"/>
              </a:rPr>
              <a:t>Best frozen SOH row</a:t>
            </a:r>
          </a:p>
        </p:txBody>
      </p:sp>
      <p:sp>
        <p:nvSpPr>
          <p:cNvPr id="10" name="">
            <a:extLst xmlns:a="http://schemas.openxmlformats.org/drawingml/2006/main">
              <a:ext uri="{FF2B5EF4-FFF2-40B4-BE49-F238E27FC236}">
                <a16:creationId xmlns:a16="http://schemas.microsoft.com/office/drawing/2014/main" id="{FFEA019F-4375-4657-810F-8BE827F65703}"/>
              </a:ext>
            </a:extLst>
          </p:cNvPr>
          <p:cNvSpPr>
            <a:spLocks xmlns:a="http://schemas.openxmlformats.org/drawingml/2006/main" noGrp="1"/>
          </p:cNvSpPr>
          <p:nvPr/>
        </p:nvSpPr>
        <p:spPr>
          <a:xfrm xmlns:a="http://schemas.openxmlformats.org/drawingml/2006/main">
            <a:off x="6429375" y="542925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0784"/>
          </a:bodyPr>
          <a:lstStyle xmlns:a="http://schemas.openxmlformats.org/drawingml/2006/main"/>
          <a:p xmlns:a="http://schemas.openxmlformats.org/drawingml/2006/main">
            <a:pPr>
              <a:buNone/>
              <a:defRPr sz="1275" b="1" i="0">
                <a:solidFill>
                  <a:srgbClr val="0B2545"/>
                </a:solidFill>
                <a:latin typeface="Calibri"/>
                <a:ea typeface="Calibri"/>
                <a:cs typeface="Calibri"/>
              </a:defRPr>
            </a:pPr>
            <a:r>
              <a:rPr sz="1275" b="1" i="0">
                <a:solidFill>
                  <a:srgbClr val="0B2545"/>
                </a:solidFill>
                <a:latin typeface="Calibri"/>
                <a:ea typeface="Calibri"/>
                <a:cs typeface="Calibri"/>
              </a:rPr>
              <a:t>PINN: 7.76 ± 1.42 SOH MAE</a:t>
            </a:r>
          </a:p>
        </p:txBody>
      </p:sp>
      <p:sp>
        <p:nvSpPr>
          <p:cNvPr id="11" name="">
            <a:extLst xmlns:a="http://schemas.openxmlformats.org/drawingml/2006/main">
              <a:ext uri="{FF2B5EF4-FFF2-40B4-BE49-F238E27FC236}">
                <a16:creationId xmlns:a16="http://schemas.microsoft.com/office/drawing/2014/main" id="{6EA24A7B-1643-4898-9115-A20BD9C68724}"/>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2" name="">
            <a:extLst xmlns:a="http://schemas.openxmlformats.org/drawingml/2006/main">
              <a:ext uri="{FF2B5EF4-FFF2-40B4-BE49-F238E27FC236}">
                <a16:creationId xmlns:a16="http://schemas.microsoft.com/office/drawing/2014/main" id="{396F293B-C6C3-4CB1-896F-A1A864828C84}"/>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17 / 21</a:t>
            </a:r>
          </a:p>
        </p:txBody>
      </p:sp>
    </p:spTree>
    <p:extLst>
      <p:ext uri="{BB962C8B-B14F-4D97-AF65-F5344CB8AC3E}">
        <p14:creationId xmlns:p14="http://schemas.microsoft.com/office/powerpoint/2010/main" val="924061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5BDA6D-7C40-4241-B5C9-54D6F7F0FF7C}"/>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ABLATIONS</a:t>
            </a:r>
          </a:p>
        </p:txBody>
      </p:sp>
      <p:sp>
        <p:nvSpPr>
          <p:cNvPr id="2" name="">
            <a:extLst xmlns:a="http://schemas.openxmlformats.org/drawingml/2006/main">
              <a:ext uri="{FF2B5EF4-FFF2-40B4-BE49-F238E27FC236}">
                <a16:creationId xmlns:a16="http://schemas.microsoft.com/office/drawing/2014/main" id="{04FB5BD6-928E-4FE8-A9A5-D75D2A39EF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Replay adaptation delivered the low-cost online update</a:t>
            </a:r>
          </a:p>
        </p:txBody>
      </p:sp>
      <p:sp>
        <p:nvSpPr>
          <p:cNvPr id="3" name="">
            <a:extLst xmlns:a="http://schemas.openxmlformats.org/drawingml/2006/main">
              <a:ext uri="{FF2B5EF4-FFF2-40B4-BE49-F238E27FC236}">
                <a16:creationId xmlns:a16="http://schemas.microsoft.com/office/drawing/2014/main" id="{F48A6C4A-2C1E-45B4-A21D-EB187E4B1EDD}"/>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ablation table shows which components mattered in the ordered B0018 stream.</a:t>
            </a:r>
          </a:p>
        </p:txBody>
      </p:sp>
      <p:graphicFrame>
        <p:nvGraphicFramePr>
          <p:cNvPr id="24" name=""/>
          <p:cNvGraphicFramePr/>
          <p:nvPr/>
        </p:nvGraphicFramePr>
        <p:xfrm>
          <a:off xmlns:a="http://schemas.openxmlformats.org/drawingml/2006/main" x="552450" y="1905000"/>
          <a:ext xmlns:a="http://schemas.openxmlformats.org/drawingml/2006/main" cx="11096625" cy="2952750"/>
        </p:xfrm>
        <a:graphic xmlns:a="http://schemas.openxmlformats.org/drawingml/2006/main">
          <a:graphicData uri="http://schemas.openxmlformats.org/drawingml/2006/table">
            <a:tbl>
              <a:tblPr firstRow="1" bandRow="1"/>
              <a:tblGrid>
                <a:gridCol w="3048000"/>
                <a:gridCol w="2095500"/>
                <a:gridCol w="2095500"/>
                <a:gridCol w="1714500"/>
                <a:gridCol w="2143125"/>
              </a:tblGrid>
              <a:tr h="421821">
                <a:tc>
                  <a:txBody>
                    <a:bodyPr>
                      <a:normAutofit/>
                    </a:bodyPr>
                    <a:lstStyle/>
                    <a:p>
                      <a:r>
                        <a:rPr sz="975" b="1">
                          <a:solidFill>
                            <a:srgbClr val="FFFFFF"/>
                          </a:solidFill>
                          <a:latin typeface="Calibri"/>
                          <a:ea typeface="Calibri"/>
                          <a:cs typeface="Calibri"/>
                        </a:rPr>
                        <a:t>Variant</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Post-shift SOH MAE</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Improvement</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Work</a:t>
                      </a:r>
                    </a:p>
                  </a:txBody>
                  <a:tcPr marL="91440" marR="91440" marT="45720" marB="45720">
                    <a:solidFill>
                      <a:srgbClr val="13355E"/>
                    </a:solidFill>
                  </a:tcPr>
                </a:tc>
                <a:tc>
                  <a:txBody>
                    <a:bodyPr>
                      <a:normAutofit/>
                    </a:bodyPr>
                    <a:lstStyle/>
                    <a:p>
                      <a:r>
                        <a:rPr sz="975" b="1">
                          <a:solidFill>
                            <a:srgbClr val="FFFFFF"/>
                          </a:solidFill>
                          <a:latin typeface="Calibri"/>
                          <a:ea typeface="Calibri"/>
                          <a:cs typeface="Calibri"/>
                        </a:rPr>
                        <a:t>Events</a:t>
                      </a:r>
                    </a:p>
                  </a:txBody>
                  <a:tcPr marL="91440" marR="91440" marT="45720" marB="45720">
                    <a:solidFill>
                      <a:srgbClr val="13355E"/>
                    </a:solidFill>
                  </a:tcPr>
                </a:tc>
              </a:tr>
              <a:tr h="421821">
                <a:tc>
                  <a:txBody>
                    <a:bodyPr>
                      <a:normAutofit/>
                    </a:bodyPr>
                    <a:lstStyle/>
                    <a:p>
                      <a:r>
                        <a:rPr sz="975" b="1">
                          <a:solidFill>
                            <a:srgbClr val="0B2545"/>
                          </a:solidFill>
                          <a:latin typeface="Calibri"/>
                          <a:ea typeface="Calibri"/>
                          <a:cs typeface="Calibri"/>
                        </a:rPr>
                        <a:t>Proposed adaptive</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1.74</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80.63%</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No physics</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1.23</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86.98%</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4F8FA"/>
                    </a:solidFill>
                  </a:tcPr>
                </a:tc>
              </a:tr>
              <a:tr h="421821">
                <a:tc>
                  <a:txBody>
                    <a:bodyPr>
                      <a:normAutofit/>
                    </a:bodyPr>
                    <a:lstStyle/>
                    <a:p>
                      <a:r>
                        <a:rPr sz="975" b="1">
                          <a:solidFill>
                            <a:srgbClr val="0B2545"/>
                          </a:solidFill>
                          <a:latin typeface="Calibri"/>
                          <a:ea typeface="Calibri"/>
                          <a:cs typeface="Calibri"/>
                        </a:rPr>
                        <a:t>No Transformer</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4.09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50.39%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No replay</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3.97</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53.23%</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8.75%</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7</a:t>
                      </a:r>
                    </a:p>
                  </a:txBody>
                  <a:tcPr marL="91440" marR="91440" marT="45720" marB="45720">
                    <a:solidFill>
                      <a:srgbClr val="F4F8FA"/>
                    </a:solidFill>
                  </a:tcPr>
                </a:tc>
              </a:tr>
              <a:tr h="421821">
                <a:tc>
                  <a:txBody>
                    <a:bodyPr>
                      <a:normAutofit/>
                    </a:bodyPr>
                    <a:lstStyle/>
                    <a:p>
                      <a:r>
                        <a:rPr sz="975" b="1">
                          <a:solidFill>
                            <a:srgbClr val="0B2545"/>
                          </a:solidFill>
                          <a:latin typeface="Calibri"/>
                          <a:ea typeface="Calibri"/>
                          <a:cs typeface="Calibri"/>
                        </a:rPr>
                        <a:t>No drift detection</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1.59</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81.91%</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15.00%</a:t>
                      </a:r>
                    </a:p>
                  </a:txBody>
                  <a:tcPr marL="91440" marR="91440" marT="45720" marB="45720">
                    <a:solidFill>
                      <a:srgbClr val="FFFFFF"/>
                    </a:solidFill>
                  </a:tcPr>
                </a:tc>
                <a:tc>
                  <a:txBody>
                    <a:bodyPr>
                      <a:normAutofit/>
                    </a:bodyPr>
                    <a:lstStyle/>
                    <a:p>
                      <a:r>
                        <a:rPr sz="975" b="0">
                          <a:solidFill>
                            <a:srgbClr val="0B2545"/>
                          </a:solidFill>
                          <a:latin typeface="Calibri"/>
                          <a:ea typeface="Calibri"/>
                          <a:cs typeface="Calibri"/>
                        </a:rPr>
                        <a:t>12</a:t>
                      </a:r>
                    </a:p>
                  </a:txBody>
                  <a:tcPr marL="91440" marR="91440" marT="45720" marB="45720">
                    <a:solidFill>
                      <a:srgbClr val="FFFFFF"/>
                    </a:solidFill>
                  </a:tcPr>
                </a:tc>
              </a:tr>
              <a:tr h="421821">
                <a:tc>
                  <a:txBody>
                    <a:bodyPr>
                      <a:normAutofit/>
                    </a:bodyPr>
                    <a:lstStyle/>
                    <a:p>
                      <a:r>
                        <a:rPr sz="975" b="1">
                          <a:solidFill>
                            <a:srgbClr val="0B2545"/>
                          </a:solidFill>
                          <a:latin typeface="Calibri"/>
                          <a:ea typeface="Calibri"/>
                          <a:cs typeface="Calibri"/>
                        </a:rPr>
                        <a:t>Full retraining</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1.58</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Reference</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100.00%</a:t>
                      </a:r>
                    </a:p>
                  </a:txBody>
                  <a:tcPr marL="91440" marR="91440" marT="45720" marB="45720">
                    <a:solidFill>
                      <a:srgbClr val="F4F8FA"/>
                    </a:solidFill>
                  </a:tcPr>
                </a:tc>
                <a:tc>
                  <a:txBody>
                    <a:bodyPr>
                      <a:normAutofit/>
                    </a:bodyPr>
                    <a:lstStyle/>
                    <a:p>
                      <a:r>
                        <a:rPr sz="975" b="0">
                          <a:solidFill>
                            <a:srgbClr val="0B2545"/>
                          </a:solidFill>
                          <a:latin typeface="Calibri"/>
                          <a:ea typeface="Calibri"/>
                          <a:cs typeface="Calibri"/>
                        </a:rPr>
                        <a:t>—</a:t>
                      </a:r>
                    </a:p>
                  </a:txBody>
                  <a:tcPr marL="91440" marR="91440" marT="45720" marB="45720">
                    <a:solidFill>
                      <a:srgbClr val="F4F8FA"/>
                    </a:solidFill>
                  </a:tcPr>
                </a:tc>
              </a:tr>
            </a:tbl>
          </a:graphicData>
        </a:graphic>
      </p:graphicFrame>
      <p:sp>
        <p:nvSpPr>
          <p:cNvPr id="5" name="">
            <a:extLst xmlns:a="http://schemas.openxmlformats.org/drawingml/2006/main">
              <a:ext uri="{FF2B5EF4-FFF2-40B4-BE49-F238E27FC236}">
                <a16:creationId xmlns:a16="http://schemas.microsoft.com/office/drawing/2014/main" id="{E26CE98B-12E1-488C-BAA9-3FFA9E2EA7F7}"/>
              </a:ext>
            </a:extLst>
          </p:cNvPr>
          <p:cNvSpPr>
            <a:spLocks xmlns:a="http://schemas.openxmlformats.org/drawingml/2006/main" noGrp="1"/>
          </p:cNvSpPr>
          <p:nvPr/>
        </p:nvSpPr>
        <p:spPr>
          <a:xfrm xmlns:a="http://schemas.openxmlformats.org/drawingml/2006/main">
            <a:off x="552450" y="5191125"/>
            <a:ext cx="2524125"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6" name="">
            <a:extLst xmlns:a="http://schemas.openxmlformats.org/drawingml/2006/main">
              <a:ext uri="{FF2B5EF4-FFF2-40B4-BE49-F238E27FC236}">
                <a16:creationId xmlns:a16="http://schemas.microsoft.com/office/drawing/2014/main" id="{370C91AC-B096-4D7D-8A3C-52F300E3462C}"/>
              </a:ext>
            </a:extLst>
          </p:cNvPr>
          <p:cNvSpPr>
            <a:spLocks xmlns:a="http://schemas.openxmlformats.org/drawingml/2006/main" noGrp="1"/>
          </p:cNvSpPr>
          <p:nvPr/>
        </p:nvSpPr>
        <p:spPr>
          <a:xfrm xmlns:a="http://schemas.openxmlformats.org/drawingml/2006/main">
            <a:off x="704850" y="5305425"/>
            <a:ext cx="22193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TARGET 1</a:t>
            </a:r>
          </a:p>
        </p:txBody>
      </p:sp>
      <p:sp>
        <p:nvSpPr>
          <p:cNvPr id="7" name="">
            <a:extLst xmlns:a="http://schemas.openxmlformats.org/drawingml/2006/main">
              <a:ext uri="{FF2B5EF4-FFF2-40B4-BE49-F238E27FC236}">
                <a16:creationId xmlns:a16="http://schemas.microsoft.com/office/drawing/2014/main" id="{623F75D0-065D-4257-96D1-E3D01B6B61B5}"/>
              </a:ext>
            </a:extLst>
          </p:cNvPr>
          <p:cNvSpPr>
            <a:spLocks xmlns:a="http://schemas.openxmlformats.org/drawingml/2006/main" noGrp="1"/>
          </p:cNvSpPr>
          <p:nvPr/>
        </p:nvSpPr>
        <p:spPr>
          <a:xfrm xmlns:a="http://schemas.openxmlformats.org/drawingml/2006/main">
            <a:off x="704850" y="54959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80.63% improvement</a:t>
            </a:r>
          </a:p>
        </p:txBody>
      </p:sp>
      <p:sp>
        <p:nvSpPr>
          <p:cNvPr id="8" name="">
            <a:extLst xmlns:a="http://schemas.openxmlformats.org/drawingml/2006/main">
              <a:ext uri="{FF2B5EF4-FFF2-40B4-BE49-F238E27FC236}">
                <a16:creationId xmlns:a16="http://schemas.microsoft.com/office/drawing/2014/main" id="{30037063-3135-437D-8729-FF3BB0F1E70E}"/>
              </a:ext>
            </a:extLst>
          </p:cNvPr>
          <p:cNvSpPr>
            <a:spLocks xmlns:a="http://schemas.openxmlformats.org/drawingml/2006/main" noGrp="1"/>
          </p:cNvSpPr>
          <p:nvPr/>
        </p:nvSpPr>
        <p:spPr>
          <a:xfrm xmlns:a="http://schemas.openxmlformats.org/drawingml/2006/main">
            <a:off x="3238500" y="5191125"/>
            <a:ext cx="21907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9" name="">
            <a:extLst xmlns:a="http://schemas.openxmlformats.org/drawingml/2006/main">
              <a:ext uri="{FF2B5EF4-FFF2-40B4-BE49-F238E27FC236}">
                <a16:creationId xmlns:a16="http://schemas.microsoft.com/office/drawing/2014/main" id="{4BEF53D5-7B3C-4E79-B12C-FCF3BCE8C3A0}"/>
              </a:ext>
            </a:extLst>
          </p:cNvPr>
          <p:cNvSpPr>
            <a:spLocks xmlns:a="http://schemas.openxmlformats.org/drawingml/2006/main" noGrp="1"/>
          </p:cNvSpPr>
          <p:nvPr/>
        </p:nvSpPr>
        <p:spPr>
          <a:xfrm xmlns:a="http://schemas.openxmlformats.org/drawingml/2006/main">
            <a:off x="3390900" y="5305425"/>
            <a:ext cx="18859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TARGET 2</a:t>
            </a:r>
          </a:p>
        </p:txBody>
      </p:sp>
      <p:sp>
        <p:nvSpPr>
          <p:cNvPr id="10" name="">
            <a:extLst xmlns:a="http://schemas.openxmlformats.org/drawingml/2006/main">
              <a:ext uri="{FF2B5EF4-FFF2-40B4-BE49-F238E27FC236}">
                <a16:creationId xmlns:a16="http://schemas.microsoft.com/office/drawing/2014/main" id="{600C07B1-1D1D-45DB-B4E4-43DD300E64D1}"/>
              </a:ext>
            </a:extLst>
          </p:cNvPr>
          <p:cNvSpPr>
            <a:spLocks xmlns:a="http://schemas.openxmlformats.org/drawingml/2006/main" noGrp="1"/>
          </p:cNvSpPr>
          <p:nvPr/>
        </p:nvSpPr>
        <p:spPr>
          <a:xfrm xmlns:a="http://schemas.openxmlformats.org/drawingml/2006/main">
            <a:off x="3390900" y="5495925"/>
            <a:ext cx="1885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8.75% work</a:t>
            </a:r>
          </a:p>
        </p:txBody>
      </p:sp>
      <p:sp>
        <p:nvSpPr>
          <p:cNvPr id="11" name="">
            <a:extLst xmlns:a="http://schemas.openxmlformats.org/drawingml/2006/main">
              <a:ext uri="{FF2B5EF4-FFF2-40B4-BE49-F238E27FC236}">
                <a16:creationId xmlns:a16="http://schemas.microsoft.com/office/drawing/2014/main" id="{54A52B35-4F74-477C-B6D6-261FA8E35679}"/>
              </a:ext>
            </a:extLst>
          </p:cNvPr>
          <p:cNvSpPr>
            <a:spLocks xmlns:a="http://schemas.openxmlformats.org/drawingml/2006/main" noGrp="1"/>
          </p:cNvSpPr>
          <p:nvPr/>
        </p:nvSpPr>
        <p:spPr>
          <a:xfrm xmlns:a="http://schemas.openxmlformats.org/drawingml/2006/main">
            <a:off x="5619750" y="5191125"/>
            <a:ext cx="2524125"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2" name="">
            <a:extLst xmlns:a="http://schemas.openxmlformats.org/drawingml/2006/main">
              <a:ext uri="{FF2B5EF4-FFF2-40B4-BE49-F238E27FC236}">
                <a16:creationId xmlns:a16="http://schemas.microsoft.com/office/drawing/2014/main" id="{A93F5B34-5309-4D48-A2F6-F9CEF3CC4025}"/>
              </a:ext>
            </a:extLst>
          </p:cNvPr>
          <p:cNvSpPr>
            <a:spLocks xmlns:a="http://schemas.openxmlformats.org/drawingml/2006/main" noGrp="1"/>
          </p:cNvSpPr>
          <p:nvPr/>
        </p:nvSpPr>
        <p:spPr>
          <a:xfrm xmlns:a="http://schemas.openxmlformats.org/drawingml/2006/main">
            <a:off x="5772150" y="5305425"/>
            <a:ext cx="22193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TARGET 3</a:t>
            </a:r>
          </a:p>
        </p:txBody>
      </p:sp>
      <p:sp>
        <p:nvSpPr>
          <p:cNvPr id="13" name="">
            <a:extLst xmlns:a="http://schemas.openxmlformats.org/drawingml/2006/main">
              <a:ext uri="{FF2B5EF4-FFF2-40B4-BE49-F238E27FC236}">
                <a16:creationId xmlns:a16="http://schemas.microsoft.com/office/drawing/2014/main" id="{451BB841-237D-49B4-8704-4E88D6E0CFEB}"/>
              </a:ext>
            </a:extLst>
          </p:cNvPr>
          <p:cNvSpPr>
            <a:spLocks xmlns:a="http://schemas.openxmlformats.org/drawingml/2006/main" noGrp="1"/>
          </p:cNvSpPr>
          <p:nvPr/>
        </p:nvSpPr>
        <p:spPr>
          <a:xfrm xmlns:a="http://schemas.openxmlformats.org/drawingml/2006/main">
            <a:off x="5772150" y="5495925"/>
            <a:ext cx="2219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−10.20% forgetting</a:t>
            </a:r>
          </a:p>
        </p:txBody>
      </p:sp>
      <p:sp>
        <p:nvSpPr>
          <p:cNvPr id="14" name="">
            <a:extLst xmlns:a="http://schemas.openxmlformats.org/drawingml/2006/main">
              <a:ext uri="{FF2B5EF4-FFF2-40B4-BE49-F238E27FC236}">
                <a16:creationId xmlns:a16="http://schemas.microsoft.com/office/drawing/2014/main" id="{62AE4F98-D2D7-4A20-A4D1-A74B083EFAE2}"/>
              </a:ext>
            </a:extLst>
          </p:cNvPr>
          <p:cNvSpPr>
            <a:spLocks xmlns:a="http://schemas.openxmlformats.org/drawingml/2006/main" noGrp="1"/>
          </p:cNvSpPr>
          <p:nvPr/>
        </p:nvSpPr>
        <p:spPr>
          <a:xfrm xmlns:a="http://schemas.openxmlformats.org/drawingml/2006/main">
            <a:off x="8334375" y="5191125"/>
            <a:ext cx="2381250" cy="666750"/>
          </a:xfrm>
          <a:prstGeom xmlns:a="http://schemas.openxmlformats.org/drawingml/2006/main" prst="roundRect">
            <a:avLst>
              <a:gd name="adj" fmla="val 11429"/>
            </a:avLst>
          </a:prstGeom>
          <a:solidFill xmlns:a="http://schemas.openxmlformats.org/drawingml/2006/main">
            <a:srgbClr val="E8F2F7"/>
          </a:solidFill>
          <a:ln xmlns:a="http://schemas.openxmlformats.org/drawingml/2006/main" w="9525">
            <a:solidFill>
              <a:srgbClr val="E8F2F7"/>
            </a:solidFill>
          </a:ln>
        </p:spPr>
      </p:sp>
      <p:sp>
        <p:nvSpPr>
          <p:cNvPr id="15" name="">
            <a:extLst xmlns:a="http://schemas.openxmlformats.org/drawingml/2006/main">
              <a:ext uri="{FF2B5EF4-FFF2-40B4-BE49-F238E27FC236}">
                <a16:creationId xmlns:a16="http://schemas.microsoft.com/office/drawing/2014/main" id="{B218F065-F79E-40EA-B9E1-E7FED5F361A8}"/>
              </a:ext>
            </a:extLst>
          </p:cNvPr>
          <p:cNvSpPr>
            <a:spLocks xmlns:a="http://schemas.openxmlformats.org/drawingml/2006/main" noGrp="1"/>
          </p:cNvSpPr>
          <p:nvPr/>
        </p:nvSpPr>
        <p:spPr>
          <a:xfrm xmlns:a="http://schemas.openxmlformats.org/drawingml/2006/main">
            <a:off x="8486775" y="5305425"/>
            <a:ext cx="2076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buNone/>
              <a:defRPr sz="750" b="1" i="0">
                <a:solidFill>
                  <a:srgbClr val="028090"/>
                </a:solidFill>
                <a:latin typeface="Calibri"/>
                <a:ea typeface="Calibri"/>
                <a:cs typeface="Calibri"/>
              </a:defRPr>
            </a:pPr>
            <a:r>
              <a:rPr sz="750" b="1" i="0">
                <a:solidFill>
                  <a:srgbClr val="028090"/>
                </a:solidFill>
                <a:latin typeface="Calibri"/>
                <a:ea typeface="Calibri"/>
                <a:cs typeface="Calibri"/>
              </a:rPr>
              <a:t>DETECTOR</a:t>
            </a:r>
          </a:p>
        </p:txBody>
      </p:sp>
      <p:sp>
        <p:nvSpPr>
          <p:cNvPr id="16" name="">
            <a:extLst xmlns:a="http://schemas.openxmlformats.org/drawingml/2006/main">
              <a:ext uri="{FF2B5EF4-FFF2-40B4-BE49-F238E27FC236}">
                <a16:creationId xmlns:a16="http://schemas.microsoft.com/office/drawing/2014/main" id="{59DCB3F4-CC40-4945-BBB8-36E64916976C}"/>
              </a:ext>
            </a:extLst>
          </p:cNvPr>
          <p:cNvSpPr>
            <a:spLocks xmlns:a="http://schemas.openxmlformats.org/drawingml/2006/main" noGrp="1"/>
          </p:cNvSpPr>
          <p:nvPr/>
        </p:nvSpPr>
        <p:spPr>
          <a:xfrm xmlns:a="http://schemas.openxmlformats.org/drawingml/2006/main">
            <a:off x="8486775" y="54959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121"/>
          </a:bodyPr>
          <a:lstStyle xmlns:a="http://schemas.openxmlformats.org/drawingml/2006/main"/>
          <a:p xmlns:a="http://schemas.openxmlformats.org/drawingml/2006/main">
            <a:pPr>
              <a:buNone/>
              <a:defRPr sz="1650" b="1" i="0">
                <a:solidFill>
                  <a:srgbClr val="147D64"/>
                </a:solidFill>
                <a:latin typeface="Cambria"/>
                <a:ea typeface="Cambria"/>
                <a:cs typeface="Cambria"/>
              </a:defRPr>
            </a:pPr>
            <a:r>
              <a:rPr sz="1650" b="1" i="0">
                <a:solidFill>
                  <a:srgbClr val="147D64"/>
                </a:solidFill>
                <a:latin typeface="Cambria"/>
                <a:ea typeface="Cambria"/>
                <a:cs typeface="Cambria"/>
              </a:rPr>
              <a:t>7 updates / seed</a:t>
            </a:r>
          </a:p>
        </p:txBody>
      </p:sp>
      <p:sp>
        <p:nvSpPr>
          <p:cNvPr id="17" name="">
            <a:extLst xmlns:a="http://schemas.openxmlformats.org/drawingml/2006/main">
              <a:ext uri="{FF2B5EF4-FFF2-40B4-BE49-F238E27FC236}">
                <a16:creationId xmlns:a16="http://schemas.microsoft.com/office/drawing/2014/main" id="{EEAD24EA-ACE3-4B25-9285-E3609B95024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8" name="">
            <a:extLst xmlns:a="http://schemas.openxmlformats.org/drawingml/2006/main">
              <a:ext uri="{FF2B5EF4-FFF2-40B4-BE49-F238E27FC236}">
                <a16:creationId xmlns:a16="http://schemas.microsoft.com/office/drawing/2014/main" id="{B511ABBB-EAA9-4710-943E-123DC7D1EC6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18 / 21</a:t>
            </a:r>
          </a:p>
        </p:txBody>
      </p:sp>
    </p:spTree>
    <p:extLst>
      <p:ext uri="{BB962C8B-B14F-4D97-AF65-F5344CB8AC3E}">
        <p14:creationId xmlns:p14="http://schemas.microsoft.com/office/powerpoint/2010/main" val="731771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EE3B64-91D3-4BC4-9BB7-97E8E17F12A0}"/>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ROBUSTNESS</a:t>
            </a:r>
          </a:p>
        </p:txBody>
      </p:sp>
      <p:sp>
        <p:nvSpPr>
          <p:cNvPr id="2" name="">
            <a:extLst xmlns:a="http://schemas.openxmlformats.org/drawingml/2006/main">
              <a:ext uri="{FF2B5EF4-FFF2-40B4-BE49-F238E27FC236}">
                <a16:creationId xmlns:a16="http://schemas.microsoft.com/office/drawing/2014/main" id="{492388A7-261F-4B25-906C-87DD89B50CA3}"/>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The adaptive state remained useful under sensor corruption</a:t>
            </a:r>
          </a:p>
        </p:txBody>
      </p:sp>
      <p:sp>
        <p:nvSpPr>
          <p:cNvPr id="3" name="">
            <a:extLst xmlns:a="http://schemas.openxmlformats.org/drawingml/2006/main">
              <a:ext uri="{FF2B5EF4-FFF2-40B4-BE49-F238E27FC236}">
                <a16:creationId xmlns:a16="http://schemas.microsoft.com/office/drawing/2014/main" id="{0BE2B915-7E8E-418D-AC3B-141D6B351C84}"/>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Robustness scenarios use the same trained proposal and corrupt the ordered stream before adaptation.</a:t>
            </a:r>
          </a:p>
        </p:txBody>
      </p:sp>
      <p:graphicFrame>
        <p:nvGraphicFramePr>
          <p:cNvPr id="17" name=""/>
          <p:cNvGraphicFramePr/>
          <p:nvPr/>
        </p:nvGraphicFramePr>
        <p:xfrm>
          <a:off xmlns:a="http://schemas.openxmlformats.org/drawingml/2006/main" x="552450" y="1857375"/>
          <a:ext xmlns:a="http://schemas.openxmlformats.org/drawingml/2006/main" cx="6191250" cy="2381250"/>
        </p:xfrm>
        <a:graphic xmlns:a="http://schemas.openxmlformats.org/drawingml/2006/main">
          <a:graphicData uri="http://schemas.openxmlformats.org/drawingml/2006/table">
            <a:tbl>
              <a:tblPr firstRow="1" bandRow="1"/>
              <a:tblGrid>
                <a:gridCol w="2571750"/>
                <a:gridCol w="1333500"/>
                <a:gridCol w="1428750"/>
                <a:gridCol w="857250"/>
              </a:tblGrid>
              <a:tr h="476250">
                <a:tc>
                  <a:txBody>
                    <a:bodyPr>
                      <a:normAutofit/>
                    </a:bodyPr>
                    <a:lstStyle/>
                    <a:p>
                      <a:r>
                        <a:rPr sz="900" b="1">
                          <a:solidFill>
                            <a:srgbClr val="FFFFFF"/>
                          </a:solidFill>
                          <a:latin typeface="Calibri"/>
                          <a:ea typeface="Calibri"/>
                          <a:cs typeface="Calibri"/>
                        </a:rPr>
                        <a:t>Scenario</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Frozen 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Adaptive SOH MAE</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Updates</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Clean ordered stream</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8.81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1.73</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Voltage/current/temp noise</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9.02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1.52</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10% missing samples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8.78</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1.51</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Sensor drift</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8.88</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1.69</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7</a:t>
                      </a:r>
                    </a:p>
                  </a:txBody>
                  <a:tcPr marL="91440" marR="91440" marT="45720" marB="45720">
                    <a:solidFill>
                      <a:srgbClr val="F4F8FA"/>
                    </a:solidFill>
                  </a:tcPr>
                </a:tc>
              </a:tr>
            </a:tbl>
          </a:graphicData>
        </a:graphic>
      </p:graphicFrame>
      <p:graphicFrame>
        <p:nvGraphicFramePr>
          <p:cNvPr id="18" name=""/>
          <p:cNvGraphicFramePr/>
          <p:nvPr/>
        </p:nvGraphicFramePr>
        <p:xfrm>
          <a:off xmlns:a="http://schemas.openxmlformats.org/drawingml/2006/main" x="7143750" y="1857375"/>
          <a:ext xmlns:a="http://schemas.openxmlformats.org/drawingml/2006/main" cx="4505325" cy="2381250"/>
        </p:xfrm>
        <a:graphic xmlns:a="http://schemas.openxmlformats.org/drawingml/2006/main">
          <a:graphicData uri="http://schemas.openxmlformats.org/drawingml/2006/table">
            <a:tbl>
              <a:tblPr firstRow="1" bandRow="1"/>
              <a:tblGrid>
                <a:gridCol w="2857500"/>
                <a:gridCol w="1647825"/>
              </a:tblGrid>
              <a:tr h="396875">
                <a:tc>
                  <a:txBody>
                    <a:bodyPr>
                      <a:normAutofit/>
                    </a:bodyPr>
                    <a:lstStyle/>
                    <a:p>
                      <a:r>
                        <a:rPr sz="900" b="1">
                          <a:solidFill>
                            <a:srgbClr val="FFFFFF"/>
                          </a:solidFill>
                          <a:latin typeface="Calibri"/>
                          <a:ea typeface="Calibri"/>
                          <a:cs typeface="Calibri"/>
                        </a:rPr>
                        <a:t>Diagnostic</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Mean ± SD</a:t>
                      </a:r>
                    </a:p>
                  </a:txBody>
                  <a:tcPr marL="91440" marR="91440" marT="45720" marB="45720">
                    <a:solidFill>
                      <a:srgbClr val="13355E"/>
                    </a:solidFill>
                  </a:tcPr>
                </a:tc>
              </a:tr>
              <a:tr h="396875">
                <a:tc>
                  <a:txBody>
                    <a:bodyPr>
                      <a:normAutofit/>
                    </a:bodyPr>
                    <a:lstStyle/>
                    <a:p>
                      <a:r>
                        <a:rPr sz="900" b="1">
                          <a:solidFill>
                            <a:srgbClr val="0B2545"/>
                          </a:solidFill>
                          <a:latin typeface="Calibri"/>
                          <a:ea typeface="Calibri"/>
                          <a:cs typeface="Calibri"/>
                        </a:rPr>
                        <a:t>SOH bounds violations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0.00%</a:t>
                      </a:r>
                    </a:p>
                  </a:txBody>
                  <a:tcPr marL="91440" marR="91440" marT="45720" marB="45720">
                    <a:solidFill>
                      <a:srgbClr val="FFFFFF"/>
                    </a:solidFill>
                  </a:tcPr>
                </a:tc>
              </a:tr>
              <a:tr h="396875">
                <a:tc>
                  <a:txBody>
                    <a:bodyPr>
                      <a:normAutofit/>
                    </a:bodyPr>
                    <a:lstStyle/>
                    <a:p>
                      <a:r>
                        <a:rPr sz="900" b="1">
                          <a:solidFill>
                            <a:srgbClr val="0B2545"/>
                          </a:solidFill>
                          <a:latin typeface="Calibri"/>
                          <a:ea typeface="Calibri"/>
                          <a:cs typeface="Calibri"/>
                        </a:rPr>
                        <a:t>Negative RUL</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0.00%</a:t>
                      </a:r>
                    </a:p>
                  </a:txBody>
                  <a:tcPr marL="91440" marR="91440" marT="45720" marB="45720">
                    <a:solidFill>
                      <a:srgbClr val="F4F8FA"/>
                    </a:solidFill>
                  </a:tcPr>
                </a:tc>
              </a:tr>
              <a:tr h="396875">
                <a:tc>
                  <a:txBody>
                    <a:bodyPr>
                      <a:normAutofit/>
                    </a:bodyPr>
                    <a:lstStyle/>
                    <a:p>
                      <a:r>
                        <a:rPr sz="900" b="1">
                          <a:solidFill>
                            <a:srgbClr val="0B2545"/>
                          </a:solidFill>
                          <a:latin typeface="Calibri"/>
                          <a:ea typeface="Calibri"/>
                          <a:cs typeface="Calibri"/>
                        </a:rPr>
                        <a:t>SOH degradation violation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21.43%</a:t>
                      </a:r>
                    </a:p>
                  </a:txBody>
                  <a:tcPr marL="91440" marR="91440" marT="45720" marB="45720">
                    <a:solidFill>
                      <a:srgbClr val="FFFFFF"/>
                    </a:solidFill>
                  </a:tcPr>
                </a:tc>
              </a:tr>
              <a:tr h="396875">
                <a:tc>
                  <a:txBody>
                    <a:bodyPr>
                      <a:normAutofit/>
                    </a:bodyPr>
                    <a:lstStyle/>
                    <a:p>
                      <a:r>
                        <a:rPr sz="900" b="1">
                          <a:solidFill>
                            <a:srgbClr val="0B2545"/>
                          </a:solidFill>
                          <a:latin typeface="Calibri"/>
                          <a:ea typeface="Calibri"/>
                          <a:cs typeface="Calibri"/>
                        </a:rPr>
                        <a:t>SOH/RUL consistency violation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30.95%</a:t>
                      </a:r>
                    </a:p>
                  </a:txBody>
                  <a:tcPr marL="91440" marR="91440" marT="45720" marB="45720">
                    <a:solidFill>
                      <a:srgbClr val="F4F8FA"/>
                    </a:solidFill>
                  </a:tcPr>
                </a:tc>
              </a:tr>
              <a:tr h="396875">
                <a:tc>
                  <a:txBody>
                    <a:bodyPr>
                      <a:normAutofit/>
                    </a:bodyPr>
                    <a:lstStyle/>
                    <a:p>
                      <a:r>
                        <a:rPr sz="900" b="1">
                          <a:solidFill>
                            <a:srgbClr val="0B2545"/>
                          </a:solidFill>
                          <a:latin typeface="Calibri"/>
                          <a:ea typeface="Calibri"/>
                          <a:cs typeface="Calibri"/>
                        </a:rPr>
                        <a:t>Capacity-curve residual</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0.00573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071865C-DD6D-4D47-B916-5338656DA816}"/>
              </a:ext>
            </a:extLst>
          </p:cNvPr>
          <p:cNvSpPr>
            <a:spLocks xmlns:a="http://schemas.openxmlformats.org/drawingml/2006/main" noGrp="1"/>
          </p:cNvSpPr>
          <p:nvPr/>
        </p:nvSpPr>
        <p:spPr>
          <a:xfrm xmlns:a="http://schemas.openxmlformats.org/drawingml/2006/main">
            <a:off x="552450" y="4667250"/>
            <a:ext cx="11096625" cy="838200"/>
          </a:xfrm>
          <a:prstGeom xmlns:a="http://schemas.openxmlformats.org/drawingml/2006/main" prst="roundRect">
            <a:avLst>
              <a:gd name="adj" fmla="val 9091"/>
            </a:avLst>
          </a:prstGeom>
          <a:solidFill xmlns:a="http://schemas.openxmlformats.org/drawingml/2006/main">
            <a:srgbClr val="0B2545"/>
          </a:solidFill>
          <a:ln xmlns:a="http://schemas.openxmlformats.org/drawingml/2006/main" w="9525">
            <a:solidFill>
              <a:srgbClr val="0B2545"/>
            </a:solidFill>
          </a:ln>
        </p:spPr>
      </p:sp>
      <p:sp>
        <p:nvSpPr>
          <p:cNvPr id="7" name="">
            <a:extLst xmlns:a="http://schemas.openxmlformats.org/drawingml/2006/main">
              <a:ext uri="{FF2B5EF4-FFF2-40B4-BE49-F238E27FC236}">
                <a16:creationId xmlns:a16="http://schemas.microsoft.com/office/drawing/2014/main" id="{6CC726AC-7804-4681-85D3-9EA21F0DB485}"/>
              </a:ext>
            </a:extLst>
          </p:cNvPr>
          <p:cNvSpPr>
            <a:spLocks xmlns:a="http://schemas.openxmlformats.org/drawingml/2006/main" noGrp="1"/>
          </p:cNvSpPr>
          <p:nvPr/>
        </p:nvSpPr>
        <p:spPr>
          <a:xfrm xmlns:a="http://schemas.openxmlformats.org/drawingml/2006/main">
            <a:off x="781050" y="48672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Interpretation</a:t>
            </a:r>
          </a:p>
        </p:txBody>
      </p:sp>
      <p:sp>
        <p:nvSpPr>
          <p:cNvPr id="8" name="">
            <a:extLst xmlns:a="http://schemas.openxmlformats.org/drawingml/2006/main">
              <a:ext uri="{FF2B5EF4-FFF2-40B4-BE49-F238E27FC236}">
                <a16:creationId xmlns:a16="http://schemas.microsoft.com/office/drawing/2014/main" id="{3B7A6FF1-A5F1-45F4-8FB5-A0A18F8037C9}"/>
              </a:ext>
            </a:extLst>
          </p:cNvPr>
          <p:cNvSpPr>
            <a:spLocks xmlns:a="http://schemas.openxmlformats.org/drawingml/2006/main" noGrp="1"/>
          </p:cNvSpPr>
          <p:nvPr/>
        </p:nvSpPr>
        <p:spPr>
          <a:xfrm xmlns:a="http://schemas.openxmlformats.org/drawingml/2006/main">
            <a:off x="781050" y="5105400"/>
            <a:ext cx="1026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590"/>
          </a:bodyPr>
          <a:lstStyle xmlns:a="http://schemas.openxmlformats.org/drawingml/2006/main"/>
          <a:p xmlns:a="http://schemas.openxmlformats.org/drawingml/2006/main">
            <a:pPr>
              <a:buNone/>
              <a:defRPr sz="1125" b="0" i="0">
                <a:solidFill>
                  <a:srgbClr val="FFFFFF"/>
                </a:solidFill>
                <a:latin typeface="Calibri"/>
                <a:ea typeface="Calibri"/>
                <a:cs typeface="Calibri"/>
              </a:defRPr>
            </a:pPr>
            <a:r>
              <a:rPr sz="1125" b="0" i="0">
                <a:solidFill>
                  <a:srgbClr val="FFFFFF"/>
                </a:solidFill>
                <a:latin typeface="Calibri"/>
                <a:ea typeface="Calibri"/>
                <a:cs typeface="Calibri"/>
              </a:rPr>
              <a:t>Hard bounds stayed at zero. Soft monotonic diagnostics stayed nonzero, so the result supports a measured proof of concept with calibration limits rather than perfect electrochemical validity.</a:t>
            </a:r>
          </a:p>
        </p:txBody>
      </p:sp>
      <p:sp>
        <p:nvSpPr>
          <p:cNvPr id="9" name="">
            <a:extLst xmlns:a="http://schemas.openxmlformats.org/drawingml/2006/main">
              <a:ext uri="{FF2B5EF4-FFF2-40B4-BE49-F238E27FC236}">
                <a16:creationId xmlns:a16="http://schemas.microsoft.com/office/drawing/2014/main" id="{756D40FF-C029-44F1-9EA5-D3FD7F6ABAC9}"/>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4D981CCF-B7E1-4E02-A9FC-C3A662C7A66A}"/>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19 / 21</a:t>
            </a:r>
          </a:p>
        </p:txBody>
      </p:sp>
    </p:spTree>
    <p:extLst>
      <p:ext uri="{BB962C8B-B14F-4D97-AF65-F5344CB8AC3E}">
        <p14:creationId xmlns:p14="http://schemas.microsoft.com/office/powerpoint/2010/main" val="10304706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25036D-00B8-4C5E-8D9A-B3B708581FF9}"/>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28090"/>
                </a:solidFill>
                <a:latin typeface="Calibri"/>
                <a:ea typeface="Calibri"/>
                <a:cs typeface="Calibri"/>
              </a:defRPr>
            </a:pPr>
            <a:r>
              <a:rPr sz="900" b="1" i="0">
                <a:solidFill>
                  <a:srgbClr val="028090"/>
                </a:solidFill>
                <a:latin typeface="Calibri"/>
                <a:ea typeface="Calibri"/>
                <a:cs typeface="Calibri"/>
              </a:rPr>
              <a:t>PHASE II · FACULTY EVIDENCE</a:t>
            </a:r>
          </a:p>
        </p:txBody>
      </p:sp>
      <p:sp>
        <p:nvSpPr>
          <p:cNvPr id="2" name="">
            <a:extLst xmlns:a="http://schemas.openxmlformats.org/drawingml/2006/main">
              <a:ext uri="{FF2B5EF4-FFF2-40B4-BE49-F238E27FC236}">
                <a16:creationId xmlns:a16="http://schemas.microsoft.com/office/drawing/2014/main" id="{2A6DD9CE-1AC1-49EC-8D96-7FE0DC7C91FE}"/>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0B2545"/>
                </a:solidFill>
                <a:latin typeface="Cambria"/>
                <a:ea typeface="Cambria"/>
                <a:cs typeface="Cambria"/>
              </a:defRPr>
            </a:pPr>
            <a:r>
              <a:rPr sz="2325" b="1" i="0">
                <a:solidFill>
                  <a:srgbClr val="0B2545"/>
                </a:solidFill>
                <a:latin typeface="Cambria"/>
                <a:ea typeface="Cambria"/>
                <a:cs typeface="Cambria"/>
              </a:rPr>
              <a:t>Proof of experiment mapped to the course rubric</a:t>
            </a:r>
          </a:p>
        </p:txBody>
      </p:sp>
      <p:sp>
        <p:nvSpPr>
          <p:cNvPr id="3" name="">
            <a:extLst xmlns:a="http://schemas.openxmlformats.org/drawingml/2006/main">
              <a:ext uri="{FF2B5EF4-FFF2-40B4-BE49-F238E27FC236}">
                <a16:creationId xmlns:a16="http://schemas.microsoft.com/office/drawing/2014/main" id="{799E1953-C3B5-4385-919E-6E60D76D9742}"/>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5B6B79"/>
                </a:solidFill>
                <a:latin typeface="Calibri"/>
                <a:ea typeface="Calibri"/>
                <a:cs typeface="Calibri"/>
              </a:defRPr>
            </a:pPr>
            <a:r>
              <a:rPr sz="1125" b="0" i="0">
                <a:solidFill>
                  <a:srgbClr val="5B6B79"/>
                </a:solidFill>
                <a:latin typeface="Calibri"/>
                <a:ea typeface="Calibri"/>
                <a:cs typeface="Calibri"/>
              </a:rPr>
              <a:t>The deck now points to concrete artifacts a reviewer can inspect.</a:t>
            </a:r>
          </a:p>
        </p:txBody>
      </p:sp>
      <p:graphicFrame>
        <p:nvGraphicFramePr>
          <p:cNvPr id="15" name=""/>
          <p:cNvGraphicFramePr/>
          <p:nvPr/>
        </p:nvGraphicFramePr>
        <p:xfrm>
          <a:off xmlns:a="http://schemas.openxmlformats.org/drawingml/2006/main" x="552450" y="1905000"/>
          <a:ext xmlns:a="http://schemas.openxmlformats.org/drawingml/2006/main" cx="11096625" cy="2857500"/>
        </p:xfrm>
        <a:graphic xmlns:a="http://schemas.openxmlformats.org/drawingml/2006/main">
          <a:graphicData uri="http://schemas.openxmlformats.org/drawingml/2006/table">
            <a:tbl>
              <a:tblPr firstRow="1" bandRow="1"/>
              <a:tblGrid>
                <a:gridCol w="2381250"/>
                <a:gridCol w="5191125"/>
                <a:gridCol w="3524250"/>
              </a:tblGrid>
              <a:tr h="476250">
                <a:tc>
                  <a:txBody>
                    <a:bodyPr>
                      <a:normAutofit/>
                    </a:bodyPr>
                    <a:lstStyle/>
                    <a:p>
                      <a:r>
                        <a:rPr sz="900" b="1">
                          <a:solidFill>
                            <a:srgbClr val="FFFFFF"/>
                          </a:solidFill>
                          <a:latin typeface="Calibri"/>
                          <a:ea typeface="Calibri"/>
                          <a:cs typeface="Calibri"/>
                        </a:rPr>
                        <a:t>Rubric criterion</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What to show</a:t>
                      </a:r>
                    </a:p>
                  </a:txBody>
                  <a:tcPr marL="91440" marR="91440" marT="45720" marB="45720">
                    <a:solidFill>
                      <a:srgbClr val="13355E"/>
                    </a:solidFill>
                  </a:tcPr>
                </a:tc>
                <a:tc>
                  <a:txBody>
                    <a:bodyPr>
                      <a:normAutofit/>
                    </a:bodyPr>
                    <a:lstStyle/>
                    <a:p>
                      <a:r>
                        <a:rPr sz="900" b="1">
                          <a:solidFill>
                            <a:srgbClr val="FFFFFF"/>
                          </a:solidFill>
                          <a:latin typeface="Calibri"/>
                          <a:ea typeface="Calibri"/>
                          <a:cs typeface="Calibri"/>
                        </a:rPr>
                        <a:t>Artifact</a:t>
                      </a:r>
                    </a:p>
                  </a:txBody>
                  <a:tcPr marL="91440" marR="91440" marT="45720" marB="45720">
                    <a:solidFill>
                      <a:srgbClr val="13355E"/>
                    </a:solidFill>
                  </a:tcPr>
                </a:tc>
              </a:tr>
              <a:tr h="476250">
                <a:tc>
                  <a:txBody>
                    <a:bodyPr>
                      <a:normAutofit/>
                    </a:bodyPr>
                    <a:lstStyle/>
                    <a:p>
                      <a:r>
                        <a:rPr sz="900" b="1">
                          <a:solidFill>
                            <a:srgbClr val="0B2545"/>
                          </a:solidFill>
                          <a:latin typeface="Calibri"/>
                          <a:ea typeface="Calibri"/>
                          <a:cs typeface="Calibri"/>
                        </a:rPr>
                        <a:t>Model architecture design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Data → masked encoder → temporal model → physics losses → heads → replay update</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HTML report · Section 05</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Multiple models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DNN, GRU, Transformer-only, PINN, adaptive twin</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final_summary.csv</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Hyperparameter tuning</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54 combinations across three seeds</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tuning/grid.json</a:t>
                      </a:r>
                    </a:p>
                  </a:txBody>
                  <a:tcPr marL="91440" marR="91440" marT="45720" marB="45720">
                    <a:solidFill>
                      <a:srgbClr val="FFFFFF"/>
                    </a:solidFill>
                  </a:tcPr>
                </a:tc>
              </a:tr>
              <a:tr h="476250">
                <a:tc>
                  <a:txBody>
                    <a:bodyPr>
                      <a:normAutofit/>
                    </a:bodyPr>
                    <a:lstStyle/>
                    <a:p>
                      <a:r>
                        <a:rPr sz="900" b="1">
                          <a:solidFill>
                            <a:srgbClr val="0B2545"/>
                          </a:solidFill>
                          <a:latin typeface="Calibri"/>
                          <a:ea typeface="Calibri"/>
                          <a:cs typeface="Calibri"/>
                        </a:rPr>
                        <a:t>Experimental analysis</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Ablations, robustness, physical checks, acceptance table</a:t>
                      </a:r>
                    </a:p>
                  </a:txBody>
                  <a:tcPr marL="91440" marR="91440" marT="45720" marB="45720">
                    <a:solidFill>
                      <a:srgbClr val="F4F8FA"/>
                    </a:solidFill>
                  </a:tcPr>
                </a:tc>
                <a:tc>
                  <a:txBody>
                    <a:bodyPr>
                      <a:normAutofit/>
                    </a:bodyPr>
                    <a:lstStyle/>
                    <a:p>
                      <a:r>
                        <a:rPr sz="900" b="0">
                          <a:solidFill>
                            <a:srgbClr val="0B2545"/>
                          </a:solidFill>
                          <a:latin typeface="Calibri"/>
                          <a:ea typeface="Calibri"/>
                          <a:cs typeface="Calibri"/>
                        </a:rPr>
                        <a:t>evidence_results.json + PNG figures</a:t>
                      </a:r>
                    </a:p>
                  </a:txBody>
                  <a:tcPr marL="91440" marR="91440" marT="45720" marB="45720">
                    <a:solidFill>
                      <a:srgbClr val="F4F8FA"/>
                    </a:solidFill>
                  </a:tcPr>
                </a:tc>
              </a:tr>
              <a:tr h="476250">
                <a:tc>
                  <a:txBody>
                    <a:bodyPr>
                      <a:normAutofit/>
                    </a:bodyPr>
                    <a:lstStyle/>
                    <a:p>
                      <a:r>
                        <a:rPr sz="900" b="1">
                          <a:solidFill>
                            <a:srgbClr val="0B2545"/>
                          </a:solidFill>
                          <a:latin typeface="Calibri"/>
                          <a:ea typeface="Calibri"/>
                          <a:cs typeface="Calibri"/>
                        </a:rPr>
                        <a:t>Presentation and reflection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6-minute walkthrough and AI pair-programming reflection</a:t>
                      </a:r>
                    </a:p>
                  </a:txBody>
                  <a:tcPr marL="91440" marR="91440" marT="45720" marB="45720">
                    <a:solidFill>
                      <a:srgbClr val="FFFFFF"/>
                    </a:solidFill>
                  </a:tcPr>
                </a:tc>
                <a:tc>
                  <a:txBody>
                    <a:bodyPr>
                      <a:normAutofit/>
                    </a:bodyPr>
                    <a:lstStyle/>
                    <a:p>
                      <a:r>
                        <a:rPr sz="900" b="0">
                          <a:solidFill>
                            <a:srgbClr val="0B2545"/>
                          </a:solidFill>
                          <a:latin typeface="Calibri"/>
                          <a:ea typeface="Calibri"/>
                          <a:cs typeface="Calibri"/>
                        </a:rPr>
                        <a:t>video_reflection_script.md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7BC91A4-1CC5-4EE0-B8D2-E572C3EC53AD}"/>
              </a:ext>
            </a:extLst>
          </p:cNvPr>
          <p:cNvSpPr>
            <a:spLocks xmlns:a="http://schemas.openxmlformats.org/drawingml/2006/main" noGrp="1"/>
          </p:cNvSpPr>
          <p:nvPr/>
        </p:nvSpPr>
        <p:spPr>
          <a:xfrm xmlns:a="http://schemas.openxmlformats.org/drawingml/2006/main">
            <a:off x="552450" y="5095875"/>
            <a:ext cx="11096625" cy="609600"/>
          </a:xfrm>
          <a:prstGeom xmlns:a="http://schemas.openxmlformats.org/drawingml/2006/main" prst="roundRect">
            <a:avLst>
              <a:gd name="adj" fmla="val 12500"/>
            </a:avLst>
          </a:prstGeom>
          <a:solidFill xmlns:a="http://schemas.openxmlformats.org/drawingml/2006/main">
            <a:srgbClr val="E8F2F7"/>
          </a:solidFill>
          <a:ln xmlns:a="http://schemas.openxmlformats.org/drawingml/2006/main" w="9525">
            <a:solidFill>
              <a:srgbClr val="E8F2F7"/>
            </a:solidFill>
          </a:ln>
        </p:spPr>
      </p:sp>
      <p:sp>
        <p:nvSpPr>
          <p:cNvPr id="6" name="">
            <a:extLst xmlns:a="http://schemas.openxmlformats.org/drawingml/2006/main">
              <a:ext uri="{FF2B5EF4-FFF2-40B4-BE49-F238E27FC236}">
                <a16:creationId xmlns:a16="http://schemas.microsoft.com/office/drawing/2014/main" id="{A9B0267A-B9A1-4F47-BDDB-2DA874B0B2D8}"/>
              </a:ext>
            </a:extLst>
          </p:cNvPr>
          <p:cNvSpPr>
            <a:spLocks xmlns:a="http://schemas.openxmlformats.org/drawingml/2006/main" noGrp="1"/>
          </p:cNvSpPr>
          <p:nvPr/>
        </p:nvSpPr>
        <p:spPr>
          <a:xfrm xmlns:a="http://schemas.openxmlformats.org/drawingml/2006/main">
            <a:off x="781050" y="5238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buNone/>
              <a:defRPr sz="1050" b="1" i="0">
                <a:solidFill>
                  <a:srgbClr val="028090"/>
                </a:solidFill>
                <a:latin typeface="Calibri"/>
                <a:ea typeface="Calibri"/>
                <a:cs typeface="Calibri"/>
              </a:defRPr>
            </a:pPr>
            <a:r>
              <a:rPr sz="1050" b="1" i="0">
                <a:solidFill>
                  <a:srgbClr val="028090"/>
                </a:solidFill>
                <a:latin typeface="Calibri"/>
                <a:ea typeface="Calibri"/>
                <a:cs typeface="Calibri"/>
              </a:rPr>
              <a:t>Recording checklist</a:t>
            </a:r>
          </a:p>
        </p:txBody>
      </p:sp>
      <p:sp>
        <p:nvSpPr>
          <p:cNvPr id="7" name="">
            <a:extLst xmlns:a="http://schemas.openxmlformats.org/drawingml/2006/main">
              <a:ext uri="{FF2B5EF4-FFF2-40B4-BE49-F238E27FC236}">
                <a16:creationId xmlns:a16="http://schemas.microsoft.com/office/drawing/2014/main" id="{3DF88C7E-92B6-4F84-BE6F-1FF94066200B}"/>
              </a:ext>
            </a:extLst>
          </p:cNvPr>
          <p:cNvSpPr>
            <a:spLocks xmlns:a="http://schemas.openxmlformats.org/drawingml/2006/main" noGrp="1"/>
          </p:cNvSpPr>
          <p:nvPr/>
        </p:nvSpPr>
        <p:spPr>
          <a:xfrm xmlns:a="http://schemas.openxmlformats.org/drawingml/2006/main">
            <a:off x="2647950" y="52387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buNone/>
              <a:defRPr sz="1050" b="0" i="0">
                <a:solidFill>
                  <a:srgbClr val="0B2545"/>
                </a:solidFill>
                <a:latin typeface="Calibri"/>
                <a:ea typeface="Calibri"/>
                <a:cs typeface="Calibri"/>
              </a:defRPr>
            </a:pPr>
            <a:r>
              <a:rPr sz="1050" b="0" i="0">
                <a:solidFill>
                  <a:srgbClr val="0B2545"/>
                </a:solidFill>
                <a:latin typeface="Calibri"/>
                <a:ea typeface="Calibri"/>
                <a:cs typeface="Calibri"/>
              </a:rPr>
              <a:t>Show the design diagram · show all five models · open the 54-combination grid · show one ablation and one robustness figure · read PASS status exactly</a:t>
            </a:r>
          </a:p>
        </p:txBody>
      </p:sp>
      <p:sp>
        <p:nvSpPr>
          <p:cNvPr id="8" name="">
            <a:extLst xmlns:a="http://schemas.openxmlformats.org/drawingml/2006/main">
              <a:ext uri="{FF2B5EF4-FFF2-40B4-BE49-F238E27FC236}">
                <a16:creationId xmlns:a16="http://schemas.microsoft.com/office/drawing/2014/main" id="{A4652012-1AC9-4030-9D0F-82C73AC6AD27}"/>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Adaptive PINN Battery Digital Twin</a:t>
            </a:r>
          </a:p>
        </p:txBody>
      </p:sp>
      <p:sp>
        <p:nvSpPr>
          <p:cNvPr id="9" name="">
            <a:extLst xmlns:a="http://schemas.openxmlformats.org/drawingml/2006/main">
              <a:ext uri="{FF2B5EF4-FFF2-40B4-BE49-F238E27FC236}">
                <a16:creationId xmlns:a16="http://schemas.microsoft.com/office/drawing/2014/main" id="{E856C7C7-69B8-4327-96DB-8429EADBBCDF}"/>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5B6B79"/>
                </a:solidFill>
                <a:latin typeface="Calibri"/>
                <a:ea typeface="Calibri"/>
                <a:cs typeface="Calibri"/>
              </a:defRPr>
            </a:pPr>
            <a:r>
              <a:rPr sz="825" b="0" i="0">
                <a:solidFill>
                  <a:srgbClr val="5B6B79"/>
                </a:solidFill>
                <a:latin typeface="Calibri"/>
                <a:ea typeface="Calibri"/>
                <a:cs typeface="Calibri"/>
              </a:rPr>
              <a:t>20 / 21</a:t>
            </a:r>
          </a:p>
        </p:txBody>
      </p:sp>
    </p:spTree>
    <p:extLst>
      <p:ext uri="{BB962C8B-B14F-4D97-AF65-F5344CB8AC3E}">
        <p14:creationId xmlns:p14="http://schemas.microsoft.com/office/powerpoint/2010/main" val="1841506293"/>
      </p:ext>
    </p:extLst>
  </p:cSld>
</p:sld>
</file>

<file path=ppt/slides/slide2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F51518-A64D-49A9-95CF-58FE0B86D39F}"/>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buNone/>
              <a:defRPr sz="900" b="1" i="0">
                <a:solidFill>
                  <a:srgbClr val="00A896"/>
                </a:solidFill>
                <a:latin typeface="Calibri"/>
                <a:ea typeface="Calibri"/>
                <a:cs typeface="Calibri"/>
              </a:defRPr>
            </a:pPr>
            <a:r>
              <a:rPr sz="900" b="1" i="0">
                <a:solidFill>
                  <a:srgbClr val="00A896"/>
                </a:solidFill>
                <a:latin typeface="Calibri"/>
                <a:ea typeface="Calibri"/>
                <a:cs typeface="Calibri"/>
              </a:rPr>
              <a:t>PHASE II · FINAL STATUS</a:t>
            </a:r>
          </a:p>
        </p:txBody>
      </p:sp>
      <p:sp>
        <p:nvSpPr>
          <p:cNvPr id="2" name="">
            <a:extLst xmlns:a="http://schemas.openxmlformats.org/drawingml/2006/main">
              <a:ext uri="{FF2B5EF4-FFF2-40B4-BE49-F238E27FC236}">
                <a16:creationId xmlns:a16="http://schemas.microsoft.com/office/drawing/2014/main" id="{8E7EBE38-21B8-4E89-AC36-0350E3E31FCF}"/>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325" b="1" i="0">
                <a:solidFill>
                  <a:srgbClr val="FFFFFF"/>
                </a:solidFill>
                <a:latin typeface="Cambria"/>
                <a:ea typeface="Cambria"/>
                <a:cs typeface="Cambria"/>
              </a:defRPr>
            </a:pPr>
            <a:r>
              <a:rPr sz="2325" b="1" i="0">
                <a:solidFill>
                  <a:srgbClr val="FFFFFF"/>
                </a:solidFill>
                <a:latin typeface="Cambria"/>
                <a:ea typeface="Cambria"/>
                <a:cs typeface="Cambria"/>
              </a:rPr>
              <a:t>A tested adaptive POC with a clear next experiment</a:t>
            </a:r>
          </a:p>
        </p:txBody>
      </p:sp>
      <p:sp>
        <p:nvSpPr>
          <p:cNvPr id="3" name="">
            <a:extLst xmlns:a="http://schemas.openxmlformats.org/drawingml/2006/main">
              <a:ext uri="{FF2B5EF4-FFF2-40B4-BE49-F238E27FC236}">
                <a16:creationId xmlns:a16="http://schemas.microsoft.com/office/drawing/2014/main" id="{8F01537C-7D62-4B66-8CDD-076BBDFD78AA}"/>
              </a:ext>
            </a:extLst>
          </p:cNvPr>
          <p:cNvSpPr>
            <a:spLocks xmlns:a="http://schemas.openxmlformats.org/drawingml/2006/main" noGrp="1"/>
          </p:cNvSpPr>
          <p:nvPr/>
        </p:nvSpPr>
        <p:spPr>
          <a:xfrm xmlns:a="http://schemas.openxmlformats.org/drawingml/2006/main">
            <a:off x="552450" y="12858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i="0">
                <a:solidFill>
                  <a:srgbClr val="C7D8E5"/>
                </a:solidFill>
                <a:latin typeface="Calibri"/>
                <a:ea typeface="Calibri"/>
                <a:cs typeface="Calibri"/>
              </a:defRPr>
            </a:pPr>
            <a:r>
              <a:rPr sz="1125" b="0" i="0">
                <a:solidFill>
                  <a:srgbClr val="C7D8E5"/>
                </a:solidFill>
                <a:latin typeface="Calibri"/>
                <a:ea typeface="Calibri"/>
                <a:cs typeface="Calibri"/>
              </a:rPr>
              <a:t>The strongest evidence is the low-cost online update. The main limitation is the small four-cell dataset.</a:t>
            </a:r>
          </a:p>
        </p:txBody>
      </p:sp>
      <p:sp>
        <p:nvSpPr>
          <p:cNvPr id="4" name="">
            <a:extLst xmlns:a="http://schemas.openxmlformats.org/drawingml/2006/main">
              <a:ext uri="{FF2B5EF4-FFF2-40B4-BE49-F238E27FC236}">
                <a16:creationId xmlns:a16="http://schemas.microsoft.com/office/drawing/2014/main" id="{0CDD1EB7-319B-4AF5-8B12-8C6FF81F1258}"/>
              </a:ext>
            </a:extLst>
          </p:cNvPr>
          <p:cNvSpPr>
            <a:spLocks xmlns:a="http://schemas.openxmlformats.org/drawingml/2006/main" noGrp="1"/>
          </p:cNvSpPr>
          <p:nvPr/>
        </p:nvSpPr>
        <p:spPr>
          <a:xfrm xmlns:a="http://schemas.openxmlformats.org/drawingml/2006/main">
            <a:off x="552450" y="2047875"/>
            <a:ext cx="4953000" cy="2381250"/>
          </a:xfrm>
          <a:prstGeom xmlns:a="http://schemas.openxmlformats.org/drawingml/2006/main" prst="roundRect">
            <a:avLst>
              <a:gd name="adj" fmla="val 3200"/>
            </a:avLst>
          </a:prstGeom>
          <a:solidFill xmlns:a="http://schemas.openxmlformats.org/drawingml/2006/main">
            <a:srgbClr val="13355E"/>
          </a:solidFill>
          <a:ln xmlns:a="http://schemas.openxmlformats.org/drawingml/2006/main" w="9525">
            <a:solidFill>
              <a:srgbClr val="13355E"/>
            </a:solidFill>
          </a:ln>
        </p:spPr>
      </p:sp>
      <p:sp>
        <p:nvSpPr>
          <p:cNvPr id="5" name="">
            <a:extLst xmlns:a="http://schemas.openxmlformats.org/drawingml/2006/main">
              <a:ext uri="{FF2B5EF4-FFF2-40B4-BE49-F238E27FC236}">
                <a16:creationId xmlns:a16="http://schemas.microsoft.com/office/drawing/2014/main" id="{1B2C37B1-E1ED-4C12-B3F7-6DA0EFCA80F8}"/>
              </a:ext>
            </a:extLst>
          </p:cNvPr>
          <p:cNvSpPr>
            <a:spLocks xmlns:a="http://schemas.openxmlformats.org/drawingml/2006/main" noGrp="1"/>
          </p:cNvSpPr>
          <p:nvPr/>
        </p:nvSpPr>
        <p:spPr>
          <a:xfrm xmlns:a="http://schemas.openxmlformats.org/drawingml/2006/main">
            <a:off x="838200" y="230505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1" i="0">
                <a:solidFill>
                  <a:srgbClr val="00A896"/>
                </a:solidFill>
                <a:latin typeface="Calibri"/>
                <a:ea typeface="Calibri"/>
                <a:cs typeface="Calibri"/>
              </a:defRPr>
            </a:pPr>
            <a:r>
              <a:rPr sz="1200" b="1" i="0">
                <a:solidFill>
                  <a:srgbClr val="00A896"/>
                </a:solidFill>
                <a:latin typeface="Calibri"/>
                <a:ea typeface="Calibri"/>
                <a:cs typeface="Calibri"/>
              </a:rPr>
              <a:t>What the run supports</a:t>
            </a:r>
          </a:p>
        </p:txBody>
      </p:sp>
      <p:sp>
        <p:nvSpPr>
          <p:cNvPr id="6" name="">
            <a:extLst xmlns:a="http://schemas.openxmlformats.org/drawingml/2006/main">
              <a:ext uri="{FF2B5EF4-FFF2-40B4-BE49-F238E27FC236}">
                <a16:creationId xmlns:a16="http://schemas.microsoft.com/office/drawing/2014/main" id="{22ADE592-AD0F-43E5-ACA6-B43BCD21161B}"/>
              </a:ext>
            </a:extLst>
          </p:cNvPr>
          <p:cNvSpPr>
            <a:spLocks xmlns:a="http://schemas.openxmlformats.org/drawingml/2006/main" noGrp="1"/>
          </p:cNvSpPr>
          <p:nvPr/>
        </p:nvSpPr>
        <p:spPr>
          <a:xfrm xmlns:a="http://schemas.openxmlformats.org/drawingml/2006/main">
            <a:off x="838200" y="27622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7" name="">
            <a:extLst xmlns:a="http://schemas.openxmlformats.org/drawingml/2006/main">
              <a:ext uri="{FF2B5EF4-FFF2-40B4-BE49-F238E27FC236}">
                <a16:creationId xmlns:a16="http://schemas.microsoft.com/office/drawing/2014/main" id="{0C2F9981-417C-4255-9047-02B962B0A635}"/>
              </a:ext>
            </a:extLst>
          </p:cNvPr>
          <p:cNvSpPr>
            <a:spLocks xmlns:a="http://schemas.openxmlformats.org/drawingml/2006/main" noGrp="1"/>
          </p:cNvSpPr>
          <p:nvPr/>
        </p:nvSpPr>
        <p:spPr>
          <a:xfrm xmlns:a="http://schemas.openxmlformats.org/drawingml/2006/main">
            <a:off x="904875" y="27813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FE335CA5-01D4-4C89-B864-B5263DF3B3C6}"/>
              </a:ext>
            </a:extLst>
          </p:cNvPr>
          <p:cNvSpPr>
            <a:spLocks xmlns:a="http://schemas.openxmlformats.org/drawingml/2006/main" noGrp="1"/>
          </p:cNvSpPr>
          <p:nvPr/>
        </p:nvSpPr>
        <p:spPr>
          <a:xfrm xmlns:a="http://schemas.openxmlformats.org/drawingml/2006/main">
            <a:off x="1219200" y="27432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Adaptation benefit</a:t>
            </a:r>
          </a:p>
        </p:txBody>
      </p:sp>
      <p:sp>
        <p:nvSpPr>
          <p:cNvPr id="9" name="">
            <a:extLst xmlns:a="http://schemas.openxmlformats.org/drawingml/2006/main">
              <a:ext uri="{FF2B5EF4-FFF2-40B4-BE49-F238E27FC236}">
                <a16:creationId xmlns:a16="http://schemas.microsoft.com/office/drawing/2014/main" id="{D4CAD99E-DCF1-417D-A98A-5455A351AA47}"/>
              </a:ext>
            </a:extLst>
          </p:cNvPr>
          <p:cNvSpPr>
            <a:spLocks xmlns:a="http://schemas.openxmlformats.org/drawingml/2006/main" noGrp="1"/>
          </p:cNvSpPr>
          <p:nvPr/>
        </p:nvSpPr>
        <p:spPr>
          <a:xfrm xmlns:a="http://schemas.openxmlformats.org/drawingml/2006/main">
            <a:off x="1219200" y="30099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80.63% lower post-shift SOH MAE than frozen.</a:t>
            </a:r>
          </a:p>
        </p:txBody>
      </p:sp>
      <p:sp>
        <p:nvSpPr>
          <p:cNvPr id="10" name="">
            <a:extLst xmlns:a="http://schemas.openxmlformats.org/drawingml/2006/main">
              <a:ext uri="{FF2B5EF4-FFF2-40B4-BE49-F238E27FC236}">
                <a16:creationId xmlns:a16="http://schemas.microsoft.com/office/drawing/2014/main" id="{FCBC1DB7-3244-4D6E-A417-3637D81F25DA}"/>
              </a:ext>
            </a:extLst>
          </p:cNvPr>
          <p:cNvSpPr>
            <a:spLocks xmlns:a="http://schemas.openxmlformats.org/drawingml/2006/main" noGrp="1"/>
          </p:cNvSpPr>
          <p:nvPr/>
        </p:nvSpPr>
        <p:spPr>
          <a:xfrm xmlns:a="http://schemas.openxmlformats.org/drawingml/2006/main">
            <a:off x="838200" y="3524250"/>
            <a:ext cx="228600" cy="228600"/>
          </a:xfrm>
          <a:prstGeom xmlns:a="http://schemas.openxmlformats.org/drawingml/2006/main" prst="roundRect">
            <a:avLst>
              <a:gd name="adj" fmla="val 33333"/>
            </a:avLst>
          </a:prstGeom>
          <a:solidFill xmlns:a="http://schemas.openxmlformats.org/drawingml/2006/main">
            <a:srgbClr val="00A896"/>
          </a:solidFill>
          <a:ln xmlns:a="http://schemas.openxmlformats.org/drawingml/2006/main" w="9525">
            <a:solidFill>
              <a:srgbClr val="00A896"/>
            </a:solidFill>
          </a:ln>
        </p:spPr>
      </p:sp>
      <p:sp>
        <p:nvSpPr>
          <p:cNvPr id="11" name="">
            <a:extLst xmlns:a="http://schemas.openxmlformats.org/drawingml/2006/main">
              <a:ext uri="{FF2B5EF4-FFF2-40B4-BE49-F238E27FC236}">
                <a16:creationId xmlns:a16="http://schemas.microsoft.com/office/drawing/2014/main" id="{AFF3B180-6298-4034-AA40-424781828C36}"/>
              </a:ext>
            </a:extLst>
          </p:cNvPr>
          <p:cNvSpPr>
            <a:spLocks xmlns:a="http://schemas.openxmlformats.org/drawingml/2006/main" noGrp="1"/>
          </p:cNvSpPr>
          <p:nvPr/>
        </p:nvSpPr>
        <p:spPr>
          <a:xfrm xmlns:a="http://schemas.openxmlformats.org/drawingml/2006/main">
            <a:off x="904875" y="3543300"/>
            <a:ext cx="1333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
          </a:bodyPr>
          <a:lstStyle xmlns:a="http://schemas.openxmlformats.org/drawingml/2006/main"/>
          <a:p xmlns:a="http://schemas.openxmlformats.org/drawingml/2006/main">
            <a:pPr>
              <a:buNone/>
              <a:defRPr sz="825" b="1" i="0">
                <a:solidFill>
                  <a:srgbClr val="FFFFFF"/>
                </a:solidFill>
                <a:latin typeface="Calibri"/>
                <a:ea typeface="Calibri"/>
                <a:cs typeface="Calibri"/>
              </a:defRPr>
            </a:pPr>
            <a:r>
              <a:rPr sz="825" b="1" i="0">
                <a:solidFill>
                  <a:srgbClr val="FFFFFF"/>
                </a:solidFill>
                <a:latin typeface="Calibri"/>
                <a:ea typeface="Calibri"/>
                <a:cs typeface="Calibri"/>
              </a:rPr>
              <a:t>2</a:t>
            </a:r>
          </a:p>
        </p:txBody>
      </p:sp>
      <p:sp>
        <p:nvSpPr>
          <p:cNvPr id="12" name="">
            <a:extLst xmlns:a="http://schemas.openxmlformats.org/drawingml/2006/main">
              <a:ext uri="{FF2B5EF4-FFF2-40B4-BE49-F238E27FC236}">
                <a16:creationId xmlns:a16="http://schemas.microsoft.com/office/drawing/2014/main" id="{C9CF75C2-B682-492B-A8BB-2313429CDD44}"/>
              </a:ext>
            </a:extLst>
          </p:cNvPr>
          <p:cNvSpPr>
            <a:spLocks xmlns:a="http://schemas.openxmlformats.org/drawingml/2006/main" noGrp="1"/>
          </p:cNvSpPr>
          <p:nvPr/>
        </p:nvSpPr>
        <p:spPr>
          <a:xfrm xmlns:a="http://schemas.openxmlformats.org/drawingml/2006/main">
            <a:off x="1219200" y="35052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buNone/>
              <a:defRPr sz="1275" b="1" i="0">
                <a:solidFill>
                  <a:srgbClr val="FFFFFF"/>
                </a:solidFill>
                <a:latin typeface="Calibri"/>
                <a:ea typeface="Calibri"/>
                <a:cs typeface="Calibri"/>
              </a:defRPr>
            </a:pPr>
            <a:r>
              <a:rPr sz="1275" b="1" i="0">
                <a:solidFill>
                  <a:srgbClr val="FFFFFF"/>
                </a:solidFill>
                <a:latin typeface="Calibri"/>
                <a:ea typeface="Calibri"/>
                <a:cs typeface="Calibri"/>
              </a:rPr>
              <a:t>Low update cost</a:t>
            </a:r>
          </a:p>
        </p:txBody>
      </p:sp>
      <p:sp>
        <p:nvSpPr>
          <p:cNvPr id="13" name="">
            <a:extLst xmlns:a="http://schemas.openxmlformats.org/drawingml/2006/main">
              <a:ext uri="{FF2B5EF4-FFF2-40B4-BE49-F238E27FC236}">
                <a16:creationId xmlns:a16="http://schemas.microsoft.com/office/drawing/2014/main" id="{EADF9D94-000D-4D15-8564-7E3D63732DB3}"/>
              </a:ext>
            </a:extLst>
          </p:cNvPr>
          <p:cNvSpPr>
            <a:spLocks xmlns:a="http://schemas.openxmlformats.org/drawingml/2006/main" noGrp="1"/>
          </p:cNvSpPr>
          <p:nvPr/>
        </p:nvSpPr>
        <p:spPr>
          <a:xfrm xmlns:a="http://schemas.openxmlformats.org/drawingml/2006/main">
            <a:off x="1219200" y="37719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i="0">
                <a:solidFill>
                  <a:srgbClr val="C7D8E5"/>
                </a:solidFill>
                <a:latin typeface="Calibri"/>
                <a:ea typeface="Calibri"/>
                <a:cs typeface="Calibri"/>
              </a:defRPr>
            </a:pPr>
            <a:r>
              <a:rPr sz="1050" b="0" i="0">
                <a:solidFill>
                  <a:srgbClr val="C7D8E5"/>
                </a:solidFill>
                <a:latin typeface="Calibri"/>
                <a:ea typeface="Calibri"/>
                <a:cs typeface="Calibri"/>
              </a:rPr>
              <a:t>8.75% of full-retraining work.</a:t>
            </a:r>
          </a:p>
        </p:txBody>
      </p:sp>
      <p:sp>
        <p:nvSpPr>
          <p:cNvPr id="14" name="">
            <a:extLst xmlns:a="http://schemas.openxmlformats.org/drawingml/2006/main">
              <a:ext uri="{FF2B5EF4-FFF2-40B4-BE49-F238E27FC236}">
                <a16:creationId xmlns:a16="http://schemas.microsoft.com/office/drawing/2014/main" id="{19F5F1B0-E601-4BCF-9A22-C979BF2B72AE}"/>
              </a:ext>
            </a:extLst>
          </p:cNvPr>
          <p:cNvSpPr>
            <a:spLocks xmlns:a="http://schemas.openxmlformats.org/drawingml/2006/main" noGrp="1"/>
          </p:cNvSpPr>
          <p:nvPr/>
        </p:nvSpPr>
        <p:spPr>
          <a:xfrm xmlns:a="http://schemas.openxmlformats.org/drawingml/2006/main">
            <a:off x="6048375" y="2047875"/>
            <a:ext cx="56007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F4E0BA49-27CD-4D89-9497-810073F75CEC}"/>
              </a:ext>
            </a:extLst>
          </p:cNvPr>
          <p:cNvSpPr>
            <a:spLocks xmlns:a="http://schemas.openxmlformats.org/drawingml/2006/main" noGrp="1"/>
          </p:cNvSpPr>
          <p:nvPr/>
        </p:nvSpPr>
        <p:spPr>
          <a:xfrm xmlns:a="http://schemas.openxmlformats.org/drawingml/2006/main">
            <a:off x="6334125" y="2305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1" i="0">
                <a:solidFill>
                  <a:srgbClr val="028090"/>
                </a:solidFill>
                <a:latin typeface="Calibri"/>
                <a:ea typeface="Calibri"/>
                <a:cs typeface="Calibri"/>
              </a:defRPr>
            </a:pPr>
            <a:r>
              <a:rPr sz="1200" b="1" i="0">
                <a:solidFill>
                  <a:srgbClr val="028090"/>
                </a:solidFill>
                <a:latin typeface="Calibri"/>
                <a:ea typeface="Calibri"/>
                <a:cs typeface="Calibri"/>
              </a:rPr>
              <a:t>What the run does not prove</a:t>
            </a:r>
          </a:p>
        </p:txBody>
      </p:sp>
      <p:sp>
        <p:nvSpPr>
          <p:cNvPr id="16" name="">
            <a:extLst xmlns:a="http://schemas.openxmlformats.org/drawingml/2006/main">
              <a:ext uri="{FF2B5EF4-FFF2-40B4-BE49-F238E27FC236}">
                <a16:creationId xmlns:a16="http://schemas.microsoft.com/office/drawing/2014/main" id="{74C481A6-5582-400E-AFF6-624E64729A7F}"/>
              </a:ext>
            </a:extLst>
          </p:cNvPr>
          <p:cNvSpPr>
            <a:spLocks xmlns:a="http://schemas.openxmlformats.org/drawingml/2006/main" noGrp="1"/>
          </p:cNvSpPr>
          <p:nvPr/>
        </p:nvSpPr>
        <p:spPr>
          <a:xfrm xmlns:a="http://schemas.openxmlformats.org/drawingml/2006/main">
            <a:off x="6334125" y="27813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Universal chemistry or temperature generalization</a:t>
            </a:r>
          </a:p>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Perfect monotonic degradation behavior</a:t>
            </a:r>
          </a:p>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SEI-PDE validity without additional variables</a:t>
            </a:r>
          </a:p>
          <a:p xmlns:a="http://schemas.openxmlformats.org/drawingml/2006/main">
            <a:pPr>
              <a:buNone/>
              <a:defRPr sz="1275" b="0" i="0">
                <a:solidFill>
                  <a:srgbClr val="0B2545"/>
                </a:solidFill>
                <a:latin typeface="Calibri"/>
                <a:ea typeface="Calibri"/>
                <a:cs typeface="Calibri"/>
              </a:defRPr>
            </a:pPr>
            <a:r>
              <a:rPr sz="1275" b="0" i="0">
                <a:solidFill>
                  <a:srgbClr val="0B2545"/>
                </a:solidFill>
                <a:latin typeface="Calibri"/>
                <a:ea typeface="Calibri"/>
                <a:cs typeface="Calibri"/>
              </a:rPr>
              <a:t>• A direct numerical ranking against the four papers</a:t>
            </a:r>
          </a:p>
        </p:txBody>
      </p:sp>
      <p:sp>
        <p:nvSpPr>
          <p:cNvPr id="17" name="">
            <a:extLst xmlns:a="http://schemas.openxmlformats.org/drawingml/2006/main">
              <a:ext uri="{FF2B5EF4-FFF2-40B4-BE49-F238E27FC236}">
                <a16:creationId xmlns:a16="http://schemas.microsoft.com/office/drawing/2014/main" id="{B10FC483-6A65-4248-B27B-C27E98A149DD}"/>
              </a:ext>
            </a:extLst>
          </p:cNvPr>
          <p:cNvSpPr>
            <a:spLocks xmlns:a="http://schemas.openxmlformats.org/drawingml/2006/main" noGrp="1"/>
          </p:cNvSpPr>
          <p:nvPr/>
        </p:nvSpPr>
        <p:spPr>
          <a:xfrm xmlns:a="http://schemas.openxmlformats.org/drawingml/2006/main">
            <a:off x="552450" y="4953000"/>
            <a:ext cx="11096625" cy="685800"/>
          </a:xfrm>
          <a:prstGeom xmlns:a="http://schemas.openxmlformats.org/drawingml/2006/main" prst="roundRect">
            <a:avLst>
              <a:gd name="adj" fmla="val 11111"/>
            </a:avLst>
          </a:prstGeom>
          <a:solidFill xmlns:a="http://schemas.openxmlformats.org/drawingml/2006/main">
            <a:srgbClr val="1B4A73"/>
          </a:solidFill>
          <a:ln xmlns:a="http://schemas.openxmlformats.org/drawingml/2006/main" w="9525">
            <a:solidFill>
              <a:srgbClr val="1B4A73"/>
            </a:solidFill>
          </a:ln>
        </p:spPr>
      </p:sp>
      <p:sp>
        <p:nvSpPr>
          <p:cNvPr id="18" name="">
            <a:extLst xmlns:a="http://schemas.openxmlformats.org/drawingml/2006/main">
              <a:ext uri="{FF2B5EF4-FFF2-40B4-BE49-F238E27FC236}">
                <a16:creationId xmlns:a16="http://schemas.microsoft.com/office/drawing/2014/main" id="{D87B0389-778E-4C6F-9CC5-89323D00921B}"/>
              </a:ext>
            </a:extLst>
          </p:cNvPr>
          <p:cNvSpPr>
            <a:spLocks xmlns:a="http://schemas.openxmlformats.org/drawingml/2006/main" noGrp="1"/>
          </p:cNvSpPr>
          <p:nvPr/>
        </p:nvSpPr>
        <p:spPr>
          <a:xfrm xmlns:a="http://schemas.openxmlformats.org/drawingml/2006/main">
            <a:off x="800100" y="51435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1905"/>
          </a:bodyPr>
          <a:lstStyle xmlns:a="http://schemas.openxmlformats.org/drawingml/2006/main"/>
          <a:p xmlns:a="http://schemas.openxmlformats.org/drawingml/2006/main">
            <a:pPr>
              <a:buNone/>
              <a:defRPr sz="1050" b="1" i="0">
                <a:solidFill>
                  <a:srgbClr val="00A896"/>
                </a:solidFill>
                <a:latin typeface="Calibri"/>
                <a:ea typeface="Calibri"/>
                <a:cs typeface="Calibri"/>
              </a:defRPr>
            </a:pPr>
            <a:r>
              <a:rPr sz="1050" b="1" i="0">
                <a:solidFill>
                  <a:srgbClr val="00A896"/>
                </a:solidFill>
                <a:latin typeface="Calibri"/>
                <a:ea typeface="Calibri"/>
                <a:cs typeface="Calibri"/>
              </a:rPr>
              <a:t>Next experiment</a:t>
            </a:r>
          </a:p>
        </p:txBody>
      </p:sp>
      <p:sp>
        <p:nvSpPr>
          <p:cNvPr id="19" name="">
            <a:extLst xmlns:a="http://schemas.openxmlformats.org/drawingml/2006/main">
              <a:ext uri="{FF2B5EF4-FFF2-40B4-BE49-F238E27FC236}">
                <a16:creationId xmlns:a16="http://schemas.microsoft.com/office/drawing/2014/main" id="{C4E392F5-0C42-498C-B953-DFD858CF5C6A}"/>
              </a:ext>
            </a:extLst>
          </p:cNvPr>
          <p:cNvSpPr>
            <a:spLocks xmlns:a="http://schemas.openxmlformats.org/drawingml/2006/main" noGrp="1"/>
          </p:cNvSpPr>
          <p:nvPr/>
        </p:nvSpPr>
        <p:spPr>
          <a:xfrm xmlns:a="http://schemas.openxmlformats.org/drawingml/2006/main">
            <a:off x="2476500" y="514350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4583"/>
          </a:bodyPr>
          <a:lstStyle xmlns:a="http://schemas.openxmlformats.org/drawingml/2006/main"/>
          <a:p xmlns:a="http://schemas.openxmlformats.org/drawingml/2006/main">
            <a:pPr>
              <a:buNone/>
              <a:defRPr sz="1200" b="0" i="0">
                <a:solidFill>
                  <a:srgbClr val="FFFFFF"/>
                </a:solidFill>
                <a:latin typeface="Calibri"/>
                <a:ea typeface="Calibri"/>
                <a:cs typeface="Calibri"/>
              </a:defRPr>
            </a:pPr>
            <a:r>
              <a:rPr sz="1200" b="0" i="0">
                <a:solidFill>
                  <a:srgbClr val="FFFFFF"/>
                </a:solidFill>
                <a:latin typeface="Calibri"/>
                <a:ea typeface="Calibri"/>
                <a:cs typeface="Calibri"/>
              </a:rPr>
              <a:t>Calibrate physics weights, add longer training, and repeat leave-one-cell-out validation before making a broader scientific claim.</a:t>
            </a:r>
          </a:p>
        </p:txBody>
      </p:sp>
      <p:sp>
        <p:nvSpPr>
          <p:cNvPr id="20" name="">
            <a:extLst xmlns:a="http://schemas.openxmlformats.org/drawingml/2006/main">
              <a:ext uri="{FF2B5EF4-FFF2-40B4-BE49-F238E27FC236}">
                <a16:creationId xmlns:a16="http://schemas.microsoft.com/office/drawing/2014/main" id="{3372A326-ECBB-41A8-A778-1C1B28B4AD78}"/>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21" name="">
            <a:extLst xmlns:a="http://schemas.openxmlformats.org/drawingml/2006/main">
              <a:ext uri="{FF2B5EF4-FFF2-40B4-BE49-F238E27FC236}">
                <a16:creationId xmlns:a16="http://schemas.microsoft.com/office/drawing/2014/main" id="{6046B50C-A087-4CEF-AA35-F9C9D5D16DDE}"/>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buNone/>
              <a:defRPr sz="825" b="0" i="0">
                <a:solidFill>
                  <a:srgbClr val="8FA9BE"/>
                </a:solidFill>
                <a:latin typeface="Calibri"/>
                <a:ea typeface="Calibri"/>
                <a:cs typeface="Calibri"/>
              </a:defRPr>
            </a:pPr>
            <a:r>
              <a:rPr sz="825" b="0" i="0">
                <a:solidFill>
                  <a:srgbClr val="8FA9BE"/>
                </a:solidFill>
                <a:latin typeface="Calibri"/>
                <a:ea typeface="Calibri"/>
                <a:cs typeface="Calibri"/>
              </a:rPr>
              <a:t>21 / 21</a:t>
            </a:r>
          </a:p>
        </p:txBody>
      </p:sp>
    </p:spTree>
    <p:extLst>
      <p:ext uri="{BB962C8B-B14F-4D97-AF65-F5344CB8AC3E}">
        <p14:creationId xmlns:p14="http://schemas.microsoft.com/office/powerpoint/2010/main" val="1647512164"/>
      </p:ext>
    </p:extLst>
  </p:cSld>
</p:sld>
</file>

<file path=ppt/slides/slide22.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8EDE33-A3BD-477F-AA0A-CA0D075A2386}"/>
              </a:ext>
            </a:extLst>
          </p:cNvPr>
          <p:cNvSpPr>
            <a:spLocks xmlns:a="http://schemas.openxmlformats.org/drawingml/2006/main" noGrp="1"/>
          </p:cNvSpPr>
          <p:nvPr/>
        </p:nvSpPr>
        <p:spPr>
          <a:xfrm xmlns:a="http://schemas.openxmlformats.org/drawingml/2006/main">
            <a:off x="552450" y="400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i="0">
                <a:solidFill>
                  <a:srgbClr val="00A896"/>
                </a:solidFill>
                <a:latin typeface="Calibri"/>
                <a:ea typeface="Calibri"/>
                <a:cs typeface="Calibri"/>
              </a:defRPr>
            </a:pPr>
            <a:r>
              <a:rPr sz="900" b="1" i="0">
                <a:solidFill>
                  <a:srgbClr val="00A896"/>
                </a:solidFill>
                <a:latin typeface="Calibri"/>
                <a:ea typeface="Calibri"/>
                <a:cs typeface="Calibri"/>
              </a:rPr>
              <a:t>PHASE II · PRESENTATION</a:t>
            </a:r>
          </a:p>
        </p:txBody>
      </p:sp>
      <p:sp>
        <p:nvSpPr>
          <p:cNvPr id="2" name="">
            <a:extLst xmlns:a="http://schemas.openxmlformats.org/drawingml/2006/main">
              <a:ext uri="{FF2B5EF4-FFF2-40B4-BE49-F238E27FC236}">
                <a16:creationId xmlns:a16="http://schemas.microsoft.com/office/drawing/2014/main" id="{ADD0A306-7632-4E16-83C1-6B7E83B50824}"/>
              </a:ext>
            </a:extLst>
          </p:cNvPr>
          <p:cNvSpPr>
            <a:spLocks xmlns:a="http://schemas.openxmlformats.org/drawingml/2006/main" noGrp="1"/>
          </p:cNvSpPr>
          <p:nvPr/>
        </p:nvSpPr>
        <p:spPr>
          <a:xfrm xmlns:a="http://schemas.openxmlformats.org/drawingml/2006/main">
            <a:off x="552450" y="714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i="0">
                <a:solidFill>
                  <a:srgbClr val="FFFFFF"/>
                </a:solidFill>
                <a:latin typeface="Cambria"/>
                <a:ea typeface="Cambria"/>
                <a:cs typeface="Cambria"/>
              </a:defRPr>
            </a:pPr>
            <a:r>
              <a:rPr sz="2550" b="1" i="0">
                <a:solidFill>
                  <a:srgbClr val="FFFFFF"/>
                </a:solidFill>
                <a:latin typeface="Cambria"/>
                <a:ea typeface="Cambria"/>
                <a:cs typeface="Cambria"/>
              </a:rPr>
              <a:t>Video demonstration</a:t>
            </a:r>
          </a:p>
        </p:txBody>
      </p:sp>
      <p:sp>
        <p:nvSpPr>
          <p:cNvPr id="3" name="">
            <a:extLst xmlns:a="http://schemas.openxmlformats.org/drawingml/2006/main">
              <a:ext uri="{FF2B5EF4-FFF2-40B4-BE49-F238E27FC236}">
                <a16:creationId xmlns:a16="http://schemas.microsoft.com/office/drawing/2014/main" id="{F649FAB7-718C-489D-ADE7-02B49C92923E}"/>
              </a:ext>
            </a:extLst>
          </p:cNvPr>
          <p:cNvSpPr>
            <a:spLocks xmlns:a="http://schemas.openxmlformats.org/drawingml/2006/main" noGrp="1"/>
          </p:cNvSpPr>
          <p:nvPr/>
        </p:nvSpPr>
        <p:spPr>
          <a:xfrm xmlns:a="http://schemas.openxmlformats.org/drawingml/2006/main">
            <a:off x="552450" y="13144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C7D8E5"/>
                </a:solidFill>
                <a:latin typeface="Calibri"/>
                <a:ea typeface="Calibri"/>
                <a:cs typeface="Calibri"/>
              </a:defRPr>
            </a:pPr>
            <a:r>
              <a:rPr sz="1275" b="0" i="0">
                <a:solidFill>
                  <a:srgbClr val="C7D8E5"/>
                </a:solidFill>
                <a:latin typeface="Calibri"/>
                <a:ea typeface="Calibri"/>
                <a:cs typeface="Calibri"/>
              </a:rPr>
              <a:t>Empty submission slide for the Moodle, Stream, or Drive video link</a:t>
            </a:r>
          </a:p>
        </p:txBody>
      </p:sp>
      <p:sp>
        <p:nvSpPr>
          <p:cNvPr id="4" name="">
            <a:extLst xmlns:a="http://schemas.openxmlformats.org/drawingml/2006/main">
              <a:ext uri="{FF2B5EF4-FFF2-40B4-BE49-F238E27FC236}">
                <a16:creationId xmlns:a16="http://schemas.microsoft.com/office/drawing/2014/main" id="{4DCDB6AE-5B79-40BD-81C5-C61A20E3AED8}"/>
              </a:ext>
            </a:extLst>
          </p:cNvPr>
          <p:cNvSpPr>
            <a:spLocks xmlns:a="http://schemas.openxmlformats.org/drawingml/2006/main" noGrp="1"/>
          </p:cNvSpPr>
          <p:nvPr/>
        </p:nvSpPr>
        <p:spPr>
          <a:xfrm xmlns:a="http://schemas.openxmlformats.org/drawingml/2006/main">
            <a:off x="1428750" y="2476500"/>
            <a:ext cx="9334500" cy="1571625"/>
          </a:xfrm>
          <a:prstGeom xmlns:a="http://schemas.openxmlformats.org/drawingml/2006/main" prst="roundRect">
            <a:avLst>
              <a:gd name="adj" fmla="val 4848"/>
            </a:avLst>
          </a:prstGeom>
          <a:solidFill xmlns:a="http://schemas.openxmlformats.org/drawingml/2006/main">
            <a:srgbClr val="1B4A73"/>
          </a:solidFill>
          <a:ln xmlns:a="http://schemas.openxmlformats.org/drawingml/2006/main" w="9525">
            <a:solidFill>
              <a:srgbClr val="00A896"/>
            </a:solidFill>
          </a:ln>
        </p:spPr>
      </p:sp>
      <p:sp>
        <p:nvSpPr>
          <p:cNvPr id="5" name="">
            <a:extLst xmlns:a="http://schemas.openxmlformats.org/drawingml/2006/main">
              <a:ext uri="{FF2B5EF4-FFF2-40B4-BE49-F238E27FC236}">
                <a16:creationId xmlns:a16="http://schemas.microsoft.com/office/drawing/2014/main" id="{8A6A01FD-6434-4DEB-A530-0D854DF3A0F6}"/>
              </a:ext>
            </a:extLst>
          </p:cNvPr>
          <p:cNvSpPr>
            <a:spLocks xmlns:a="http://schemas.openxmlformats.org/drawingml/2006/main" noGrp="1"/>
          </p:cNvSpPr>
          <p:nvPr/>
        </p:nvSpPr>
        <p:spPr>
          <a:xfrm xmlns:a="http://schemas.openxmlformats.org/drawingml/2006/main">
            <a:off x="1905000" y="2800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i="0">
                <a:solidFill>
                  <a:srgbClr val="00A896"/>
                </a:solidFill>
                <a:latin typeface="Calibri"/>
                <a:ea typeface="Calibri"/>
                <a:cs typeface="Calibri"/>
              </a:defRPr>
            </a:pPr>
            <a:r>
              <a:rPr sz="1050" b="1" i="0">
                <a:solidFill>
                  <a:srgbClr val="00A896"/>
                </a:solidFill>
                <a:latin typeface="Calibri"/>
                <a:ea typeface="Calibri"/>
                <a:cs typeface="Calibri"/>
              </a:rPr>
              <a:t>VIDEO LINK</a:t>
            </a:r>
          </a:p>
        </p:txBody>
      </p:sp>
      <p:sp>
        <p:nvSpPr>
          <p:cNvPr id="6" name="">
            <a:extLst xmlns:a="http://schemas.openxmlformats.org/drawingml/2006/main">
              <a:ext uri="{FF2B5EF4-FFF2-40B4-BE49-F238E27FC236}">
                <a16:creationId xmlns:a16="http://schemas.microsoft.com/office/drawing/2014/main" id="{1E6D88A2-5FA6-4746-90CF-62808EE9E616}"/>
              </a:ext>
            </a:extLst>
          </p:cNvPr>
          <p:cNvSpPr>
            <a:spLocks xmlns:a="http://schemas.openxmlformats.org/drawingml/2006/main" noGrp="1"/>
          </p:cNvSpPr>
          <p:nvPr/>
        </p:nvSpPr>
        <p:spPr>
          <a:xfrm xmlns:a="http://schemas.openxmlformats.org/drawingml/2006/main">
            <a:off x="1905000" y="3190875"/>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444"/>
          </a:bodyPr>
          <a:lstStyle xmlns:a="http://schemas.openxmlformats.org/drawingml/2006/main"/>
          <a:p xmlns:a="http://schemas.openxmlformats.org/drawingml/2006/main">
            <a:pPr>
              <a:defRPr sz="2250" b="1" i="0">
                <a:solidFill>
                  <a:srgbClr val="FFFFFF"/>
                </a:solidFill>
                <a:latin typeface="Cambria"/>
                <a:ea typeface="Cambria"/>
                <a:cs typeface="Cambria"/>
              </a:defRPr>
            </a:pPr>
            <a:r>
              <a:rPr sz="2250" b="1" i="0">
                <a:solidFill>
                  <a:srgbClr val="FFFFFF"/>
                </a:solidFill>
                <a:latin typeface="Cambria"/>
                <a:ea typeface="Cambria"/>
                <a:cs typeface="Cambria"/>
              </a:rPr>
              <a:t>PASTE VIDEO URL HERE</a:t>
            </a:r>
          </a:p>
        </p:txBody>
      </p:sp>
      <p:sp>
        <p:nvSpPr>
          <p:cNvPr id="7" name="">
            <a:extLst xmlns:a="http://schemas.openxmlformats.org/drawingml/2006/main">
              <a:ext uri="{FF2B5EF4-FFF2-40B4-BE49-F238E27FC236}">
                <a16:creationId xmlns:a16="http://schemas.microsoft.com/office/drawing/2014/main" id="{B718E508-CE49-4570-8C34-2552331B94B7}"/>
              </a:ext>
            </a:extLst>
          </p:cNvPr>
          <p:cNvSpPr>
            <a:spLocks xmlns:a="http://schemas.openxmlformats.org/drawingml/2006/main" noGrp="1"/>
          </p:cNvSpPr>
          <p:nvPr/>
        </p:nvSpPr>
        <p:spPr>
          <a:xfrm xmlns:a="http://schemas.openxmlformats.org/drawingml/2006/main">
            <a:off x="1905000" y="45720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i="0">
                <a:solidFill>
                  <a:srgbClr val="C7D8E5"/>
                </a:solidFill>
                <a:latin typeface="Calibri"/>
                <a:ea typeface="Calibri"/>
                <a:cs typeface="Calibri"/>
              </a:defRPr>
            </a:pPr>
            <a:r>
              <a:rPr sz="1200" b="0" i="0">
                <a:solidFill>
                  <a:srgbClr val="C7D8E5"/>
                </a:solidFill>
                <a:latin typeface="Calibri"/>
                <a:ea typeface="Calibri"/>
                <a:cs typeface="Calibri"/>
              </a:rPr>
              <a:t>Replace this placeholder with the actual uploaded video URL before submitting.</a:t>
            </a:r>
          </a:p>
        </p:txBody>
      </p:sp>
      <p:sp>
        <p:nvSpPr>
          <p:cNvPr id="8" name="">
            <a:extLst xmlns:a="http://schemas.openxmlformats.org/drawingml/2006/main">
              <a:ext uri="{FF2B5EF4-FFF2-40B4-BE49-F238E27FC236}">
                <a16:creationId xmlns:a16="http://schemas.microsoft.com/office/drawing/2014/main" id="{EC163B78-0E13-474A-ADA1-AB804BD2A640}"/>
              </a:ext>
            </a:extLst>
          </p:cNvPr>
          <p:cNvSpPr>
            <a:spLocks xmlns:a="http://schemas.openxmlformats.org/drawingml/2006/main" noGrp="1"/>
          </p:cNvSpPr>
          <p:nvPr/>
        </p:nvSpPr>
        <p:spPr>
          <a:xfrm xmlns:a="http://schemas.openxmlformats.org/drawingml/2006/main">
            <a:off x="1905000" y="4953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i="1">
                <a:solidFill>
                  <a:srgbClr val="9FC6E0"/>
                </a:solidFill>
                <a:latin typeface="Calibri"/>
                <a:ea typeface="Calibri"/>
                <a:cs typeface="Calibri"/>
              </a:defRPr>
            </a:pPr>
            <a:r>
              <a:rPr sz="975" b="0" i="1">
                <a:solidFill>
                  <a:srgbClr val="9FC6E0"/>
                </a:solidFill>
                <a:latin typeface="Calibri"/>
                <a:ea typeface="Calibri"/>
                <a:cs typeface="Calibri"/>
              </a:rPr>
              <a:t>No external video URL was present in the supplied files, so this slide intentionally keeps the link field open.</a:t>
            </a:r>
          </a:p>
        </p:txBody>
      </p:sp>
      <p:sp>
        <p:nvSpPr>
          <p:cNvPr id="9" name="">
            <a:extLst xmlns:a="http://schemas.openxmlformats.org/drawingml/2006/main">
              <a:ext uri="{FF2B5EF4-FFF2-40B4-BE49-F238E27FC236}">
                <a16:creationId xmlns:a16="http://schemas.microsoft.com/office/drawing/2014/main" id="{31306C19-819E-4894-8682-8988F4AE2040}"/>
              </a:ext>
            </a:extLst>
          </p:cNvPr>
          <p:cNvSpPr>
            <a:spLocks xmlns:a="http://schemas.openxmlformats.org/drawingml/2006/main" noGrp="1"/>
          </p:cNvSpPr>
          <p:nvPr/>
        </p:nvSpPr>
        <p:spPr>
          <a:xfrm xmlns:a="http://schemas.openxmlformats.org/drawingml/2006/main">
            <a:off x="552450" y="65532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Adaptive PINN Battery Digital Twin</a:t>
            </a:r>
          </a:p>
        </p:txBody>
      </p:sp>
      <p:sp>
        <p:nvSpPr>
          <p:cNvPr id="10" name="">
            <a:extLst xmlns:a="http://schemas.openxmlformats.org/drawingml/2006/main">
              <a:ext uri="{FF2B5EF4-FFF2-40B4-BE49-F238E27FC236}">
                <a16:creationId xmlns:a16="http://schemas.microsoft.com/office/drawing/2014/main" id="{A83768F6-D888-4C56-AA24-27DBB1160BF8}"/>
              </a:ext>
            </a:extLst>
          </p:cNvPr>
          <p:cNvSpPr>
            <a:spLocks xmlns:a="http://schemas.openxmlformats.org/drawingml/2006/main" noGrp="1"/>
          </p:cNvSpPr>
          <p:nvPr/>
        </p:nvSpPr>
        <p:spPr>
          <a:xfrm xmlns:a="http://schemas.openxmlformats.org/drawingml/2006/main">
            <a:off x="10810875" y="6553200"/>
            <a:ext cx="809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i="0">
                <a:solidFill>
                  <a:srgbClr val="8FA9BE"/>
                </a:solidFill>
                <a:latin typeface="Calibri"/>
                <a:ea typeface="Calibri"/>
                <a:cs typeface="Calibri"/>
              </a:defRPr>
            </a:pPr>
            <a:r>
              <a:rPr sz="825" b="0" i="0">
                <a:solidFill>
                  <a:srgbClr val="8FA9BE"/>
                </a:solidFill>
                <a:latin typeface="Calibri"/>
                <a:ea typeface="Calibri"/>
                <a:cs typeface="Calibri"/>
              </a:rPr>
              <a:t>22 / 22</a:t>
            </a:r>
          </a:p>
        </p:txBody>
      </p:sp>
    </p:spTree>
    <p:extLst>
      <p:ext uri="{BB962C8B-B14F-4D97-AF65-F5344CB8AC3E}">
        <p14:creationId xmlns:p14="http://schemas.microsoft.com/office/powerpoint/2010/main" val="16670473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2026-09-13T10:19:54.7760000Z</dcterms:created>
  <dcterms:modified xsi:type="dcterms:W3CDTF">2026-09-13T10:19:54.7760000Z</dcterms:modified>
</coreProperties>
</file>